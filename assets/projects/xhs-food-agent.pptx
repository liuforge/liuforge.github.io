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43"/>
    <p:restoredTop sz="94610"/>
  </p:normalViewPr>
  <p:slideViewPr>
    <p:cSldViewPr snapToGrid="0" snapToObjects="1">
      <p:cViewPr>
        <p:scale>
          <a:sx n="110" d="100"/>
          <a:sy n="110" d="100"/>
        </p:scale>
        <p:origin x="31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3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7fd618dc618b23e61c93199f82440a16e1baa52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35938" b="3593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2102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3436">
                  <a:alpha val="90000"/>
                </a:srgbClr>
              </a:gs>
              <a:gs pos="50000">
                <a:srgbClr val="2D3436">
                  <a:alpha val="80000"/>
                </a:srgbClr>
              </a:gs>
              <a:gs pos="100000">
                <a:srgbClr val="0984E3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685759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Text 2"/>
          <p:cNvSpPr/>
          <p:nvPr/>
        </p:nvSpPr>
        <p:spPr>
          <a:xfrm>
            <a:off x="533346" y="762000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120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346" y="1028673"/>
            <a:ext cx="3219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Architecture Design Principles &amp; Implementation Details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52784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XHS Food Agent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技术深度解析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72044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614889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多Agent异步流水线架构设计原理与实现细节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0050" y="59817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1" name="Text 8"/>
          <p:cNvSpPr/>
          <p:nvPr/>
        </p:nvSpPr>
        <p:spPr>
          <a:xfrm>
            <a:off x="647673" y="5943654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Multi-Agent Pipeline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20325" y="598174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3" name="Text 10"/>
          <p:cNvSpPr/>
          <p:nvPr/>
        </p:nvSpPr>
        <p:spPr>
          <a:xfrm>
            <a:off x="2558423" y="594365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35611" y="598174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5" name="Text 12"/>
          <p:cNvSpPr/>
          <p:nvPr/>
        </p:nvSpPr>
        <p:spPr>
          <a:xfrm>
            <a:off x="4192759" y="594365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Cloud Native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05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124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89659" y="1580892"/>
            <a:ext cx="17318" cy="1476375"/>
          </a:xfrm>
          <a:custGeom>
            <a:avLst/>
            <a:gdLst/>
            <a:ahLst/>
            <a:cxnLst/>
            <a:rect l="l" t="t" r="r" b="b"/>
            <a:pathLst>
              <a:path w="17318" h="1476375">
                <a:moveTo>
                  <a:pt x="0" y="0"/>
                </a:moveTo>
                <a:lnTo>
                  <a:pt x="17318" y="0"/>
                </a:lnTo>
                <a:lnTo>
                  <a:pt x="17318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6" name="Text 4"/>
          <p:cNvSpPr/>
          <p:nvPr/>
        </p:nvSpPr>
        <p:spPr>
          <a:xfrm>
            <a:off x="626905" y="1733238"/>
            <a:ext cx="60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984E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9630" y="1854466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系统架构设计理念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905" y="2304671"/>
            <a:ext cx="542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面向失败设计与渐进式复杂度原则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8918" y="1580892"/>
            <a:ext cx="17318" cy="1476375"/>
          </a:xfrm>
          <a:custGeom>
            <a:avLst/>
            <a:gdLst/>
            <a:ahLst/>
            <a:cxnLst/>
            <a:rect l="l" t="t" r="r" b="b"/>
            <a:pathLst>
              <a:path w="17318" h="1476375">
                <a:moveTo>
                  <a:pt x="0" y="0"/>
                </a:moveTo>
                <a:lnTo>
                  <a:pt x="17318" y="0"/>
                </a:lnTo>
                <a:lnTo>
                  <a:pt x="17318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0" name="Text 8"/>
          <p:cNvSpPr/>
          <p:nvPr/>
        </p:nvSpPr>
        <p:spPr>
          <a:xfrm>
            <a:off x="6456164" y="173323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63450" y="1854466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核心Agent技术解析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56164" y="2304671"/>
            <a:ext cx="542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IntentParser、Spider、Analyzer、POIEnricher深度剖析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9659" y="3289102"/>
            <a:ext cx="17318" cy="1476375"/>
          </a:xfrm>
          <a:custGeom>
            <a:avLst/>
            <a:gdLst/>
            <a:ahLst/>
            <a:cxnLst/>
            <a:rect l="l" t="t" r="r" b="b"/>
            <a:pathLst>
              <a:path w="17318" h="1476375">
                <a:moveTo>
                  <a:pt x="0" y="0"/>
                </a:moveTo>
                <a:lnTo>
                  <a:pt x="17318" y="0"/>
                </a:lnTo>
                <a:lnTo>
                  <a:pt x="17318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4" name="Text 12"/>
          <p:cNvSpPr/>
          <p:nvPr/>
        </p:nvSpPr>
        <p:spPr>
          <a:xfrm>
            <a:off x="626905" y="3441447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984E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6491" y="3562674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缓存与性能优化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905" y="4012879"/>
            <a:ext cx="542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三级缓存架构与局部性原理应用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8918" y="3289102"/>
            <a:ext cx="17318" cy="1476375"/>
          </a:xfrm>
          <a:custGeom>
            <a:avLst/>
            <a:gdLst/>
            <a:ahLst/>
            <a:cxnLst/>
            <a:rect l="l" t="t" r="r" b="b"/>
            <a:pathLst>
              <a:path w="17318" h="1476375">
                <a:moveTo>
                  <a:pt x="0" y="0"/>
                </a:moveTo>
                <a:lnTo>
                  <a:pt x="17318" y="0"/>
                </a:lnTo>
                <a:lnTo>
                  <a:pt x="17318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8" name="Text 16"/>
          <p:cNvSpPr/>
          <p:nvPr/>
        </p:nvSpPr>
        <p:spPr>
          <a:xfrm>
            <a:off x="6456164" y="3441447"/>
            <a:ext cx="704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316" y="3562674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稳定性保障体系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56164" y="4012879"/>
            <a:ext cx="542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熔断、降级与限流机制设计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9659" y="4997310"/>
            <a:ext cx="17318" cy="1476375"/>
          </a:xfrm>
          <a:custGeom>
            <a:avLst/>
            <a:gdLst/>
            <a:ahLst/>
            <a:cxnLst/>
            <a:rect l="l" t="t" r="r" b="b"/>
            <a:pathLst>
              <a:path w="17318" h="1476375">
                <a:moveTo>
                  <a:pt x="0" y="0"/>
                </a:moveTo>
                <a:lnTo>
                  <a:pt x="17318" y="0"/>
                </a:lnTo>
                <a:lnTo>
                  <a:pt x="17318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2" name="Text 20"/>
          <p:cNvSpPr/>
          <p:nvPr/>
        </p:nvSpPr>
        <p:spPr>
          <a:xfrm>
            <a:off x="626905" y="5149655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984E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1891" y="5270883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云原生部署实践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905" y="5721088"/>
            <a:ext cx="542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Kubernetes深度实践与弹性扩缩容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8918" y="4997310"/>
            <a:ext cx="17318" cy="1476375"/>
          </a:xfrm>
          <a:custGeom>
            <a:avLst/>
            <a:gdLst/>
            <a:ahLst/>
            <a:cxnLst/>
            <a:rect l="l" t="t" r="r" b="b"/>
            <a:pathLst>
              <a:path w="17318" h="1476375">
                <a:moveTo>
                  <a:pt x="0" y="0"/>
                </a:moveTo>
                <a:lnTo>
                  <a:pt x="17318" y="0"/>
                </a:lnTo>
                <a:lnTo>
                  <a:pt x="17318" y="1476375"/>
                </a:lnTo>
                <a:lnTo>
                  <a:pt x="0" y="1476375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6" name="Text 24"/>
          <p:cNvSpPr/>
          <p:nvPr/>
        </p:nvSpPr>
        <p:spPr>
          <a:xfrm>
            <a:off x="6456164" y="5149655"/>
            <a:ext cx="695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72583" y="5270883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关键技术决策回顾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6164" y="5721088"/>
            <a:ext cx="5429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六大核心决策的量化收益分析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304497f089d677b3647177ef9dd2cd0ae394615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3436">
                  <a:alpha val="95000"/>
                </a:srgbClr>
              </a:gs>
              <a:gs pos="50000">
                <a:srgbClr val="2D3436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9659" y="1461356"/>
            <a:ext cx="893618" cy="893618"/>
          </a:xfrm>
          <a:custGeom>
            <a:avLst/>
            <a:gdLst/>
            <a:ahLst/>
            <a:cxnLst/>
            <a:rect l="l" t="t" r="r" b="b"/>
            <a:pathLst>
              <a:path w="893618" h="893618">
                <a:moveTo>
                  <a:pt x="0" y="0"/>
                </a:moveTo>
                <a:lnTo>
                  <a:pt x="893618" y="0"/>
                </a:lnTo>
                <a:lnTo>
                  <a:pt x="893618" y="893618"/>
                </a:lnTo>
                <a:lnTo>
                  <a:pt x="0" y="8936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950" y="1681283"/>
            <a:ext cx="60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984E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3932" y="1452697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671802"/>
            <a:ext cx="3314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系统架构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设计理念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91061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033908"/>
            <a:ext cx="3086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面向失败设计与渐进式复杂度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Architecture Philosophy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0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架构设计哲学：三大核心原则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65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98318" y="1390462"/>
            <a:ext cx="5922818" cy="1314450"/>
          </a:xfrm>
          <a:custGeom>
            <a:avLst/>
            <a:gdLst/>
            <a:ahLst/>
            <a:cxnLst/>
            <a:rect l="l" t="t" r="r" b="b"/>
            <a:pathLst>
              <a:path w="5922818" h="1314450">
                <a:moveTo>
                  <a:pt x="0" y="0"/>
                </a:moveTo>
                <a:lnTo>
                  <a:pt x="5922818" y="0"/>
                </a:lnTo>
                <a:lnTo>
                  <a:pt x="5922818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8318" y="1390462"/>
            <a:ext cx="34636" cy="1314450"/>
          </a:xfrm>
          <a:custGeom>
            <a:avLst/>
            <a:gdLst/>
            <a:ahLst/>
            <a:cxnLst/>
            <a:rect l="l" t="t" r="r" b="b"/>
            <a:pathLst>
              <a:path w="34636" h="1314450">
                <a:moveTo>
                  <a:pt x="0" y="0"/>
                </a:moveTo>
                <a:lnTo>
                  <a:pt x="34636" y="0"/>
                </a:lnTo>
                <a:lnTo>
                  <a:pt x="34636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Shape 5"/>
          <p:cNvSpPr/>
          <p:nvPr/>
        </p:nvSpPr>
        <p:spPr>
          <a:xfrm>
            <a:off x="606136" y="15047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8" name="Shape 6"/>
          <p:cNvSpPr/>
          <p:nvPr/>
        </p:nvSpPr>
        <p:spPr>
          <a:xfrm>
            <a:off x="739473" y="16380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15655" y="1504720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无单点故障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5655" y="1847566"/>
            <a:ext cx="5181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Design for Failure</a:t>
            </a:r>
            <a:r>
              <a:rPr lang="en-US" sz="12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— 任何组件（LLM、数据库、爬虫）故障都不导致系统整体崩溃。通过冗余设计、服务解耦和故障隔离，确保局部故障不影响全局可用性。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8318" y="2857163"/>
            <a:ext cx="5922818" cy="1066800"/>
          </a:xfrm>
          <a:custGeom>
            <a:avLst/>
            <a:gdLst/>
            <a:ahLst/>
            <a:cxnLst/>
            <a:rect l="l" t="t" r="r" b="b"/>
            <a:pathLst>
              <a:path w="5922818" h="1066800">
                <a:moveTo>
                  <a:pt x="0" y="0"/>
                </a:moveTo>
                <a:lnTo>
                  <a:pt x="5922818" y="0"/>
                </a:lnTo>
                <a:lnTo>
                  <a:pt x="5922818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98318" y="2857163"/>
            <a:ext cx="34636" cy="1066800"/>
          </a:xfrm>
          <a:custGeom>
            <a:avLst/>
            <a:gdLst/>
            <a:ahLst/>
            <a:cxnLst/>
            <a:rect l="l" t="t" r="r" b="b"/>
            <a:pathLst>
              <a:path w="34636" h="1066800">
                <a:moveTo>
                  <a:pt x="0" y="0"/>
                </a:moveTo>
                <a:lnTo>
                  <a:pt x="34636" y="0"/>
                </a:lnTo>
                <a:lnTo>
                  <a:pt x="34636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136" y="29714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3285" y="310475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215655" y="2971421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降级优于中断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5655" y="3314267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Graceful Degradation</a:t>
            </a:r>
            <a:r>
              <a:rPr lang="en-US" sz="12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— 服务降级（返回缓存/简化推荐）优于完全不可用。通过多级降级策略，即使在极端情况下也能提供基础服务能力。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98318" y="4076200"/>
            <a:ext cx="5922818" cy="1066800"/>
          </a:xfrm>
          <a:custGeom>
            <a:avLst/>
            <a:gdLst/>
            <a:ahLst/>
            <a:cxnLst/>
            <a:rect l="l" t="t" r="r" b="b"/>
            <a:pathLst>
              <a:path w="5922818" h="1066800">
                <a:moveTo>
                  <a:pt x="0" y="0"/>
                </a:moveTo>
                <a:lnTo>
                  <a:pt x="5922818" y="0"/>
                </a:lnTo>
                <a:lnTo>
                  <a:pt x="5922818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Shape 16"/>
          <p:cNvSpPr/>
          <p:nvPr/>
        </p:nvSpPr>
        <p:spPr>
          <a:xfrm>
            <a:off x="398318" y="4076200"/>
            <a:ext cx="34636" cy="1066800"/>
          </a:xfrm>
          <a:custGeom>
            <a:avLst/>
            <a:gdLst/>
            <a:ahLst/>
            <a:cxnLst/>
            <a:rect l="l" t="t" r="r" b="b"/>
            <a:pathLst>
              <a:path w="34636" h="1066800">
                <a:moveTo>
                  <a:pt x="0" y="0"/>
                </a:moveTo>
                <a:lnTo>
                  <a:pt x="34636" y="0"/>
                </a:lnTo>
                <a:lnTo>
                  <a:pt x="34636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9" name="Shape 17"/>
          <p:cNvSpPr/>
          <p:nvPr/>
        </p:nvSpPr>
        <p:spPr>
          <a:xfrm>
            <a:off x="606136" y="419045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0" name="Shape 18"/>
          <p:cNvSpPr/>
          <p:nvPr/>
        </p:nvSpPr>
        <p:spPr>
          <a:xfrm>
            <a:off x="715660" y="4323797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15655" y="4190458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延迟与一致性权衡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5655" y="4533305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Latency vs Consistency</a:t>
            </a:r>
            <a:r>
              <a:rPr lang="en-US" sz="12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— 最终一致性acceptable，低延迟优先。美食推荐场景下，用户更关注响应速度而非绝对实时性，允许秒级数据延迟。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55608" y="1394791"/>
            <a:ext cx="5247409" cy="5075959"/>
          </a:xfrm>
          <a:custGeom>
            <a:avLst/>
            <a:gdLst/>
            <a:ahLst/>
            <a:cxnLst/>
            <a:rect l="l" t="t" r="r" b="b"/>
            <a:pathLst>
              <a:path w="5247409" h="5075959">
                <a:moveTo>
                  <a:pt x="0" y="0"/>
                </a:moveTo>
                <a:lnTo>
                  <a:pt x="5247409" y="0"/>
                </a:lnTo>
                <a:lnTo>
                  <a:pt x="5247409" y="5075959"/>
                </a:lnTo>
                <a:lnTo>
                  <a:pt x="0" y="50759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4250" y="163717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5" name="Text 23"/>
          <p:cNvSpPr/>
          <p:nvPr/>
        </p:nvSpPr>
        <p:spPr>
          <a:xfrm>
            <a:off x="6969512" y="1589619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架构全景概览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59096" y="2008570"/>
            <a:ext cx="4856884" cy="647700"/>
          </a:xfrm>
          <a:custGeom>
            <a:avLst/>
            <a:gdLst/>
            <a:ahLst/>
            <a:cxnLst/>
            <a:rect l="l" t="t" r="r" b="b"/>
            <a:pathLst>
              <a:path w="4856884" h="647700">
                <a:moveTo>
                  <a:pt x="0" y="0"/>
                </a:moveTo>
                <a:lnTo>
                  <a:pt x="4856884" y="0"/>
                </a:lnTo>
                <a:lnTo>
                  <a:pt x="4856884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759096" y="2008570"/>
            <a:ext cx="17318" cy="647700"/>
          </a:xfrm>
          <a:custGeom>
            <a:avLst/>
            <a:gdLst/>
            <a:ahLst/>
            <a:cxnLst/>
            <a:rect l="l" t="t" r="r" b="b"/>
            <a:pathLst>
              <a:path w="17318" h="647700">
                <a:moveTo>
                  <a:pt x="0" y="0"/>
                </a:moveTo>
                <a:lnTo>
                  <a:pt x="17318" y="0"/>
                </a:lnTo>
                <a:lnTo>
                  <a:pt x="17318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8" name="Text 26"/>
          <p:cNvSpPr/>
          <p:nvPr/>
        </p:nvSpPr>
        <p:spPr>
          <a:xfrm>
            <a:off x="6882015" y="2122831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用户请求层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82015" y="2351349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FastAPI + SSE流式响应 + </a:t>
            </a:r>
            <a:r>
              <a:rPr lang="en-US" sz="1050" dirty="0" err="1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JWT鉴权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+ Token </a:t>
            </a:r>
            <a:r>
              <a:rPr lang="en-US" sz="1050" dirty="0" err="1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Bucket限流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59096" y="2770301"/>
            <a:ext cx="4856884" cy="647700"/>
          </a:xfrm>
          <a:custGeom>
            <a:avLst/>
            <a:gdLst/>
            <a:ahLst/>
            <a:cxnLst/>
            <a:rect l="l" t="t" r="r" b="b"/>
            <a:pathLst>
              <a:path w="4856884" h="647700">
                <a:moveTo>
                  <a:pt x="0" y="0"/>
                </a:moveTo>
                <a:lnTo>
                  <a:pt x="4856884" y="0"/>
                </a:lnTo>
                <a:lnTo>
                  <a:pt x="4856884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759096" y="2770301"/>
            <a:ext cx="17318" cy="647700"/>
          </a:xfrm>
          <a:custGeom>
            <a:avLst/>
            <a:gdLst/>
            <a:ahLst/>
            <a:cxnLst/>
            <a:rect l="l" t="t" r="r" b="b"/>
            <a:pathLst>
              <a:path w="17318" h="647700">
                <a:moveTo>
                  <a:pt x="0" y="0"/>
                </a:moveTo>
                <a:lnTo>
                  <a:pt x="17318" y="0"/>
                </a:lnTo>
                <a:lnTo>
                  <a:pt x="17318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2" name="Text 30"/>
          <p:cNvSpPr/>
          <p:nvPr/>
        </p:nvSpPr>
        <p:spPr>
          <a:xfrm>
            <a:off x="6882015" y="2884561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Multi-Agent流水线层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82015" y="311308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IntentParser → Spider → Analyzer → POIEnricher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59096" y="3532031"/>
            <a:ext cx="4856884" cy="647700"/>
          </a:xfrm>
          <a:custGeom>
            <a:avLst/>
            <a:gdLst/>
            <a:ahLst/>
            <a:cxnLst/>
            <a:rect l="l" t="t" r="r" b="b"/>
            <a:pathLst>
              <a:path w="4856884" h="647700">
                <a:moveTo>
                  <a:pt x="0" y="0"/>
                </a:moveTo>
                <a:lnTo>
                  <a:pt x="4856884" y="0"/>
                </a:lnTo>
                <a:lnTo>
                  <a:pt x="4856884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759096" y="3532031"/>
            <a:ext cx="17318" cy="647700"/>
          </a:xfrm>
          <a:custGeom>
            <a:avLst/>
            <a:gdLst/>
            <a:ahLst/>
            <a:cxnLst/>
            <a:rect l="l" t="t" r="r" b="b"/>
            <a:pathLst>
              <a:path w="17318" h="647700">
                <a:moveTo>
                  <a:pt x="0" y="0"/>
                </a:moveTo>
                <a:lnTo>
                  <a:pt x="17318" y="0"/>
                </a:lnTo>
                <a:lnTo>
                  <a:pt x="17318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6" name="Text 34"/>
          <p:cNvSpPr/>
          <p:nvPr/>
        </p:nvSpPr>
        <p:spPr>
          <a:xfrm>
            <a:off x="6882015" y="3646289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稳定性保障层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82015" y="3874808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Circuit Breaker + 多级降级 + 超时重试 + 背压限流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59096" y="4293759"/>
            <a:ext cx="4856884" cy="647700"/>
          </a:xfrm>
          <a:custGeom>
            <a:avLst/>
            <a:gdLst/>
            <a:ahLst/>
            <a:cxnLst/>
            <a:rect l="l" t="t" r="r" b="b"/>
            <a:pathLst>
              <a:path w="4856884" h="647700">
                <a:moveTo>
                  <a:pt x="0" y="0"/>
                </a:moveTo>
                <a:lnTo>
                  <a:pt x="4856884" y="0"/>
                </a:lnTo>
                <a:lnTo>
                  <a:pt x="4856884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759096" y="4293759"/>
            <a:ext cx="17318" cy="647700"/>
          </a:xfrm>
          <a:custGeom>
            <a:avLst/>
            <a:gdLst/>
            <a:ahLst/>
            <a:cxnLst/>
            <a:rect l="l" t="t" r="r" b="b"/>
            <a:pathLst>
              <a:path w="17318" h="647700">
                <a:moveTo>
                  <a:pt x="0" y="0"/>
                </a:moveTo>
                <a:lnTo>
                  <a:pt x="17318" y="0"/>
                </a:lnTo>
                <a:lnTo>
                  <a:pt x="17318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0" name="Text 38"/>
          <p:cNvSpPr/>
          <p:nvPr/>
        </p:nvSpPr>
        <p:spPr>
          <a:xfrm>
            <a:off x="6882015" y="4408019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数据存储层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82015" y="4636538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L0 LRU + L1 Redis + L2 PostgreSQL + pgvector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759096" y="5055489"/>
            <a:ext cx="4856884" cy="647700"/>
          </a:xfrm>
          <a:custGeom>
            <a:avLst/>
            <a:gdLst/>
            <a:ahLst/>
            <a:cxnLst/>
            <a:rect l="l" t="t" r="r" b="b"/>
            <a:pathLst>
              <a:path w="4856884" h="647700">
                <a:moveTo>
                  <a:pt x="0" y="0"/>
                </a:moveTo>
                <a:lnTo>
                  <a:pt x="4856884" y="0"/>
                </a:lnTo>
                <a:lnTo>
                  <a:pt x="4856884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43" name="Shape 41"/>
          <p:cNvSpPr/>
          <p:nvPr/>
        </p:nvSpPr>
        <p:spPr>
          <a:xfrm>
            <a:off x="6759096" y="5055489"/>
            <a:ext cx="17318" cy="647700"/>
          </a:xfrm>
          <a:custGeom>
            <a:avLst/>
            <a:gdLst/>
            <a:ahLst/>
            <a:cxnLst/>
            <a:rect l="l" t="t" r="r" b="b"/>
            <a:pathLst>
              <a:path w="17318" h="647700">
                <a:moveTo>
                  <a:pt x="0" y="0"/>
                </a:moveTo>
                <a:lnTo>
                  <a:pt x="17318" y="0"/>
                </a:lnTo>
                <a:lnTo>
                  <a:pt x="17318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44" name="Text 42"/>
          <p:cNvSpPr/>
          <p:nvPr/>
        </p:nvSpPr>
        <p:spPr>
          <a:xfrm>
            <a:off x="6882015" y="5169747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可观测性层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82015" y="5398266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OpenTelemetry + Prometheus + Grafana + Jaeger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Pipeline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0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Multi-Agent异步流水线架构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65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85330" y="1318549"/>
            <a:ext cx="11419609" cy="3971059"/>
          </a:xfrm>
          <a:custGeom>
            <a:avLst/>
            <a:gdLst/>
            <a:ahLst/>
            <a:cxnLst/>
            <a:rect l="l" t="t" r="r" b="b"/>
            <a:pathLst>
              <a:path w="11419609" h="3971059">
                <a:moveTo>
                  <a:pt x="0" y="0"/>
                </a:moveTo>
                <a:lnTo>
                  <a:pt x="11419609" y="0"/>
                </a:lnTo>
                <a:lnTo>
                  <a:pt x="11419609" y="3971059"/>
                </a:lnTo>
                <a:lnTo>
                  <a:pt x="0" y="39710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pic>
        <p:nvPicPr>
          <p:cNvPr id="6" name="Image 0" descr="https://kimi-img.moonshot.cn/pub/slides/26-03-25-13:36:08-d71n8i7aa0v2a81dk9e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159" y="1513380"/>
            <a:ext cx="11029950" cy="35814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98318" y="5448530"/>
            <a:ext cx="2722418" cy="1028700"/>
          </a:xfrm>
          <a:custGeom>
            <a:avLst/>
            <a:gdLst/>
            <a:ahLst/>
            <a:cxnLst/>
            <a:rect l="l" t="t" r="r" b="b"/>
            <a:pathLst>
              <a:path w="2722418" h="1028700">
                <a:moveTo>
                  <a:pt x="0" y="0"/>
                </a:moveTo>
                <a:lnTo>
                  <a:pt x="2722418" y="0"/>
                </a:lnTo>
                <a:lnTo>
                  <a:pt x="272241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98318" y="5448530"/>
            <a:ext cx="34636" cy="1028700"/>
          </a:xfrm>
          <a:custGeom>
            <a:avLst/>
            <a:gdLst/>
            <a:ahLst/>
            <a:cxnLst/>
            <a:rect l="l" t="t" r="r" b="b"/>
            <a:pathLst>
              <a:path w="34636" h="1028700">
                <a:moveTo>
                  <a:pt x="0" y="0"/>
                </a:moveTo>
                <a:lnTo>
                  <a:pt x="34636" y="0"/>
                </a:lnTo>
                <a:lnTo>
                  <a:pt x="34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Shape 6"/>
          <p:cNvSpPr/>
          <p:nvPr/>
        </p:nvSpPr>
        <p:spPr>
          <a:xfrm>
            <a:off x="567982" y="55627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0" name="Text 7"/>
          <p:cNvSpPr/>
          <p:nvPr/>
        </p:nvSpPr>
        <p:spPr>
          <a:xfrm>
            <a:off x="534645" y="55627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48915" y="5581866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IntentParser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7982" y="5943721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语义级意图理解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7982" y="6210328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依赖：OpenAI + Vector DB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3905" y="5448530"/>
            <a:ext cx="2722418" cy="1028700"/>
          </a:xfrm>
          <a:custGeom>
            <a:avLst/>
            <a:gdLst/>
            <a:ahLst/>
            <a:cxnLst/>
            <a:rect l="l" t="t" r="r" b="b"/>
            <a:pathLst>
              <a:path w="2722418" h="1028700">
                <a:moveTo>
                  <a:pt x="0" y="0"/>
                </a:moveTo>
                <a:lnTo>
                  <a:pt x="2722418" y="0"/>
                </a:lnTo>
                <a:lnTo>
                  <a:pt x="272241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293905" y="5448530"/>
            <a:ext cx="34636" cy="1028700"/>
          </a:xfrm>
          <a:custGeom>
            <a:avLst/>
            <a:gdLst/>
            <a:ahLst/>
            <a:cxnLst/>
            <a:rect l="l" t="t" r="r" b="b"/>
            <a:pathLst>
              <a:path w="34636" h="1028700">
                <a:moveTo>
                  <a:pt x="0" y="0"/>
                </a:moveTo>
                <a:lnTo>
                  <a:pt x="34636" y="0"/>
                </a:lnTo>
                <a:lnTo>
                  <a:pt x="34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6" name="Shape 13"/>
          <p:cNvSpPr/>
          <p:nvPr/>
        </p:nvSpPr>
        <p:spPr>
          <a:xfrm>
            <a:off x="3463569" y="55627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7" name="Text 14"/>
          <p:cNvSpPr/>
          <p:nvPr/>
        </p:nvSpPr>
        <p:spPr>
          <a:xfrm>
            <a:off x="3430231" y="55627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44501" y="5581866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Spider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463569" y="5943721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分布式爬取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63569" y="6210328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依赖：Playwright + Node.js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89491" y="5448530"/>
            <a:ext cx="2722418" cy="1028700"/>
          </a:xfrm>
          <a:custGeom>
            <a:avLst/>
            <a:gdLst/>
            <a:ahLst/>
            <a:cxnLst/>
            <a:rect l="l" t="t" r="r" b="b"/>
            <a:pathLst>
              <a:path w="2722418" h="1028700">
                <a:moveTo>
                  <a:pt x="0" y="0"/>
                </a:moveTo>
                <a:lnTo>
                  <a:pt x="2722418" y="0"/>
                </a:lnTo>
                <a:lnTo>
                  <a:pt x="272241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189491" y="5448530"/>
            <a:ext cx="34636" cy="1028700"/>
          </a:xfrm>
          <a:custGeom>
            <a:avLst/>
            <a:gdLst/>
            <a:ahLst/>
            <a:cxnLst/>
            <a:rect l="l" t="t" r="r" b="b"/>
            <a:pathLst>
              <a:path w="34636" h="1028700">
                <a:moveTo>
                  <a:pt x="0" y="0"/>
                </a:moveTo>
                <a:lnTo>
                  <a:pt x="34636" y="0"/>
                </a:lnTo>
                <a:lnTo>
                  <a:pt x="34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3" name="Shape 20"/>
          <p:cNvSpPr/>
          <p:nvPr/>
        </p:nvSpPr>
        <p:spPr>
          <a:xfrm>
            <a:off x="6359155" y="55627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4" name="Text 21"/>
          <p:cNvSpPr/>
          <p:nvPr/>
        </p:nvSpPr>
        <p:spPr>
          <a:xfrm>
            <a:off x="6325817" y="55627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740087" y="5581866"/>
            <a:ext cx="866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Analyzer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59155" y="5943721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内容理解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59155" y="6210328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依赖：OpenAI + vLLM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085077" y="5448530"/>
            <a:ext cx="2722418" cy="1028700"/>
          </a:xfrm>
          <a:custGeom>
            <a:avLst/>
            <a:gdLst/>
            <a:ahLst/>
            <a:cxnLst/>
            <a:rect l="l" t="t" r="r" b="b"/>
            <a:pathLst>
              <a:path w="2722418" h="1028700">
                <a:moveTo>
                  <a:pt x="0" y="0"/>
                </a:moveTo>
                <a:lnTo>
                  <a:pt x="2722418" y="0"/>
                </a:lnTo>
                <a:lnTo>
                  <a:pt x="2722418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9085077" y="5448530"/>
            <a:ext cx="34636" cy="1028700"/>
          </a:xfrm>
          <a:custGeom>
            <a:avLst/>
            <a:gdLst/>
            <a:ahLst/>
            <a:cxnLst/>
            <a:rect l="l" t="t" r="r" b="b"/>
            <a:pathLst>
              <a:path w="34636" h="1028700">
                <a:moveTo>
                  <a:pt x="0" y="0"/>
                </a:moveTo>
                <a:lnTo>
                  <a:pt x="34636" y="0"/>
                </a:lnTo>
                <a:lnTo>
                  <a:pt x="34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0" name="Shape 27"/>
          <p:cNvSpPr/>
          <p:nvPr/>
        </p:nvSpPr>
        <p:spPr>
          <a:xfrm>
            <a:off x="9254741" y="55627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1" name="Text 28"/>
          <p:cNvSpPr/>
          <p:nvPr/>
        </p:nvSpPr>
        <p:spPr>
          <a:xfrm>
            <a:off x="9221404" y="556278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635673" y="5581866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POIEnricher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254741" y="5943721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信息补全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54741" y="6210328"/>
            <a:ext cx="2609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依赖：高德API + Nginx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937903ee3fe1ce70e0414dfc208a0b0743ce2187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3436">
                  <a:alpha val="95000"/>
                </a:srgbClr>
              </a:gs>
              <a:gs pos="50000">
                <a:srgbClr val="2D3436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9659" y="1461356"/>
            <a:ext cx="893618" cy="893618"/>
          </a:xfrm>
          <a:custGeom>
            <a:avLst/>
            <a:gdLst/>
            <a:ahLst/>
            <a:cxnLst/>
            <a:rect l="l" t="t" r="r" b="b"/>
            <a:pathLst>
              <a:path w="893618" h="893618">
                <a:moveTo>
                  <a:pt x="0" y="0"/>
                </a:moveTo>
                <a:lnTo>
                  <a:pt x="893618" y="0"/>
                </a:lnTo>
                <a:lnTo>
                  <a:pt x="893618" y="893618"/>
                </a:lnTo>
                <a:lnTo>
                  <a:pt x="0" y="8936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0669" y="1681283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984E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3932" y="1452697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671804"/>
            <a:ext cx="57626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核心Agent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技术解析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9106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033907"/>
            <a:ext cx="55340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IntentParser、Spider、Analyzer、POIEnricher深度剖析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IntentParser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07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IntentParser：向量相似度+LLM精排架构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65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85330" y="1318547"/>
            <a:ext cx="5609359" cy="1913659"/>
          </a:xfrm>
          <a:custGeom>
            <a:avLst/>
            <a:gdLst/>
            <a:ahLst/>
            <a:cxnLst/>
            <a:rect l="l" t="t" r="r" b="b"/>
            <a:pathLst>
              <a:path w="5609359" h="1913659">
                <a:moveTo>
                  <a:pt x="0" y="0"/>
                </a:moveTo>
                <a:lnTo>
                  <a:pt x="5609359" y="0"/>
                </a:lnTo>
                <a:lnTo>
                  <a:pt x="5609359" y="1913659"/>
                </a:lnTo>
                <a:lnTo>
                  <a:pt x="0" y="19136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817" y="15227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761080" y="1475226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两级架构设计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2005" y="18560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Text 7"/>
          <p:cNvSpPr/>
          <p:nvPr/>
        </p:nvSpPr>
        <p:spPr>
          <a:xfrm>
            <a:off x="508667" y="1856091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1024" y="1856091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向量相似度检索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1024" y="2122763"/>
            <a:ext cx="4943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使用BAAI/bge-small-zh-v1.5生成384维向量，HNSW索引O(log n)复杂度，余弦相似度阈值0.85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2005" y="261788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3" name="Text 11"/>
          <p:cNvSpPr/>
          <p:nvPr/>
        </p:nvSpPr>
        <p:spPr>
          <a:xfrm>
            <a:off x="508667" y="2617887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1024" y="2617887"/>
            <a:ext cx="439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LLM精排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1024" y="2884559"/>
            <a:ext cx="438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缓存未命中时调用LLM进行复杂语义理解，结果写入向量缓存(TTL 1小时)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330" y="3392672"/>
            <a:ext cx="5609359" cy="1151659"/>
          </a:xfrm>
          <a:custGeom>
            <a:avLst/>
            <a:gdLst/>
            <a:ahLst/>
            <a:cxnLst/>
            <a:rect l="l" t="t" r="r" b="b"/>
            <a:pathLst>
              <a:path w="5609359" h="1151659">
                <a:moveTo>
                  <a:pt x="0" y="0"/>
                </a:moveTo>
                <a:lnTo>
                  <a:pt x="5609359" y="0"/>
                </a:lnTo>
                <a:lnTo>
                  <a:pt x="5609359" y="1151659"/>
                </a:lnTo>
                <a:lnTo>
                  <a:pt x="0" y="11516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533" y="359690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8" name="Text 16"/>
          <p:cNvSpPr/>
          <p:nvPr/>
        </p:nvSpPr>
        <p:spPr>
          <a:xfrm>
            <a:off x="761080" y="3549346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向量数据库选型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005" y="3930211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pgvector：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PostgreSQL扩展，结构化数据与向量数据同库存储，保证事务一致性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2005" y="4196818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HNSW索引：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近似最近邻搜索，召回率&gt;95%，查询复杂度O(log n)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5580" y="1318547"/>
            <a:ext cx="5609359" cy="2104159"/>
          </a:xfrm>
          <a:custGeom>
            <a:avLst/>
            <a:gdLst/>
            <a:ahLst/>
            <a:cxnLst/>
            <a:rect l="l" t="t" r="r" b="b"/>
            <a:pathLst>
              <a:path w="5609359" h="2104159">
                <a:moveTo>
                  <a:pt x="0" y="0"/>
                </a:moveTo>
                <a:lnTo>
                  <a:pt x="5609359" y="0"/>
                </a:lnTo>
                <a:lnTo>
                  <a:pt x="5609359" y="2104159"/>
                </a:lnTo>
                <a:lnTo>
                  <a:pt x="0" y="21041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2255" y="1475226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方案对比分析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2255" y="1856091"/>
          <a:ext cx="5295900" cy="1409700"/>
        </p:xfrm>
        <a:graphic>
          <a:graphicData uri="http://schemas.openxmlformats.org/drawingml/2006/table">
            <a:tbl>
              <a:tblPr/>
              <a:tblGrid>
                <a:gridCol w="16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方案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延迟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准确率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纯LLM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1-2s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95%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纯规则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&lt;10ms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极低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向量+LLM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&lt;100ms/1-2s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208568" y="3575191"/>
            <a:ext cx="5598968" cy="1371600"/>
          </a:xfrm>
          <a:custGeom>
            <a:avLst/>
            <a:gdLst/>
            <a:ahLst/>
            <a:cxnLst/>
            <a:rect l="l" t="t" r="r" b="b"/>
            <a:pathLst>
              <a:path w="5598968" h="1371600">
                <a:moveTo>
                  <a:pt x="0" y="0"/>
                </a:moveTo>
                <a:lnTo>
                  <a:pt x="5598968" y="0"/>
                </a:lnTo>
                <a:lnTo>
                  <a:pt x="559896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208568" y="3575191"/>
            <a:ext cx="34636" cy="1371600"/>
          </a:xfrm>
          <a:custGeom>
            <a:avLst/>
            <a:gdLst/>
            <a:ahLst/>
            <a:cxnLst/>
            <a:rect l="l" t="t" r="r" b="b"/>
            <a:pathLst>
              <a:path w="34636" h="1371600">
                <a:moveTo>
                  <a:pt x="0" y="0"/>
                </a:moveTo>
                <a:lnTo>
                  <a:pt x="34636" y="0"/>
                </a:lnTo>
                <a:lnTo>
                  <a:pt x="346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6" name="Shape 23"/>
          <p:cNvSpPr/>
          <p:nvPr/>
        </p:nvSpPr>
        <p:spPr>
          <a:xfrm>
            <a:off x="6423476" y="3775091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7" name="Text 24"/>
          <p:cNvSpPr/>
          <p:nvPr/>
        </p:nvSpPr>
        <p:spPr>
          <a:xfrm>
            <a:off x="6597307" y="3727535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为什么选择向量+LLM？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05617" y="4108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9" name="Text 26"/>
          <p:cNvSpPr/>
          <p:nvPr/>
        </p:nvSpPr>
        <p:spPr>
          <a:xfrm>
            <a:off x="6621092" y="4070314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混合场景最优：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缓存命中时&lt;100ms，未命中时1-2s，平衡速度与精度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05617" y="437500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1" name="Text 28"/>
          <p:cNvSpPr/>
          <p:nvPr/>
        </p:nvSpPr>
        <p:spPr>
          <a:xfrm>
            <a:off x="6621092" y="4336917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成本可控：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仅未命中时调用LLM，大幅降低API调用成本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05617" y="464161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3" name="Text 30"/>
          <p:cNvSpPr/>
          <p:nvPr/>
        </p:nvSpPr>
        <p:spPr>
          <a:xfrm>
            <a:off x="6621092" y="4603524"/>
            <a:ext cx="352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准确率接近纯LLM：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93% vs 95%，仅2%差距但成本显著降低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Spider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07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Spider：反爬对抗与渐进式搜索策略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65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85330" y="1318547"/>
            <a:ext cx="5228359" cy="2447059"/>
          </a:xfrm>
          <a:custGeom>
            <a:avLst/>
            <a:gdLst/>
            <a:ahLst/>
            <a:cxnLst/>
            <a:rect l="l" t="t" r="r" b="b"/>
            <a:pathLst>
              <a:path w="5228359" h="2447059">
                <a:moveTo>
                  <a:pt x="0" y="0"/>
                </a:moveTo>
                <a:lnTo>
                  <a:pt x="5228359" y="0"/>
                </a:lnTo>
                <a:lnTo>
                  <a:pt x="5228359" y="2447059"/>
                </a:lnTo>
                <a:lnTo>
                  <a:pt x="0" y="24470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817" y="15227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761080" y="1475226"/>
            <a:ext cx="478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小红书四层防护体系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005" y="1856091"/>
          <a:ext cx="4914900" cy="1752600"/>
        </p:xfrm>
        <a:graphic>
          <a:graphicData uri="http://schemas.openxmlformats.org/drawingml/2006/table">
            <a:tbl>
              <a:tblPr/>
              <a:tblGrid>
                <a:gridCol w="874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1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防护层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机制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破解方案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签名验证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HMAC-SHA256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Node.js执行原始算法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设备指纹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Canvas/WebGL/字体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Playwright模拟浏览器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行为检测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鼠标轨迹/点击频率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随机延迟+模拟人类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IP风控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频率限制/地域封禁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代理IP池轮换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398318" y="3926625"/>
            <a:ext cx="5227493" cy="1609725"/>
          </a:xfrm>
          <a:custGeom>
            <a:avLst/>
            <a:gdLst/>
            <a:ahLst/>
            <a:cxnLst/>
            <a:rect l="l" t="t" r="r" b="b"/>
            <a:pathLst>
              <a:path w="5227493" h="1609725">
                <a:moveTo>
                  <a:pt x="0" y="0"/>
                </a:moveTo>
                <a:lnTo>
                  <a:pt x="5227493" y="0"/>
                </a:lnTo>
                <a:lnTo>
                  <a:pt x="5227493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98318" y="3926625"/>
            <a:ext cx="34636" cy="1609725"/>
          </a:xfrm>
          <a:custGeom>
            <a:avLst/>
            <a:gdLst/>
            <a:ahLst/>
            <a:cxnLst/>
            <a:rect l="l" t="t" r="r" b="b"/>
            <a:pathLst>
              <a:path w="34636" h="1609725">
                <a:moveTo>
                  <a:pt x="0" y="0"/>
                </a:moveTo>
                <a:lnTo>
                  <a:pt x="34636" y="0"/>
                </a:lnTo>
                <a:lnTo>
                  <a:pt x="34636" y="1609725"/>
                </a:lnTo>
                <a:lnTo>
                  <a:pt x="0" y="1609725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1" name="Shape 8"/>
          <p:cNvSpPr/>
          <p:nvPr/>
        </p:nvSpPr>
        <p:spPr>
          <a:xfrm>
            <a:off x="581079" y="412653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2" name="Text 9"/>
          <p:cNvSpPr/>
          <p:nvPr/>
        </p:nvSpPr>
        <p:spPr>
          <a:xfrm>
            <a:off x="787057" y="4078974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Node.js签名破解原理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7982" y="4421749"/>
            <a:ext cx="49720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小红书前端使用Webpack打包+JS混淆，关键代码被压缩为：</a:t>
            </a:r>
            <a:r>
              <a:rPr lang="en-US" sz="1050" dirty="0">
                <a:solidFill>
                  <a:srgbClr val="636E72"/>
                </a:solidFill>
                <a:highlight>
                  <a:srgbClr val="2D3436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var _0x5f2a=['charCodeAt',...]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7982" y="4948465"/>
            <a:ext cx="49720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逆向工程：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AST分析→Hook关键点→提取算法→Node.js复现。</a:t>
            </a:r>
            <a:r>
              <a:rPr lang="en-US" sz="105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优势：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直接复用前端代码，100%兼容性，维护成本低。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816203" y="1318547"/>
            <a:ext cx="5990359" cy="5152159"/>
          </a:xfrm>
          <a:custGeom>
            <a:avLst/>
            <a:gdLst/>
            <a:ahLst/>
            <a:cxnLst/>
            <a:rect l="l" t="t" r="r" b="b"/>
            <a:pathLst>
              <a:path w="5990359" h="5152159">
                <a:moveTo>
                  <a:pt x="0" y="0"/>
                </a:moveTo>
                <a:lnTo>
                  <a:pt x="5990359" y="0"/>
                </a:lnTo>
                <a:lnTo>
                  <a:pt x="5990359" y="5152159"/>
                </a:lnTo>
                <a:lnTo>
                  <a:pt x="0" y="51521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96691" y="15227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21431"/>
                </a:moveTo>
                <a:cubicBezTo>
                  <a:pt x="6396" y="21431"/>
                  <a:pt x="2478" y="24043"/>
                  <a:pt x="804" y="28062"/>
                </a:cubicBezTo>
                <a:cubicBezTo>
                  <a:pt x="-871" y="32080"/>
                  <a:pt x="67" y="36668"/>
                  <a:pt x="3148" y="39715"/>
                </a:cubicBezTo>
                <a:lnTo>
                  <a:pt x="64294" y="100894"/>
                </a:lnTo>
                <a:lnTo>
                  <a:pt x="64294" y="139303"/>
                </a:lnTo>
                <a:cubicBezTo>
                  <a:pt x="64294" y="142149"/>
                  <a:pt x="65432" y="144862"/>
                  <a:pt x="67441" y="146871"/>
                </a:cubicBezTo>
                <a:lnTo>
                  <a:pt x="88873" y="168302"/>
                </a:lnTo>
                <a:cubicBezTo>
                  <a:pt x="91953" y="171383"/>
                  <a:pt x="96541" y="172287"/>
                  <a:pt x="100559" y="170613"/>
                </a:cubicBezTo>
                <a:cubicBezTo>
                  <a:pt x="104578" y="168939"/>
                  <a:pt x="107156" y="165054"/>
                  <a:pt x="107156" y="160734"/>
                </a:cubicBezTo>
                <a:lnTo>
                  <a:pt x="107156" y="100894"/>
                </a:lnTo>
                <a:lnTo>
                  <a:pt x="168302" y="39748"/>
                </a:lnTo>
                <a:cubicBezTo>
                  <a:pt x="171383" y="36668"/>
                  <a:pt x="172287" y="32080"/>
                  <a:pt x="170613" y="28062"/>
                </a:cubicBezTo>
                <a:cubicBezTo>
                  <a:pt x="168939" y="24043"/>
                  <a:pt x="165054" y="21431"/>
                  <a:pt x="160734" y="21431"/>
                </a:cubicBezTo>
                <a:lnTo>
                  <a:pt x="10716" y="21431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7" name="Text 14"/>
          <p:cNvSpPr/>
          <p:nvPr/>
        </p:nvSpPr>
        <p:spPr>
          <a:xfrm>
            <a:off x="6191953" y="1475226"/>
            <a:ext cx="554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渐进式四阶段漏斗搜索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90197" y="1856091"/>
            <a:ext cx="5656118" cy="609600"/>
          </a:xfrm>
          <a:custGeom>
            <a:avLst/>
            <a:gdLst/>
            <a:ahLst/>
            <a:cxnLst/>
            <a:rect l="l" t="t" r="r" b="b"/>
            <a:pathLst>
              <a:path w="5656118" h="609600">
                <a:moveTo>
                  <a:pt x="0" y="0"/>
                </a:moveTo>
                <a:lnTo>
                  <a:pt x="5656118" y="0"/>
                </a:lnTo>
                <a:lnTo>
                  <a:pt x="5656118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990197" y="1856091"/>
            <a:ext cx="34636" cy="609600"/>
          </a:xfrm>
          <a:custGeom>
            <a:avLst/>
            <a:gdLst/>
            <a:ahLst/>
            <a:cxnLst/>
            <a:rect l="l" t="t" r="r" b="b"/>
            <a:pathLst>
              <a:path w="34636" h="609600">
                <a:moveTo>
                  <a:pt x="0" y="0"/>
                </a:moveTo>
                <a:lnTo>
                  <a:pt x="34636" y="0"/>
                </a:lnTo>
                <a:lnTo>
                  <a:pt x="34636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0" name="Text 17"/>
          <p:cNvSpPr/>
          <p:nvPr/>
        </p:nvSpPr>
        <p:spPr>
          <a:xfrm>
            <a:off x="6159861" y="1932263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Phase 1：精准狙击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877171" y="1951341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3-5篇/关键词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59861" y="2198936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"广州 本地人 老店" → 高精准度，挖掘真实本地人推荐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990197" y="2579801"/>
            <a:ext cx="5656118" cy="609600"/>
          </a:xfrm>
          <a:custGeom>
            <a:avLst/>
            <a:gdLst/>
            <a:ahLst/>
            <a:cxnLst/>
            <a:rect l="l" t="t" r="r" b="b"/>
            <a:pathLst>
              <a:path w="5656118" h="609600">
                <a:moveTo>
                  <a:pt x="0" y="0"/>
                </a:moveTo>
                <a:lnTo>
                  <a:pt x="5656118" y="0"/>
                </a:lnTo>
                <a:lnTo>
                  <a:pt x="5656118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990197" y="2579801"/>
            <a:ext cx="34636" cy="609600"/>
          </a:xfrm>
          <a:custGeom>
            <a:avLst/>
            <a:gdLst/>
            <a:ahLst/>
            <a:cxnLst/>
            <a:rect l="l" t="t" r="r" b="b"/>
            <a:pathLst>
              <a:path w="34636" h="609600">
                <a:moveTo>
                  <a:pt x="0" y="0"/>
                </a:moveTo>
                <a:lnTo>
                  <a:pt x="34636" y="0"/>
                </a:lnTo>
                <a:lnTo>
                  <a:pt x="34636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5" name="Text 22"/>
          <p:cNvSpPr/>
          <p:nvPr/>
        </p:nvSpPr>
        <p:spPr>
          <a:xfrm>
            <a:off x="6159861" y="2655973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Phase 2：类型扩展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877171" y="2675051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3-5篇/关键词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159861" y="2922645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"广州 火锅 本地人" → 扩展同类型不同表述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90197" y="3303510"/>
            <a:ext cx="5656118" cy="609600"/>
          </a:xfrm>
          <a:custGeom>
            <a:avLst/>
            <a:gdLst/>
            <a:ahLst/>
            <a:cxnLst/>
            <a:rect l="l" t="t" r="r" b="b"/>
            <a:pathLst>
              <a:path w="5656118" h="609600">
                <a:moveTo>
                  <a:pt x="0" y="0"/>
                </a:moveTo>
                <a:lnTo>
                  <a:pt x="5656118" y="0"/>
                </a:lnTo>
                <a:lnTo>
                  <a:pt x="5656118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5990197" y="3303510"/>
            <a:ext cx="34636" cy="609600"/>
          </a:xfrm>
          <a:custGeom>
            <a:avLst/>
            <a:gdLst/>
            <a:ahLst/>
            <a:cxnLst/>
            <a:rect l="l" t="t" r="r" b="b"/>
            <a:pathLst>
              <a:path w="34636" h="609600">
                <a:moveTo>
                  <a:pt x="0" y="0"/>
                </a:moveTo>
                <a:lnTo>
                  <a:pt x="34636" y="0"/>
                </a:lnTo>
                <a:lnTo>
                  <a:pt x="34636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0" name="Text 27"/>
          <p:cNvSpPr/>
          <p:nvPr/>
        </p:nvSpPr>
        <p:spPr>
          <a:xfrm>
            <a:off x="6159861" y="3379682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Phase 3：长尾挖掘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877171" y="339876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2-3篇/关键词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159861" y="3646354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"广州 隐藏 火锅" → 挖掘竞争少、真实性高的长尾内容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990197" y="4027219"/>
            <a:ext cx="5656118" cy="609600"/>
          </a:xfrm>
          <a:custGeom>
            <a:avLst/>
            <a:gdLst/>
            <a:ahLst/>
            <a:cxnLst/>
            <a:rect l="l" t="t" r="r" b="b"/>
            <a:pathLst>
              <a:path w="5656118" h="609600">
                <a:moveTo>
                  <a:pt x="0" y="0"/>
                </a:moveTo>
                <a:lnTo>
                  <a:pt x="5656118" y="0"/>
                </a:lnTo>
                <a:lnTo>
                  <a:pt x="5656118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990197" y="4027219"/>
            <a:ext cx="34636" cy="609600"/>
          </a:xfrm>
          <a:custGeom>
            <a:avLst/>
            <a:gdLst/>
            <a:ahLst/>
            <a:cxnLst/>
            <a:rect l="l" t="t" r="r" b="b"/>
            <a:pathLst>
              <a:path w="34636" h="609600">
                <a:moveTo>
                  <a:pt x="0" y="0"/>
                </a:moveTo>
                <a:lnTo>
                  <a:pt x="34636" y="0"/>
                </a:lnTo>
                <a:lnTo>
                  <a:pt x="34636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5" name="Text 32"/>
          <p:cNvSpPr/>
          <p:nvPr/>
        </p:nvSpPr>
        <p:spPr>
          <a:xfrm>
            <a:off x="6159861" y="4103391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Phase 4：兜底补充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877171" y="4122469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5-8篇/关键词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159861" y="4370068"/>
            <a:ext cx="555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"广州 火锅 推荐" → 确保数量达标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972878" y="4750933"/>
            <a:ext cx="5676900" cy="419100"/>
          </a:xfrm>
          <a:custGeom>
            <a:avLst/>
            <a:gdLst/>
            <a:ahLst/>
            <a:cxnLst/>
            <a:rect l="l" t="t" r="r" b="b"/>
            <a:pathLst>
              <a:path w="5676900" h="419100">
                <a:moveTo>
                  <a:pt x="0" y="0"/>
                </a:moveTo>
                <a:lnTo>
                  <a:pt x="5676900" y="0"/>
                </a:lnTo>
                <a:lnTo>
                  <a:pt x="56769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9" name="Text 36"/>
          <p:cNvSpPr/>
          <p:nvPr/>
        </p:nvSpPr>
        <p:spPr>
          <a:xfrm>
            <a:off x="6053800" y="4865191"/>
            <a:ext cx="551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终止条件：</a:t>
            </a:r>
            <a:r>
              <a:rPr lang="en-US" sz="1050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候选池≥15篇 或 所有Phase执行完毕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972878" y="5284143"/>
            <a:ext cx="1819275" cy="571500"/>
          </a:xfrm>
          <a:custGeom>
            <a:avLst/>
            <a:gdLst/>
            <a:ahLst/>
            <a:cxnLst/>
            <a:rect l="l" t="t" r="r" b="b"/>
            <a:pathLst>
              <a:path w="1819275" h="571500">
                <a:moveTo>
                  <a:pt x="0" y="0"/>
                </a:moveTo>
                <a:lnTo>
                  <a:pt x="1819275" y="0"/>
                </a:lnTo>
                <a:lnTo>
                  <a:pt x="18192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6006189" y="5360315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漏斗效应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020476" y="5626922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早期高精准，后期保召回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903314" y="5284143"/>
            <a:ext cx="1819275" cy="571500"/>
          </a:xfrm>
          <a:custGeom>
            <a:avLst/>
            <a:gdLst/>
            <a:ahLst/>
            <a:cxnLst/>
            <a:rect l="l" t="t" r="r" b="b"/>
            <a:pathLst>
              <a:path w="1819275" h="571500">
                <a:moveTo>
                  <a:pt x="0" y="0"/>
                </a:moveTo>
                <a:lnTo>
                  <a:pt x="1819275" y="0"/>
                </a:lnTo>
                <a:lnTo>
                  <a:pt x="18192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10196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936625" y="5360315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Early Stopping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950912" y="5626922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满足数量即停止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9833751" y="5284143"/>
            <a:ext cx="1819275" cy="571500"/>
          </a:xfrm>
          <a:custGeom>
            <a:avLst/>
            <a:gdLst/>
            <a:ahLst/>
            <a:cxnLst/>
            <a:rect l="l" t="t" r="r" b="b"/>
            <a:pathLst>
              <a:path w="1819275" h="571500">
                <a:moveTo>
                  <a:pt x="0" y="0"/>
                </a:moveTo>
                <a:lnTo>
                  <a:pt x="1819275" y="0"/>
                </a:lnTo>
                <a:lnTo>
                  <a:pt x="18192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9867061" y="5360315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多样性保障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881348" y="5626922"/>
            <a:ext cx="1724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多关键词组合覆盖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Analyzer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602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Analyzer：端到端LLM架构革命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65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85330" y="1318547"/>
            <a:ext cx="5047384" cy="1685059"/>
          </a:xfrm>
          <a:custGeom>
            <a:avLst/>
            <a:gdLst/>
            <a:ahLst/>
            <a:cxnLst/>
            <a:rect l="l" t="t" r="r" b="b"/>
            <a:pathLst>
              <a:path w="5047384" h="1685059">
                <a:moveTo>
                  <a:pt x="0" y="0"/>
                </a:moveTo>
                <a:lnTo>
                  <a:pt x="5047384" y="0"/>
                </a:lnTo>
                <a:lnTo>
                  <a:pt x="5047384" y="1685059"/>
                </a:lnTo>
                <a:lnTo>
                  <a:pt x="0" y="16850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817" y="15227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636E72"/>
          </a:solidFill>
          <a:ln/>
        </p:spPr>
      </p:sp>
      <p:sp>
        <p:nvSpPr>
          <p:cNvPr id="7" name="Text 5"/>
          <p:cNvSpPr/>
          <p:nvPr/>
        </p:nvSpPr>
        <p:spPr>
          <a:xfrm>
            <a:off x="761080" y="1475226"/>
            <a:ext cx="460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传统Pipeline的局限性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2005" y="1856087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1. 误差累积：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Step 1分词错误→Step 2 NER错误→最终输出错误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005" y="2122694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2. 上下文割裂：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每个Step独立处理，丢失跨句依赖（如"但是"转折）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005" y="2389301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3. 维护地狱：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5个模型需要5套训练数据、5套部署环境、5倍监控成本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005" y="2655903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4. 泛化能力差：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对口语化、网络新词（如"绝绝子"）识别率低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8318" y="3159686"/>
            <a:ext cx="5036993" cy="1295400"/>
          </a:xfrm>
          <a:custGeom>
            <a:avLst/>
            <a:gdLst/>
            <a:ahLst/>
            <a:cxnLst/>
            <a:rect l="l" t="t" r="r" b="b"/>
            <a:pathLst>
              <a:path w="5036993" h="1295400">
                <a:moveTo>
                  <a:pt x="0" y="0"/>
                </a:moveTo>
                <a:lnTo>
                  <a:pt x="5036993" y="0"/>
                </a:lnTo>
                <a:lnTo>
                  <a:pt x="5036993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98318" y="3159686"/>
            <a:ext cx="34636" cy="1295400"/>
          </a:xfrm>
          <a:custGeom>
            <a:avLst/>
            <a:gdLst/>
            <a:ahLst/>
            <a:cxnLst/>
            <a:rect l="l" t="t" r="r" b="b"/>
            <a:pathLst>
              <a:path w="34636" h="1295400">
                <a:moveTo>
                  <a:pt x="0" y="0"/>
                </a:moveTo>
                <a:lnTo>
                  <a:pt x="34636" y="0"/>
                </a:lnTo>
                <a:lnTo>
                  <a:pt x="34636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4" name="Shape 12"/>
          <p:cNvSpPr/>
          <p:nvPr/>
        </p:nvSpPr>
        <p:spPr>
          <a:xfrm>
            <a:off x="613226" y="335959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5" name="Text 13"/>
          <p:cNvSpPr/>
          <p:nvPr/>
        </p:nvSpPr>
        <p:spPr>
          <a:xfrm>
            <a:off x="787057" y="3312035"/>
            <a:ext cx="458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端到端架构核心洞察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7982" y="3654814"/>
            <a:ext cx="4781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LLM通过预训练已内化：</a:t>
            </a: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语言理解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（分词、句法）、</a:t>
            </a: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世界知识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（知名餐厅、地域特色）、</a:t>
            </a: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推理能力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（因果、对比、转折）。</a:t>
            </a:r>
            <a:r>
              <a:rPr lang="en-US" sz="105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因此，不需要显式分步，直接端到端提取。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33618" y="1318547"/>
            <a:ext cx="6171334" cy="2751859"/>
          </a:xfrm>
          <a:custGeom>
            <a:avLst/>
            <a:gdLst/>
            <a:ahLst/>
            <a:cxnLst/>
            <a:rect l="l" t="t" r="r" b="b"/>
            <a:pathLst>
              <a:path w="6171334" h="2751859">
                <a:moveTo>
                  <a:pt x="0" y="0"/>
                </a:moveTo>
                <a:lnTo>
                  <a:pt x="6171334" y="0"/>
                </a:lnTo>
                <a:lnTo>
                  <a:pt x="6171334" y="2751859"/>
                </a:lnTo>
                <a:lnTo>
                  <a:pt x="0" y="27518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14106" y="15227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9" name="Text 17"/>
          <p:cNvSpPr/>
          <p:nvPr/>
        </p:nvSpPr>
        <p:spPr>
          <a:xfrm>
            <a:off x="6009368" y="1475226"/>
            <a:ext cx="572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Prompt Engineering深度优化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90293" y="1856087"/>
            <a:ext cx="5857875" cy="609600"/>
          </a:xfrm>
          <a:custGeom>
            <a:avLst/>
            <a:gdLst/>
            <a:ahLst/>
            <a:cxnLst/>
            <a:rect l="l" t="t" r="r" b="b"/>
            <a:pathLst>
              <a:path w="5857875" h="609600">
                <a:moveTo>
                  <a:pt x="0" y="0"/>
                </a:moveTo>
                <a:lnTo>
                  <a:pt x="5857875" y="0"/>
                </a:lnTo>
                <a:lnTo>
                  <a:pt x="58578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904553" y="1970349"/>
            <a:ext cx="569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Chain-of-Thought (CoT)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04553" y="2198866"/>
            <a:ext cx="568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要求LLM输出analysis字段，强制展示推理过程，</a:t>
            </a:r>
            <a:r>
              <a:rPr lang="en-US" sz="90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提升准确率8-12%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90293" y="2579801"/>
            <a:ext cx="5857875" cy="609600"/>
          </a:xfrm>
          <a:custGeom>
            <a:avLst/>
            <a:gdLst/>
            <a:ahLst/>
            <a:cxnLst/>
            <a:rect l="l" t="t" r="r" b="b"/>
            <a:pathLst>
              <a:path w="5857875" h="609600">
                <a:moveTo>
                  <a:pt x="0" y="0"/>
                </a:moveTo>
                <a:lnTo>
                  <a:pt x="5857875" y="0"/>
                </a:lnTo>
                <a:lnTo>
                  <a:pt x="58578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04553" y="2694059"/>
            <a:ext cx="569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JSON Schema约束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04553" y="2922580"/>
            <a:ext cx="568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使用StructuredOutputParser，失败时自动重试并修正格式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90293" y="3303510"/>
            <a:ext cx="5857875" cy="609600"/>
          </a:xfrm>
          <a:custGeom>
            <a:avLst/>
            <a:gdLst/>
            <a:ahLst/>
            <a:cxnLst/>
            <a:rect l="l" t="t" r="r" b="b"/>
            <a:pathLst>
              <a:path w="5857875" h="609600">
                <a:moveTo>
                  <a:pt x="0" y="0"/>
                </a:moveTo>
                <a:lnTo>
                  <a:pt x="5857875" y="0"/>
                </a:lnTo>
                <a:lnTo>
                  <a:pt x="585787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04553" y="3417768"/>
            <a:ext cx="569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置信度阈值过滤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04553" y="3646289"/>
            <a:ext cx="5686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confidence &lt; 0.5的结果丢弃，避免低质量数据污染推荐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33618" y="4230644"/>
            <a:ext cx="6171334" cy="2447059"/>
          </a:xfrm>
          <a:custGeom>
            <a:avLst/>
            <a:gdLst/>
            <a:ahLst/>
            <a:cxnLst/>
            <a:rect l="l" t="t" r="r" b="b"/>
            <a:pathLst>
              <a:path w="6171334" h="2447059">
                <a:moveTo>
                  <a:pt x="0" y="0"/>
                </a:moveTo>
                <a:lnTo>
                  <a:pt x="6171334" y="0"/>
                </a:lnTo>
                <a:lnTo>
                  <a:pt x="6171334" y="2447059"/>
                </a:lnTo>
                <a:lnTo>
                  <a:pt x="0" y="24470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90293" y="4387318"/>
            <a:ext cx="594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架构对比：量化收益</a:t>
            </a:r>
            <a:endParaRPr lang="en-US" sz="1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90293" y="4768183"/>
          <a:ext cx="5857875" cy="1752600"/>
        </p:xfrm>
        <a:graphic>
          <a:graphicData uri="http://schemas.openxmlformats.org/drawingml/2006/table">
            <a:tbl>
              <a:tblPr/>
              <a:tblGrid>
                <a:gridCol w="1616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0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2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Pipeline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End-to-End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开发周期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2天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7x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准确率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62%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89%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+43%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延迟P99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3x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维护成本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高(5套)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低(1个)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5x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f77fb5ec8a96aa98066c7bccd817d29e761f7960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5466" b="54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3436">
                  <a:alpha val="95000"/>
                </a:srgbClr>
              </a:gs>
              <a:gs pos="50000">
                <a:srgbClr val="2D3436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9659" y="1461356"/>
            <a:ext cx="893618" cy="893618"/>
          </a:xfrm>
          <a:custGeom>
            <a:avLst/>
            <a:gdLst/>
            <a:ahLst/>
            <a:cxnLst/>
            <a:rect l="l" t="t" r="r" b="b"/>
            <a:pathLst>
              <a:path w="893618" h="893618">
                <a:moveTo>
                  <a:pt x="0" y="0"/>
                </a:moveTo>
                <a:lnTo>
                  <a:pt x="893618" y="0"/>
                </a:lnTo>
                <a:lnTo>
                  <a:pt x="893618" y="893618"/>
                </a:lnTo>
                <a:lnTo>
                  <a:pt x="0" y="8936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9519" y="1681283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984E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3932" y="1452697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671800"/>
            <a:ext cx="3086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缓存与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9106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033907"/>
            <a:ext cx="2857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三级缓存架构与局部性原理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275" y="372275"/>
            <a:ext cx="11512598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kern="0" spc="103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Cache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275" y="632772"/>
            <a:ext cx="11614974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8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三级缓存架构：从理论到实现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275" y="1116693"/>
            <a:ext cx="595640" cy="18614"/>
          </a:xfrm>
          <a:custGeom>
            <a:avLst/>
            <a:gdLst/>
            <a:ahLst/>
            <a:cxnLst/>
            <a:rect l="l" t="t" r="r" b="b"/>
            <a:pathLst>
              <a:path w="595640" h="18614">
                <a:moveTo>
                  <a:pt x="0" y="0"/>
                </a:moveTo>
                <a:lnTo>
                  <a:pt x="595640" y="0"/>
                </a:lnTo>
                <a:lnTo>
                  <a:pt x="595640" y="18614"/>
                </a:lnTo>
                <a:lnTo>
                  <a:pt x="0" y="18614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76505" y="1288351"/>
            <a:ext cx="5620504" cy="1981517"/>
          </a:xfrm>
          <a:custGeom>
            <a:avLst/>
            <a:gdLst/>
            <a:ahLst/>
            <a:cxnLst/>
            <a:rect l="l" t="t" r="r" b="b"/>
            <a:pathLst>
              <a:path w="5620504" h="1981517">
                <a:moveTo>
                  <a:pt x="0" y="0"/>
                </a:moveTo>
                <a:lnTo>
                  <a:pt x="5620504" y="0"/>
                </a:lnTo>
                <a:lnTo>
                  <a:pt x="5620504" y="1981517"/>
                </a:lnTo>
                <a:lnTo>
                  <a:pt x="0" y="19815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2860" y="1487909"/>
            <a:ext cx="167524" cy="167524"/>
          </a:xfrm>
          <a:custGeom>
            <a:avLst/>
            <a:gdLst/>
            <a:ahLst/>
            <a:cxnLst/>
            <a:rect l="l" t="t" r="r" b="b"/>
            <a:pathLst>
              <a:path w="167524" h="167524">
                <a:moveTo>
                  <a:pt x="39263" y="18323"/>
                </a:moveTo>
                <a:cubicBezTo>
                  <a:pt x="39263" y="8213"/>
                  <a:pt x="47476" y="0"/>
                  <a:pt x="57586" y="0"/>
                </a:cubicBezTo>
                <a:lnTo>
                  <a:pt x="65439" y="0"/>
                </a:lnTo>
                <a:cubicBezTo>
                  <a:pt x="71230" y="0"/>
                  <a:pt x="75909" y="4679"/>
                  <a:pt x="75909" y="10470"/>
                </a:cubicBezTo>
                <a:lnTo>
                  <a:pt x="75909" y="157053"/>
                </a:lnTo>
                <a:cubicBezTo>
                  <a:pt x="75909" y="162845"/>
                  <a:pt x="71230" y="167524"/>
                  <a:pt x="65439" y="167524"/>
                </a:cubicBezTo>
                <a:lnTo>
                  <a:pt x="54969" y="167524"/>
                </a:lnTo>
                <a:cubicBezTo>
                  <a:pt x="45218" y="167524"/>
                  <a:pt x="37006" y="160849"/>
                  <a:pt x="34683" y="151818"/>
                </a:cubicBezTo>
                <a:cubicBezTo>
                  <a:pt x="34454" y="151818"/>
                  <a:pt x="34257" y="151818"/>
                  <a:pt x="34028" y="151818"/>
                </a:cubicBezTo>
                <a:cubicBezTo>
                  <a:pt x="19566" y="151818"/>
                  <a:pt x="7853" y="140105"/>
                  <a:pt x="7853" y="125643"/>
                </a:cubicBezTo>
                <a:cubicBezTo>
                  <a:pt x="7853" y="119753"/>
                  <a:pt x="9816" y="114322"/>
                  <a:pt x="13088" y="109937"/>
                </a:cubicBezTo>
                <a:cubicBezTo>
                  <a:pt x="6740" y="105160"/>
                  <a:pt x="2618" y="97569"/>
                  <a:pt x="2618" y="88997"/>
                </a:cubicBezTo>
                <a:cubicBezTo>
                  <a:pt x="2618" y="78887"/>
                  <a:pt x="8376" y="70085"/>
                  <a:pt x="16752" y="65733"/>
                </a:cubicBezTo>
                <a:cubicBezTo>
                  <a:pt x="14429" y="61807"/>
                  <a:pt x="13088" y="57226"/>
                  <a:pt x="13088" y="52351"/>
                </a:cubicBezTo>
                <a:cubicBezTo>
                  <a:pt x="13088" y="37889"/>
                  <a:pt x="24801" y="26176"/>
                  <a:pt x="39263" y="26176"/>
                </a:cubicBezTo>
                <a:lnTo>
                  <a:pt x="39263" y="18323"/>
                </a:lnTo>
                <a:close/>
                <a:moveTo>
                  <a:pt x="128260" y="18323"/>
                </a:moveTo>
                <a:lnTo>
                  <a:pt x="128260" y="26176"/>
                </a:lnTo>
                <a:cubicBezTo>
                  <a:pt x="142722" y="26176"/>
                  <a:pt x="154436" y="37889"/>
                  <a:pt x="154436" y="52351"/>
                </a:cubicBezTo>
                <a:cubicBezTo>
                  <a:pt x="154436" y="57259"/>
                  <a:pt x="153094" y="61840"/>
                  <a:pt x="150771" y="65733"/>
                </a:cubicBezTo>
                <a:cubicBezTo>
                  <a:pt x="159180" y="70085"/>
                  <a:pt x="164906" y="78854"/>
                  <a:pt x="164906" y="88997"/>
                </a:cubicBezTo>
                <a:cubicBezTo>
                  <a:pt x="164906" y="97569"/>
                  <a:pt x="160783" y="105160"/>
                  <a:pt x="154436" y="109937"/>
                </a:cubicBezTo>
                <a:cubicBezTo>
                  <a:pt x="157708" y="114322"/>
                  <a:pt x="159671" y="119753"/>
                  <a:pt x="159671" y="125643"/>
                </a:cubicBezTo>
                <a:cubicBezTo>
                  <a:pt x="159671" y="140105"/>
                  <a:pt x="147957" y="151818"/>
                  <a:pt x="133495" y="151818"/>
                </a:cubicBezTo>
                <a:cubicBezTo>
                  <a:pt x="133266" y="151818"/>
                  <a:pt x="133070" y="151818"/>
                  <a:pt x="132841" y="151818"/>
                </a:cubicBezTo>
                <a:cubicBezTo>
                  <a:pt x="130518" y="160849"/>
                  <a:pt x="122305" y="167524"/>
                  <a:pt x="112555" y="167524"/>
                </a:cubicBezTo>
                <a:lnTo>
                  <a:pt x="102085" y="167524"/>
                </a:lnTo>
                <a:cubicBezTo>
                  <a:pt x="96293" y="167524"/>
                  <a:pt x="91615" y="162845"/>
                  <a:pt x="91615" y="157053"/>
                </a:cubicBezTo>
                <a:lnTo>
                  <a:pt x="91615" y="10470"/>
                </a:lnTo>
                <a:cubicBezTo>
                  <a:pt x="91615" y="4679"/>
                  <a:pt x="96293" y="0"/>
                  <a:pt x="102085" y="0"/>
                </a:cubicBezTo>
                <a:lnTo>
                  <a:pt x="109937" y="0"/>
                </a:lnTo>
                <a:cubicBezTo>
                  <a:pt x="120048" y="0"/>
                  <a:pt x="128260" y="8213"/>
                  <a:pt x="128260" y="18323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743651" y="1441438"/>
            <a:ext cx="5183927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局部性原理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8053" y="1813581"/>
            <a:ext cx="5304070" cy="595640"/>
          </a:xfrm>
          <a:custGeom>
            <a:avLst/>
            <a:gdLst/>
            <a:ahLst/>
            <a:cxnLst/>
            <a:rect l="l" t="t" r="r" b="b"/>
            <a:pathLst>
              <a:path w="5304070" h="595640">
                <a:moveTo>
                  <a:pt x="0" y="0"/>
                </a:moveTo>
                <a:lnTo>
                  <a:pt x="5304070" y="0"/>
                </a:lnTo>
                <a:lnTo>
                  <a:pt x="5304070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8053" y="1813581"/>
            <a:ext cx="16922" cy="595640"/>
          </a:xfrm>
          <a:custGeom>
            <a:avLst/>
            <a:gdLst/>
            <a:ahLst/>
            <a:cxnLst/>
            <a:rect l="l" t="t" r="r" b="b"/>
            <a:pathLst>
              <a:path w="16922" h="595640">
                <a:moveTo>
                  <a:pt x="0" y="0"/>
                </a:moveTo>
                <a:lnTo>
                  <a:pt x="16922" y="0"/>
                </a:lnTo>
                <a:lnTo>
                  <a:pt x="16922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0" name="Text 8"/>
          <p:cNvSpPr/>
          <p:nvPr/>
        </p:nvSpPr>
        <p:spPr>
          <a:xfrm>
            <a:off x="658157" y="1925227"/>
            <a:ext cx="5137392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时间局部性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157" y="2148510"/>
            <a:ext cx="5128085" cy="14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9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用户短时间内重复搜索同一内容（如"广州火锅"→翻页→再次搜索）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8053" y="2520721"/>
            <a:ext cx="5304070" cy="595640"/>
          </a:xfrm>
          <a:custGeom>
            <a:avLst/>
            <a:gdLst/>
            <a:ahLst/>
            <a:cxnLst/>
            <a:rect l="l" t="t" r="r" b="b"/>
            <a:pathLst>
              <a:path w="5304070" h="595640">
                <a:moveTo>
                  <a:pt x="0" y="0"/>
                </a:moveTo>
                <a:lnTo>
                  <a:pt x="5304070" y="0"/>
                </a:lnTo>
                <a:lnTo>
                  <a:pt x="5304070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8053" y="2520721"/>
            <a:ext cx="16922" cy="595640"/>
          </a:xfrm>
          <a:custGeom>
            <a:avLst/>
            <a:gdLst/>
            <a:ahLst/>
            <a:cxnLst/>
            <a:rect l="l" t="t" r="r" b="b"/>
            <a:pathLst>
              <a:path w="16922" h="595640">
                <a:moveTo>
                  <a:pt x="0" y="0"/>
                </a:moveTo>
                <a:lnTo>
                  <a:pt x="16922" y="0"/>
                </a:lnTo>
                <a:lnTo>
                  <a:pt x="16922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157" y="2632363"/>
            <a:ext cx="5137392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空间局部性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157" y="2855646"/>
            <a:ext cx="5128085" cy="14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9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搜索"广州火锅"的用户也可能搜索"广州串串"（地域相近）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6505" y="3426618"/>
            <a:ext cx="5620504" cy="2055972"/>
          </a:xfrm>
          <a:custGeom>
            <a:avLst/>
            <a:gdLst/>
            <a:ahLst/>
            <a:cxnLst/>
            <a:rect l="l" t="t" r="r" b="b"/>
            <a:pathLst>
              <a:path w="5620504" h="2055972">
                <a:moveTo>
                  <a:pt x="0" y="0"/>
                </a:moveTo>
                <a:lnTo>
                  <a:pt x="5620504" y="0"/>
                </a:lnTo>
                <a:lnTo>
                  <a:pt x="5620504" y="2055972"/>
                </a:lnTo>
                <a:lnTo>
                  <a:pt x="0" y="205597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593" y="3579705"/>
            <a:ext cx="5397985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缓存层次决策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593" y="3951848"/>
          <a:ext cx="5314223" cy="1377416"/>
        </p:xfrm>
        <a:graphic>
          <a:graphicData uri="http://schemas.openxmlformats.org/drawingml/2006/table">
            <a:tbl>
              <a:tblPr/>
              <a:tblGrid>
                <a:gridCol w="865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354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延迟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5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进程内存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&lt;1μs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MB级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35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Redis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GB级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54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PostgreSQL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~10ms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TB级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4455" marB="744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194290" y="1288351"/>
            <a:ext cx="5620504" cy="4150018"/>
          </a:xfrm>
          <a:custGeom>
            <a:avLst/>
            <a:gdLst/>
            <a:ahLst/>
            <a:cxnLst/>
            <a:rect l="l" t="t" r="r" b="b"/>
            <a:pathLst>
              <a:path w="5620504" h="4150018">
                <a:moveTo>
                  <a:pt x="0" y="0"/>
                </a:moveTo>
                <a:lnTo>
                  <a:pt x="5620504" y="0"/>
                </a:lnTo>
                <a:lnTo>
                  <a:pt x="5620504" y="4150018"/>
                </a:lnTo>
                <a:lnTo>
                  <a:pt x="0" y="4150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60175" y="1487909"/>
            <a:ext cx="188464" cy="167524"/>
          </a:xfrm>
          <a:custGeom>
            <a:avLst/>
            <a:gdLst/>
            <a:ahLst/>
            <a:cxnLst/>
            <a:rect l="l" t="t" r="r" b="b"/>
            <a:pathLst>
              <a:path w="188464" h="167524">
                <a:moveTo>
                  <a:pt x="118052" y="393"/>
                </a:moveTo>
                <a:cubicBezTo>
                  <a:pt x="112490" y="-1211"/>
                  <a:pt x="106698" y="2029"/>
                  <a:pt x="105095" y="7591"/>
                </a:cubicBezTo>
                <a:lnTo>
                  <a:pt x="63214" y="154174"/>
                </a:lnTo>
                <a:cubicBezTo>
                  <a:pt x="61611" y="159736"/>
                  <a:pt x="64850" y="165528"/>
                  <a:pt x="70412" y="167131"/>
                </a:cubicBezTo>
                <a:cubicBezTo>
                  <a:pt x="75975" y="168734"/>
                  <a:pt x="81766" y="165495"/>
                  <a:pt x="83369" y="159933"/>
                </a:cubicBezTo>
                <a:lnTo>
                  <a:pt x="125250" y="13350"/>
                </a:lnTo>
                <a:cubicBezTo>
                  <a:pt x="126853" y="7787"/>
                  <a:pt x="123614" y="1996"/>
                  <a:pt x="118052" y="393"/>
                </a:cubicBezTo>
                <a:close/>
                <a:moveTo>
                  <a:pt x="139189" y="44924"/>
                </a:moveTo>
                <a:cubicBezTo>
                  <a:pt x="135099" y="49014"/>
                  <a:pt x="135099" y="55656"/>
                  <a:pt x="139189" y="59746"/>
                </a:cubicBezTo>
                <a:lnTo>
                  <a:pt x="163205" y="83762"/>
                </a:lnTo>
                <a:lnTo>
                  <a:pt x="139189" y="107778"/>
                </a:lnTo>
                <a:cubicBezTo>
                  <a:pt x="135099" y="111868"/>
                  <a:pt x="135099" y="118510"/>
                  <a:pt x="139189" y="122600"/>
                </a:cubicBezTo>
                <a:cubicBezTo>
                  <a:pt x="143279" y="126690"/>
                  <a:pt x="149921" y="126690"/>
                  <a:pt x="154011" y="122600"/>
                </a:cubicBezTo>
                <a:lnTo>
                  <a:pt x="185421" y="91189"/>
                </a:lnTo>
                <a:cubicBezTo>
                  <a:pt x="189511" y="87099"/>
                  <a:pt x="189511" y="80457"/>
                  <a:pt x="185421" y="76367"/>
                </a:cubicBezTo>
                <a:lnTo>
                  <a:pt x="154011" y="44957"/>
                </a:lnTo>
                <a:cubicBezTo>
                  <a:pt x="149921" y="40867"/>
                  <a:pt x="143279" y="40867"/>
                  <a:pt x="139189" y="44957"/>
                </a:cubicBezTo>
                <a:close/>
                <a:moveTo>
                  <a:pt x="49308" y="44924"/>
                </a:moveTo>
                <a:cubicBezTo>
                  <a:pt x="45218" y="40834"/>
                  <a:pt x="38576" y="40834"/>
                  <a:pt x="34486" y="44924"/>
                </a:cubicBezTo>
                <a:lnTo>
                  <a:pt x="3076" y="76335"/>
                </a:lnTo>
                <a:cubicBezTo>
                  <a:pt x="-1014" y="80424"/>
                  <a:pt x="-1014" y="87066"/>
                  <a:pt x="3076" y="91156"/>
                </a:cubicBezTo>
                <a:lnTo>
                  <a:pt x="34486" y="122567"/>
                </a:lnTo>
                <a:cubicBezTo>
                  <a:pt x="38576" y="126657"/>
                  <a:pt x="45218" y="126657"/>
                  <a:pt x="49308" y="122567"/>
                </a:cubicBezTo>
                <a:cubicBezTo>
                  <a:pt x="53398" y="118477"/>
                  <a:pt x="53398" y="111835"/>
                  <a:pt x="49308" y="107745"/>
                </a:cubicBezTo>
                <a:lnTo>
                  <a:pt x="25292" y="83762"/>
                </a:lnTo>
                <a:lnTo>
                  <a:pt x="49276" y="59746"/>
                </a:lnTo>
                <a:cubicBezTo>
                  <a:pt x="53365" y="55656"/>
                  <a:pt x="53365" y="49014"/>
                  <a:pt x="49276" y="44924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1" name="Text 18"/>
          <p:cNvSpPr/>
          <p:nvPr/>
        </p:nvSpPr>
        <p:spPr>
          <a:xfrm>
            <a:off x="6561436" y="1441438"/>
            <a:ext cx="5183927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L0 LRU Cache实现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347378" y="1813581"/>
            <a:ext cx="5314223" cy="2838595"/>
          </a:xfrm>
          <a:custGeom>
            <a:avLst/>
            <a:gdLst/>
            <a:ahLst/>
            <a:cxnLst/>
            <a:rect l="l" t="t" r="r" b="b"/>
            <a:pathLst>
              <a:path w="5314223" h="2838595">
                <a:moveTo>
                  <a:pt x="0" y="0"/>
                </a:moveTo>
                <a:lnTo>
                  <a:pt x="5314223" y="0"/>
                </a:lnTo>
                <a:lnTo>
                  <a:pt x="5314223" y="2838595"/>
                </a:lnTo>
                <a:lnTo>
                  <a:pt x="0" y="2838595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3" name="Text 20"/>
          <p:cNvSpPr/>
          <p:nvPr/>
        </p:nvSpPr>
        <p:spPr>
          <a:xfrm>
            <a:off x="6459021" y="1925227"/>
            <a:ext cx="514669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AsyncLRUCache: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07878" y="2106734"/>
            <a:ext cx="499778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__init__(self, maxsize=1000, ttl=300):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756801" y="2288245"/>
            <a:ext cx="484887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self.cache = OrderedDict()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56801" y="2469756"/>
            <a:ext cx="484887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self.timestamps = {}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756801" y="2651267"/>
            <a:ext cx="484887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self.lock = asyncio.Lock()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07878" y="2907206"/>
            <a:ext cx="499778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 def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get(self, key):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756801" y="3088718"/>
            <a:ext cx="484887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 with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self.lock: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05724" y="3270229"/>
            <a:ext cx="469996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key </a:t>
            </a: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in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self.cache: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054647" y="3451735"/>
            <a:ext cx="4551060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None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905724" y="3633247"/>
            <a:ext cx="469996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time.time() - self.timestamps[key] &gt; self.ttl: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054647" y="3814758"/>
            <a:ext cx="4551060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 self.cache[key]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054647" y="3996269"/>
            <a:ext cx="4551060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None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905724" y="4177780"/>
            <a:ext cx="469996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self.cache.move_to_end(key)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905724" y="4359287"/>
            <a:ext cx="4699969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9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87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self.cache[key]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47378" y="4764086"/>
            <a:ext cx="2605924" cy="521185"/>
          </a:xfrm>
          <a:custGeom>
            <a:avLst/>
            <a:gdLst/>
            <a:ahLst/>
            <a:cxnLst/>
            <a:rect l="l" t="t" r="r" b="b"/>
            <a:pathLst>
              <a:path w="2605924" h="521185">
                <a:moveTo>
                  <a:pt x="0" y="0"/>
                </a:moveTo>
                <a:lnTo>
                  <a:pt x="2605924" y="0"/>
                </a:lnTo>
                <a:lnTo>
                  <a:pt x="2605924" y="521185"/>
                </a:lnTo>
                <a:lnTo>
                  <a:pt x="0" y="521185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384579" y="4838514"/>
            <a:ext cx="253146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O(1)时间复杂度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393886" y="5061865"/>
            <a:ext cx="2512855" cy="14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9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OrderedDict哈希表+双向链表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061705" y="4764086"/>
            <a:ext cx="2605924" cy="521185"/>
          </a:xfrm>
          <a:custGeom>
            <a:avLst/>
            <a:gdLst/>
            <a:ahLst/>
            <a:cxnLst/>
            <a:rect l="l" t="t" r="r" b="b"/>
            <a:pathLst>
              <a:path w="2605924" h="521185">
                <a:moveTo>
                  <a:pt x="0" y="0"/>
                </a:moveTo>
                <a:lnTo>
                  <a:pt x="2605924" y="0"/>
                </a:lnTo>
                <a:lnTo>
                  <a:pt x="2605924" y="521185"/>
                </a:lnTo>
                <a:lnTo>
                  <a:pt x="0" y="521185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10196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9098906" y="4838514"/>
            <a:ext cx="253146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3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线程安全+异步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108213" y="5061865"/>
            <a:ext cx="2512855" cy="14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79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asyncio.Lock保护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206982" y="5591389"/>
            <a:ext cx="5610351" cy="1265734"/>
          </a:xfrm>
          <a:custGeom>
            <a:avLst/>
            <a:gdLst/>
            <a:ahLst/>
            <a:cxnLst/>
            <a:rect l="l" t="t" r="r" b="b"/>
            <a:pathLst>
              <a:path w="5610351" h="1265734">
                <a:moveTo>
                  <a:pt x="0" y="0"/>
                </a:moveTo>
                <a:lnTo>
                  <a:pt x="5610351" y="0"/>
                </a:lnTo>
                <a:lnTo>
                  <a:pt x="5610351" y="1265734"/>
                </a:lnTo>
                <a:lnTo>
                  <a:pt x="0" y="1265734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206982" y="5591389"/>
            <a:ext cx="33843" cy="1265734"/>
          </a:xfrm>
          <a:custGeom>
            <a:avLst/>
            <a:gdLst/>
            <a:ahLst/>
            <a:cxnLst/>
            <a:rect l="l" t="t" r="r" b="b"/>
            <a:pathLst>
              <a:path w="33843" h="1265734">
                <a:moveTo>
                  <a:pt x="0" y="0"/>
                </a:moveTo>
                <a:lnTo>
                  <a:pt x="33843" y="0"/>
                </a:lnTo>
                <a:lnTo>
                  <a:pt x="33843" y="1265734"/>
                </a:lnTo>
                <a:lnTo>
                  <a:pt x="0" y="1265734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45" name="Shape 42"/>
          <p:cNvSpPr/>
          <p:nvPr/>
        </p:nvSpPr>
        <p:spPr>
          <a:xfrm>
            <a:off x="6396027" y="5786715"/>
            <a:ext cx="167524" cy="167524"/>
          </a:xfrm>
          <a:custGeom>
            <a:avLst/>
            <a:gdLst/>
            <a:ahLst/>
            <a:cxnLst/>
            <a:rect l="l" t="t" r="r" b="b"/>
            <a:pathLst>
              <a:path w="167524" h="167524">
                <a:moveTo>
                  <a:pt x="83762" y="167524"/>
                </a:moveTo>
                <a:cubicBezTo>
                  <a:pt x="129991" y="167524"/>
                  <a:pt x="167524" y="129991"/>
                  <a:pt x="167524" y="83762"/>
                </a:cubicBezTo>
                <a:cubicBezTo>
                  <a:pt x="167524" y="37532"/>
                  <a:pt x="129991" y="0"/>
                  <a:pt x="83762" y="0"/>
                </a:cubicBezTo>
                <a:cubicBezTo>
                  <a:pt x="37532" y="0"/>
                  <a:pt x="0" y="37532"/>
                  <a:pt x="0" y="83762"/>
                </a:cubicBezTo>
                <a:cubicBezTo>
                  <a:pt x="0" y="129991"/>
                  <a:pt x="37532" y="167524"/>
                  <a:pt x="83762" y="167524"/>
                </a:cubicBezTo>
                <a:close/>
                <a:moveTo>
                  <a:pt x="83762" y="57586"/>
                </a:moveTo>
                <a:cubicBezTo>
                  <a:pt x="77970" y="57586"/>
                  <a:pt x="73292" y="62265"/>
                  <a:pt x="73292" y="68056"/>
                </a:cubicBezTo>
                <a:cubicBezTo>
                  <a:pt x="73292" y="72408"/>
                  <a:pt x="69791" y="75909"/>
                  <a:pt x="65439" y="75909"/>
                </a:cubicBezTo>
                <a:cubicBezTo>
                  <a:pt x="61087" y="75909"/>
                  <a:pt x="57586" y="72408"/>
                  <a:pt x="57586" y="68056"/>
                </a:cubicBezTo>
                <a:cubicBezTo>
                  <a:pt x="57586" y="53594"/>
                  <a:pt x="69300" y="41881"/>
                  <a:pt x="83762" y="41881"/>
                </a:cubicBezTo>
                <a:cubicBezTo>
                  <a:pt x="98224" y="41881"/>
                  <a:pt x="109937" y="53594"/>
                  <a:pt x="109937" y="68056"/>
                </a:cubicBezTo>
                <a:cubicBezTo>
                  <a:pt x="109937" y="83500"/>
                  <a:pt x="98158" y="90044"/>
                  <a:pt x="91615" y="92432"/>
                </a:cubicBezTo>
                <a:lnTo>
                  <a:pt x="91615" y="93676"/>
                </a:lnTo>
                <a:cubicBezTo>
                  <a:pt x="91615" y="98028"/>
                  <a:pt x="88114" y="101529"/>
                  <a:pt x="83762" y="101529"/>
                </a:cubicBezTo>
                <a:cubicBezTo>
                  <a:pt x="79410" y="101529"/>
                  <a:pt x="75909" y="98028"/>
                  <a:pt x="75909" y="93676"/>
                </a:cubicBezTo>
                <a:lnTo>
                  <a:pt x="75909" y="91026"/>
                </a:lnTo>
                <a:cubicBezTo>
                  <a:pt x="75909" y="84318"/>
                  <a:pt x="80752" y="79508"/>
                  <a:pt x="85758" y="77872"/>
                </a:cubicBezTo>
                <a:cubicBezTo>
                  <a:pt x="87852" y="77185"/>
                  <a:pt x="90077" y="76073"/>
                  <a:pt x="91713" y="74502"/>
                </a:cubicBezTo>
                <a:cubicBezTo>
                  <a:pt x="93120" y="73128"/>
                  <a:pt x="94232" y="71230"/>
                  <a:pt x="94232" y="68089"/>
                </a:cubicBezTo>
                <a:cubicBezTo>
                  <a:pt x="94232" y="62298"/>
                  <a:pt x="89553" y="57619"/>
                  <a:pt x="83762" y="57619"/>
                </a:cubicBezTo>
                <a:close/>
                <a:moveTo>
                  <a:pt x="73292" y="120408"/>
                </a:moveTo>
                <a:cubicBezTo>
                  <a:pt x="73292" y="114629"/>
                  <a:pt x="77983" y="109937"/>
                  <a:pt x="83762" y="109937"/>
                </a:cubicBezTo>
                <a:cubicBezTo>
                  <a:pt x="89541" y="109937"/>
                  <a:pt x="94232" y="114629"/>
                  <a:pt x="94232" y="120408"/>
                </a:cubicBezTo>
                <a:cubicBezTo>
                  <a:pt x="94232" y="126186"/>
                  <a:pt x="89541" y="130878"/>
                  <a:pt x="83762" y="130878"/>
                </a:cubicBezTo>
                <a:cubicBezTo>
                  <a:pt x="77983" y="130878"/>
                  <a:pt x="73292" y="126186"/>
                  <a:pt x="73292" y="120408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46" name="Text 43"/>
          <p:cNvSpPr/>
          <p:nvPr/>
        </p:nvSpPr>
        <p:spPr>
          <a:xfrm>
            <a:off x="6586818" y="5740253"/>
            <a:ext cx="5165313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为什么选择LRU？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372760" y="6075173"/>
            <a:ext cx="5360757" cy="632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6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美食推荐具有明显的热度衰减特征（如"淄博烧烤"火1个月后热度骤降），</a:t>
            </a:r>
            <a:r>
              <a:rPr lang="en-US" sz="1026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LRU（Least Recently Used）</a:t>
            </a:r>
            <a:r>
              <a:rPr lang="en-US" sz="1026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正好匹配此特征 — 最近最少使用的数据被淘汰，符合用户兴趣随时间变化的规律。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537" y="357537"/>
            <a:ext cx="1153949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kern="0" spc="99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Cache Consistency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537" y="607725"/>
            <a:ext cx="11637818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4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缓存一致性与雪崩防护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537" y="1072479"/>
            <a:ext cx="572059" cy="17877"/>
          </a:xfrm>
          <a:custGeom>
            <a:avLst/>
            <a:gdLst/>
            <a:ahLst/>
            <a:cxnLst/>
            <a:rect l="l" t="t" r="r" b="b"/>
            <a:pathLst>
              <a:path w="572059" h="17877">
                <a:moveTo>
                  <a:pt x="0" y="0"/>
                </a:moveTo>
                <a:lnTo>
                  <a:pt x="572059" y="0"/>
                </a:lnTo>
                <a:lnTo>
                  <a:pt x="572059" y="17877"/>
                </a:lnTo>
                <a:lnTo>
                  <a:pt x="0" y="17877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61600" y="1237346"/>
            <a:ext cx="5639328" cy="2367868"/>
          </a:xfrm>
          <a:custGeom>
            <a:avLst/>
            <a:gdLst/>
            <a:ahLst/>
            <a:cxnLst/>
            <a:rect l="l" t="t" r="r" b="b"/>
            <a:pathLst>
              <a:path w="5639328" h="2367868">
                <a:moveTo>
                  <a:pt x="0" y="0"/>
                </a:moveTo>
                <a:lnTo>
                  <a:pt x="5639328" y="0"/>
                </a:lnTo>
                <a:lnTo>
                  <a:pt x="5639328" y="2367868"/>
                </a:lnTo>
                <a:lnTo>
                  <a:pt x="0" y="23678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972" y="1429003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157938" y="47325"/>
                </a:moveTo>
                <a:lnTo>
                  <a:pt x="127770" y="77492"/>
                </a:lnTo>
                <a:cubicBezTo>
                  <a:pt x="124879" y="80383"/>
                  <a:pt x="120574" y="81231"/>
                  <a:pt x="116803" y="79660"/>
                </a:cubicBezTo>
                <a:cubicBezTo>
                  <a:pt x="113033" y="78089"/>
                  <a:pt x="110613" y="74444"/>
                  <a:pt x="110613" y="70390"/>
                </a:cubicBezTo>
                <a:lnTo>
                  <a:pt x="110613" y="50279"/>
                </a:lnTo>
                <a:lnTo>
                  <a:pt x="10056" y="50279"/>
                </a:lnTo>
                <a:cubicBezTo>
                  <a:pt x="4494" y="50279"/>
                  <a:pt x="0" y="45785"/>
                  <a:pt x="0" y="40223"/>
                </a:cubicBezTo>
                <a:cubicBezTo>
                  <a:pt x="0" y="34661"/>
                  <a:pt x="4494" y="30167"/>
                  <a:pt x="10056" y="30167"/>
                </a:cubicBezTo>
                <a:lnTo>
                  <a:pt x="110613" y="30167"/>
                </a:lnTo>
                <a:lnTo>
                  <a:pt x="110613" y="10056"/>
                </a:lnTo>
                <a:cubicBezTo>
                  <a:pt x="110613" y="6002"/>
                  <a:pt x="113064" y="2325"/>
                  <a:pt x="116835" y="754"/>
                </a:cubicBezTo>
                <a:cubicBezTo>
                  <a:pt x="120606" y="-817"/>
                  <a:pt x="124911" y="63"/>
                  <a:pt x="127802" y="2922"/>
                </a:cubicBezTo>
                <a:lnTo>
                  <a:pt x="157969" y="33090"/>
                </a:lnTo>
                <a:cubicBezTo>
                  <a:pt x="161897" y="37018"/>
                  <a:pt x="161897" y="43397"/>
                  <a:pt x="157969" y="47325"/>
                </a:cubicBezTo>
                <a:close/>
                <a:moveTo>
                  <a:pt x="33090" y="157938"/>
                </a:moveTo>
                <a:lnTo>
                  <a:pt x="2922" y="127770"/>
                </a:lnTo>
                <a:cubicBezTo>
                  <a:pt x="-1006" y="123842"/>
                  <a:pt x="-1006" y="117463"/>
                  <a:pt x="2922" y="113535"/>
                </a:cubicBezTo>
                <a:lnTo>
                  <a:pt x="33090" y="83368"/>
                </a:lnTo>
                <a:cubicBezTo>
                  <a:pt x="35981" y="80477"/>
                  <a:pt x="40286" y="79629"/>
                  <a:pt x="44057" y="81200"/>
                </a:cubicBezTo>
                <a:cubicBezTo>
                  <a:pt x="47828" y="82771"/>
                  <a:pt x="50279" y="86448"/>
                  <a:pt x="50279" y="90501"/>
                </a:cubicBezTo>
                <a:lnTo>
                  <a:pt x="50279" y="110613"/>
                </a:lnTo>
                <a:lnTo>
                  <a:pt x="150836" y="110613"/>
                </a:lnTo>
                <a:cubicBezTo>
                  <a:pt x="156398" y="110613"/>
                  <a:pt x="160891" y="115107"/>
                  <a:pt x="160891" y="120669"/>
                </a:cubicBezTo>
                <a:cubicBezTo>
                  <a:pt x="160891" y="126231"/>
                  <a:pt x="156398" y="130724"/>
                  <a:pt x="150836" y="130724"/>
                </a:cubicBezTo>
                <a:lnTo>
                  <a:pt x="50279" y="130724"/>
                </a:lnTo>
                <a:lnTo>
                  <a:pt x="50279" y="150836"/>
                </a:lnTo>
                <a:cubicBezTo>
                  <a:pt x="50279" y="154889"/>
                  <a:pt x="47828" y="158566"/>
                  <a:pt x="44057" y="160137"/>
                </a:cubicBezTo>
                <a:cubicBezTo>
                  <a:pt x="40286" y="161709"/>
                  <a:pt x="35981" y="160829"/>
                  <a:pt x="33090" y="157969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714210" y="1384372"/>
            <a:ext cx="522003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Cache-Aside旁路缓存模式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626" y="1741787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0" y="0"/>
                </a:moveTo>
                <a:lnTo>
                  <a:pt x="286029" y="0"/>
                </a:lnTo>
                <a:lnTo>
                  <a:pt x="286029" y="286029"/>
                </a:lnTo>
                <a:lnTo>
                  <a:pt x="0" y="286029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Text 7"/>
          <p:cNvSpPr/>
          <p:nvPr/>
        </p:nvSpPr>
        <p:spPr>
          <a:xfrm>
            <a:off x="477342" y="1741787"/>
            <a:ext cx="34859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1840" y="1795426"/>
            <a:ext cx="154634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查L0 Cache，命中直接返回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626" y="2099262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0" y="0"/>
                </a:moveTo>
                <a:lnTo>
                  <a:pt x="286029" y="0"/>
                </a:lnTo>
                <a:lnTo>
                  <a:pt x="286029" y="286029"/>
                </a:lnTo>
                <a:lnTo>
                  <a:pt x="0" y="286029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42" y="2099262"/>
            <a:ext cx="34859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1840" y="2152901"/>
            <a:ext cx="176980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查L1 Redis，命中回填L0后返回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626" y="2456729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0" y="0"/>
                </a:moveTo>
                <a:lnTo>
                  <a:pt x="286029" y="0"/>
                </a:lnTo>
                <a:lnTo>
                  <a:pt x="286029" y="286029"/>
                </a:lnTo>
                <a:lnTo>
                  <a:pt x="0" y="286029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42" y="2456729"/>
            <a:ext cx="34859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1840" y="2510377"/>
            <a:ext cx="1921760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查L2 PostgreSQL，命中回填L1/L0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626" y="2814205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0" y="0"/>
                </a:moveTo>
                <a:lnTo>
                  <a:pt x="286029" y="0"/>
                </a:lnTo>
                <a:lnTo>
                  <a:pt x="286029" y="286029"/>
                </a:lnTo>
                <a:lnTo>
                  <a:pt x="0" y="286029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42" y="2814205"/>
            <a:ext cx="34859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1840" y="2867844"/>
            <a:ext cx="171617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回源计算（调用LLM+Spider）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626" y="3171680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0" y="0"/>
                </a:moveTo>
                <a:lnTo>
                  <a:pt x="286029" y="0"/>
                </a:lnTo>
                <a:lnTo>
                  <a:pt x="286029" y="286029"/>
                </a:lnTo>
                <a:lnTo>
                  <a:pt x="0" y="286029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42" y="3171680"/>
            <a:ext cx="34859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840" y="3225319"/>
            <a:ext cx="193963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异步写入各级缓存（不阻塞返回）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3788" y="3751726"/>
            <a:ext cx="5629577" cy="1287132"/>
          </a:xfrm>
          <a:custGeom>
            <a:avLst/>
            <a:gdLst/>
            <a:ahLst/>
            <a:cxnLst/>
            <a:rect l="l" t="t" r="r" b="b"/>
            <a:pathLst>
              <a:path w="5629577" h="1287132">
                <a:moveTo>
                  <a:pt x="0" y="0"/>
                </a:moveTo>
                <a:lnTo>
                  <a:pt x="5629577" y="0"/>
                </a:lnTo>
                <a:lnTo>
                  <a:pt x="5629577" y="1287132"/>
                </a:lnTo>
                <a:lnTo>
                  <a:pt x="0" y="1287132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73788" y="3751726"/>
            <a:ext cx="32503" cy="1287132"/>
          </a:xfrm>
          <a:custGeom>
            <a:avLst/>
            <a:gdLst/>
            <a:ahLst/>
            <a:cxnLst/>
            <a:rect l="l" t="t" r="r" b="b"/>
            <a:pathLst>
              <a:path w="32503" h="1287132">
                <a:moveTo>
                  <a:pt x="0" y="0"/>
                </a:moveTo>
                <a:lnTo>
                  <a:pt x="32503" y="0"/>
                </a:lnTo>
                <a:lnTo>
                  <a:pt x="32503" y="1287132"/>
                </a:lnTo>
                <a:lnTo>
                  <a:pt x="0" y="1287132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5" name="Shape 23"/>
          <p:cNvSpPr/>
          <p:nvPr/>
        </p:nvSpPr>
        <p:spPr>
          <a:xfrm>
            <a:off x="575461" y="3939310"/>
            <a:ext cx="120669" cy="160891"/>
          </a:xfrm>
          <a:custGeom>
            <a:avLst/>
            <a:gdLst/>
            <a:ahLst/>
            <a:cxnLst/>
            <a:rect l="l" t="t" r="r" b="b"/>
            <a:pathLst>
              <a:path w="120669" h="160891">
                <a:moveTo>
                  <a:pt x="92041" y="120669"/>
                </a:moveTo>
                <a:cubicBezTo>
                  <a:pt x="94335" y="113661"/>
                  <a:pt x="98923" y="107313"/>
                  <a:pt x="104108" y="101846"/>
                </a:cubicBezTo>
                <a:cubicBezTo>
                  <a:pt x="114384" y="91036"/>
                  <a:pt x="120669" y="76423"/>
                  <a:pt x="120669" y="60334"/>
                </a:cubicBezTo>
                <a:cubicBezTo>
                  <a:pt x="120669" y="27025"/>
                  <a:pt x="93644" y="0"/>
                  <a:pt x="60334" y="0"/>
                </a:cubicBezTo>
                <a:cubicBezTo>
                  <a:pt x="27025" y="0"/>
                  <a:pt x="0" y="27025"/>
                  <a:pt x="0" y="60334"/>
                </a:cubicBezTo>
                <a:cubicBezTo>
                  <a:pt x="0" y="76423"/>
                  <a:pt x="6285" y="91036"/>
                  <a:pt x="16561" y="101846"/>
                </a:cubicBezTo>
                <a:cubicBezTo>
                  <a:pt x="21745" y="107313"/>
                  <a:pt x="26365" y="113661"/>
                  <a:pt x="28627" y="120669"/>
                </a:cubicBezTo>
                <a:lnTo>
                  <a:pt x="92010" y="120669"/>
                </a:lnTo>
                <a:close/>
                <a:moveTo>
                  <a:pt x="90501" y="135752"/>
                </a:moveTo>
                <a:lnTo>
                  <a:pt x="30167" y="135752"/>
                </a:lnTo>
                <a:lnTo>
                  <a:pt x="30167" y="140780"/>
                </a:lnTo>
                <a:cubicBezTo>
                  <a:pt x="30167" y="154670"/>
                  <a:pt x="41417" y="165919"/>
                  <a:pt x="55306" y="165919"/>
                </a:cubicBezTo>
                <a:lnTo>
                  <a:pt x="65362" y="165919"/>
                </a:lnTo>
                <a:cubicBezTo>
                  <a:pt x="79252" y="165919"/>
                  <a:pt x="90501" y="154670"/>
                  <a:pt x="90501" y="140780"/>
                </a:cubicBezTo>
                <a:lnTo>
                  <a:pt x="90501" y="135752"/>
                </a:lnTo>
                <a:close/>
                <a:moveTo>
                  <a:pt x="57820" y="35195"/>
                </a:moveTo>
                <a:cubicBezTo>
                  <a:pt x="45314" y="35195"/>
                  <a:pt x="35195" y="45314"/>
                  <a:pt x="35195" y="57820"/>
                </a:cubicBezTo>
                <a:cubicBezTo>
                  <a:pt x="35195" y="62000"/>
                  <a:pt x="31833" y="65362"/>
                  <a:pt x="27653" y="65362"/>
                </a:cubicBezTo>
                <a:cubicBezTo>
                  <a:pt x="23474" y="65362"/>
                  <a:pt x="20111" y="62000"/>
                  <a:pt x="20111" y="57820"/>
                </a:cubicBezTo>
                <a:cubicBezTo>
                  <a:pt x="20111" y="36986"/>
                  <a:pt x="36986" y="20111"/>
                  <a:pt x="57820" y="20111"/>
                </a:cubicBezTo>
                <a:cubicBezTo>
                  <a:pt x="62000" y="20111"/>
                  <a:pt x="65362" y="23474"/>
                  <a:pt x="65362" y="27653"/>
                </a:cubicBezTo>
                <a:cubicBezTo>
                  <a:pt x="65362" y="31833"/>
                  <a:pt x="62000" y="35195"/>
                  <a:pt x="57820" y="35195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6" name="Text 24"/>
          <p:cNvSpPr/>
          <p:nvPr/>
        </p:nvSpPr>
        <p:spPr>
          <a:xfrm>
            <a:off x="738587" y="3894688"/>
            <a:ext cx="5202158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为什么选择Cache-Aside？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8702" y="4252094"/>
            <a:ext cx="109496" cy="125138"/>
          </a:xfrm>
          <a:custGeom>
            <a:avLst/>
            <a:gdLst/>
            <a:ahLst/>
            <a:cxnLst/>
            <a:rect l="l" t="t" r="r" b="b"/>
            <a:pathLst>
              <a:path w="109496" h="125138">
                <a:moveTo>
                  <a:pt x="106269" y="17133"/>
                </a:moveTo>
                <a:cubicBezTo>
                  <a:pt x="109764" y="19675"/>
                  <a:pt x="110547" y="24563"/>
                  <a:pt x="108005" y="28058"/>
                </a:cubicBezTo>
                <a:lnTo>
                  <a:pt x="45436" y="114091"/>
                </a:lnTo>
                <a:cubicBezTo>
                  <a:pt x="44092" y="115948"/>
                  <a:pt x="42014" y="117097"/>
                  <a:pt x="39717" y="117292"/>
                </a:cubicBezTo>
                <a:cubicBezTo>
                  <a:pt x="37419" y="117488"/>
                  <a:pt x="35195" y="116632"/>
                  <a:pt x="33582" y="115019"/>
                </a:cubicBezTo>
                <a:lnTo>
                  <a:pt x="2297" y="83735"/>
                </a:lnTo>
                <a:cubicBezTo>
                  <a:pt x="-758" y="80680"/>
                  <a:pt x="-758" y="75718"/>
                  <a:pt x="2297" y="72663"/>
                </a:cubicBezTo>
                <a:cubicBezTo>
                  <a:pt x="5353" y="69608"/>
                  <a:pt x="10314" y="69608"/>
                  <a:pt x="13369" y="72663"/>
                </a:cubicBezTo>
                <a:lnTo>
                  <a:pt x="38177" y="97471"/>
                </a:lnTo>
                <a:lnTo>
                  <a:pt x="95369" y="18844"/>
                </a:lnTo>
                <a:cubicBezTo>
                  <a:pt x="97911" y="15349"/>
                  <a:pt x="102799" y="14567"/>
                  <a:pt x="106294" y="17109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8" name="Text 26"/>
          <p:cNvSpPr/>
          <p:nvPr/>
        </p:nvSpPr>
        <p:spPr>
          <a:xfrm>
            <a:off x="760908" y="4216358"/>
            <a:ext cx="210052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读多写少：</a:t>
            </a: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搜索场景读操作占比95%+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8702" y="4502282"/>
            <a:ext cx="109496" cy="125138"/>
          </a:xfrm>
          <a:custGeom>
            <a:avLst/>
            <a:gdLst/>
            <a:ahLst/>
            <a:cxnLst/>
            <a:rect l="l" t="t" r="r" b="b"/>
            <a:pathLst>
              <a:path w="109496" h="125138">
                <a:moveTo>
                  <a:pt x="106269" y="17133"/>
                </a:moveTo>
                <a:cubicBezTo>
                  <a:pt x="109764" y="19675"/>
                  <a:pt x="110547" y="24563"/>
                  <a:pt x="108005" y="28058"/>
                </a:cubicBezTo>
                <a:lnTo>
                  <a:pt x="45436" y="114091"/>
                </a:lnTo>
                <a:cubicBezTo>
                  <a:pt x="44092" y="115948"/>
                  <a:pt x="42014" y="117097"/>
                  <a:pt x="39717" y="117292"/>
                </a:cubicBezTo>
                <a:cubicBezTo>
                  <a:pt x="37419" y="117488"/>
                  <a:pt x="35195" y="116632"/>
                  <a:pt x="33582" y="115019"/>
                </a:cubicBezTo>
                <a:lnTo>
                  <a:pt x="2297" y="83735"/>
                </a:lnTo>
                <a:cubicBezTo>
                  <a:pt x="-758" y="80680"/>
                  <a:pt x="-758" y="75718"/>
                  <a:pt x="2297" y="72663"/>
                </a:cubicBezTo>
                <a:cubicBezTo>
                  <a:pt x="5353" y="69608"/>
                  <a:pt x="10314" y="69608"/>
                  <a:pt x="13369" y="72663"/>
                </a:cubicBezTo>
                <a:lnTo>
                  <a:pt x="38177" y="97471"/>
                </a:lnTo>
                <a:lnTo>
                  <a:pt x="95369" y="18844"/>
                </a:lnTo>
                <a:cubicBezTo>
                  <a:pt x="97911" y="15349"/>
                  <a:pt x="102799" y="14567"/>
                  <a:pt x="106294" y="17109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0" name="Text 28"/>
          <p:cNvSpPr/>
          <p:nvPr/>
        </p:nvSpPr>
        <p:spPr>
          <a:xfrm>
            <a:off x="760908" y="4466537"/>
            <a:ext cx="256532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容错性：</a:t>
            </a: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即使缓存层全部故障，仍能回源计算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8702" y="4752470"/>
            <a:ext cx="109496" cy="125138"/>
          </a:xfrm>
          <a:custGeom>
            <a:avLst/>
            <a:gdLst/>
            <a:ahLst/>
            <a:cxnLst/>
            <a:rect l="l" t="t" r="r" b="b"/>
            <a:pathLst>
              <a:path w="109496" h="125138">
                <a:moveTo>
                  <a:pt x="106269" y="17133"/>
                </a:moveTo>
                <a:cubicBezTo>
                  <a:pt x="109764" y="19675"/>
                  <a:pt x="110547" y="24563"/>
                  <a:pt x="108005" y="28058"/>
                </a:cubicBezTo>
                <a:lnTo>
                  <a:pt x="45436" y="114091"/>
                </a:lnTo>
                <a:cubicBezTo>
                  <a:pt x="44092" y="115948"/>
                  <a:pt x="42014" y="117097"/>
                  <a:pt x="39717" y="117292"/>
                </a:cubicBezTo>
                <a:cubicBezTo>
                  <a:pt x="37419" y="117488"/>
                  <a:pt x="35195" y="116632"/>
                  <a:pt x="33582" y="115019"/>
                </a:cubicBezTo>
                <a:lnTo>
                  <a:pt x="2297" y="83735"/>
                </a:lnTo>
                <a:cubicBezTo>
                  <a:pt x="-758" y="80680"/>
                  <a:pt x="-758" y="75718"/>
                  <a:pt x="2297" y="72663"/>
                </a:cubicBezTo>
                <a:cubicBezTo>
                  <a:pt x="5353" y="69608"/>
                  <a:pt x="10314" y="69608"/>
                  <a:pt x="13369" y="72663"/>
                </a:cubicBezTo>
                <a:lnTo>
                  <a:pt x="38177" y="97471"/>
                </a:lnTo>
                <a:lnTo>
                  <a:pt x="95369" y="18844"/>
                </a:lnTo>
                <a:cubicBezTo>
                  <a:pt x="97911" y="15349"/>
                  <a:pt x="102799" y="14567"/>
                  <a:pt x="106294" y="17109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2" name="Text 30"/>
          <p:cNvSpPr/>
          <p:nvPr/>
        </p:nvSpPr>
        <p:spPr>
          <a:xfrm>
            <a:off x="760908" y="4716726"/>
            <a:ext cx="2538510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灵活性：</a:t>
            </a: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每级缓存可独立配置TTL和淘汰策略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7441" y="1237346"/>
            <a:ext cx="5639328" cy="3279586"/>
          </a:xfrm>
          <a:custGeom>
            <a:avLst/>
            <a:gdLst/>
            <a:ahLst/>
            <a:cxnLst/>
            <a:rect l="l" t="t" r="r" b="b"/>
            <a:pathLst>
              <a:path w="5639328" h="3279586">
                <a:moveTo>
                  <a:pt x="0" y="0"/>
                </a:moveTo>
                <a:lnTo>
                  <a:pt x="5639328" y="0"/>
                </a:lnTo>
                <a:lnTo>
                  <a:pt x="5639328" y="3279586"/>
                </a:lnTo>
                <a:lnTo>
                  <a:pt x="0" y="32795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6814" y="1429003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80603" y="0"/>
                </a:moveTo>
                <a:cubicBezTo>
                  <a:pt x="85222" y="0"/>
                  <a:pt x="89464" y="2545"/>
                  <a:pt x="91664" y="6599"/>
                </a:cubicBezTo>
                <a:lnTo>
                  <a:pt x="159540" y="132296"/>
                </a:lnTo>
                <a:cubicBezTo>
                  <a:pt x="161646" y="136192"/>
                  <a:pt x="161551" y="140906"/>
                  <a:pt x="159289" y="144708"/>
                </a:cubicBezTo>
                <a:cubicBezTo>
                  <a:pt x="157026" y="148510"/>
                  <a:pt x="152910" y="150836"/>
                  <a:pt x="148510" y="150836"/>
                </a:cubicBezTo>
                <a:lnTo>
                  <a:pt x="12758" y="150836"/>
                </a:lnTo>
                <a:cubicBezTo>
                  <a:pt x="8327" y="150836"/>
                  <a:pt x="4242" y="148510"/>
                  <a:pt x="1980" y="144708"/>
                </a:cubicBezTo>
                <a:cubicBezTo>
                  <a:pt x="-283" y="140906"/>
                  <a:pt x="-377" y="136192"/>
                  <a:pt x="1728" y="132296"/>
                </a:cubicBezTo>
                <a:lnTo>
                  <a:pt x="69604" y="6599"/>
                </a:lnTo>
                <a:lnTo>
                  <a:pt x="70516" y="5154"/>
                </a:lnTo>
                <a:cubicBezTo>
                  <a:pt x="72810" y="1948"/>
                  <a:pt x="76549" y="0"/>
                  <a:pt x="80603" y="0"/>
                </a:cubicBezTo>
                <a:close/>
                <a:moveTo>
                  <a:pt x="53547" y="78529"/>
                </a:moveTo>
                <a:lnTo>
                  <a:pt x="61968" y="86951"/>
                </a:lnTo>
                <a:cubicBezTo>
                  <a:pt x="63917" y="88899"/>
                  <a:pt x="67122" y="88899"/>
                  <a:pt x="69070" y="86951"/>
                </a:cubicBezTo>
                <a:lnTo>
                  <a:pt x="82677" y="73344"/>
                </a:lnTo>
                <a:cubicBezTo>
                  <a:pt x="84562" y="71458"/>
                  <a:pt x="87108" y="70390"/>
                  <a:pt x="89779" y="70390"/>
                </a:cubicBezTo>
                <a:lnTo>
                  <a:pt x="103228" y="70390"/>
                </a:lnTo>
                <a:lnTo>
                  <a:pt x="80571" y="28439"/>
                </a:lnTo>
                <a:lnTo>
                  <a:pt x="53515" y="78529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5" name="Text 33"/>
          <p:cNvSpPr/>
          <p:nvPr/>
        </p:nvSpPr>
        <p:spPr>
          <a:xfrm>
            <a:off x="6540051" y="1384372"/>
            <a:ext cx="522003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缓存雪崩防护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4468" y="1741787"/>
            <a:ext cx="5345173" cy="643566"/>
          </a:xfrm>
          <a:custGeom>
            <a:avLst/>
            <a:gdLst/>
            <a:ahLst/>
            <a:cxnLst/>
            <a:rect l="l" t="t" r="r" b="b"/>
            <a:pathLst>
              <a:path w="5345173" h="643566">
                <a:moveTo>
                  <a:pt x="0" y="0"/>
                </a:moveTo>
                <a:lnTo>
                  <a:pt x="5345173" y="0"/>
                </a:lnTo>
                <a:lnTo>
                  <a:pt x="5345173" y="643566"/>
                </a:lnTo>
                <a:lnTo>
                  <a:pt x="0" y="643566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41690" y="1849004"/>
            <a:ext cx="5193220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雪崩场景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1690" y="2099192"/>
            <a:ext cx="5193220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缓存同时过期 → 大量请求穿透到DB → DB过载 → 服务雪崩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42593" y="2492343"/>
            <a:ext cx="5335422" cy="1036856"/>
          </a:xfrm>
          <a:custGeom>
            <a:avLst/>
            <a:gdLst/>
            <a:ahLst/>
            <a:cxnLst/>
            <a:rect l="l" t="t" r="r" b="b"/>
            <a:pathLst>
              <a:path w="5335422" h="1036856">
                <a:moveTo>
                  <a:pt x="0" y="0"/>
                </a:moveTo>
                <a:lnTo>
                  <a:pt x="5335422" y="0"/>
                </a:lnTo>
                <a:lnTo>
                  <a:pt x="5335422" y="1036856"/>
                </a:lnTo>
                <a:lnTo>
                  <a:pt x="0" y="1036856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42593" y="2492343"/>
            <a:ext cx="16252" cy="1036856"/>
          </a:xfrm>
          <a:custGeom>
            <a:avLst/>
            <a:gdLst/>
            <a:ahLst/>
            <a:cxnLst/>
            <a:rect l="l" t="t" r="r" b="b"/>
            <a:pathLst>
              <a:path w="16252" h="1036856">
                <a:moveTo>
                  <a:pt x="0" y="0"/>
                </a:moveTo>
                <a:lnTo>
                  <a:pt x="16252" y="0"/>
                </a:lnTo>
                <a:lnTo>
                  <a:pt x="16252" y="1036856"/>
                </a:lnTo>
                <a:lnTo>
                  <a:pt x="0" y="1036856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41" name="Text 39"/>
          <p:cNvSpPr/>
          <p:nvPr/>
        </p:nvSpPr>
        <p:spPr>
          <a:xfrm>
            <a:off x="6457942" y="2599569"/>
            <a:ext cx="5175343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解决方案：随机TTL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57942" y="2849757"/>
            <a:ext cx="5112774" cy="572059"/>
          </a:xfrm>
          <a:custGeom>
            <a:avLst/>
            <a:gdLst/>
            <a:ahLst/>
            <a:cxnLst/>
            <a:rect l="l" t="t" r="r" b="b"/>
            <a:pathLst>
              <a:path w="5112774" h="572059">
                <a:moveTo>
                  <a:pt x="0" y="0"/>
                </a:moveTo>
                <a:lnTo>
                  <a:pt x="5112774" y="0"/>
                </a:lnTo>
                <a:lnTo>
                  <a:pt x="5112774" y="572059"/>
                </a:lnTo>
                <a:lnTo>
                  <a:pt x="0" y="572059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3" name="Text 41"/>
          <p:cNvSpPr/>
          <p:nvPr/>
        </p:nvSpPr>
        <p:spPr>
          <a:xfrm>
            <a:off x="6529424" y="2921239"/>
            <a:ext cx="5023390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base_ttl = 3600 # 1小时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29424" y="3064262"/>
            <a:ext cx="5023390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jitter = ±20% # 随机抖动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29424" y="3207294"/>
            <a:ext cx="5023390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actual_ttl = 48~72分钟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8531" y="3640305"/>
            <a:ext cx="2609205" cy="723199"/>
          </a:xfrm>
          <a:custGeom>
            <a:avLst/>
            <a:gdLst/>
            <a:ahLst/>
            <a:cxnLst/>
            <a:rect l="l" t="t" r="r" b="b"/>
            <a:pathLst>
              <a:path w="2609205" h="723199">
                <a:moveTo>
                  <a:pt x="0" y="0"/>
                </a:moveTo>
                <a:lnTo>
                  <a:pt x="2609205" y="0"/>
                </a:lnTo>
                <a:lnTo>
                  <a:pt x="2609205" y="723199"/>
                </a:lnTo>
                <a:lnTo>
                  <a:pt x="0" y="7231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7260" y="3715850"/>
            <a:ext cx="2511695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优化前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73853" y="3894618"/>
            <a:ext cx="2538510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1000 key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87260" y="4144807"/>
            <a:ext cx="2511695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整点同时过期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64557" y="3640305"/>
            <a:ext cx="2609205" cy="723199"/>
          </a:xfrm>
          <a:custGeom>
            <a:avLst/>
            <a:gdLst/>
            <a:ahLst/>
            <a:cxnLst/>
            <a:rect l="l" t="t" r="r" b="b"/>
            <a:pathLst>
              <a:path w="2609205" h="723199">
                <a:moveTo>
                  <a:pt x="0" y="0"/>
                </a:moveTo>
                <a:lnTo>
                  <a:pt x="2609205" y="0"/>
                </a:lnTo>
                <a:lnTo>
                  <a:pt x="2609205" y="723199"/>
                </a:lnTo>
                <a:lnTo>
                  <a:pt x="0" y="723199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 w="11545">
            <a:solidFill>
              <a:srgbClr val="0984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13287" y="3715850"/>
            <a:ext cx="2511695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优化后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99879" y="3894618"/>
            <a:ext cx="2538510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48-72分钟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13287" y="4144807"/>
            <a:ext cx="2511695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分散过期平滑负载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87441" y="4665561"/>
            <a:ext cx="5639328" cy="2189099"/>
          </a:xfrm>
          <a:custGeom>
            <a:avLst/>
            <a:gdLst/>
            <a:ahLst/>
            <a:cxnLst/>
            <a:rect l="l" t="t" r="r" b="b"/>
            <a:pathLst>
              <a:path w="5639328" h="2189099">
                <a:moveTo>
                  <a:pt x="0" y="0"/>
                </a:moveTo>
                <a:lnTo>
                  <a:pt x="5639328" y="0"/>
                </a:lnTo>
                <a:lnTo>
                  <a:pt x="5639328" y="2189099"/>
                </a:lnTo>
                <a:lnTo>
                  <a:pt x="0" y="21890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4468" y="4812587"/>
            <a:ext cx="5425619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各级缓存适用数据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34468" y="5170001"/>
            <a:ext cx="5345173" cy="464798"/>
          </a:xfrm>
          <a:custGeom>
            <a:avLst/>
            <a:gdLst/>
            <a:ahLst/>
            <a:cxnLst/>
            <a:rect l="l" t="t" r="r" b="b"/>
            <a:pathLst>
              <a:path w="5345173" h="464798">
                <a:moveTo>
                  <a:pt x="0" y="0"/>
                </a:moveTo>
                <a:lnTo>
                  <a:pt x="5345173" y="0"/>
                </a:lnTo>
                <a:lnTo>
                  <a:pt x="5345173" y="464798"/>
                </a:lnTo>
                <a:lnTo>
                  <a:pt x="0" y="464798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05949" y="5259315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0" y="0"/>
                </a:moveTo>
                <a:lnTo>
                  <a:pt x="286029" y="0"/>
                </a:lnTo>
                <a:lnTo>
                  <a:pt x="286029" y="286029"/>
                </a:lnTo>
                <a:lnTo>
                  <a:pt x="0" y="286029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8" name="Text 56"/>
          <p:cNvSpPr/>
          <p:nvPr/>
        </p:nvSpPr>
        <p:spPr>
          <a:xfrm>
            <a:off x="6374665" y="5259315"/>
            <a:ext cx="34859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L0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99164" y="5241482"/>
            <a:ext cx="1188809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LLM响应、热点意图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799164" y="5420181"/>
            <a:ext cx="1179871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最高频访问数据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34468" y="5706175"/>
            <a:ext cx="5345173" cy="464798"/>
          </a:xfrm>
          <a:custGeom>
            <a:avLst/>
            <a:gdLst/>
            <a:ahLst/>
            <a:cxnLst/>
            <a:rect l="l" t="t" r="r" b="b"/>
            <a:pathLst>
              <a:path w="5345173" h="464798">
                <a:moveTo>
                  <a:pt x="0" y="0"/>
                </a:moveTo>
                <a:lnTo>
                  <a:pt x="5345173" y="0"/>
                </a:lnTo>
                <a:lnTo>
                  <a:pt x="5345173" y="464798"/>
                </a:lnTo>
                <a:lnTo>
                  <a:pt x="0" y="464798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405949" y="5795498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0" y="0"/>
                </a:moveTo>
                <a:lnTo>
                  <a:pt x="286029" y="0"/>
                </a:lnTo>
                <a:lnTo>
                  <a:pt x="286029" y="286029"/>
                </a:lnTo>
                <a:lnTo>
                  <a:pt x="0" y="286029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3" name="Text 61"/>
          <p:cNvSpPr/>
          <p:nvPr/>
        </p:nvSpPr>
        <p:spPr>
          <a:xfrm>
            <a:off x="6374665" y="5795498"/>
            <a:ext cx="34859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L1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799164" y="5777656"/>
            <a:ext cx="132288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Session状态、搜索结果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99164" y="5956363"/>
            <a:ext cx="1313947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跨请求共享数据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34468" y="6242349"/>
            <a:ext cx="5345173" cy="464798"/>
          </a:xfrm>
          <a:custGeom>
            <a:avLst/>
            <a:gdLst/>
            <a:ahLst/>
            <a:cxnLst/>
            <a:rect l="l" t="t" r="r" b="b"/>
            <a:pathLst>
              <a:path w="5345173" h="464798">
                <a:moveTo>
                  <a:pt x="0" y="0"/>
                </a:moveTo>
                <a:lnTo>
                  <a:pt x="5345173" y="0"/>
                </a:lnTo>
                <a:lnTo>
                  <a:pt x="5345173" y="464798"/>
                </a:lnTo>
                <a:lnTo>
                  <a:pt x="0" y="464798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405949" y="6331672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0" y="0"/>
                </a:moveTo>
                <a:lnTo>
                  <a:pt x="286029" y="0"/>
                </a:lnTo>
                <a:lnTo>
                  <a:pt x="286029" y="286029"/>
                </a:lnTo>
                <a:lnTo>
                  <a:pt x="0" y="286029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68" name="Text 66"/>
          <p:cNvSpPr/>
          <p:nvPr/>
        </p:nvSpPr>
        <p:spPr>
          <a:xfrm>
            <a:off x="6374665" y="6331672"/>
            <a:ext cx="348598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799164" y="6313839"/>
            <a:ext cx="1313947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历史记录、持久化数据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99164" y="6492537"/>
            <a:ext cx="1305009" cy="143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长期存储+向量检索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8b364a51512bc3c4e9b9f229260f8eb987dad70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8222" r="8222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3436">
                  <a:alpha val="95000"/>
                </a:srgbClr>
              </a:gs>
              <a:gs pos="50000">
                <a:srgbClr val="2D3436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9659" y="1461352"/>
            <a:ext cx="893618" cy="893618"/>
          </a:xfrm>
          <a:custGeom>
            <a:avLst/>
            <a:gdLst/>
            <a:ahLst/>
            <a:cxnLst/>
            <a:rect l="l" t="t" r="r" b="b"/>
            <a:pathLst>
              <a:path w="893618" h="893618">
                <a:moveTo>
                  <a:pt x="0" y="0"/>
                </a:moveTo>
                <a:lnTo>
                  <a:pt x="893618" y="0"/>
                </a:lnTo>
                <a:lnTo>
                  <a:pt x="893618" y="893618"/>
                </a:lnTo>
                <a:lnTo>
                  <a:pt x="0" y="8936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9236" y="1681283"/>
            <a:ext cx="704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984E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3932" y="1452693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671800"/>
            <a:ext cx="3086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稳定性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保障体系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9106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033907"/>
            <a:ext cx="2857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熔断、降级与限流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Circuit Breaker &amp; Degradation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598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熔断器状态机与多级降级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6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85330" y="1318547"/>
            <a:ext cx="5609359" cy="2809009"/>
          </a:xfrm>
          <a:custGeom>
            <a:avLst/>
            <a:gdLst/>
            <a:ahLst/>
            <a:cxnLst/>
            <a:rect l="l" t="t" r="r" b="b"/>
            <a:pathLst>
              <a:path w="5609359" h="2809009">
                <a:moveTo>
                  <a:pt x="0" y="0"/>
                </a:moveTo>
                <a:lnTo>
                  <a:pt x="5609359" y="0"/>
                </a:lnTo>
                <a:lnTo>
                  <a:pt x="5609359" y="2809009"/>
                </a:lnTo>
                <a:lnTo>
                  <a:pt x="0" y="28090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817" y="15227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5218" y="11519"/>
                </a:moveTo>
                <a:cubicBezTo>
                  <a:pt x="139236" y="9845"/>
                  <a:pt x="143824" y="10783"/>
                  <a:pt x="146905" y="13830"/>
                </a:cubicBezTo>
                <a:lnTo>
                  <a:pt x="168336" y="35261"/>
                </a:lnTo>
                <a:cubicBezTo>
                  <a:pt x="170345" y="37270"/>
                  <a:pt x="171483" y="39983"/>
                  <a:pt x="171483" y="42829"/>
                </a:cubicBezTo>
                <a:cubicBezTo>
                  <a:pt x="171483" y="45675"/>
                  <a:pt x="170345" y="48388"/>
                  <a:pt x="168336" y="50397"/>
                </a:cubicBezTo>
                <a:lnTo>
                  <a:pt x="146905" y="71828"/>
                </a:lnTo>
                <a:cubicBezTo>
                  <a:pt x="143824" y="74909"/>
                  <a:pt x="139236" y="75813"/>
                  <a:pt x="135218" y="74139"/>
                </a:cubicBezTo>
                <a:cubicBezTo>
                  <a:pt x="131199" y="72464"/>
                  <a:pt x="128588" y="68613"/>
                  <a:pt x="128588" y="64294"/>
                </a:cubicBezTo>
                <a:lnTo>
                  <a:pt x="128588" y="53578"/>
                </a:lnTo>
                <a:lnTo>
                  <a:pt x="117872" y="53578"/>
                </a:lnTo>
                <a:cubicBezTo>
                  <a:pt x="114490" y="53578"/>
                  <a:pt x="111309" y="55152"/>
                  <a:pt x="109299" y="57864"/>
                </a:cubicBezTo>
                <a:lnTo>
                  <a:pt x="98450" y="72330"/>
                </a:lnTo>
                <a:lnTo>
                  <a:pt x="85055" y="54482"/>
                </a:lnTo>
                <a:lnTo>
                  <a:pt x="92154" y="45006"/>
                </a:lnTo>
                <a:cubicBezTo>
                  <a:pt x="98215" y="36902"/>
                  <a:pt x="107759" y="32147"/>
                  <a:pt x="117872" y="32147"/>
                </a:cubicBezTo>
                <a:lnTo>
                  <a:pt x="128588" y="32147"/>
                </a:lnTo>
                <a:lnTo>
                  <a:pt x="128588" y="21431"/>
                </a:lnTo>
                <a:cubicBezTo>
                  <a:pt x="128588" y="17112"/>
                  <a:pt x="131199" y="13194"/>
                  <a:pt x="135218" y="11519"/>
                </a:cubicBezTo>
                <a:close/>
                <a:moveTo>
                  <a:pt x="51569" y="99120"/>
                </a:moveTo>
                <a:lnTo>
                  <a:pt x="64963" y="116968"/>
                </a:lnTo>
                <a:lnTo>
                  <a:pt x="57864" y="126444"/>
                </a:lnTo>
                <a:cubicBezTo>
                  <a:pt x="51803" y="134548"/>
                  <a:pt x="42260" y="139303"/>
                  <a:pt x="32147" y="139303"/>
                </a:cubicBezTo>
                <a:lnTo>
                  <a:pt x="10716" y="139303"/>
                </a:lnTo>
                <a:cubicBezTo>
                  <a:pt x="4789" y="139303"/>
                  <a:pt x="0" y="134515"/>
                  <a:pt x="0" y="128588"/>
                </a:cubicBezTo>
                <a:cubicBezTo>
                  <a:pt x="0" y="122660"/>
                  <a:pt x="4789" y="117872"/>
                  <a:pt x="10716" y="117872"/>
                </a:cubicBezTo>
                <a:lnTo>
                  <a:pt x="32147" y="117872"/>
                </a:lnTo>
                <a:cubicBezTo>
                  <a:pt x="35529" y="117872"/>
                  <a:pt x="38710" y="116298"/>
                  <a:pt x="40719" y="113586"/>
                </a:cubicBezTo>
                <a:lnTo>
                  <a:pt x="51569" y="99120"/>
                </a:lnTo>
                <a:close/>
                <a:moveTo>
                  <a:pt x="146871" y="157587"/>
                </a:moveTo>
                <a:cubicBezTo>
                  <a:pt x="143790" y="160667"/>
                  <a:pt x="139203" y="161572"/>
                  <a:pt x="135184" y="159897"/>
                </a:cubicBezTo>
                <a:cubicBezTo>
                  <a:pt x="131166" y="158223"/>
                  <a:pt x="128588" y="154338"/>
                  <a:pt x="128588" y="150019"/>
                </a:cubicBezTo>
                <a:lnTo>
                  <a:pt x="128588" y="139303"/>
                </a:lnTo>
                <a:lnTo>
                  <a:pt x="117872" y="139303"/>
                </a:lnTo>
                <a:cubicBezTo>
                  <a:pt x="107759" y="139303"/>
                  <a:pt x="98215" y="134548"/>
                  <a:pt x="92154" y="126444"/>
                </a:cubicBezTo>
                <a:lnTo>
                  <a:pt x="40719" y="57864"/>
                </a:lnTo>
                <a:cubicBezTo>
                  <a:pt x="38710" y="55152"/>
                  <a:pt x="35529" y="53578"/>
                  <a:pt x="32147" y="53578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cubicBezTo>
                  <a:pt x="42260" y="32147"/>
                  <a:pt x="51803" y="36902"/>
                  <a:pt x="57864" y="45006"/>
                </a:cubicBezTo>
                <a:lnTo>
                  <a:pt x="109299" y="113586"/>
                </a:lnTo>
                <a:cubicBezTo>
                  <a:pt x="111309" y="116298"/>
                  <a:pt x="114490" y="117872"/>
                  <a:pt x="117872" y="117872"/>
                </a:cubicBezTo>
                <a:lnTo>
                  <a:pt x="128588" y="117872"/>
                </a:lnTo>
                <a:lnTo>
                  <a:pt x="128588" y="107156"/>
                </a:lnTo>
                <a:cubicBezTo>
                  <a:pt x="128588" y="102837"/>
                  <a:pt x="131199" y="98919"/>
                  <a:pt x="135218" y="97244"/>
                </a:cubicBezTo>
                <a:cubicBezTo>
                  <a:pt x="139236" y="95570"/>
                  <a:pt x="143824" y="96508"/>
                  <a:pt x="146905" y="99555"/>
                </a:cubicBezTo>
                <a:lnTo>
                  <a:pt x="168336" y="120986"/>
                </a:lnTo>
                <a:cubicBezTo>
                  <a:pt x="170345" y="122995"/>
                  <a:pt x="171483" y="125708"/>
                  <a:pt x="171483" y="128554"/>
                </a:cubicBezTo>
                <a:cubicBezTo>
                  <a:pt x="171483" y="131400"/>
                  <a:pt x="170345" y="134113"/>
                  <a:pt x="168336" y="136122"/>
                </a:cubicBezTo>
                <a:lnTo>
                  <a:pt x="146905" y="157553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761080" y="1475222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熔断器三态模型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66092" y="1864741"/>
            <a:ext cx="741218" cy="741218"/>
          </a:xfrm>
          <a:custGeom>
            <a:avLst/>
            <a:gdLst/>
            <a:ahLst/>
            <a:cxnLst/>
            <a:rect l="l" t="t" r="r" b="b"/>
            <a:pathLst>
              <a:path w="741218" h="741218">
                <a:moveTo>
                  <a:pt x="0" y="0"/>
                </a:moveTo>
                <a:lnTo>
                  <a:pt x="741218" y="0"/>
                </a:lnTo>
                <a:lnTo>
                  <a:pt x="741218" y="741218"/>
                </a:lnTo>
                <a:lnTo>
                  <a:pt x="0" y="7412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7795" y="2046656"/>
            <a:ext cx="523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984E3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Closed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984E3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28858" y="2694254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正常服务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00354" y="22370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2" name="Shape 10"/>
          <p:cNvSpPr/>
          <p:nvPr/>
        </p:nvSpPr>
        <p:spPr>
          <a:xfrm>
            <a:off x="2818534" y="1864741"/>
            <a:ext cx="741218" cy="741218"/>
          </a:xfrm>
          <a:custGeom>
            <a:avLst/>
            <a:gdLst/>
            <a:ahLst/>
            <a:cxnLst/>
            <a:rect l="l" t="t" r="r" b="b"/>
            <a:pathLst>
              <a:path w="741218" h="741218">
                <a:moveTo>
                  <a:pt x="0" y="0"/>
                </a:moveTo>
                <a:lnTo>
                  <a:pt x="741218" y="0"/>
                </a:lnTo>
                <a:lnTo>
                  <a:pt x="741218" y="741218"/>
                </a:lnTo>
                <a:lnTo>
                  <a:pt x="0" y="7412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2D34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6644" y="2046656"/>
            <a:ext cx="42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Open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打开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1300" y="2694254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熔断保护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52796" y="223708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6" name="Shape 14"/>
          <p:cNvSpPr/>
          <p:nvPr/>
        </p:nvSpPr>
        <p:spPr>
          <a:xfrm>
            <a:off x="4170976" y="1864741"/>
            <a:ext cx="741218" cy="741218"/>
          </a:xfrm>
          <a:custGeom>
            <a:avLst/>
            <a:gdLst/>
            <a:ahLst/>
            <a:cxnLst/>
            <a:rect l="l" t="t" r="r" b="b"/>
            <a:pathLst>
              <a:path w="741218" h="741218">
                <a:moveTo>
                  <a:pt x="0" y="0"/>
                </a:moveTo>
                <a:lnTo>
                  <a:pt x="741218" y="0"/>
                </a:lnTo>
                <a:lnTo>
                  <a:pt x="741218" y="741218"/>
                </a:lnTo>
                <a:lnTo>
                  <a:pt x="0" y="7412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57324" y="2046656"/>
            <a:ext cx="771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984E3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Half-Open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984E3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半开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33742" y="2694254"/>
            <a:ext cx="81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试探恢复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005" y="2999017"/>
            <a:ext cx="5295900" cy="971550"/>
          </a:xfrm>
          <a:custGeom>
            <a:avLst/>
            <a:gdLst/>
            <a:ahLst/>
            <a:cxnLst/>
            <a:rect l="l" t="t" r="r" b="b"/>
            <a:pathLst>
              <a:path w="5295900" h="971550">
                <a:moveTo>
                  <a:pt x="0" y="0"/>
                </a:moveTo>
                <a:lnTo>
                  <a:pt x="5295900" y="0"/>
                </a:lnTo>
                <a:lnTo>
                  <a:pt x="5295900" y="971550"/>
                </a:lnTo>
                <a:lnTo>
                  <a:pt x="0" y="97155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6264" y="3113280"/>
            <a:ext cx="513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数学定义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0594" y="3384216"/>
            <a:ext cx="1627909" cy="465859"/>
          </a:xfrm>
          <a:custGeom>
            <a:avLst/>
            <a:gdLst/>
            <a:ahLst/>
            <a:cxnLst/>
            <a:rect l="l" t="t" r="r" b="b"/>
            <a:pathLst>
              <a:path w="1627909" h="465859">
                <a:moveTo>
                  <a:pt x="0" y="0"/>
                </a:moveTo>
                <a:lnTo>
                  <a:pt x="1627909" y="0"/>
                </a:lnTo>
                <a:lnTo>
                  <a:pt x="1627909" y="465859"/>
                </a:lnTo>
                <a:lnTo>
                  <a:pt x="0" y="4658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2521" y="3464719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时间窗口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2521" y="3617128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60秒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375703" y="3384216"/>
            <a:ext cx="1627909" cy="465859"/>
          </a:xfrm>
          <a:custGeom>
            <a:avLst/>
            <a:gdLst/>
            <a:ahLst/>
            <a:cxnLst/>
            <a:rect l="l" t="t" r="r" b="b"/>
            <a:pathLst>
              <a:path w="1627909" h="465859">
                <a:moveTo>
                  <a:pt x="0" y="0"/>
                </a:moveTo>
                <a:lnTo>
                  <a:pt x="1627909" y="0"/>
                </a:lnTo>
                <a:lnTo>
                  <a:pt x="1627909" y="465859"/>
                </a:lnTo>
                <a:lnTo>
                  <a:pt x="0" y="4658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7630" y="3464719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失败率阈值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427630" y="3617128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50%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90812" y="3384216"/>
            <a:ext cx="1627909" cy="465859"/>
          </a:xfrm>
          <a:custGeom>
            <a:avLst/>
            <a:gdLst/>
            <a:ahLst/>
            <a:cxnLst/>
            <a:rect l="l" t="t" r="r" b="b"/>
            <a:pathLst>
              <a:path w="1627909" h="465859">
                <a:moveTo>
                  <a:pt x="0" y="0"/>
                </a:moveTo>
                <a:lnTo>
                  <a:pt x="1627909" y="0"/>
                </a:lnTo>
                <a:lnTo>
                  <a:pt x="1627909" y="465859"/>
                </a:lnTo>
                <a:lnTo>
                  <a:pt x="0" y="4658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42739" y="3464719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最小调用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42739" y="3617128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10次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8318" y="4281980"/>
            <a:ext cx="5598968" cy="1076325"/>
          </a:xfrm>
          <a:custGeom>
            <a:avLst/>
            <a:gdLst/>
            <a:ahLst/>
            <a:cxnLst/>
            <a:rect l="l" t="t" r="r" b="b"/>
            <a:pathLst>
              <a:path w="5598968" h="1076325">
                <a:moveTo>
                  <a:pt x="0" y="0"/>
                </a:moveTo>
                <a:lnTo>
                  <a:pt x="5598968" y="0"/>
                </a:lnTo>
                <a:lnTo>
                  <a:pt x="5598968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8318" y="4281980"/>
            <a:ext cx="34636" cy="1076325"/>
          </a:xfrm>
          <a:custGeom>
            <a:avLst/>
            <a:gdLst/>
            <a:ahLst/>
            <a:cxnLst/>
            <a:rect l="l" t="t" r="r" b="b"/>
            <a:pathLst>
              <a:path w="34636" h="1076325">
                <a:moveTo>
                  <a:pt x="0" y="0"/>
                </a:moveTo>
                <a:lnTo>
                  <a:pt x="34636" y="0"/>
                </a:lnTo>
                <a:lnTo>
                  <a:pt x="34636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2" name="Shape 30"/>
          <p:cNvSpPr/>
          <p:nvPr/>
        </p:nvSpPr>
        <p:spPr>
          <a:xfrm>
            <a:off x="591795" y="448188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3" name="Text 31"/>
          <p:cNvSpPr/>
          <p:nvPr/>
        </p:nvSpPr>
        <p:spPr>
          <a:xfrm>
            <a:off x="787057" y="4434334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半开状态测试机制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7982" y="4777104"/>
            <a:ext cx="53435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熔断器打开60s后，允许1个请求通过（半开）。</a:t>
            </a: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成功→关闭熔断恢复正常；失败→重新打开再等60s。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避免故障服务反复重试造成资源浪费。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580" y="1318547"/>
            <a:ext cx="5609359" cy="3209059"/>
          </a:xfrm>
          <a:custGeom>
            <a:avLst/>
            <a:gdLst/>
            <a:ahLst/>
            <a:cxnLst/>
            <a:rect l="l" t="t" r="r" b="b"/>
            <a:pathLst>
              <a:path w="5609359" h="3209059">
                <a:moveTo>
                  <a:pt x="0" y="0"/>
                </a:moveTo>
                <a:lnTo>
                  <a:pt x="5609359" y="0"/>
                </a:lnTo>
                <a:lnTo>
                  <a:pt x="5609359" y="3209059"/>
                </a:lnTo>
                <a:lnTo>
                  <a:pt x="0" y="32090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6067" y="152278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7" name="Text 35"/>
          <p:cNvSpPr/>
          <p:nvPr/>
        </p:nvSpPr>
        <p:spPr>
          <a:xfrm>
            <a:off x="6571330" y="1475222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多级降级决策树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60914" y="1856082"/>
            <a:ext cx="5285509" cy="571500"/>
          </a:xfrm>
          <a:custGeom>
            <a:avLst/>
            <a:gdLst/>
            <a:ahLst/>
            <a:cxnLst/>
            <a:rect l="l" t="t" r="r" b="b"/>
            <a:pathLst>
              <a:path w="5285509" h="571500">
                <a:moveTo>
                  <a:pt x="0" y="0"/>
                </a:moveTo>
                <a:lnTo>
                  <a:pt x="5285509" y="0"/>
                </a:lnTo>
                <a:lnTo>
                  <a:pt x="5285509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60914" y="1856082"/>
            <a:ext cx="17318" cy="571500"/>
          </a:xfrm>
          <a:custGeom>
            <a:avLst/>
            <a:gdLst/>
            <a:ahLst/>
            <a:cxnLst/>
            <a:rect l="l" t="t" r="r" b="b"/>
            <a:pathLst>
              <a:path w="17318" h="571500">
                <a:moveTo>
                  <a:pt x="0" y="0"/>
                </a:moveTo>
                <a:lnTo>
                  <a:pt x="17318" y="0"/>
                </a:lnTo>
                <a:lnTo>
                  <a:pt x="17318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40" name="Shape 38"/>
          <p:cNvSpPr/>
          <p:nvPr/>
        </p:nvSpPr>
        <p:spPr>
          <a:xfrm>
            <a:off x="6483832" y="198935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41" name="Text 39"/>
          <p:cNvSpPr/>
          <p:nvPr/>
        </p:nvSpPr>
        <p:spPr>
          <a:xfrm>
            <a:off x="6450495" y="1989358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02851" y="1970345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Primary：MiniMax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02851" y="2160780"/>
            <a:ext cx="402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成本低速度快，优先使用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86289" y="206553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成功→返回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0914" y="2503624"/>
            <a:ext cx="5285509" cy="571500"/>
          </a:xfrm>
          <a:custGeom>
            <a:avLst/>
            <a:gdLst/>
            <a:ahLst/>
            <a:cxnLst/>
            <a:rect l="l" t="t" r="r" b="b"/>
            <a:pathLst>
              <a:path w="5285509" h="571500">
                <a:moveTo>
                  <a:pt x="0" y="0"/>
                </a:moveTo>
                <a:lnTo>
                  <a:pt x="5285509" y="0"/>
                </a:lnTo>
                <a:lnTo>
                  <a:pt x="5285509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60914" y="2503624"/>
            <a:ext cx="17318" cy="571500"/>
          </a:xfrm>
          <a:custGeom>
            <a:avLst/>
            <a:gdLst/>
            <a:ahLst/>
            <a:cxnLst/>
            <a:rect l="l" t="t" r="r" b="b"/>
            <a:pathLst>
              <a:path w="17318" h="571500">
                <a:moveTo>
                  <a:pt x="0" y="0"/>
                </a:moveTo>
                <a:lnTo>
                  <a:pt x="17318" y="0"/>
                </a:lnTo>
                <a:lnTo>
                  <a:pt x="17318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7" name="Shape 45"/>
          <p:cNvSpPr/>
          <p:nvPr/>
        </p:nvSpPr>
        <p:spPr>
          <a:xfrm>
            <a:off x="6483832" y="26368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8" name="Text 46"/>
          <p:cNvSpPr/>
          <p:nvPr/>
        </p:nvSpPr>
        <p:spPr>
          <a:xfrm>
            <a:off x="6450495" y="263689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02851" y="2617887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Secondary：GLM-4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02851" y="2808312"/>
            <a:ext cx="402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备用模型，质量更优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86289" y="2713062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成功→返回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0914" y="3151156"/>
            <a:ext cx="5285509" cy="571500"/>
          </a:xfrm>
          <a:custGeom>
            <a:avLst/>
            <a:gdLst/>
            <a:ahLst/>
            <a:cxnLst/>
            <a:rect l="l" t="t" r="r" b="b"/>
            <a:pathLst>
              <a:path w="5285509" h="571500">
                <a:moveTo>
                  <a:pt x="0" y="0"/>
                </a:moveTo>
                <a:lnTo>
                  <a:pt x="5285509" y="0"/>
                </a:lnTo>
                <a:lnTo>
                  <a:pt x="5285509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360914" y="3151156"/>
            <a:ext cx="17318" cy="571500"/>
          </a:xfrm>
          <a:custGeom>
            <a:avLst/>
            <a:gdLst/>
            <a:ahLst/>
            <a:cxnLst/>
            <a:rect l="l" t="t" r="r" b="b"/>
            <a:pathLst>
              <a:path w="17318" h="571500">
                <a:moveTo>
                  <a:pt x="0" y="0"/>
                </a:moveTo>
                <a:lnTo>
                  <a:pt x="17318" y="0"/>
                </a:lnTo>
                <a:lnTo>
                  <a:pt x="17318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4" name="Shape 52"/>
          <p:cNvSpPr/>
          <p:nvPr/>
        </p:nvSpPr>
        <p:spPr>
          <a:xfrm>
            <a:off x="6483832" y="328443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5" name="Text 53"/>
          <p:cNvSpPr/>
          <p:nvPr/>
        </p:nvSpPr>
        <p:spPr>
          <a:xfrm>
            <a:off x="6450495" y="3284432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02851" y="3265419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Tertiary：Kimi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02851" y="3455854"/>
            <a:ext cx="402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最终备用，能力最强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986289" y="3360604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成功→返回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60914" y="3798698"/>
            <a:ext cx="5285509" cy="571500"/>
          </a:xfrm>
          <a:custGeom>
            <a:avLst/>
            <a:gdLst/>
            <a:ahLst/>
            <a:cxnLst/>
            <a:rect l="l" t="t" r="r" b="b"/>
            <a:pathLst>
              <a:path w="5285509" h="571500">
                <a:moveTo>
                  <a:pt x="0" y="0"/>
                </a:moveTo>
                <a:lnTo>
                  <a:pt x="5285509" y="0"/>
                </a:lnTo>
                <a:lnTo>
                  <a:pt x="5285509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636E72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60914" y="3798698"/>
            <a:ext cx="17318" cy="571500"/>
          </a:xfrm>
          <a:custGeom>
            <a:avLst/>
            <a:gdLst/>
            <a:ahLst/>
            <a:cxnLst/>
            <a:rect l="l" t="t" r="r" b="b"/>
            <a:pathLst>
              <a:path w="17318" h="571500">
                <a:moveTo>
                  <a:pt x="0" y="0"/>
                </a:moveTo>
                <a:lnTo>
                  <a:pt x="17318" y="0"/>
                </a:lnTo>
                <a:lnTo>
                  <a:pt x="17318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636E72"/>
          </a:solidFill>
          <a:ln/>
        </p:spPr>
      </p:sp>
      <p:sp>
        <p:nvSpPr>
          <p:cNvPr id="61" name="Shape 59"/>
          <p:cNvSpPr/>
          <p:nvPr/>
        </p:nvSpPr>
        <p:spPr>
          <a:xfrm>
            <a:off x="6483832" y="39319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636E72"/>
          </a:solidFill>
          <a:ln/>
        </p:spPr>
      </p:sp>
      <p:sp>
        <p:nvSpPr>
          <p:cNvPr id="62" name="Text 60"/>
          <p:cNvSpPr/>
          <p:nvPr/>
        </p:nvSpPr>
        <p:spPr>
          <a:xfrm>
            <a:off x="6450495" y="393196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4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902851" y="3912961"/>
            <a:ext cx="4124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缓存兜底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02851" y="4103387"/>
            <a:ext cx="411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返回历史上热门推荐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078495" y="4008137"/>
            <a:ext cx="514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最终保障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208568" y="4683416"/>
            <a:ext cx="5598968" cy="1371600"/>
          </a:xfrm>
          <a:custGeom>
            <a:avLst/>
            <a:gdLst/>
            <a:ahLst/>
            <a:cxnLst/>
            <a:rect l="l" t="t" r="r" b="b"/>
            <a:pathLst>
              <a:path w="5598968" h="1371600">
                <a:moveTo>
                  <a:pt x="0" y="0"/>
                </a:moveTo>
                <a:lnTo>
                  <a:pt x="5598968" y="0"/>
                </a:lnTo>
                <a:lnTo>
                  <a:pt x="5598968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208568" y="4683416"/>
            <a:ext cx="34636" cy="1371600"/>
          </a:xfrm>
          <a:custGeom>
            <a:avLst/>
            <a:gdLst/>
            <a:ahLst/>
            <a:cxnLst/>
            <a:rect l="l" t="t" r="r" b="b"/>
            <a:pathLst>
              <a:path w="34636" h="1371600">
                <a:moveTo>
                  <a:pt x="0" y="0"/>
                </a:moveTo>
                <a:lnTo>
                  <a:pt x="34636" y="0"/>
                </a:lnTo>
                <a:lnTo>
                  <a:pt x="346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68" name="Shape 66"/>
          <p:cNvSpPr/>
          <p:nvPr/>
        </p:nvSpPr>
        <p:spPr>
          <a:xfrm>
            <a:off x="6423476" y="4883321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69" name="Text 67"/>
          <p:cNvSpPr/>
          <p:nvPr/>
        </p:nvSpPr>
        <p:spPr>
          <a:xfrm>
            <a:off x="6597307" y="4835761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降级策略设计原则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405617" y="521662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1" name="Text 69"/>
          <p:cNvSpPr/>
          <p:nvPr/>
        </p:nvSpPr>
        <p:spPr>
          <a:xfrm>
            <a:off x="6621092" y="5178540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成本优先：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MiniMax便宜速度快，优先使用降低运营成本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405617" y="548322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3" name="Text 71"/>
          <p:cNvSpPr/>
          <p:nvPr/>
        </p:nvSpPr>
        <p:spPr>
          <a:xfrm>
            <a:off x="6621092" y="5445147"/>
            <a:ext cx="365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体验优先：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即使全部模型故障，返回缓存/热门推荐&gt;直接报错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405617" y="574983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5" name="Text 73"/>
          <p:cNvSpPr/>
          <p:nvPr/>
        </p:nvSpPr>
        <p:spPr>
          <a:xfrm>
            <a:off x="6621092" y="5711744"/>
            <a:ext cx="3400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故障隔离：</a:t>
            </a: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单个模型故障不影响其他模型，避免级联失败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kern="0" spc="88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66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Token Bucket自适应限流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384"/>
            <a:ext cx="508000" cy="15875"/>
          </a:xfrm>
          <a:custGeom>
            <a:avLst/>
            <a:gdLst/>
            <a:ahLst/>
            <a:cxnLst/>
            <a:rect l="l" t="t" r="r" b="b"/>
            <a:pathLst>
              <a:path w="508000" h="15875">
                <a:moveTo>
                  <a:pt x="0" y="0"/>
                </a:moveTo>
                <a:lnTo>
                  <a:pt x="508000" y="0"/>
                </a:lnTo>
                <a:lnTo>
                  <a:pt x="508000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21108" y="1098789"/>
            <a:ext cx="5690466" cy="2801216"/>
          </a:xfrm>
          <a:custGeom>
            <a:avLst/>
            <a:gdLst/>
            <a:ahLst/>
            <a:cxnLst/>
            <a:rect l="l" t="t" r="r" b="b"/>
            <a:pathLst>
              <a:path w="5690466" h="2801216">
                <a:moveTo>
                  <a:pt x="0" y="0"/>
                </a:moveTo>
                <a:lnTo>
                  <a:pt x="5690466" y="0"/>
                </a:lnTo>
                <a:lnTo>
                  <a:pt x="5690466" y="2801216"/>
                </a:lnTo>
                <a:lnTo>
                  <a:pt x="0" y="28012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1515" y="126898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5719" y="26789"/>
                </a:moveTo>
                <a:lnTo>
                  <a:pt x="35719" y="22324"/>
                </a:lnTo>
                <a:cubicBezTo>
                  <a:pt x="35719" y="9990"/>
                  <a:pt x="59717" y="0"/>
                  <a:pt x="89297" y="0"/>
                </a:cubicBezTo>
                <a:cubicBezTo>
                  <a:pt x="118876" y="0"/>
                  <a:pt x="142875" y="9990"/>
                  <a:pt x="142875" y="22324"/>
                </a:cubicBezTo>
                <a:lnTo>
                  <a:pt x="142875" y="26789"/>
                </a:lnTo>
                <a:cubicBezTo>
                  <a:pt x="142875" y="35328"/>
                  <a:pt x="131350" y="42751"/>
                  <a:pt x="114412" y="46518"/>
                </a:cubicBezTo>
                <a:cubicBezTo>
                  <a:pt x="113742" y="45737"/>
                  <a:pt x="113044" y="44983"/>
                  <a:pt x="112347" y="44286"/>
                </a:cubicBezTo>
                <a:cubicBezTo>
                  <a:pt x="108021" y="40016"/>
                  <a:pt x="102440" y="36779"/>
                  <a:pt x="96608" y="34379"/>
                </a:cubicBezTo>
                <a:cubicBezTo>
                  <a:pt x="84916" y="29496"/>
                  <a:pt x="69679" y="26817"/>
                  <a:pt x="53578" y="26817"/>
                </a:cubicBezTo>
                <a:cubicBezTo>
                  <a:pt x="47467" y="26817"/>
                  <a:pt x="41495" y="27208"/>
                  <a:pt x="35775" y="27961"/>
                </a:cubicBezTo>
                <a:cubicBezTo>
                  <a:pt x="35719" y="27598"/>
                  <a:pt x="35719" y="27208"/>
                  <a:pt x="35719" y="26817"/>
                </a:cubicBezTo>
                <a:close/>
                <a:moveTo>
                  <a:pt x="120551" y="98506"/>
                </a:moveTo>
                <a:lnTo>
                  <a:pt x="120551" y="85613"/>
                </a:lnTo>
                <a:cubicBezTo>
                  <a:pt x="124764" y="84525"/>
                  <a:pt x="128727" y="83241"/>
                  <a:pt x="132327" y="81735"/>
                </a:cubicBezTo>
                <a:cubicBezTo>
                  <a:pt x="136010" y="80200"/>
                  <a:pt x="139610" y="78330"/>
                  <a:pt x="142875" y="76070"/>
                </a:cubicBezTo>
                <a:lnTo>
                  <a:pt x="142875" y="80367"/>
                </a:lnTo>
                <a:cubicBezTo>
                  <a:pt x="142875" y="87846"/>
                  <a:pt x="134085" y="94459"/>
                  <a:pt x="120551" y="98506"/>
                </a:cubicBezTo>
                <a:close/>
                <a:moveTo>
                  <a:pt x="120551" y="71717"/>
                </a:moveTo>
                <a:lnTo>
                  <a:pt x="120551" y="62508"/>
                </a:lnTo>
                <a:cubicBezTo>
                  <a:pt x="120551" y="61252"/>
                  <a:pt x="120439" y="60052"/>
                  <a:pt x="120272" y="58880"/>
                </a:cubicBezTo>
                <a:cubicBezTo>
                  <a:pt x="124597" y="57792"/>
                  <a:pt x="128643" y="56480"/>
                  <a:pt x="132327" y="54918"/>
                </a:cubicBezTo>
                <a:cubicBezTo>
                  <a:pt x="136010" y="53355"/>
                  <a:pt x="139610" y="51513"/>
                  <a:pt x="142875" y="49253"/>
                </a:cubicBezTo>
                <a:lnTo>
                  <a:pt x="142875" y="53550"/>
                </a:lnTo>
                <a:cubicBezTo>
                  <a:pt x="142875" y="61029"/>
                  <a:pt x="134085" y="67642"/>
                  <a:pt x="120551" y="71689"/>
                </a:cubicBezTo>
                <a:close/>
                <a:moveTo>
                  <a:pt x="0" y="66973"/>
                </a:moveTo>
                <a:lnTo>
                  <a:pt x="0" y="62508"/>
                </a:lnTo>
                <a:cubicBezTo>
                  <a:pt x="0" y="50174"/>
                  <a:pt x="23999" y="40184"/>
                  <a:pt x="53578" y="40184"/>
                </a:cubicBezTo>
                <a:cubicBezTo>
                  <a:pt x="83158" y="40184"/>
                  <a:pt x="107156" y="50174"/>
                  <a:pt x="107156" y="62508"/>
                </a:cubicBezTo>
                <a:lnTo>
                  <a:pt x="107156" y="66973"/>
                </a:lnTo>
                <a:cubicBezTo>
                  <a:pt x="107156" y="79307"/>
                  <a:pt x="83158" y="89297"/>
                  <a:pt x="53578" y="89297"/>
                </a:cubicBezTo>
                <a:cubicBezTo>
                  <a:pt x="23999" y="89297"/>
                  <a:pt x="0" y="79307"/>
                  <a:pt x="0" y="66973"/>
                </a:cubicBezTo>
                <a:close/>
                <a:moveTo>
                  <a:pt x="107156" y="93762"/>
                </a:moveTo>
                <a:cubicBezTo>
                  <a:pt x="107156" y="106096"/>
                  <a:pt x="83158" y="116086"/>
                  <a:pt x="53578" y="116086"/>
                </a:cubicBezTo>
                <a:cubicBezTo>
                  <a:pt x="23999" y="116086"/>
                  <a:pt x="0" y="106096"/>
                  <a:pt x="0" y="93762"/>
                </a:cubicBezTo>
                <a:lnTo>
                  <a:pt x="0" y="89464"/>
                </a:lnTo>
                <a:cubicBezTo>
                  <a:pt x="3237" y="91725"/>
                  <a:pt x="6837" y="93566"/>
                  <a:pt x="10548" y="95129"/>
                </a:cubicBezTo>
                <a:cubicBezTo>
                  <a:pt x="22241" y="100013"/>
                  <a:pt x="37477" y="102691"/>
                  <a:pt x="53578" y="102691"/>
                </a:cubicBezTo>
                <a:cubicBezTo>
                  <a:pt x="69679" y="102691"/>
                  <a:pt x="84916" y="99985"/>
                  <a:pt x="96608" y="95129"/>
                </a:cubicBezTo>
                <a:cubicBezTo>
                  <a:pt x="100292" y="93594"/>
                  <a:pt x="103891" y="91725"/>
                  <a:pt x="107156" y="89464"/>
                </a:cubicBezTo>
                <a:lnTo>
                  <a:pt x="107156" y="93762"/>
                </a:lnTo>
                <a:close/>
                <a:moveTo>
                  <a:pt x="107156" y="116253"/>
                </a:moveTo>
                <a:lnTo>
                  <a:pt x="107156" y="120551"/>
                </a:lnTo>
                <a:cubicBezTo>
                  <a:pt x="107156" y="132885"/>
                  <a:pt x="83158" y="142875"/>
                  <a:pt x="53578" y="142875"/>
                </a:cubicBezTo>
                <a:cubicBezTo>
                  <a:pt x="23999" y="142875"/>
                  <a:pt x="0" y="132885"/>
                  <a:pt x="0" y="120551"/>
                </a:cubicBezTo>
                <a:lnTo>
                  <a:pt x="0" y="116253"/>
                </a:lnTo>
                <a:cubicBezTo>
                  <a:pt x="3237" y="118514"/>
                  <a:pt x="6837" y="120355"/>
                  <a:pt x="10548" y="121918"/>
                </a:cubicBezTo>
                <a:cubicBezTo>
                  <a:pt x="22241" y="126802"/>
                  <a:pt x="37477" y="129480"/>
                  <a:pt x="53578" y="129480"/>
                </a:cubicBezTo>
                <a:cubicBezTo>
                  <a:pt x="69679" y="129480"/>
                  <a:pt x="84916" y="126774"/>
                  <a:pt x="96608" y="121918"/>
                </a:cubicBezTo>
                <a:cubicBezTo>
                  <a:pt x="100292" y="120383"/>
                  <a:pt x="103891" y="118514"/>
                  <a:pt x="107156" y="116253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634233" y="1229351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Token Bucket算法原理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8887" y="1546735"/>
            <a:ext cx="5420591" cy="508000"/>
          </a:xfrm>
          <a:custGeom>
            <a:avLst/>
            <a:gdLst/>
            <a:ahLst/>
            <a:cxnLst/>
            <a:rect l="l" t="t" r="r" b="b"/>
            <a:pathLst>
              <a:path w="5420591" h="508000">
                <a:moveTo>
                  <a:pt x="0" y="0"/>
                </a:moveTo>
                <a:lnTo>
                  <a:pt x="5420591" y="0"/>
                </a:lnTo>
                <a:lnTo>
                  <a:pt x="5420591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8887" y="1546735"/>
            <a:ext cx="14432" cy="508000"/>
          </a:xfrm>
          <a:custGeom>
            <a:avLst/>
            <a:gdLst/>
            <a:ahLst/>
            <a:cxnLst/>
            <a:rect l="l" t="t" r="r" b="b"/>
            <a:pathLst>
              <a:path w="14432" h="508000">
                <a:moveTo>
                  <a:pt x="0" y="0"/>
                </a:moveTo>
                <a:lnTo>
                  <a:pt x="14432" y="0"/>
                </a:lnTo>
                <a:lnTo>
                  <a:pt x="14432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0" name="Text 8"/>
          <p:cNvSpPr/>
          <p:nvPr/>
        </p:nvSpPr>
        <p:spPr>
          <a:xfrm>
            <a:off x="561319" y="1641954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rate（每秒填充令牌数）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1319" y="1832384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控制长期平均QPS，平滑流量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8887" y="2149830"/>
            <a:ext cx="5420591" cy="508000"/>
          </a:xfrm>
          <a:custGeom>
            <a:avLst/>
            <a:gdLst/>
            <a:ahLst/>
            <a:cxnLst/>
            <a:rect l="l" t="t" r="r" b="b"/>
            <a:pathLst>
              <a:path w="5420591" h="508000">
                <a:moveTo>
                  <a:pt x="0" y="0"/>
                </a:moveTo>
                <a:lnTo>
                  <a:pt x="5420591" y="0"/>
                </a:lnTo>
                <a:lnTo>
                  <a:pt x="5420591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8887" y="2149830"/>
            <a:ext cx="14432" cy="508000"/>
          </a:xfrm>
          <a:custGeom>
            <a:avLst/>
            <a:gdLst/>
            <a:ahLst/>
            <a:cxnLst/>
            <a:rect l="l" t="t" r="r" b="b"/>
            <a:pathLst>
              <a:path w="14432" h="508000">
                <a:moveTo>
                  <a:pt x="0" y="0"/>
                </a:moveTo>
                <a:lnTo>
                  <a:pt x="14432" y="0"/>
                </a:lnTo>
                <a:lnTo>
                  <a:pt x="14432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4" name="Text 12"/>
          <p:cNvSpPr/>
          <p:nvPr/>
        </p:nvSpPr>
        <p:spPr>
          <a:xfrm>
            <a:off x="561319" y="2245049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capacity（桶容量）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1319" y="2435479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允许短暂突发流量，缓冲峰值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1671" y="2752925"/>
            <a:ext cx="5429250" cy="1016000"/>
          </a:xfrm>
          <a:custGeom>
            <a:avLst/>
            <a:gdLst/>
            <a:ahLst/>
            <a:cxnLst/>
            <a:rect l="l" t="t" r="r" b="b"/>
            <a:pathLst>
              <a:path w="5429250" h="1016000">
                <a:moveTo>
                  <a:pt x="0" y="0"/>
                </a:moveTo>
                <a:lnTo>
                  <a:pt x="5429250" y="0"/>
                </a:lnTo>
                <a:lnTo>
                  <a:pt x="542925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5098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6887" y="2848136"/>
            <a:ext cx="529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算法流程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6887" y="3070309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1. 计算时间间隔内新增令牌：elapsed × 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6887" y="3229059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2. 更新桶内令牌数：min(capacity, tokens + 新增)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6887" y="3387809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3. 请求到达时，若tokens ≥ 1则消耗1个令牌，允许通过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6887" y="3546559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4. 若tokens &lt; 1，拒绝请求（限流）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1932" y="4029909"/>
            <a:ext cx="5681807" cy="1143000"/>
          </a:xfrm>
          <a:custGeom>
            <a:avLst/>
            <a:gdLst/>
            <a:ahLst/>
            <a:cxnLst/>
            <a:rect l="l" t="t" r="r" b="b"/>
            <a:pathLst>
              <a:path w="5681807" h="1143000">
                <a:moveTo>
                  <a:pt x="0" y="0"/>
                </a:moveTo>
                <a:lnTo>
                  <a:pt x="5681807" y="0"/>
                </a:lnTo>
                <a:lnTo>
                  <a:pt x="5681807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1932" y="4029909"/>
            <a:ext cx="28864" cy="1143000"/>
          </a:xfrm>
          <a:custGeom>
            <a:avLst/>
            <a:gdLst/>
            <a:ahLst/>
            <a:cxnLst/>
            <a:rect l="l" t="t" r="r" b="b"/>
            <a:pathLst>
              <a:path w="28864" h="1143000">
                <a:moveTo>
                  <a:pt x="0" y="0"/>
                </a:moveTo>
                <a:lnTo>
                  <a:pt x="28864" y="0"/>
                </a:lnTo>
                <a:lnTo>
                  <a:pt x="2886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233" y="4196496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5" name="Text 23"/>
          <p:cNvSpPr/>
          <p:nvPr/>
        </p:nvSpPr>
        <p:spPr>
          <a:xfrm>
            <a:off x="655881" y="4156870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算法优势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6139" y="4474254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7" name="Text 25"/>
          <p:cNvSpPr/>
          <p:nvPr/>
        </p:nvSpPr>
        <p:spPr>
          <a:xfrm>
            <a:off x="675702" y="4442512"/>
            <a:ext cx="369093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平滑流量：</a:t>
            </a:r>
            <a:r>
              <a:rPr lang="en-US" sz="87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桶容量允许短暂突发（如10个并发），但长期平均限制在5 QPS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6139" y="469642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9" name="Text 27"/>
          <p:cNvSpPr/>
          <p:nvPr/>
        </p:nvSpPr>
        <p:spPr>
          <a:xfrm>
            <a:off x="675702" y="4664684"/>
            <a:ext cx="2055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精确控制：</a:t>
            </a:r>
            <a:r>
              <a:rPr lang="en-US" sz="87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基于时间计算，无定时器误差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6139" y="4918599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1" name="Text 29"/>
          <p:cNvSpPr/>
          <p:nvPr/>
        </p:nvSpPr>
        <p:spPr>
          <a:xfrm>
            <a:off x="675702" y="4886857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灵活配置：</a:t>
            </a:r>
            <a:r>
              <a:rPr lang="en-US" sz="87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rate和capacity可独立调整，适应不同场景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8960" y="1098789"/>
            <a:ext cx="5690466" cy="3777528"/>
          </a:xfrm>
          <a:custGeom>
            <a:avLst/>
            <a:gdLst/>
            <a:ahLst/>
            <a:cxnLst/>
            <a:rect l="l" t="t" r="r" b="b"/>
            <a:pathLst>
              <a:path w="5690466" h="3777528">
                <a:moveTo>
                  <a:pt x="0" y="0"/>
                </a:moveTo>
                <a:lnTo>
                  <a:pt x="5690466" y="0"/>
                </a:lnTo>
                <a:lnTo>
                  <a:pt x="5690466" y="3777528"/>
                </a:lnTo>
                <a:lnTo>
                  <a:pt x="0" y="37775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20437" y="1268985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0682" y="335"/>
                </a:moveTo>
                <a:cubicBezTo>
                  <a:pt x="95938" y="-1032"/>
                  <a:pt x="90999" y="1730"/>
                  <a:pt x="89632" y="6474"/>
                </a:cubicBezTo>
                <a:lnTo>
                  <a:pt x="53913" y="131490"/>
                </a:lnTo>
                <a:cubicBezTo>
                  <a:pt x="52546" y="136234"/>
                  <a:pt x="55308" y="141173"/>
                  <a:pt x="60052" y="142540"/>
                </a:cubicBezTo>
                <a:cubicBezTo>
                  <a:pt x="64796" y="143907"/>
                  <a:pt x="69735" y="141145"/>
                  <a:pt x="71103" y="136401"/>
                </a:cubicBezTo>
                <a:lnTo>
                  <a:pt x="106821" y="11385"/>
                </a:lnTo>
                <a:cubicBezTo>
                  <a:pt x="108189" y="6641"/>
                  <a:pt x="105426" y="1702"/>
                  <a:pt x="100682" y="335"/>
                </a:cubicBezTo>
                <a:close/>
                <a:moveTo>
                  <a:pt x="118709" y="38314"/>
                </a:moveTo>
                <a:cubicBezTo>
                  <a:pt x="115221" y="41802"/>
                  <a:pt x="115221" y="47467"/>
                  <a:pt x="118709" y="50955"/>
                </a:cubicBezTo>
                <a:lnTo>
                  <a:pt x="139192" y="71438"/>
                </a:lnTo>
                <a:lnTo>
                  <a:pt x="118709" y="91920"/>
                </a:lnTo>
                <a:cubicBezTo>
                  <a:pt x="115221" y="95408"/>
                  <a:pt x="115221" y="101073"/>
                  <a:pt x="118709" y="104561"/>
                </a:cubicBezTo>
                <a:cubicBezTo>
                  <a:pt x="122197" y="108049"/>
                  <a:pt x="127862" y="108049"/>
                  <a:pt x="131350" y="104561"/>
                </a:cubicBezTo>
                <a:lnTo>
                  <a:pt x="158139" y="77772"/>
                </a:lnTo>
                <a:cubicBezTo>
                  <a:pt x="161627" y="74284"/>
                  <a:pt x="161627" y="68619"/>
                  <a:pt x="158139" y="65131"/>
                </a:cubicBezTo>
                <a:lnTo>
                  <a:pt x="131350" y="38342"/>
                </a:lnTo>
                <a:cubicBezTo>
                  <a:pt x="127862" y="34854"/>
                  <a:pt x="122197" y="34854"/>
                  <a:pt x="118709" y="38342"/>
                </a:cubicBezTo>
                <a:close/>
                <a:moveTo>
                  <a:pt x="42053" y="38314"/>
                </a:moveTo>
                <a:cubicBezTo>
                  <a:pt x="38565" y="34826"/>
                  <a:pt x="32900" y="34826"/>
                  <a:pt x="29412" y="38314"/>
                </a:cubicBezTo>
                <a:lnTo>
                  <a:pt x="2623" y="65103"/>
                </a:lnTo>
                <a:cubicBezTo>
                  <a:pt x="-865" y="68591"/>
                  <a:pt x="-865" y="74256"/>
                  <a:pt x="2623" y="77744"/>
                </a:cubicBezTo>
                <a:lnTo>
                  <a:pt x="29412" y="104533"/>
                </a:lnTo>
                <a:cubicBezTo>
                  <a:pt x="32900" y="108021"/>
                  <a:pt x="38565" y="108021"/>
                  <a:pt x="42053" y="104533"/>
                </a:cubicBezTo>
                <a:cubicBezTo>
                  <a:pt x="45541" y="101045"/>
                  <a:pt x="45541" y="95380"/>
                  <a:pt x="42053" y="91892"/>
                </a:cubicBezTo>
                <a:lnTo>
                  <a:pt x="21571" y="71438"/>
                </a:lnTo>
                <a:lnTo>
                  <a:pt x="42025" y="50955"/>
                </a:lnTo>
                <a:cubicBezTo>
                  <a:pt x="45514" y="47467"/>
                  <a:pt x="45514" y="41802"/>
                  <a:pt x="42025" y="38314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085" y="1229351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Python实现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09523" y="1546735"/>
            <a:ext cx="5429250" cy="3198813"/>
          </a:xfrm>
          <a:custGeom>
            <a:avLst/>
            <a:gdLst/>
            <a:ahLst/>
            <a:cxnLst/>
            <a:rect l="l" t="t" r="r" b="b"/>
            <a:pathLst>
              <a:path w="5429250" h="3198813">
                <a:moveTo>
                  <a:pt x="0" y="0"/>
                </a:moveTo>
                <a:lnTo>
                  <a:pt x="5429250" y="0"/>
                </a:lnTo>
                <a:lnTo>
                  <a:pt x="5429250" y="3198813"/>
                </a:lnTo>
                <a:lnTo>
                  <a:pt x="0" y="3198813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4739" y="1641954"/>
            <a:ext cx="528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TokenBucket: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1694" y="1796759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__init__(self, rate: int, capacity: int):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58705" y="1951563"/>
            <a:ext cx="503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self.rate = rate </a:t>
            </a:r>
            <a:r>
              <a:rPr lang="en-US" sz="750" dirty="0">
                <a:solidFill>
                  <a:srgbClr val="636E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每秒填充令牌数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58705" y="2106368"/>
            <a:ext cx="503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self.capacity = capacity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58705" y="2261172"/>
            <a:ext cx="503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self.tokens = capacity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58705" y="2415977"/>
            <a:ext cx="503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self.last_update = time.time()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1694" y="2634258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 def</a:t>
            </a: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acquire(self):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58705" y="2789055"/>
            <a:ext cx="503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 with</a:t>
            </a: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self.lock: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85717" y="2943859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now = time.time()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85717" y="3098664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elapsed = now - self.last_update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85717" y="3253468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self.tokens = </a:t>
            </a:r>
            <a:r>
              <a:rPr lang="en-US" sz="750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</a:t>
            </a: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12728" y="3408273"/>
            <a:ext cx="477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self.capacity,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12728" y="3563077"/>
            <a:ext cx="477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self.tokens + elapsed * self.rate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85717" y="3717882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85717" y="3872686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self.last_update = now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85717" y="4027491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self.tokens &gt;= 1: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12728" y="4182295"/>
            <a:ext cx="477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self.tokens -= 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12728" y="4337092"/>
            <a:ext cx="477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True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85717" y="4491896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False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78960" y="5006651"/>
            <a:ext cx="5690466" cy="2182091"/>
          </a:xfrm>
          <a:custGeom>
            <a:avLst/>
            <a:gdLst/>
            <a:ahLst/>
            <a:cxnLst/>
            <a:rect l="l" t="t" r="r" b="b"/>
            <a:pathLst>
              <a:path w="5690466" h="2182091">
                <a:moveTo>
                  <a:pt x="0" y="0"/>
                </a:moveTo>
                <a:lnTo>
                  <a:pt x="5690466" y="0"/>
                </a:lnTo>
                <a:lnTo>
                  <a:pt x="5690466" y="2182091"/>
                </a:lnTo>
                <a:lnTo>
                  <a:pt x="0" y="21820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29367" y="517684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03054" y="-8651"/>
                </a:moveTo>
                <a:cubicBezTo>
                  <a:pt x="106375" y="-9627"/>
                  <a:pt x="109863" y="-7897"/>
                  <a:pt x="111147" y="-4772"/>
                </a:cubicBezTo>
                <a:lnTo>
                  <a:pt x="111370" y="-4130"/>
                </a:lnTo>
                <a:lnTo>
                  <a:pt x="122532" y="33821"/>
                </a:lnTo>
                <a:cubicBezTo>
                  <a:pt x="123230" y="36165"/>
                  <a:pt x="122560" y="38705"/>
                  <a:pt x="120830" y="40435"/>
                </a:cubicBezTo>
                <a:lnTo>
                  <a:pt x="102943" y="58322"/>
                </a:lnTo>
                <a:lnTo>
                  <a:pt x="124262" y="52518"/>
                </a:lnTo>
                <a:lnTo>
                  <a:pt x="129815" y="35830"/>
                </a:lnTo>
                <a:lnTo>
                  <a:pt x="130066" y="35189"/>
                </a:lnTo>
                <a:cubicBezTo>
                  <a:pt x="131462" y="32091"/>
                  <a:pt x="135006" y="30500"/>
                  <a:pt x="138299" y="31589"/>
                </a:cubicBezTo>
                <a:cubicBezTo>
                  <a:pt x="141591" y="32677"/>
                  <a:pt x="143461" y="36082"/>
                  <a:pt x="142708" y="39402"/>
                </a:cubicBezTo>
                <a:lnTo>
                  <a:pt x="142512" y="40072"/>
                </a:lnTo>
                <a:lnTo>
                  <a:pt x="135815" y="60164"/>
                </a:lnTo>
                <a:cubicBezTo>
                  <a:pt x="135117" y="62285"/>
                  <a:pt x="133387" y="63903"/>
                  <a:pt x="131211" y="64517"/>
                </a:cubicBezTo>
                <a:lnTo>
                  <a:pt x="105789" y="71438"/>
                </a:lnTo>
                <a:lnTo>
                  <a:pt x="131211" y="78358"/>
                </a:lnTo>
                <a:cubicBezTo>
                  <a:pt x="133359" y="78944"/>
                  <a:pt x="135089" y="80590"/>
                  <a:pt x="135815" y="82711"/>
                </a:cubicBezTo>
                <a:lnTo>
                  <a:pt x="142512" y="102803"/>
                </a:lnTo>
                <a:lnTo>
                  <a:pt x="142708" y="103473"/>
                </a:lnTo>
                <a:cubicBezTo>
                  <a:pt x="143461" y="106793"/>
                  <a:pt x="141563" y="110198"/>
                  <a:pt x="138299" y="111286"/>
                </a:cubicBezTo>
                <a:cubicBezTo>
                  <a:pt x="135006" y="112375"/>
                  <a:pt x="131462" y="110784"/>
                  <a:pt x="130066" y="107686"/>
                </a:cubicBezTo>
                <a:lnTo>
                  <a:pt x="129815" y="107045"/>
                </a:lnTo>
                <a:lnTo>
                  <a:pt x="124262" y="90357"/>
                </a:lnTo>
                <a:lnTo>
                  <a:pt x="102943" y="84553"/>
                </a:lnTo>
                <a:lnTo>
                  <a:pt x="120830" y="102440"/>
                </a:lnTo>
                <a:cubicBezTo>
                  <a:pt x="122532" y="104142"/>
                  <a:pt x="123202" y="106654"/>
                  <a:pt x="122560" y="108970"/>
                </a:cubicBezTo>
                <a:lnTo>
                  <a:pt x="111398" y="149154"/>
                </a:lnTo>
                <a:lnTo>
                  <a:pt x="111175" y="149796"/>
                </a:lnTo>
                <a:cubicBezTo>
                  <a:pt x="109947" y="152949"/>
                  <a:pt x="106487" y="154735"/>
                  <a:pt x="103138" y="153814"/>
                </a:cubicBezTo>
                <a:cubicBezTo>
                  <a:pt x="99789" y="152893"/>
                  <a:pt x="97752" y="149572"/>
                  <a:pt x="98338" y="146224"/>
                </a:cubicBezTo>
                <a:lnTo>
                  <a:pt x="98478" y="145554"/>
                </a:lnTo>
                <a:lnTo>
                  <a:pt x="108579" y="109138"/>
                </a:lnTo>
                <a:lnTo>
                  <a:pt x="98199" y="98757"/>
                </a:lnTo>
                <a:cubicBezTo>
                  <a:pt x="97948" y="113295"/>
                  <a:pt x="86060" y="125016"/>
                  <a:pt x="71438" y="125016"/>
                </a:cubicBezTo>
                <a:cubicBezTo>
                  <a:pt x="56815" y="125016"/>
                  <a:pt x="44927" y="113295"/>
                  <a:pt x="44648" y="98757"/>
                </a:cubicBezTo>
                <a:lnTo>
                  <a:pt x="34323" y="109082"/>
                </a:lnTo>
                <a:lnTo>
                  <a:pt x="44369" y="143210"/>
                </a:lnTo>
                <a:lnTo>
                  <a:pt x="44537" y="143880"/>
                </a:lnTo>
                <a:cubicBezTo>
                  <a:pt x="45151" y="147200"/>
                  <a:pt x="43169" y="150549"/>
                  <a:pt x="39849" y="151526"/>
                </a:cubicBezTo>
                <a:cubicBezTo>
                  <a:pt x="36528" y="152502"/>
                  <a:pt x="33040" y="150772"/>
                  <a:pt x="31756" y="147647"/>
                </a:cubicBezTo>
                <a:lnTo>
                  <a:pt x="31533" y="147005"/>
                </a:lnTo>
                <a:lnTo>
                  <a:pt x="20371" y="109054"/>
                </a:lnTo>
                <a:cubicBezTo>
                  <a:pt x="19673" y="106710"/>
                  <a:pt x="20343" y="104170"/>
                  <a:pt x="22073" y="102412"/>
                </a:cubicBezTo>
                <a:lnTo>
                  <a:pt x="39960" y="84525"/>
                </a:lnTo>
                <a:lnTo>
                  <a:pt x="18641" y="90329"/>
                </a:lnTo>
                <a:lnTo>
                  <a:pt x="13088" y="107017"/>
                </a:lnTo>
                <a:lnTo>
                  <a:pt x="12836" y="107659"/>
                </a:lnTo>
                <a:cubicBezTo>
                  <a:pt x="11441" y="110756"/>
                  <a:pt x="7897" y="112347"/>
                  <a:pt x="4604" y="111258"/>
                </a:cubicBezTo>
                <a:cubicBezTo>
                  <a:pt x="1312" y="110170"/>
                  <a:pt x="-558" y="106766"/>
                  <a:pt x="195" y="103445"/>
                </a:cubicBezTo>
                <a:lnTo>
                  <a:pt x="391" y="102775"/>
                </a:lnTo>
                <a:lnTo>
                  <a:pt x="7088" y="82683"/>
                </a:lnTo>
                <a:cubicBezTo>
                  <a:pt x="7786" y="80563"/>
                  <a:pt x="9516" y="78944"/>
                  <a:pt x="11692" y="78330"/>
                </a:cubicBezTo>
                <a:lnTo>
                  <a:pt x="37114" y="71410"/>
                </a:lnTo>
                <a:lnTo>
                  <a:pt x="11692" y="64489"/>
                </a:lnTo>
                <a:cubicBezTo>
                  <a:pt x="9544" y="63903"/>
                  <a:pt x="7813" y="62257"/>
                  <a:pt x="7088" y="60136"/>
                </a:cubicBezTo>
                <a:lnTo>
                  <a:pt x="391" y="40044"/>
                </a:lnTo>
                <a:lnTo>
                  <a:pt x="195" y="39374"/>
                </a:lnTo>
                <a:cubicBezTo>
                  <a:pt x="-558" y="36054"/>
                  <a:pt x="1339" y="32649"/>
                  <a:pt x="4604" y="31561"/>
                </a:cubicBezTo>
                <a:cubicBezTo>
                  <a:pt x="7869" y="30473"/>
                  <a:pt x="11441" y="32063"/>
                  <a:pt x="12836" y="35161"/>
                </a:cubicBezTo>
                <a:lnTo>
                  <a:pt x="13088" y="35802"/>
                </a:lnTo>
                <a:lnTo>
                  <a:pt x="18641" y="52490"/>
                </a:lnTo>
                <a:lnTo>
                  <a:pt x="39960" y="58294"/>
                </a:lnTo>
                <a:lnTo>
                  <a:pt x="22073" y="40407"/>
                </a:lnTo>
                <a:cubicBezTo>
                  <a:pt x="20343" y="38677"/>
                  <a:pt x="19701" y="36137"/>
                  <a:pt x="20371" y="33793"/>
                </a:cubicBezTo>
                <a:lnTo>
                  <a:pt x="31533" y="-4158"/>
                </a:lnTo>
                <a:lnTo>
                  <a:pt x="31756" y="-4800"/>
                </a:lnTo>
                <a:cubicBezTo>
                  <a:pt x="33040" y="-7953"/>
                  <a:pt x="36528" y="-9655"/>
                  <a:pt x="39849" y="-8679"/>
                </a:cubicBezTo>
                <a:cubicBezTo>
                  <a:pt x="43169" y="-7702"/>
                  <a:pt x="45151" y="-4353"/>
                  <a:pt x="44537" y="-1032"/>
                </a:cubicBezTo>
                <a:lnTo>
                  <a:pt x="44369" y="-363"/>
                </a:lnTo>
                <a:lnTo>
                  <a:pt x="34323" y="33765"/>
                </a:lnTo>
                <a:lnTo>
                  <a:pt x="49113" y="48555"/>
                </a:lnTo>
                <a:cubicBezTo>
                  <a:pt x="49392" y="36472"/>
                  <a:pt x="59271" y="26761"/>
                  <a:pt x="71410" y="26761"/>
                </a:cubicBezTo>
                <a:cubicBezTo>
                  <a:pt x="83548" y="26761"/>
                  <a:pt x="93427" y="36472"/>
                  <a:pt x="93706" y="48583"/>
                </a:cubicBezTo>
                <a:lnTo>
                  <a:pt x="108524" y="33765"/>
                </a:lnTo>
                <a:lnTo>
                  <a:pt x="98478" y="-363"/>
                </a:lnTo>
                <a:lnTo>
                  <a:pt x="98310" y="-1032"/>
                </a:lnTo>
                <a:cubicBezTo>
                  <a:pt x="97696" y="-4381"/>
                  <a:pt x="99678" y="-7702"/>
                  <a:pt x="102998" y="-8679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7" name="Text 55"/>
          <p:cNvSpPr/>
          <p:nvPr/>
        </p:nvSpPr>
        <p:spPr>
          <a:xfrm>
            <a:off x="6492085" y="5137214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应用场景：XHS爬虫限流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9523" y="5454605"/>
            <a:ext cx="5429250" cy="1000125"/>
          </a:xfrm>
          <a:custGeom>
            <a:avLst/>
            <a:gdLst/>
            <a:ahLst/>
            <a:cxnLst/>
            <a:rect l="l" t="t" r="r" b="b"/>
            <a:pathLst>
              <a:path w="5429250" h="1000125">
                <a:moveTo>
                  <a:pt x="0" y="0"/>
                </a:moveTo>
                <a:lnTo>
                  <a:pt x="5429250" y="0"/>
                </a:lnTo>
                <a:lnTo>
                  <a:pt x="542925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404739" y="5549816"/>
            <a:ext cx="529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配置参数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08347" y="5743862"/>
            <a:ext cx="2578966" cy="610466"/>
          </a:xfrm>
          <a:custGeom>
            <a:avLst/>
            <a:gdLst/>
            <a:ahLst/>
            <a:cxnLst/>
            <a:rect l="l" t="t" r="r" b="b"/>
            <a:pathLst>
              <a:path w="2578966" h="610466">
                <a:moveTo>
                  <a:pt x="0" y="0"/>
                </a:moveTo>
                <a:lnTo>
                  <a:pt x="2578966" y="0"/>
                </a:lnTo>
                <a:lnTo>
                  <a:pt x="2578966" y="610466"/>
                </a:lnTo>
                <a:lnTo>
                  <a:pt x="0" y="6104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51620" y="5810948"/>
            <a:ext cx="249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rate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39714" y="5937955"/>
            <a:ext cx="251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51620" y="6160128"/>
            <a:ext cx="249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QPS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60250" y="5743862"/>
            <a:ext cx="2578966" cy="610466"/>
          </a:xfrm>
          <a:custGeom>
            <a:avLst/>
            <a:gdLst/>
            <a:ahLst/>
            <a:cxnLst/>
            <a:rect l="l" t="t" r="r" b="b"/>
            <a:pathLst>
              <a:path w="2578966" h="610466">
                <a:moveTo>
                  <a:pt x="0" y="0"/>
                </a:moveTo>
                <a:lnTo>
                  <a:pt x="2578966" y="0"/>
                </a:lnTo>
                <a:lnTo>
                  <a:pt x="2578966" y="610466"/>
                </a:lnTo>
                <a:lnTo>
                  <a:pt x="0" y="6104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03523" y="5810948"/>
            <a:ext cx="249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capacity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091617" y="5937955"/>
            <a:ext cx="251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10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103523" y="6160128"/>
            <a:ext cx="249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burst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09523" y="6322501"/>
            <a:ext cx="5429250" cy="508000"/>
          </a:xfrm>
          <a:custGeom>
            <a:avLst/>
            <a:gdLst/>
            <a:ahLst/>
            <a:cxnLst/>
            <a:rect l="l" t="t" r="r" b="b"/>
            <a:pathLst>
              <a:path w="5429250" h="508000">
                <a:moveTo>
                  <a:pt x="0" y="0"/>
                </a:moveTo>
                <a:lnTo>
                  <a:pt x="5429250" y="0"/>
                </a:lnTo>
                <a:lnTo>
                  <a:pt x="542925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5098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404739" y="6481131"/>
            <a:ext cx="5294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保护目标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404739" y="6682104"/>
            <a:ext cx="5286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限制XHS爬虫5 QPS，防止目标服务过载，避免IP被封禁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db4049edb5d4769cd06fa84b2cbbded1cc92d872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3436">
                  <a:alpha val="95000"/>
                </a:srgbClr>
              </a:gs>
              <a:gs pos="50000">
                <a:srgbClr val="2D3436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9659" y="1461361"/>
            <a:ext cx="893618" cy="893618"/>
          </a:xfrm>
          <a:custGeom>
            <a:avLst/>
            <a:gdLst/>
            <a:ahLst/>
            <a:cxnLst/>
            <a:rect l="l" t="t" r="r" b="b"/>
            <a:pathLst>
              <a:path w="893618" h="893618">
                <a:moveTo>
                  <a:pt x="0" y="0"/>
                </a:moveTo>
                <a:lnTo>
                  <a:pt x="893618" y="0"/>
                </a:lnTo>
                <a:lnTo>
                  <a:pt x="893618" y="893618"/>
                </a:lnTo>
                <a:lnTo>
                  <a:pt x="0" y="8936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1819" y="1681283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0984E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3932" y="1452702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671800"/>
            <a:ext cx="37052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云原生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部署实践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691063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033907"/>
            <a:ext cx="34766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Kubernetes深度实践与弹性扩缩容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275" y="357275"/>
            <a:ext cx="1153997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kern="0" spc="98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Containerization &amp; Scheduling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275" y="607280"/>
            <a:ext cx="11638224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2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容器化最佳实践与K8s调度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275" y="1071693"/>
            <a:ext cx="571640" cy="17864"/>
          </a:xfrm>
          <a:custGeom>
            <a:avLst/>
            <a:gdLst/>
            <a:ahLst/>
            <a:cxnLst/>
            <a:rect l="l" t="t" r="r" b="b"/>
            <a:pathLst>
              <a:path w="571640" h="17864">
                <a:moveTo>
                  <a:pt x="0" y="0"/>
                </a:moveTo>
                <a:lnTo>
                  <a:pt x="571640" y="0"/>
                </a:lnTo>
                <a:lnTo>
                  <a:pt x="571640" y="17864"/>
                </a:lnTo>
                <a:lnTo>
                  <a:pt x="0" y="17864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61335" y="1236440"/>
            <a:ext cx="5644129" cy="4188234"/>
          </a:xfrm>
          <a:custGeom>
            <a:avLst/>
            <a:gdLst/>
            <a:ahLst/>
            <a:cxnLst/>
            <a:rect l="l" t="t" r="r" b="b"/>
            <a:pathLst>
              <a:path w="5644129" h="4188234">
                <a:moveTo>
                  <a:pt x="0" y="0"/>
                </a:moveTo>
                <a:lnTo>
                  <a:pt x="5644129" y="0"/>
                </a:lnTo>
                <a:lnTo>
                  <a:pt x="5644129" y="4188234"/>
                </a:lnTo>
                <a:lnTo>
                  <a:pt x="0" y="41882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583" y="1427956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20693" y="71752"/>
                </a:moveTo>
                <a:cubicBezTo>
                  <a:pt x="24870" y="42548"/>
                  <a:pt x="50022" y="20097"/>
                  <a:pt x="80387" y="20097"/>
                </a:cubicBezTo>
                <a:cubicBezTo>
                  <a:pt x="97029" y="20097"/>
                  <a:pt x="112102" y="26848"/>
                  <a:pt x="123030" y="37744"/>
                </a:cubicBezTo>
                <a:cubicBezTo>
                  <a:pt x="123092" y="37807"/>
                  <a:pt x="123155" y="37870"/>
                  <a:pt x="123218" y="37933"/>
                </a:cubicBezTo>
                <a:lnTo>
                  <a:pt x="125604" y="40193"/>
                </a:lnTo>
                <a:lnTo>
                  <a:pt x="110563" y="40193"/>
                </a:lnTo>
                <a:cubicBezTo>
                  <a:pt x="105005" y="40193"/>
                  <a:pt x="100515" y="44684"/>
                  <a:pt x="100515" y="50242"/>
                </a:cubicBezTo>
                <a:cubicBezTo>
                  <a:pt x="100515" y="55800"/>
                  <a:pt x="105005" y="60290"/>
                  <a:pt x="110563" y="60290"/>
                </a:cubicBezTo>
                <a:lnTo>
                  <a:pt x="150757" y="60290"/>
                </a:lnTo>
                <a:cubicBezTo>
                  <a:pt x="156315" y="60290"/>
                  <a:pt x="160805" y="55800"/>
                  <a:pt x="160805" y="50242"/>
                </a:cubicBezTo>
                <a:lnTo>
                  <a:pt x="160805" y="10048"/>
                </a:lnTo>
                <a:cubicBezTo>
                  <a:pt x="160805" y="4490"/>
                  <a:pt x="156315" y="0"/>
                  <a:pt x="150757" y="0"/>
                </a:cubicBezTo>
                <a:cubicBezTo>
                  <a:pt x="145199" y="0"/>
                  <a:pt x="140708" y="4490"/>
                  <a:pt x="140708" y="10048"/>
                </a:cubicBezTo>
                <a:lnTo>
                  <a:pt x="140708" y="26817"/>
                </a:lnTo>
                <a:lnTo>
                  <a:pt x="137160" y="23457"/>
                </a:lnTo>
                <a:cubicBezTo>
                  <a:pt x="122621" y="8981"/>
                  <a:pt x="102525" y="0"/>
                  <a:pt x="80387" y="0"/>
                </a:cubicBezTo>
                <a:cubicBezTo>
                  <a:pt x="39879" y="0"/>
                  <a:pt x="6374" y="29957"/>
                  <a:pt x="816" y="68925"/>
                </a:cubicBezTo>
                <a:cubicBezTo>
                  <a:pt x="31" y="74421"/>
                  <a:pt x="3831" y="79508"/>
                  <a:pt x="9326" y="80293"/>
                </a:cubicBezTo>
                <a:cubicBezTo>
                  <a:pt x="14821" y="81078"/>
                  <a:pt x="19908" y="77247"/>
                  <a:pt x="20693" y="71783"/>
                </a:cubicBezTo>
                <a:close/>
                <a:moveTo>
                  <a:pt x="159957" y="91848"/>
                </a:moveTo>
                <a:cubicBezTo>
                  <a:pt x="160742" y="86353"/>
                  <a:pt x="156911" y="81266"/>
                  <a:pt x="151447" y="80481"/>
                </a:cubicBezTo>
                <a:cubicBezTo>
                  <a:pt x="145984" y="79696"/>
                  <a:pt x="140865" y="83527"/>
                  <a:pt x="140080" y="88991"/>
                </a:cubicBezTo>
                <a:cubicBezTo>
                  <a:pt x="135904" y="118194"/>
                  <a:pt x="110752" y="140646"/>
                  <a:pt x="80387" y="140646"/>
                </a:cubicBezTo>
                <a:cubicBezTo>
                  <a:pt x="63744" y="140646"/>
                  <a:pt x="48672" y="133894"/>
                  <a:pt x="37744" y="122998"/>
                </a:cubicBezTo>
                <a:cubicBezTo>
                  <a:pt x="37681" y="122935"/>
                  <a:pt x="37619" y="122873"/>
                  <a:pt x="37556" y="122810"/>
                </a:cubicBezTo>
                <a:lnTo>
                  <a:pt x="35169" y="120549"/>
                </a:lnTo>
                <a:lnTo>
                  <a:pt x="50210" y="120549"/>
                </a:lnTo>
                <a:cubicBezTo>
                  <a:pt x="55768" y="120549"/>
                  <a:pt x="60259" y="116058"/>
                  <a:pt x="60259" y="110500"/>
                </a:cubicBezTo>
                <a:cubicBezTo>
                  <a:pt x="60259" y="104942"/>
                  <a:pt x="55768" y="100452"/>
                  <a:pt x="50210" y="100452"/>
                </a:cubicBezTo>
                <a:lnTo>
                  <a:pt x="10048" y="100484"/>
                </a:lnTo>
                <a:cubicBezTo>
                  <a:pt x="7379" y="100484"/>
                  <a:pt x="4804" y="101551"/>
                  <a:pt x="2920" y="103467"/>
                </a:cubicBezTo>
                <a:cubicBezTo>
                  <a:pt x="1036" y="105382"/>
                  <a:pt x="-31" y="107926"/>
                  <a:pt x="0" y="110626"/>
                </a:cubicBezTo>
                <a:lnTo>
                  <a:pt x="314" y="150505"/>
                </a:lnTo>
                <a:cubicBezTo>
                  <a:pt x="345" y="156063"/>
                  <a:pt x="4899" y="160522"/>
                  <a:pt x="10457" y="160460"/>
                </a:cubicBezTo>
                <a:cubicBezTo>
                  <a:pt x="16015" y="160397"/>
                  <a:pt x="20474" y="155875"/>
                  <a:pt x="20411" y="150317"/>
                </a:cubicBezTo>
                <a:lnTo>
                  <a:pt x="20285" y="134145"/>
                </a:lnTo>
                <a:lnTo>
                  <a:pt x="23645" y="137317"/>
                </a:lnTo>
                <a:cubicBezTo>
                  <a:pt x="38184" y="151793"/>
                  <a:pt x="58249" y="160774"/>
                  <a:pt x="80387" y="160774"/>
                </a:cubicBezTo>
                <a:cubicBezTo>
                  <a:pt x="120894" y="160774"/>
                  <a:pt x="154399" y="130817"/>
                  <a:pt x="159957" y="91848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713687" y="1383358"/>
            <a:ext cx="522514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多阶段构建Dockerfile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254" y="1740511"/>
            <a:ext cx="5350189" cy="2902857"/>
          </a:xfrm>
          <a:custGeom>
            <a:avLst/>
            <a:gdLst/>
            <a:ahLst/>
            <a:cxnLst/>
            <a:rect l="l" t="t" r="r" b="b"/>
            <a:pathLst>
              <a:path w="5350189" h="2902857">
                <a:moveTo>
                  <a:pt x="0" y="0"/>
                </a:moveTo>
                <a:lnTo>
                  <a:pt x="5350189" y="0"/>
                </a:lnTo>
                <a:lnTo>
                  <a:pt x="5350189" y="2902857"/>
                </a:lnTo>
                <a:lnTo>
                  <a:pt x="0" y="2902857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9" name="Text 7"/>
          <p:cNvSpPr/>
          <p:nvPr/>
        </p:nvSpPr>
        <p:spPr>
          <a:xfrm>
            <a:off x="615398" y="1867955"/>
            <a:ext cx="1192151" cy="12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636E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Stage 1: 构建阶段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398" y="2021847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python:3.11-slim </a:t>
            </a: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builder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5398" y="2196045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WORKDIR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5398" y="2370242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requirements.txt 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398" y="2544440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pip install --user -r requirements.txt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398" y="2810363"/>
            <a:ext cx="1192151" cy="12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636E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Stage 2: 运行阶段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398" y="2964264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python:3.11-slim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5398" y="3138461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WORKDIR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/app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5398" y="3312659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--from=builder /root/.local /root/.local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5398" y="3486857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src/ ./src/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5398" y="3661054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useradd -m appuser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5398" y="3835252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appuser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5398" y="4009441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0984E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HEALTHCHECK</a:t>
            </a: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--interval=30s \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180" y="4183638"/>
            <a:ext cx="490359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--timeout=3s --start-period=10s \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1180" y="4357836"/>
            <a:ext cx="490359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CMD python -c "requests.get('http://localhost:8000/health')"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254" y="4746320"/>
            <a:ext cx="1732782" cy="535912"/>
          </a:xfrm>
          <a:custGeom>
            <a:avLst/>
            <a:gdLst/>
            <a:ahLst/>
            <a:cxnLst/>
            <a:rect l="l" t="t" r="r" b="b"/>
            <a:pathLst>
              <a:path w="1732782" h="535912">
                <a:moveTo>
                  <a:pt x="0" y="0"/>
                </a:moveTo>
                <a:lnTo>
                  <a:pt x="1732782" y="0"/>
                </a:lnTo>
                <a:lnTo>
                  <a:pt x="1732782" y="535912"/>
                </a:lnTo>
                <a:lnTo>
                  <a:pt x="0" y="535912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39490" y="4817757"/>
            <a:ext cx="167025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6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1.2GB→180MB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2888" y="5067754"/>
            <a:ext cx="1643464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镜像体积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314990" y="4746320"/>
            <a:ext cx="1732782" cy="535912"/>
          </a:xfrm>
          <a:custGeom>
            <a:avLst/>
            <a:gdLst/>
            <a:ahLst/>
            <a:cxnLst/>
            <a:rect l="l" t="t" r="r" b="b"/>
            <a:pathLst>
              <a:path w="1732782" h="535912">
                <a:moveTo>
                  <a:pt x="0" y="0"/>
                </a:moveTo>
                <a:lnTo>
                  <a:pt x="1732782" y="0"/>
                </a:lnTo>
                <a:lnTo>
                  <a:pt x="1732782" y="535912"/>
                </a:lnTo>
                <a:lnTo>
                  <a:pt x="0" y="535912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346227" y="4817757"/>
            <a:ext cx="167025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6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非root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359624" y="5067754"/>
            <a:ext cx="1643464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安全运行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21791" y="4746320"/>
            <a:ext cx="1732782" cy="535912"/>
          </a:xfrm>
          <a:custGeom>
            <a:avLst/>
            <a:gdLst/>
            <a:ahLst/>
            <a:cxnLst/>
            <a:rect l="l" t="t" r="r" b="b"/>
            <a:pathLst>
              <a:path w="1732782" h="535912">
                <a:moveTo>
                  <a:pt x="0" y="0"/>
                </a:moveTo>
                <a:lnTo>
                  <a:pt x="1732782" y="0"/>
                </a:lnTo>
                <a:lnTo>
                  <a:pt x="1732782" y="535912"/>
                </a:lnTo>
                <a:lnTo>
                  <a:pt x="0" y="535912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53027" y="4817757"/>
            <a:ext cx="167025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6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健康检查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166425" y="5067754"/>
            <a:ext cx="1643464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自动恢复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73514" y="5575945"/>
            <a:ext cx="5634385" cy="1286189"/>
          </a:xfrm>
          <a:custGeom>
            <a:avLst/>
            <a:gdLst/>
            <a:ahLst/>
            <a:cxnLst/>
            <a:rect l="l" t="t" r="r" b="b"/>
            <a:pathLst>
              <a:path w="5634385" h="1286189">
                <a:moveTo>
                  <a:pt x="0" y="0"/>
                </a:moveTo>
                <a:lnTo>
                  <a:pt x="5634385" y="0"/>
                </a:lnTo>
                <a:lnTo>
                  <a:pt x="5634385" y="1286189"/>
                </a:lnTo>
                <a:lnTo>
                  <a:pt x="0" y="1286189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73514" y="5575945"/>
            <a:ext cx="32479" cy="1286189"/>
          </a:xfrm>
          <a:custGeom>
            <a:avLst/>
            <a:gdLst/>
            <a:ahLst/>
            <a:cxnLst/>
            <a:rect l="l" t="t" r="r" b="b"/>
            <a:pathLst>
              <a:path w="32479" h="1286189">
                <a:moveTo>
                  <a:pt x="0" y="0"/>
                </a:moveTo>
                <a:lnTo>
                  <a:pt x="32479" y="0"/>
                </a:lnTo>
                <a:lnTo>
                  <a:pt x="32479" y="1286189"/>
                </a:lnTo>
                <a:lnTo>
                  <a:pt x="0" y="1286189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5" name="Shape 33"/>
          <p:cNvSpPr/>
          <p:nvPr/>
        </p:nvSpPr>
        <p:spPr>
          <a:xfrm>
            <a:off x="575040" y="5763401"/>
            <a:ext cx="120580" cy="160774"/>
          </a:xfrm>
          <a:custGeom>
            <a:avLst/>
            <a:gdLst/>
            <a:ahLst/>
            <a:cxnLst/>
            <a:rect l="l" t="t" r="r" b="b"/>
            <a:pathLst>
              <a:path w="120580" h="160774">
                <a:moveTo>
                  <a:pt x="91974" y="120580"/>
                </a:moveTo>
                <a:cubicBezTo>
                  <a:pt x="94266" y="113578"/>
                  <a:pt x="98851" y="107235"/>
                  <a:pt x="104032" y="101771"/>
                </a:cubicBezTo>
                <a:cubicBezTo>
                  <a:pt x="114300" y="90969"/>
                  <a:pt x="120580" y="76367"/>
                  <a:pt x="120580" y="60290"/>
                </a:cubicBezTo>
                <a:cubicBezTo>
                  <a:pt x="120580" y="27005"/>
                  <a:pt x="93575" y="0"/>
                  <a:pt x="60290" y="0"/>
                </a:cubicBezTo>
                <a:cubicBezTo>
                  <a:pt x="27005" y="0"/>
                  <a:pt x="0" y="27005"/>
                  <a:pt x="0" y="60290"/>
                </a:cubicBezTo>
                <a:cubicBezTo>
                  <a:pt x="0" y="76367"/>
                  <a:pt x="6280" y="90969"/>
                  <a:pt x="16548" y="101771"/>
                </a:cubicBezTo>
                <a:cubicBezTo>
                  <a:pt x="21730" y="107235"/>
                  <a:pt x="26346" y="113578"/>
                  <a:pt x="28606" y="120580"/>
                </a:cubicBezTo>
                <a:lnTo>
                  <a:pt x="91942" y="120580"/>
                </a:lnTo>
                <a:close/>
                <a:moveTo>
                  <a:pt x="90435" y="135653"/>
                </a:moveTo>
                <a:lnTo>
                  <a:pt x="30145" y="135653"/>
                </a:lnTo>
                <a:lnTo>
                  <a:pt x="30145" y="140677"/>
                </a:lnTo>
                <a:cubicBezTo>
                  <a:pt x="30145" y="154556"/>
                  <a:pt x="41387" y="165798"/>
                  <a:pt x="55266" y="165798"/>
                </a:cubicBezTo>
                <a:lnTo>
                  <a:pt x="65314" y="165798"/>
                </a:lnTo>
                <a:cubicBezTo>
                  <a:pt x="79194" y="165798"/>
                  <a:pt x="90435" y="154556"/>
                  <a:pt x="90435" y="140677"/>
                </a:cubicBezTo>
                <a:lnTo>
                  <a:pt x="90435" y="135653"/>
                </a:lnTo>
                <a:close/>
                <a:moveTo>
                  <a:pt x="57778" y="35169"/>
                </a:moveTo>
                <a:cubicBezTo>
                  <a:pt x="45280" y="35169"/>
                  <a:pt x="35169" y="45280"/>
                  <a:pt x="35169" y="57778"/>
                </a:cubicBezTo>
                <a:cubicBezTo>
                  <a:pt x="35169" y="61954"/>
                  <a:pt x="31809" y="65314"/>
                  <a:pt x="27633" y="65314"/>
                </a:cubicBezTo>
                <a:cubicBezTo>
                  <a:pt x="23457" y="65314"/>
                  <a:pt x="20097" y="61954"/>
                  <a:pt x="20097" y="57778"/>
                </a:cubicBezTo>
                <a:cubicBezTo>
                  <a:pt x="20097" y="36959"/>
                  <a:pt x="36959" y="20097"/>
                  <a:pt x="57778" y="20097"/>
                </a:cubicBezTo>
                <a:cubicBezTo>
                  <a:pt x="61954" y="20097"/>
                  <a:pt x="65314" y="23457"/>
                  <a:pt x="65314" y="27633"/>
                </a:cubicBezTo>
                <a:cubicBezTo>
                  <a:pt x="65314" y="31809"/>
                  <a:pt x="61954" y="35169"/>
                  <a:pt x="57778" y="35169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6" name="Text 34"/>
          <p:cNvSpPr/>
          <p:nvPr/>
        </p:nvSpPr>
        <p:spPr>
          <a:xfrm>
            <a:off x="738046" y="5718803"/>
            <a:ext cx="520727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优化效果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58292" y="6075956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38" name="Text 36"/>
          <p:cNvSpPr/>
          <p:nvPr/>
        </p:nvSpPr>
        <p:spPr>
          <a:xfrm>
            <a:off x="760351" y="6040237"/>
            <a:ext cx="274208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镜像体积：</a:t>
            </a: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移除编译工具、缓存，1.2GB→180MB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58292" y="6325961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40" name="Text 38"/>
          <p:cNvSpPr/>
          <p:nvPr/>
        </p:nvSpPr>
        <p:spPr>
          <a:xfrm>
            <a:off x="760351" y="6290242"/>
            <a:ext cx="2786743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安全性：</a:t>
            </a: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非root运行，即使容器被入侵也降低危害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58292" y="6575957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42" name="Text 40"/>
          <p:cNvSpPr/>
          <p:nvPr/>
        </p:nvSpPr>
        <p:spPr>
          <a:xfrm>
            <a:off x="760351" y="6540247"/>
            <a:ext cx="2438400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启动速度：</a:t>
            </a: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更快拉取和启动，提升部署效率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0837" y="1236440"/>
            <a:ext cx="5644129" cy="3777368"/>
          </a:xfrm>
          <a:custGeom>
            <a:avLst/>
            <a:gdLst/>
            <a:ahLst/>
            <a:cxnLst/>
            <a:rect l="l" t="t" r="r" b="b"/>
            <a:pathLst>
              <a:path w="5644129" h="3777368">
                <a:moveTo>
                  <a:pt x="0" y="0"/>
                </a:moveTo>
                <a:lnTo>
                  <a:pt x="5644129" y="0"/>
                </a:lnTo>
                <a:lnTo>
                  <a:pt x="5644129" y="3777368"/>
                </a:lnTo>
                <a:lnTo>
                  <a:pt x="0" y="37773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70134" y="1427956"/>
            <a:ext cx="140677" cy="160774"/>
          </a:xfrm>
          <a:custGeom>
            <a:avLst/>
            <a:gdLst/>
            <a:ahLst/>
            <a:cxnLst/>
            <a:rect l="l" t="t" r="r" b="b"/>
            <a:pathLst>
              <a:path w="140677" h="160774">
                <a:moveTo>
                  <a:pt x="20097" y="10048"/>
                </a:moveTo>
                <a:cubicBezTo>
                  <a:pt x="9012" y="10048"/>
                  <a:pt x="0" y="19060"/>
                  <a:pt x="0" y="30145"/>
                </a:cubicBezTo>
                <a:lnTo>
                  <a:pt x="0" y="50242"/>
                </a:lnTo>
                <a:cubicBezTo>
                  <a:pt x="0" y="61326"/>
                  <a:pt x="9012" y="70338"/>
                  <a:pt x="20097" y="70338"/>
                </a:cubicBezTo>
                <a:lnTo>
                  <a:pt x="120580" y="70338"/>
                </a:lnTo>
                <a:cubicBezTo>
                  <a:pt x="131665" y="70338"/>
                  <a:pt x="140677" y="61326"/>
                  <a:pt x="140677" y="50242"/>
                </a:cubicBezTo>
                <a:lnTo>
                  <a:pt x="140677" y="30145"/>
                </a:lnTo>
                <a:cubicBezTo>
                  <a:pt x="140677" y="19060"/>
                  <a:pt x="131665" y="10048"/>
                  <a:pt x="120580" y="10048"/>
                </a:cubicBezTo>
                <a:lnTo>
                  <a:pt x="20097" y="10048"/>
                </a:lnTo>
                <a:close/>
                <a:moveTo>
                  <a:pt x="87923" y="32657"/>
                </a:moveTo>
                <a:cubicBezTo>
                  <a:pt x="92082" y="32657"/>
                  <a:pt x="95459" y="36034"/>
                  <a:pt x="95459" y="40193"/>
                </a:cubicBezTo>
                <a:cubicBezTo>
                  <a:pt x="95459" y="44353"/>
                  <a:pt x="92082" y="47730"/>
                  <a:pt x="87923" y="47730"/>
                </a:cubicBezTo>
                <a:cubicBezTo>
                  <a:pt x="83764" y="47730"/>
                  <a:pt x="80387" y="44353"/>
                  <a:pt x="80387" y="40193"/>
                </a:cubicBezTo>
                <a:cubicBezTo>
                  <a:pt x="80387" y="36034"/>
                  <a:pt x="83764" y="32657"/>
                  <a:pt x="87923" y="32657"/>
                </a:cubicBezTo>
                <a:close/>
                <a:moveTo>
                  <a:pt x="105508" y="40193"/>
                </a:moveTo>
                <a:cubicBezTo>
                  <a:pt x="105508" y="36034"/>
                  <a:pt x="108885" y="32657"/>
                  <a:pt x="113044" y="32657"/>
                </a:cubicBezTo>
                <a:cubicBezTo>
                  <a:pt x="117203" y="32657"/>
                  <a:pt x="120580" y="36034"/>
                  <a:pt x="120580" y="40193"/>
                </a:cubicBezTo>
                <a:cubicBezTo>
                  <a:pt x="120580" y="44353"/>
                  <a:pt x="117203" y="47730"/>
                  <a:pt x="113044" y="47730"/>
                </a:cubicBezTo>
                <a:cubicBezTo>
                  <a:pt x="108885" y="47730"/>
                  <a:pt x="105508" y="44353"/>
                  <a:pt x="105508" y="40193"/>
                </a:cubicBezTo>
                <a:close/>
                <a:moveTo>
                  <a:pt x="20097" y="90435"/>
                </a:moveTo>
                <a:cubicBezTo>
                  <a:pt x="9012" y="90435"/>
                  <a:pt x="0" y="99447"/>
                  <a:pt x="0" y="110532"/>
                </a:cubicBezTo>
                <a:lnTo>
                  <a:pt x="0" y="130629"/>
                </a:lnTo>
                <a:cubicBezTo>
                  <a:pt x="0" y="141713"/>
                  <a:pt x="9012" y="150725"/>
                  <a:pt x="20097" y="150725"/>
                </a:cubicBezTo>
                <a:lnTo>
                  <a:pt x="120580" y="150725"/>
                </a:lnTo>
                <a:cubicBezTo>
                  <a:pt x="131665" y="150725"/>
                  <a:pt x="140677" y="141713"/>
                  <a:pt x="140677" y="130629"/>
                </a:cubicBezTo>
                <a:lnTo>
                  <a:pt x="140677" y="110532"/>
                </a:lnTo>
                <a:cubicBezTo>
                  <a:pt x="140677" y="99447"/>
                  <a:pt x="131665" y="90435"/>
                  <a:pt x="120580" y="90435"/>
                </a:cubicBezTo>
                <a:lnTo>
                  <a:pt x="20097" y="90435"/>
                </a:lnTo>
                <a:close/>
                <a:moveTo>
                  <a:pt x="87923" y="113044"/>
                </a:moveTo>
                <a:cubicBezTo>
                  <a:pt x="92082" y="113044"/>
                  <a:pt x="95459" y="116421"/>
                  <a:pt x="95459" y="120580"/>
                </a:cubicBezTo>
                <a:cubicBezTo>
                  <a:pt x="95459" y="124740"/>
                  <a:pt x="92082" y="128116"/>
                  <a:pt x="87923" y="128116"/>
                </a:cubicBezTo>
                <a:cubicBezTo>
                  <a:pt x="83764" y="128116"/>
                  <a:pt x="80387" y="124740"/>
                  <a:pt x="80387" y="120580"/>
                </a:cubicBezTo>
                <a:cubicBezTo>
                  <a:pt x="80387" y="116421"/>
                  <a:pt x="83764" y="113044"/>
                  <a:pt x="87923" y="113044"/>
                </a:cubicBezTo>
                <a:close/>
                <a:moveTo>
                  <a:pt x="105508" y="120580"/>
                </a:moveTo>
                <a:cubicBezTo>
                  <a:pt x="105508" y="116421"/>
                  <a:pt x="108885" y="113044"/>
                  <a:pt x="113044" y="113044"/>
                </a:cubicBezTo>
                <a:cubicBezTo>
                  <a:pt x="117203" y="113044"/>
                  <a:pt x="120580" y="116421"/>
                  <a:pt x="120580" y="120580"/>
                </a:cubicBezTo>
                <a:cubicBezTo>
                  <a:pt x="120580" y="124740"/>
                  <a:pt x="117203" y="128116"/>
                  <a:pt x="113044" y="128116"/>
                </a:cubicBezTo>
                <a:cubicBezTo>
                  <a:pt x="108885" y="128116"/>
                  <a:pt x="105508" y="124740"/>
                  <a:pt x="105508" y="120580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45" name="Text 43"/>
          <p:cNvSpPr/>
          <p:nvPr/>
        </p:nvSpPr>
        <p:spPr>
          <a:xfrm>
            <a:off x="6543189" y="1383358"/>
            <a:ext cx="5225143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Pod反亲和性配置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7756" y="1740511"/>
            <a:ext cx="5350189" cy="2304422"/>
          </a:xfrm>
          <a:custGeom>
            <a:avLst/>
            <a:gdLst/>
            <a:ahLst/>
            <a:cxnLst/>
            <a:rect l="l" t="t" r="r" b="b"/>
            <a:pathLst>
              <a:path w="5350189" h="2304422">
                <a:moveTo>
                  <a:pt x="0" y="0"/>
                </a:moveTo>
                <a:lnTo>
                  <a:pt x="5350189" y="0"/>
                </a:lnTo>
                <a:lnTo>
                  <a:pt x="5350189" y="2304422"/>
                </a:lnTo>
                <a:lnTo>
                  <a:pt x="0" y="2304422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7" name="Text 45"/>
          <p:cNvSpPr/>
          <p:nvPr/>
        </p:nvSpPr>
        <p:spPr>
          <a:xfrm>
            <a:off x="6444901" y="1847649"/>
            <a:ext cx="518941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affinity: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87760" y="2021847"/>
            <a:ext cx="504650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podAntiAffinity: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30683" y="2196045"/>
            <a:ext cx="490359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preferredDuringSchedulingIgnoredDuringExecution: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73605" y="2370242"/>
            <a:ext cx="476068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weight: 100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16528" y="2544440"/>
            <a:ext cx="461777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podAffinityTerm: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59451" y="2718637"/>
            <a:ext cx="447486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labelSelector: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302309" y="2892835"/>
            <a:ext cx="433195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matchExpressions: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45232" y="3067033"/>
            <a:ext cx="418904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key: app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88155" y="3241230"/>
            <a:ext cx="404613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operator: In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88155" y="3415428"/>
            <a:ext cx="404613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values: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31077" y="3589625"/>
            <a:ext cx="390322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xhs-food-agent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159451" y="3763814"/>
            <a:ext cx="447486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44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topologyKey: kubernetes.io/hostname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5876" y="4152307"/>
            <a:ext cx="5340445" cy="714549"/>
          </a:xfrm>
          <a:custGeom>
            <a:avLst/>
            <a:gdLst/>
            <a:ahLst/>
            <a:cxnLst/>
            <a:rect l="l" t="t" r="r" b="b"/>
            <a:pathLst>
              <a:path w="5340445" h="714549">
                <a:moveTo>
                  <a:pt x="0" y="0"/>
                </a:moveTo>
                <a:lnTo>
                  <a:pt x="5340445" y="0"/>
                </a:lnTo>
                <a:lnTo>
                  <a:pt x="5340445" y="714549"/>
                </a:lnTo>
                <a:lnTo>
                  <a:pt x="0" y="714549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45876" y="4152307"/>
            <a:ext cx="16240" cy="714549"/>
          </a:xfrm>
          <a:custGeom>
            <a:avLst/>
            <a:gdLst/>
            <a:ahLst/>
            <a:cxnLst/>
            <a:rect l="l" t="t" r="r" b="b"/>
            <a:pathLst>
              <a:path w="16240" h="714549">
                <a:moveTo>
                  <a:pt x="0" y="0"/>
                </a:moveTo>
                <a:lnTo>
                  <a:pt x="16240" y="0"/>
                </a:lnTo>
                <a:lnTo>
                  <a:pt x="16240" y="714549"/>
                </a:lnTo>
                <a:lnTo>
                  <a:pt x="0" y="714549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61" name="Text 59"/>
          <p:cNvSpPr/>
          <p:nvPr/>
        </p:nvSpPr>
        <p:spPr>
          <a:xfrm>
            <a:off x="6461141" y="4259446"/>
            <a:ext cx="518048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配置说明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61141" y="4473741"/>
            <a:ext cx="5171552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4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preferred：</a:t>
            </a:r>
            <a:r>
              <a:rPr lang="en-US" sz="844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尽量满足而非必须满足，资源紧张时仍可调度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61141" y="4616659"/>
            <a:ext cx="5171552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4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topologyKey：</a:t>
            </a:r>
            <a:r>
              <a:rPr lang="en-US" sz="844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按hostname分散，避免同一物理节点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203017" y="5160561"/>
            <a:ext cx="5634385" cy="1286189"/>
          </a:xfrm>
          <a:custGeom>
            <a:avLst/>
            <a:gdLst/>
            <a:ahLst/>
            <a:cxnLst/>
            <a:rect l="l" t="t" r="r" b="b"/>
            <a:pathLst>
              <a:path w="5634385" h="1286189">
                <a:moveTo>
                  <a:pt x="0" y="0"/>
                </a:moveTo>
                <a:lnTo>
                  <a:pt x="5634385" y="0"/>
                </a:lnTo>
                <a:lnTo>
                  <a:pt x="5634385" y="1286189"/>
                </a:lnTo>
                <a:lnTo>
                  <a:pt x="0" y="1286189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203017" y="5160561"/>
            <a:ext cx="32479" cy="1286189"/>
          </a:xfrm>
          <a:custGeom>
            <a:avLst/>
            <a:gdLst/>
            <a:ahLst/>
            <a:cxnLst/>
            <a:rect l="l" t="t" r="r" b="b"/>
            <a:pathLst>
              <a:path w="32479" h="1286189">
                <a:moveTo>
                  <a:pt x="0" y="0"/>
                </a:moveTo>
                <a:lnTo>
                  <a:pt x="32479" y="0"/>
                </a:lnTo>
                <a:lnTo>
                  <a:pt x="32479" y="1286189"/>
                </a:lnTo>
                <a:lnTo>
                  <a:pt x="0" y="1286189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66" name="Shape 64"/>
          <p:cNvSpPr/>
          <p:nvPr/>
        </p:nvSpPr>
        <p:spPr>
          <a:xfrm>
            <a:off x="6384446" y="5348017"/>
            <a:ext cx="160774" cy="160774"/>
          </a:xfrm>
          <a:custGeom>
            <a:avLst/>
            <a:gdLst/>
            <a:ahLst/>
            <a:cxnLst/>
            <a:rect l="l" t="t" r="r" b="b"/>
            <a:pathLst>
              <a:path w="160774" h="160774">
                <a:moveTo>
                  <a:pt x="80387" y="160774"/>
                </a:moveTo>
                <a:cubicBezTo>
                  <a:pt x="124754" y="160774"/>
                  <a:pt x="160774" y="124754"/>
                  <a:pt x="160774" y="80387"/>
                </a:cubicBezTo>
                <a:cubicBezTo>
                  <a:pt x="160774" y="36020"/>
                  <a:pt x="124754" y="0"/>
                  <a:pt x="80387" y="0"/>
                </a:cubicBezTo>
                <a:cubicBezTo>
                  <a:pt x="36020" y="0"/>
                  <a:pt x="0" y="36020"/>
                  <a:pt x="0" y="80387"/>
                </a:cubicBezTo>
                <a:cubicBezTo>
                  <a:pt x="0" y="124754"/>
                  <a:pt x="36020" y="160774"/>
                  <a:pt x="80387" y="160774"/>
                </a:cubicBezTo>
                <a:close/>
                <a:moveTo>
                  <a:pt x="80387" y="55266"/>
                </a:moveTo>
                <a:cubicBezTo>
                  <a:pt x="74829" y="55266"/>
                  <a:pt x="70338" y="59756"/>
                  <a:pt x="70338" y="65314"/>
                </a:cubicBezTo>
                <a:cubicBezTo>
                  <a:pt x="70338" y="69491"/>
                  <a:pt x="66979" y="72851"/>
                  <a:pt x="62802" y="72851"/>
                </a:cubicBezTo>
                <a:cubicBezTo>
                  <a:pt x="58626" y="72851"/>
                  <a:pt x="55266" y="69491"/>
                  <a:pt x="55266" y="65314"/>
                </a:cubicBezTo>
                <a:cubicBezTo>
                  <a:pt x="55266" y="51435"/>
                  <a:pt x="66508" y="40193"/>
                  <a:pt x="80387" y="40193"/>
                </a:cubicBezTo>
                <a:cubicBezTo>
                  <a:pt x="94266" y="40193"/>
                  <a:pt x="105508" y="51435"/>
                  <a:pt x="105508" y="65314"/>
                </a:cubicBezTo>
                <a:cubicBezTo>
                  <a:pt x="105508" y="80136"/>
                  <a:pt x="94203" y="86416"/>
                  <a:pt x="87923" y="88708"/>
                </a:cubicBezTo>
                <a:lnTo>
                  <a:pt x="87923" y="89901"/>
                </a:lnTo>
                <a:cubicBezTo>
                  <a:pt x="87923" y="94078"/>
                  <a:pt x="84563" y="97438"/>
                  <a:pt x="80387" y="97438"/>
                </a:cubicBezTo>
                <a:cubicBezTo>
                  <a:pt x="76210" y="97438"/>
                  <a:pt x="72851" y="94078"/>
                  <a:pt x="72851" y="89901"/>
                </a:cubicBezTo>
                <a:lnTo>
                  <a:pt x="72851" y="87358"/>
                </a:lnTo>
                <a:cubicBezTo>
                  <a:pt x="72851" y="80921"/>
                  <a:pt x="77498" y="76305"/>
                  <a:pt x="82302" y="74735"/>
                </a:cubicBezTo>
                <a:cubicBezTo>
                  <a:pt x="84312" y="74075"/>
                  <a:pt x="86447" y="73008"/>
                  <a:pt x="88017" y="71500"/>
                </a:cubicBezTo>
                <a:cubicBezTo>
                  <a:pt x="89368" y="70181"/>
                  <a:pt x="90435" y="68360"/>
                  <a:pt x="90435" y="65346"/>
                </a:cubicBezTo>
                <a:cubicBezTo>
                  <a:pt x="90435" y="59788"/>
                  <a:pt x="85945" y="55297"/>
                  <a:pt x="80387" y="55297"/>
                </a:cubicBezTo>
                <a:close/>
                <a:moveTo>
                  <a:pt x="70338" y="115556"/>
                </a:moveTo>
                <a:cubicBezTo>
                  <a:pt x="70338" y="110010"/>
                  <a:pt x="74841" y="105508"/>
                  <a:pt x="80387" y="105508"/>
                </a:cubicBezTo>
                <a:cubicBezTo>
                  <a:pt x="85933" y="105508"/>
                  <a:pt x="90435" y="110010"/>
                  <a:pt x="90435" y="115556"/>
                </a:cubicBezTo>
                <a:cubicBezTo>
                  <a:pt x="90435" y="121102"/>
                  <a:pt x="85933" y="125604"/>
                  <a:pt x="80387" y="125604"/>
                </a:cubicBezTo>
                <a:cubicBezTo>
                  <a:pt x="74841" y="125604"/>
                  <a:pt x="70338" y="121102"/>
                  <a:pt x="70338" y="115556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67" name="Text 65"/>
          <p:cNvSpPr/>
          <p:nvPr/>
        </p:nvSpPr>
        <p:spPr>
          <a:xfrm>
            <a:off x="6567549" y="5303428"/>
            <a:ext cx="5207279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6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为什么这样做？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87795" y="5660571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69" name="Text 67"/>
          <p:cNvSpPr/>
          <p:nvPr/>
        </p:nvSpPr>
        <p:spPr>
          <a:xfrm>
            <a:off x="6589853" y="5624853"/>
            <a:ext cx="326906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高可用：</a:t>
            </a: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同一服务Pod分散在不同物理节点，避免单点故障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87795" y="5910577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1" name="Text 69"/>
          <p:cNvSpPr/>
          <p:nvPr/>
        </p:nvSpPr>
        <p:spPr>
          <a:xfrm>
            <a:off x="6589853" y="5874858"/>
            <a:ext cx="330479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灵活性：</a:t>
            </a: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preferred策略在资源紧张时仍可调度，不造成死锁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87795" y="6160582"/>
            <a:ext cx="109415" cy="125046"/>
          </a:xfrm>
          <a:custGeom>
            <a:avLst/>
            <a:gdLst/>
            <a:ahLst/>
            <a:cxnLst/>
            <a:rect l="l" t="t" r="r" b="b"/>
            <a:pathLst>
              <a:path w="109415" h="125046">
                <a:moveTo>
                  <a:pt x="106192" y="17121"/>
                </a:moveTo>
                <a:cubicBezTo>
                  <a:pt x="109684" y="19661"/>
                  <a:pt x="110466" y="24545"/>
                  <a:pt x="107926" y="28038"/>
                </a:cubicBezTo>
                <a:lnTo>
                  <a:pt x="45403" y="114007"/>
                </a:lnTo>
                <a:cubicBezTo>
                  <a:pt x="44059" y="115863"/>
                  <a:pt x="41983" y="117011"/>
                  <a:pt x="39688" y="117206"/>
                </a:cubicBezTo>
                <a:cubicBezTo>
                  <a:pt x="37392" y="117402"/>
                  <a:pt x="35169" y="116547"/>
                  <a:pt x="33557" y="114935"/>
                </a:cubicBezTo>
                <a:lnTo>
                  <a:pt x="2296" y="83673"/>
                </a:lnTo>
                <a:cubicBezTo>
                  <a:pt x="-757" y="80621"/>
                  <a:pt x="-757" y="75663"/>
                  <a:pt x="2296" y="72610"/>
                </a:cubicBezTo>
                <a:cubicBezTo>
                  <a:pt x="5349" y="69557"/>
                  <a:pt x="10307" y="69557"/>
                  <a:pt x="13359" y="72610"/>
                </a:cubicBezTo>
                <a:lnTo>
                  <a:pt x="38149" y="97399"/>
                </a:lnTo>
                <a:lnTo>
                  <a:pt x="95299" y="18830"/>
                </a:lnTo>
                <a:cubicBezTo>
                  <a:pt x="97839" y="15338"/>
                  <a:pt x="102723" y="14556"/>
                  <a:pt x="106216" y="17096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3" name="Text 71"/>
          <p:cNvSpPr/>
          <p:nvPr/>
        </p:nvSpPr>
        <p:spPr>
          <a:xfrm>
            <a:off x="6589853" y="6124863"/>
            <a:ext cx="268849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故障隔离：</a:t>
            </a:r>
            <a:r>
              <a:rPr lang="en-US" sz="98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单节点故障不会导致服务整体不可用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kern="0" spc="88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Health Probes &amp; Autoscaling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672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健康探针与HPA自动扩缩容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52391"/>
            <a:ext cx="508000" cy="15875"/>
          </a:xfrm>
          <a:custGeom>
            <a:avLst/>
            <a:gdLst/>
            <a:ahLst/>
            <a:cxnLst/>
            <a:rect l="l" t="t" r="r" b="b"/>
            <a:pathLst>
              <a:path w="508000" h="15875">
                <a:moveTo>
                  <a:pt x="0" y="0"/>
                </a:moveTo>
                <a:lnTo>
                  <a:pt x="508000" y="0"/>
                </a:lnTo>
                <a:lnTo>
                  <a:pt x="508000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Shape 3"/>
          <p:cNvSpPr/>
          <p:nvPr/>
        </p:nvSpPr>
        <p:spPr>
          <a:xfrm>
            <a:off x="321108" y="1098789"/>
            <a:ext cx="5690466" cy="2610716"/>
          </a:xfrm>
          <a:custGeom>
            <a:avLst/>
            <a:gdLst/>
            <a:ahLst/>
            <a:cxnLst/>
            <a:rect l="l" t="t" r="r" b="b"/>
            <a:pathLst>
              <a:path w="5690466" h="2610716">
                <a:moveTo>
                  <a:pt x="0" y="0"/>
                </a:moveTo>
                <a:lnTo>
                  <a:pt x="5690466" y="0"/>
                </a:lnTo>
                <a:lnTo>
                  <a:pt x="5690466" y="2610716"/>
                </a:lnTo>
                <a:lnTo>
                  <a:pt x="0" y="26107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1515" y="126898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30110"/>
                </a:moveTo>
                <a:lnTo>
                  <a:pt x="67252" y="24305"/>
                </a:lnTo>
                <a:cubicBezTo>
                  <a:pt x="60275" y="14650"/>
                  <a:pt x="49085" y="8930"/>
                  <a:pt x="37142" y="8930"/>
                </a:cubicBezTo>
                <a:cubicBezTo>
                  <a:pt x="16632" y="8930"/>
                  <a:pt x="0" y="25561"/>
                  <a:pt x="0" y="46072"/>
                </a:cubicBezTo>
                <a:lnTo>
                  <a:pt x="0" y="46797"/>
                </a:lnTo>
                <a:cubicBezTo>
                  <a:pt x="0" y="53383"/>
                  <a:pt x="1730" y="60192"/>
                  <a:pt x="4632" y="66973"/>
                </a:cubicBezTo>
                <a:lnTo>
                  <a:pt x="34212" y="66973"/>
                </a:lnTo>
                <a:cubicBezTo>
                  <a:pt x="35105" y="66973"/>
                  <a:pt x="35914" y="66442"/>
                  <a:pt x="36277" y="65605"/>
                </a:cubicBezTo>
                <a:lnTo>
                  <a:pt x="45151" y="44314"/>
                </a:lnTo>
                <a:cubicBezTo>
                  <a:pt x="46183" y="41858"/>
                  <a:pt x="48583" y="40239"/>
                  <a:pt x="51234" y="40184"/>
                </a:cubicBezTo>
                <a:cubicBezTo>
                  <a:pt x="53885" y="40128"/>
                  <a:pt x="56341" y="41690"/>
                  <a:pt x="57429" y="44118"/>
                </a:cubicBezTo>
                <a:lnTo>
                  <a:pt x="71744" y="75902"/>
                </a:lnTo>
                <a:lnTo>
                  <a:pt x="83297" y="52797"/>
                </a:lnTo>
                <a:cubicBezTo>
                  <a:pt x="84441" y="50536"/>
                  <a:pt x="86757" y="49085"/>
                  <a:pt x="89297" y="49085"/>
                </a:cubicBezTo>
                <a:cubicBezTo>
                  <a:pt x="91836" y="49085"/>
                  <a:pt x="94152" y="50509"/>
                  <a:pt x="95297" y="52797"/>
                </a:cubicBezTo>
                <a:lnTo>
                  <a:pt x="101771" y="65717"/>
                </a:lnTo>
                <a:cubicBezTo>
                  <a:pt x="102161" y="66470"/>
                  <a:pt x="102915" y="66945"/>
                  <a:pt x="103780" y="66945"/>
                </a:cubicBezTo>
                <a:lnTo>
                  <a:pt x="138271" y="66945"/>
                </a:lnTo>
                <a:cubicBezTo>
                  <a:pt x="141201" y="60164"/>
                  <a:pt x="142903" y="53355"/>
                  <a:pt x="142903" y="46769"/>
                </a:cubicBezTo>
                <a:lnTo>
                  <a:pt x="142903" y="46044"/>
                </a:lnTo>
                <a:cubicBezTo>
                  <a:pt x="142875" y="25561"/>
                  <a:pt x="126243" y="8930"/>
                  <a:pt x="105733" y="8930"/>
                </a:cubicBezTo>
                <a:cubicBezTo>
                  <a:pt x="93818" y="8930"/>
                  <a:pt x="82600" y="14650"/>
                  <a:pt x="75623" y="24305"/>
                </a:cubicBezTo>
                <a:lnTo>
                  <a:pt x="71438" y="30082"/>
                </a:lnTo>
                <a:close/>
                <a:moveTo>
                  <a:pt x="131043" y="80367"/>
                </a:moveTo>
                <a:lnTo>
                  <a:pt x="103752" y="80367"/>
                </a:lnTo>
                <a:cubicBezTo>
                  <a:pt x="97836" y="80367"/>
                  <a:pt x="92422" y="77019"/>
                  <a:pt x="89771" y="71717"/>
                </a:cubicBezTo>
                <a:lnTo>
                  <a:pt x="89297" y="70768"/>
                </a:lnTo>
                <a:lnTo>
                  <a:pt x="77437" y="94515"/>
                </a:lnTo>
                <a:cubicBezTo>
                  <a:pt x="76293" y="96831"/>
                  <a:pt x="73893" y="98282"/>
                  <a:pt x="71298" y="98227"/>
                </a:cubicBezTo>
                <a:cubicBezTo>
                  <a:pt x="68703" y="98171"/>
                  <a:pt x="66387" y="96636"/>
                  <a:pt x="65326" y="94292"/>
                </a:cubicBezTo>
                <a:lnTo>
                  <a:pt x="51569" y="63736"/>
                </a:lnTo>
                <a:lnTo>
                  <a:pt x="48639" y="70768"/>
                </a:lnTo>
                <a:cubicBezTo>
                  <a:pt x="46211" y="76600"/>
                  <a:pt x="40518" y="80395"/>
                  <a:pt x="34212" y="80395"/>
                </a:cubicBezTo>
                <a:lnTo>
                  <a:pt x="11832" y="80395"/>
                </a:lnTo>
                <a:cubicBezTo>
                  <a:pt x="25003" y="100989"/>
                  <a:pt x="46155" y="119937"/>
                  <a:pt x="59382" y="130039"/>
                </a:cubicBezTo>
                <a:cubicBezTo>
                  <a:pt x="62843" y="132662"/>
                  <a:pt x="67084" y="133973"/>
                  <a:pt x="71410" y="133973"/>
                </a:cubicBezTo>
                <a:cubicBezTo>
                  <a:pt x="75735" y="133973"/>
                  <a:pt x="80004" y="132690"/>
                  <a:pt x="83437" y="130039"/>
                </a:cubicBezTo>
                <a:cubicBezTo>
                  <a:pt x="96720" y="119909"/>
                  <a:pt x="117872" y="100961"/>
                  <a:pt x="131043" y="80367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7" name="Text 5"/>
          <p:cNvSpPr/>
          <p:nvPr/>
        </p:nvSpPr>
        <p:spPr>
          <a:xfrm>
            <a:off x="634233" y="1229351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三种探针的区别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1671" y="1546743"/>
          <a:ext cx="5429251" cy="1174752"/>
        </p:xfrm>
        <a:graphic>
          <a:graphicData uri="http://schemas.openxmlformats.org/drawingml/2006/table">
            <a:tbl>
              <a:tblPr/>
              <a:tblGrid>
                <a:gridCol w="138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7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688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探针类型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检查时机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失败行为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Startup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容器启动后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杀死容器，重启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Liveness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运行期间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杀死容器，重启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Readiness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运行期间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从Service摘除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8887" y="2813417"/>
            <a:ext cx="5420591" cy="762000"/>
          </a:xfrm>
          <a:custGeom>
            <a:avLst/>
            <a:gdLst/>
            <a:ahLst/>
            <a:cxnLst/>
            <a:rect l="l" t="t" r="r" b="b"/>
            <a:pathLst>
              <a:path w="5420591" h="762000">
                <a:moveTo>
                  <a:pt x="0" y="0"/>
                </a:moveTo>
                <a:lnTo>
                  <a:pt x="5420591" y="0"/>
                </a:lnTo>
                <a:lnTo>
                  <a:pt x="5420591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8887" y="2813417"/>
            <a:ext cx="14432" cy="762000"/>
          </a:xfrm>
          <a:custGeom>
            <a:avLst/>
            <a:gdLst/>
            <a:ahLst/>
            <a:cxnLst/>
            <a:rect l="l" t="t" r="r" b="b"/>
            <a:pathLst>
              <a:path w="14432" h="762000">
                <a:moveTo>
                  <a:pt x="0" y="0"/>
                </a:moveTo>
                <a:lnTo>
                  <a:pt x="14432" y="0"/>
                </a:lnTo>
                <a:lnTo>
                  <a:pt x="14432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1" name="Text 8"/>
          <p:cNvSpPr/>
          <p:nvPr/>
        </p:nvSpPr>
        <p:spPr>
          <a:xfrm>
            <a:off x="561319" y="2908629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用途说明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1319" y="3099067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Startup：</a:t>
            </a: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保护启动慢的容器（如加载模型）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1319" y="3226074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Liveness：</a:t>
            </a: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检测死锁、无限循环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1319" y="3353090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Readiness：</a:t>
            </a: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流量切换，优雅下线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31932" y="3836440"/>
            <a:ext cx="5681807" cy="1143000"/>
          </a:xfrm>
          <a:custGeom>
            <a:avLst/>
            <a:gdLst/>
            <a:ahLst/>
            <a:cxnLst/>
            <a:rect l="l" t="t" r="r" b="b"/>
            <a:pathLst>
              <a:path w="5681807" h="1143000">
                <a:moveTo>
                  <a:pt x="0" y="0"/>
                </a:moveTo>
                <a:lnTo>
                  <a:pt x="5681807" y="0"/>
                </a:lnTo>
                <a:lnTo>
                  <a:pt x="5681807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331932" y="3836440"/>
            <a:ext cx="28864" cy="1143000"/>
          </a:xfrm>
          <a:custGeom>
            <a:avLst/>
            <a:gdLst/>
            <a:ahLst/>
            <a:cxnLst/>
            <a:rect l="l" t="t" r="r" b="b"/>
            <a:pathLst>
              <a:path w="28864" h="1143000">
                <a:moveTo>
                  <a:pt x="0" y="0"/>
                </a:moveTo>
                <a:lnTo>
                  <a:pt x="28864" y="0"/>
                </a:lnTo>
                <a:lnTo>
                  <a:pt x="28864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7" name="Shape 14"/>
          <p:cNvSpPr/>
          <p:nvPr/>
        </p:nvSpPr>
        <p:spPr>
          <a:xfrm>
            <a:off x="493162" y="400302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62508" y="44648"/>
                </a:moveTo>
                <a:cubicBezTo>
                  <a:pt x="62508" y="39720"/>
                  <a:pt x="66509" y="35719"/>
                  <a:pt x="71438" y="35719"/>
                </a:cubicBezTo>
                <a:cubicBezTo>
                  <a:pt x="76366" y="35719"/>
                  <a:pt x="80367" y="39720"/>
                  <a:pt x="80367" y="44648"/>
                </a:cubicBezTo>
                <a:cubicBezTo>
                  <a:pt x="80367" y="49577"/>
                  <a:pt x="76366" y="53578"/>
                  <a:pt x="71438" y="53578"/>
                </a:cubicBezTo>
                <a:cubicBezTo>
                  <a:pt x="66509" y="53578"/>
                  <a:pt x="62508" y="49577"/>
                  <a:pt x="62508" y="44648"/>
                </a:cubicBezTo>
                <a:close/>
                <a:moveTo>
                  <a:pt x="60275" y="62508"/>
                </a:moveTo>
                <a:lnTo>
                  <a:pt x="73670" y="62508"/>
                </a:lnTo>
                <a:cubicBezTo>
                  <a:pt x="77381" y="62508"/>
                  <a:pt x="80367" y="65494"/>
                  <a:pt x="80367" y="69205"/>
                </a:cubicBezTo>
                <a:lnTo>
                  <a:pt x="80367" y="93762"/>
                </a:lnTo>
                <a:lnTo>
                  <a:pt x="82600" y="93762"/>
                </a:lnTo>
                <a:cubicBezTo>
                  <a:pt x="86311" y="93762"/>
                  <a:pt x="89297" y="96748"/>
                  <a:pt x="89297" y="100459"/>
                </a:cubicBezTo>
                <a:cubicBezTo>
                  <a:pt x="89297" y="104170"/>
                  <a:pt x="86311" y="107156"/>
                  <a:pt x="82600" y="107156"/>
                </a:cubicBezTo>
                <a:lnTo>
                  <a:pt x="60275" y="107156"/>
                </a:lnTo>
                <a:cubicBezTo>
                  <a:pt x="56564" y="107156"/>
                  <a:pt x="53578" y="104170"/>
                  <a:pt x="53578" y="100459"/>
                </a:cubicBezTo>
                <a:cubicBezTo>
                  <a:pt x="53578" y="96748"/>
                  <a:pt x="56564" y="93762"/>
                  <a:pt x="60275" y="93762"/>
                </a:cubicBezTo>
                <a:lnTo>
                  <a:pt x="66973" y="93762"/>
                </a:lnTo>
                <a:lnTo>
                  <a:pt x="66973" y="75902"/>
                </a:lnTo>
                <a:lnTo>
                  <a:pt x="60275" y="75902"/>
                </a:lnTo>
                <a:cubicBezTo>
                  <a:pt x="56564" y="75902"/>
                  <a:pt x="53578" y="72916"/>
                  <a:pt x="53578" y="69205"/>
                </a:cubicBezTo>
                <a:cubicBezTo>
                  <a:pt x="53578" y="65494"/>
                  <a:pt x="56564" y="62508"/>
                  <a:pt x="60275" y="62508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8" name="Text 15"/>
          <p:cNvSpPr/>
          <p:nvPr/>
        </p:nvSpPr>
        <p:spPr>
          <a:xfrm>
            <a:off x="655881" y="3963394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为什么区分三种探针？</a:t>
            </a:r>
            <a:endParaRPr lang="en-US" sz="1600" dirty="0"/>
          </a:p>
        </p:txBody>
      </p:sp>
      <p:sp>
        <p:nvSpPr>
          <p:cNvPr id="8" name="Shape 16"/>
          <p:cNvSpPr/>
          <p:nvPr/>
        </p:nvSpPr>
        <p:spPr>
          <a:xfrm>
            <a:off x="496139" y="428078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0" name="Text 17"/>
          <p:cNvSpPr/>
          <p:nvPr/>
        </p:nvSpPr>
        <p:spPr>
          <a:xfrm>
            <a:off x="675702" y="4249043"/>
            <a:ext cx="482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服务启动时（加载模型、连接DB），Readiness失败（不接收流量），但Liveness不失败（不重启）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96139" y="45029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2" name="Text 19"/>
          <p:cNvSpPr/>
          <p:nvPr/>
        </p:nvSpPr>
        <p:spPr>
          <a:xfrm>
            <a:off x="675702" y="4471215"/>
            <a:ext cx="221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服务运行中如果死锁，Liveness失败触发重启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96139" y="4725122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4" name="Text 21"/>
          <p:cNvSpPr/>
          <p:nvPr/>
        </p:nvSpPr>
        <p:spPr>
          <a:xfrm>
            <a:off x="675702" y="4693388"/>
            <a:ext cx="338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发布时，先让旧Pod Readiness失败（摘流量），再终止，实现零停机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78960" y="1098789"/>
            <a:ext cx="5690466" cy="4476028"/>
          </a:xfrm>
          <a:custGeom>
            <a:avLst/>
            <a:gdLst/>
            <a:ahLst/>
            <a:cxnLst/>
            <a:rect l="l" t="t" r="r" b="b"/>
            <a:pathLst>
              <a:path w="5690466" h="4476028">
                <a:moveTo>
                  <a:pt x="0" y="0"/>
                </a:moveTo>
                <a:lnTo>
                  <a:pt x="5690466" y="0"/>
                </a:lnTo>
                <a:lnTo>
                  <a:pt x="5690466" y="4476028"/>
                </a:lnTo>
                <a:lnTo>
                  <a:pt x="0" y="44760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38296" y="126898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46881" y="8930"/>
                </a:moveTo>
                <a:lnTo>
                  <a:pt x="6697" y="8930"/>
                </a:lnTo>
                <a:cubicBezTo>
                  <a:pt x="2986" y="8930"/>
                  <a:pt x="0" y="11916"/>
                  <a:pt x="0" y="15627"/>
                </a:cubicBezTo>
                <a:lnTo>
                  <a:pt x="0" y="55811"/>
                </a:lnTo>
                <a:cubicBezTo>
                  <a:pt x="0" y="58517"/>
                  <a:pt x="1619" y="60973"/>
                  <a:pt x="4130" y="62006"/>
                </a:cubicBezTo>
                <a:cubicBezTo>
                  <a:pt x="6641" y="63038"/>
                  <a:pt x="9516" y="62452"/>
                  <a:pt x="11441" y="60554"/>
                </a:cubicBezTo>
                <a:lnTo>
                  <a:pt x="22603" y="49392"/>
                </a:lnTo>
                <a:lnTo>
                  <a:pt x="44648" y="71438"/>
                </a:lnTo>
                <a:lnTo>
                  <a:pt x="22603" y="93483"/>
                </a:lnTo>
                <a:lnTo>
                  <a:pt x="11441" y="82321"/>
                </a:lnTo>
                <a:cubicBezTo>
                  <a:pt x="9516" y="80395"/>
                  <a:pt x="6641" y="79837"/>
                  <a:pt x="4130" y="80869"/>
                </a:cubicBezTo>
                <a:cubicBezTo>
                  <a:pt x="1619" y="81902"/>
                  <a:pt x="0" y="84358"/>
                  <a:pt x="0" y="87064"/>
                </a:cubicBezTo>
                <a:lnTo>
                  <a:pt x="0" y="127248"/>
                </a:lnTo>
                <a:cubicBezTo>
                  <a:pt x="0" y="130959"/>
                  <a:pt x="2986" y="133945"/>
                  <a:pt x="6697" y="133945"/>
                </a:cubicBezTo>
                <a:lnTo>
                  <a:pt x="46881" y="133945"/>
                </a:lnTo>
                <a:cubicBezTo>
                  <a:pt x="49588" y="133945"/>
                  <a:pt x="52043" y="132327"/>
                  <a:pt x="53076" y="129815"/>
                </a:cubicBezTo>
                <a:cubicBezTo>
                  <a:pt x="54108" y="127304"/>
                  <a:pt x="53550" y="124430"/>
                  <a:pt x="51625" y="122504"/>
                </a:cubicBezTo>
                <a:lnTo>
                  <a:pt x="40463" y="111342"/>
                </a:lnTo>
                <a:lnTo>
                  <a:pt x="62508" y="89297"/>
                </a:lnTo>
                <a:lnTo>
                  <a:pt x="84553" y="111342"/>
                </a:lnTo>
                <a:lnTo>
                  <a:pt x="73391" y="122504"/>
                </a:lnTo>
                <a:cubicBezTo>
                  <a:pt x="71465" y="124430"/>
                  <a:pt x="70907" y="127304"/>
                  <a:pt x="71940" y="129815"/>
                </a:cubicBezTo>
                <a:cubicBezTo>
                  <a:pt x="72972" y="132327"/>
                  <a:pt x="75428" y="133945"/>
                  <a:pt x="78135" y="133945"/>
                </a:cubicBezTo>
                <a:lnTo>
                  <a:pt x="118318" y="133945"/>
                </a:lnTo>
                <a:cubicBezTo>
                  <a:pt x="122030" y="133945"/>
                  <a:pt x="125016" y="130959"/>
                  <a:pt x="125016" y="127248"/>
                </a:cubicBezTo>
                <a:lnTo>
                  <a:pt x="125016" y="87064"/>
                </a:lnTo>
                <a:cubicBezTo>
                  <a:pt x="125016" y="84358"/>
                  <a:pt x="123397" y="81902"/>
                  <a:pt x="120886" y="80869"/>
                </a:cubicBezTo>
                <a:cubicBezTo>
                  <a:pt x="118374" y="79837"/>
                  <a:pt x="115500" y="80395"/>
                  <a:pt x="113574" y="82321"/>
                </a:cubicBezTo>
                <a:lnTo>
                  <a:pt x="102412" y="93483"/>
                </a:lnTo>
                <a:lnTo>
                  <a:pt x="80367" y="71438"/>
                </a:lnTo>
                <a:lnTo>
                  <a:pt x="102412" y="49392"/>
                </a:lnTo>
                <a:lnTo>
                  <a:pt x="113574" y="60554"/>
                </a:lnTo>
                <a:cubicBezTo>
                  <a:pt x="115500" y="62480"/>
                  <a:pt x="118374" y="63038"/>
                  <a:pt x="120886" y="62006"/>
                </a:cubicBezTo>
                <a:cubicBezTo>
                  <a:pt x="123397" y="60973"/>
                  <a:pt x="125016" y="58517"/>
                  <a:pt x="125016" y="55811"/>
                </a:cubicBezTo>
                <a:lnTo>
                  <a:pt x="125016" y="15627"/>
                </a:lnTo>
                <a:cubicBezTo>
                  <a:pt x="125016" y="11916"/>
                  <a:pt x="122030" y="8930"/>
                  <a:pt x="118318" y="8930"/>
                </a:cubicBezTo>
                <a:lnTo>
                  <a:pt x="78135" y="8930"/>
                </a:lnTo>
                <a:cubicBezTo>
                  <a:pt x="75428" y="8930"/>
                  <a:pt x="72972" y="10548"/>
                  <a:pt x="71940" y="13060"/>
                </a:cubicBezTo>
                <a:cubicBezTo>
                  <a:pt x="70907" y="15571"/>
                  <a:pt x="71493" y="18445"/>
                  <a:pt x="73391" y="20371"/>
                </a:cubicBezTo>
                <a:lnTo>
                  <a:pt x="84553" y="31533"/>
                </a:lnTo>
                <a:lnTo>
                  <a:pt x="62508" y="53578"/>
                </a:lnTo>
                <a:lnTo>
                  <a:pt x="40463" y="31533"/>
                </a:lnTo>
                <a:lnTo>
                  <a:pt x="51625" y="20371"/>
                </a:lnTo>
                <a:cubicBezTo>
                  <a:pt x="53550" y="18445"/>
                  <a:pt x="54108" y="15571"/>
                  <a:pt x="53076" y="13060"/>
                </a:cubicBezTo>
                <a:cubicBezTo>
                  <a:pt x="52043" y="10548"/>
                  <a:pt x="49588" y="8930"/>
                  <a:pt x="46881" y="8930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7" name="Text 24"/>
          <p:cNvSpPr/>
          <p:nvPr/>
        </p:nvSpPr>
        <p:spPr>
          <a:xfrm>
            <a:off x="6492085" y="1229351"/>
            <a:ext cx="531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HPA多指标配置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09523" y="1546743"/>
            <a:ext cx="5429250" cy="3135313"/>
          </a:xfrm>
          <a:custGeom>
            <a:avLst/>
            <a:gdLst/>
            <a:ahLst/>
            <a:cxnLst/>
            <a:rect l="l" t="t" r="r" b="b"/>
            <a:pathLst>
              <a:path w="5429250" h="3135313">
                <a:moveTo>
                  <a:pt x="0" y="0"/>
                </a:moveTo>
                <a:lnTo>
                  <a:pt x="5429250" y="0"/>
                </a:lnTo>
                <a:lnTo>
                  <a:pt x="5429250" y="3135313"/>
                </a:lnTo>
                <a:lnTo>
                  <a:pt x="0" y="3135313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9" name="Text 26"/>
          <p:cNvSpPr/>
          <p:nvPr/>
        </p:nvSpPr>
        <p:spPr>
          <a:xfrm>
            <a:off x="6404739" y="1641962"/>
            <a:ext cx="528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spec: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31694" y="1796759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minReplicas: 2 </a:t>
            </a:r>
            <a:r>
              <a:rPr lang="en-US" sz="750" dirty="0">
                <a:solidFill>
                  <a:srgbClr val="636E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保证高可用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31694" y="1951563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maxReplicas: 20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531694" y="2106368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metrics: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658705" y="2261172"/>
            <a:ext cx="503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type: Resource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85717" y="2415977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resource: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912728" y="2570781"/>
            <a:ext cx="477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name: cpu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912728" y="2725586"/>
            <a:ext cx="477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target: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039739" y="2880390"/>
            <a:ext cx="4651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averageUtilization: 70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658705" y="3035195"/>
            <a:ext cx="503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type: Resource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785717" y="3189999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resource: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912728" y="3344804"/>
            <a:ext cx="477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name: memory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912728" y="3499600"/>
            <a:ext cx="477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target: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039739" y="3654405"/>
            <a:ext cx="4651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averageUtilization: 80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531694" y="3809209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behavior: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658705" y="3964014"/>
            <a:ext cx="503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scaleUp: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785717" y="4118818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stabilizationWindowSeconds: 60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04739" y="4273623"/>
            <a:ext cx="528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scaleDown: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785717" y="4428427"/>
            <a:ext cx="490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stabilizationWindowSeconds: 300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316739" y="4773662"/>
            <a:ext cx="5420591" cy="666750"/>
          </a:xfrm>
          <a:custGeom>
            <a:avLst/>
            <a:gdLst/>
            <a:ahLst/>
            <a:cxnLst/>
            <a:rect l="l" t="t" r="r" b="b"/>
            <a:pathLst>
              <a:path w="5420591" h="666750">
                <a:moveTo>
                  <a:pt x="0" y="0"/>
                </a:moveTo>
                <a:lnTo>
                  <a:pt x="5420591" y="0"/>
                </a:lnTo>
                <a:lnTo>
                  <a:pt x="5420591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316739" y="4773662"/>
            <a:ext cx="14432" cy="666750"/>
          </a:xfrm>
          <a:custGeom>
            <a:avLst/>
            <a:gdLst/>
            <a:ahLst/>
            <a:cxnLst/>
            <a:rect l="l" t="t" r="r" b="b"/>
            <a:pathLst>
              <a:path w="14432" h="666750">
                <a:moveTo>
                  <a:pt x="0" y="0"/>
                </a:moveTo>
                <a:lnTo>
                  <a:pt x="14432" y="0"/>
                </a:lnTo>
                <a:lnTo>
                  <a:pt x="14432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0" name="Text 47"/>
          <p:cNvSpPr/>
          <p:nvPr/>
        </p:nvSpPr>
        <p:spPr>
          <a:xfrm>
            <a:off x="6419171" y="4868881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扩缩容算法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419171" y="5059311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desiredReplicas = ceil[currentReplicas × (currentMetricValue / desiredMetricValue)]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419171" y="5218061"/>
            <a:ext cx="527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例：当前2 Pod，CPU 140%，目标70% → desired = 2 × (140/70) = 4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178960" y="5705020"/>
            <a:ext cx="5690466" cy="1213716"/>
          </a:xfrm>
          <a:custGeom>
            <a:avLst/>
            <a:gdLst/>
            <a:ahLst/>
            <a:cxnLst/>
            <a:rect l="l" t="t" r="r" b="b"/>
            <a:pathLst>
              <a:path w="5690466" h="1213716">
                <a:moveTo>
                  <a:pt x="0" y="0"/>
                </a:moveTo>
                <a:lnTo>
                  <a:pt x="5690466" y="0"/>
                </a:lnTo>
                <a:lnTo>
                  <a:pt x="5690466" y="1213716"/>
                </a:lnTo>
                <a:lnTo>
                  <a:pt x="0" y="12137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545">
            <a:solidFill>
              <a:srgbClr val="636E72">
                <a:alpha val="20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309523" y="5835582"/>
            <a:ext cx="550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稳定窗口策略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16739" y="6152973"/>
            <a:ext cx="2658341" cy="635000"/>
          </a:xfrm>
          <a:custGeom>
            <a:avLst/>
            <a:gdLst/>
            <a:ahLst/>
            <a:cxnLst/>
            <a:rect l="l" t="t" r="r" b="b"/>
            <a:pathLst>
              <a:path w="2658341" h="635000">
                <a:moveTo>
                  <a:pt x="0" y="0"/>
                </a:moveTo>
                <a:lnTo>
                  <a:pt x="2658341" y="0"/>
                </a:lnTo>
                <a:lnTo>
                  <a:pt x="2658341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316739" y="6152973"/>
            <a:ext cx="14432" cy="635000"/>
          </a:xfrm>
          <a:custGeom>
            <a:avLst/>
            <a:gdLst/>
            <a:ahLst/>
            <a:cxnLst/>
            <a:rect l="l" t="t" r="r" b="b"/>
            <a:pathLst>
              <a:path w="14432" h="635000">
                <a:moveTo>
                  <a:pt x="0" y="0"/>
                </a:moveTo>
                <a:lnTo>
                  <a:pt x="14432" y="0"/>
                </a:lnTo>
                <a:lnTo>
                  <a:pt x="1443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7" name="Text 54"/>
          <p:cNvSpPr/>
          <p:nvPr/>
        </p:nvSpPr>
        <p:spPr>
          <a:xfrm>
            <a:off x="6419171" y="6248185"/>
            <a:ext cx="251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扩容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6419171" y="6438622"/>
            <a:ext cx="2508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观察60秒，避免毛刺。流量突增时（如秒杀）立即扩容，但限制增速防止过度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9079699" y="6152973"/>
            <a:ext cx="2658341" cy="635000"/>
          </a:xfrm>
          <a:custGeom>
            <a:avLst/>
            <a:gdLst/>
            <a:ahLst/>
            <a:cxnLst/>
            <a:rect l="l" t="t" r="r" b="b"/>
            <a:pathLst>
              <a:path w="2658341" h="635000">
                <a:moveTo>
                  <a:pt x="0" y="0"/>
                </a:moveTo>
                <a:lnTo>
                  <a:pt x="2658341" y="0"/>
                </a:lnTo>
                <a:lnTo>
                  <a:pt x="2658341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10196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079699" y="6152973"/>
            <a:ext cx="14432" cy="635000"/>
          </a:xfrm>
          <a:custGeom>
            <a:avLst/>
            <a:gdLst/>
            <a:ahLst/>
            <a:cxnLst/>
            <a:rect l="l" t="t" r="r" b="b"/>
            <a:pathLst>
              <a:path w="14432" h="635000">
                <a:moveTo>
                  <a:pt x="0" y="0"/>
                </a:moveTo>
                <a:lnTo>
                  <a:pt x="14432" y="0"/>
                </a:lnTo>
                <a:lnTo>
                  <a:pt x="14432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1" name="Text 58"/>
          <p:cNvSpPr/>
          <p:nvPr/>
        </p:nvSpPr>
        <p:spPr>
          <a:xfrm>
            <a:off x="9182131" y="6248185"/>
            <a:ext cx="2516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缩容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9182131" y="6438622"/>
            <a:ext cx="2508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观察5分钟，更保守。流量下降后观察5分钟，防止过早缩容导致流量反弹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105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Key Decisions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598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关键技术决策回顾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2860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314217"/>
          <a:ext cx="11430000" cy="3486147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021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放弃方案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2D34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核心价值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02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LLM架构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端到端直调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多阶段Pipeline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准确率+43%，延迟-70%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3091" cap="flat" cmpd="sng" algn="ctr">
                      <a:solidFill>
                        <a:srgbClr val="2D3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02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缓存策略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L0/L1/L2三级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仅Redis单级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命中率92%，成本-90%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02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爬虫签名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Node.js运行时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Python逆向算法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100%兼容，维护成本低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2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模型选型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MiniMax优先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GPT-4单模型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成本-80%，速度+5x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02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部署模式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K8s+HPA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固定ECS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弹性扩缩容，成本-60%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E3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02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稳定性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熔断+降级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36E7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单点强依赖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0984E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可用性99.9%，MTTR&lt;5min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152400" marB="152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154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98318" y="4955028"/>
            <a:ext cx="3693968" cy="838200"/>
          </a:xfrm>
          <a:custGeom>
            <a:avLst/>
            <a:gdLst/>
            <a:ahLst/>
            <a:cxnLst/>
            <a:rect l="l" t="t" r="r" b="b"/>
            <a:pathLst>
              <a:path w="3693968" h="838200">
                <a:moveTo>
                  <a:pt x="0" y="0"/>
                </a:moveTo>
                <a:lnTo>
                  <a:pt x="3693968" y="0"/>
                </a:lnTo>
                <a:lnTo>
                  <a:pt x="369396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98318" y="4955028"/>
            <a:ext cx="34636" cy="838200"/>
          </a:xfrm>
          <a:custGeom>
            <a:avLst/>
            <a:gdLst/>
            <a:ahLst/>
            <a:cxnLst/>
            <a:rect l="l" t="t" r="r" b="b"/>
            <a:pathLst>
              <a:path w="34636" h="838200">
                <a:moveTo>
                  <a:pt x="0" y="0"/>
                </a:moveTo>
                <a:lnTo>
                  <a:pt x="34636" y="0"/>
                </a:lnTo>
                <a:lnTo>
                  <a:pt x="34636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8" name="Text 5"/>
          <p:cNvSpPr/>
          <p:nvPr/>
        </p:nvSpPr>
        <p:spPr>
          <a:xfrm>
            <a:off x="510832" y="5107372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端到端简化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4645" y="5450216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架构清晰，易于维护演进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59055" y="4955028"/>
            <a:ext cx="3693968" cy="838200"/>
          </a:xfrm>
          <a:custGeom>
            <a:avLst/>
            <a:gdLst/>
            <a:ahLst/>
            <a:cxnLst/>
            <a:rect l="l" t="t" r="r" b="b"/>
            <a:pathLst>
              <a:path w="3693968" h="838200">
                <a:moveTo>
                  <a:pt x="0" y="0"/>
                </a:moveTo>
                <a:lnTo>
                  <a:pt x="3693968" y="0"/>
                </a:lnTo>
                <a:lnTo>
                  <a:pt x="369396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259055" y="4955028"/>
            <a:ext cx="34636" cy="838200"/>
          </a:xfrm>
          <a:custGeom>
            <a:avLst/>
            <a:gdLst/>
            <a:ahLst/>
            <a:cxnLst/>
            <a:rect l="l" t="t" r="r" b="b"/>
            <a:pathLst>
              <a:path w="34636" h="838200">
                <a:moveTo>
                  <a:pt x="0" y="0"/>
                </a:moveTo>
                <a:lnTo>
                  <a:pt x="34636" y="0"/>
                </a:lnTo>
                <a:lnTo>
                  <a:pt x="34636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2" name="Text 9"/>
          <p:cNvSpPr/>
          <p:nvPr/>
        </p:nvSpPr>
        <p:spPr>
          <a:xfrm>
            <a:off x="4371569" y="5107372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多级缓存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95381" y="5450216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极致性能，成本可控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19859" y="4955028"/>
            <a:ext cx="3693968" cy="838200"/>
          </a:xfrm>
          <a:custGeom>
            <a:avLst/>
            <a:gdLst/>
            <a:ahLst/>
            <a:cxnLst/>
            <a:rect l="l" t="t" r="r" b="b"/>
            <a:pathLst>
              <a:path w="3693968" h="838200">
                <a:moveTo>
                  <a:pt x="0" y="0"/>
                </a:moveTo>
                <a:lnTo>
                  <a:pt x="3693968" y="0"/>
                </a:lnTo>
                <a:lnTo>
                  <a:pt x="3693968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119859" y="4955028"/>
            <a:ext cx="34636" cy="838200"/>
          </a:xfrm>
          <a:custGeom>
            <a:avLst/>
            <a:gdLst/>
            <a:ahLst/>
            <a:cxnLst/>
            <a:rect l="l" t="t" r="r" b="b"/>
            <a:pathLst>
              <a:path w="34636" h="838200">
                <a:moveTo>
                  <a:pt x="0" y="0"/>
                </a:moveTo>
                <a:lnTo>
                  <a:pt x="34636" y="0"/>
                </a:lnTo>
                <a:lnTo>
                  <a:pt x="34636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6" name="Text 13"/>
          <p:cNvSpPr/>
          <p:nvPr/>
        </p:nvSpPr>
        <p:spPr>
          <a:xfrm>
            <a:off x="8232373" y="5107372"/>
            <a:ext cx="3486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云原生弹性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56186" y="5450216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36E7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自动扩缩，高可用保障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e13459745c8e5946df295c720530ab976c0f9f9d.jpg"/>
          <p:cNvPicPr>
            <a:picLocks noChangeAspect="1"/>
          </p:cNvPicPr>
          <p:nvPr/>
        </p:nvPicPr>
        <p:blipFill>
          <a:blip r:embed="rId3">
            <a:alphaModFix amt="10000"/>
          </a:blip>
          <a:srcRect t="3594" b="359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D3436">
                  <a:alpha val="95000"/>
                </a:srgbClr>
              </a:gs>
              <a:gs pos="50000">
                <a:srgbClr val="2D3436">
                  <a:alpha val="90000"/>
                </a:srgbClr>
              </a:gs>
              <a:gs pos="100000">
                <a:srgbClr val="0984E3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534049" y="1047676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5" name="Text 2"/>
          <p:cNvSpPr/>
          <p:nvPr/>
        </p:nvSpPr>
        <p:spPr>
          <a:xfrm>
            <a:off x="4686381" y="1047676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kern="0" spc="120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Architecture Evolution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10181" y="135243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思源宋体" pitchFamily="34" charset="0"/>
                <a:ea typeface="思源宋体" pitchFamily="34" charset="-122"/>
                <a:cs typeface="思源宋体" pitchFamily="34" charset="-120"/>
              </a:rPr>
              <a:t>架构演进思考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19865" y="1047676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13" y="211443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9" name="Text 6"/>
          <p:cNvSpPr/>
          <p:nvPr/>
        </p:nvSpPr>
        <p:spPr>
          <a:xfrm>
            <a:off x="1781202" y="2457283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通过</a:t>
            </a:r>
            <a:r>
              <a:rPr lang="en-US" sz="150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"端到端简化架构 + 多级缓存优化 + 云原生弹性部署"</a:t>
            </a: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的技术组合，实现了高可用、低成本、易维护的智能推荐服务。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3157" y="3385500"/>
            <a:ext cx="8524009" cy="742084"/>
          </a:xfrm>
          <a:custGeom>
            <a:avLst/>
            <a:gdLst/>
            <a:ahLst/>
            <a:cxnLst/>
            <a:rect l="l" t="t" r="r" b="b"/>
            <a:pathLst>
              <a:path w="8524009" h="742084">
                <a:moveTo>
                  <a:pt x="0" y="0"/>
                </a:moveTo>
                <a:lnTo>
                  <a:pt x="8524009" y="0"/>
                </a:lnTo>
                <a:lnTo>
                  <a:pt x="8524009" y="742084"/>
                </a:lnTo>
                <a:lnTo>
                  <a:pt x="0" y="7420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 w="1154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23210" y="3618412"/>
            <a:ext cx="81438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所有技术选型均基于具体场景的</a:t>
            </a:r>
            <a:r>
              <a:rPr lang="en-US" sz="1350" b="1" dirty="0">
                <a:solidFill>
                  <a:srgbClr val="0984E3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量化分析</a:t>
            </a:r>
            <a:r>
              <a:rPr lang="en-US" sz="1350" dirty="0">
                <a:solidFill>
                  <a:srgbClr val="FFFFFF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，避免过度工程化，确保架构可长期演进。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78877" y="4599932"/>
            <a:ext cx="588818" cy="588818"/>
          </a:xfrm>
          <a:custGeom>
            <a:avLst/>
            <a:gdLst/>
            <a:ahLst/>
            <a:cxnLst/>
            <a:rect l="l" t="t" r="r" b="b"/>
            <a:pathLst>
              <a:path w="588818" h="588818">
                <a:moveTo>
                  <a:pt x="0" y="0"/>
                </a:moveTo>
                <a:lnTo>
                  <a:pt x="588818" y="0"/>
                </a:lnTo>
                <a:lnTo>
                  <a:pt x="588818" y="588818"/>
                </a:lnTo>
                <a:lnTo>
                  <a:pt x="0" y="588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60677" y="47817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4" name="Text 11"/>
          <p:cNvSpPr/>
          <p:nvPr/>
        </p:nvSpPr>
        <p:spPr>
          <a:xfrm>
            <a:off x="1785965" y="5315117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高可用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795490" y="5619815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99.9%可用性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799832" y="4599932"/>
            <a:ext cx="588818" cy="588818"/>
          </a:xfrm>
          <a:custGeom>
            <a:avLst/>
            <a:gdLst/>
            <a:ahLst/>
            <a:cxnLst/>
            <a:rect l="l" t="t" r="r" b="b"/>
            <a:pathLst>
              <a:path w="588818" h="588818">
                <a:moveTo>
                  <a:pt x="0" y="0"/>
                </a:moveTo>
                <a:lnTo>
                  <a:pt x="588818" y="0"/>
                </a:lnTo>
                <a:lnTo>
                  <a:pt x="588818" y="588818"/>
                </a:lnTo>
                <a:lnTo>
                  <a:pt x="0" y="588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24494" y="4781773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18" name="Text 15"/>
          <p:cNvSpPr/>
          <p:nvPr/>
        </p:nvSpPr>
        <p:spPr>
          <a:xfrm>
            <a:off x="4706919" y="5315117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低成本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16444" y="5619815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成本降低80%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720787" y="4599932"/>
            <a:ext cx="588818" cy="588818"/>
          </a:xfrm>
          <a:custGeom>
            <a:avLst/>
            <a:gdLst/>
            <a:ahLst/>
            <a:cxnLst/>
            <a:rect l="l" t="t" r="r" b="b"/>
            <a:pathLst>
              <a:path w="588818" h="588818">
                <a:moveTo>
                  <a:pt x="0" y="0"/>
                </a:moveTo>
                <a:lnTo>
                  <a:pt x="588818" y="0"/>
                </a:lnTo>
                <a:lnTo>
                  <a:pt x="588818" y="588818"/>
                </a:lnTo>
                <a:lnTo>
                  <a:pt x="0" y="5888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3091">
            <a:solidFill>
              <a:srgbClr val="0984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88299" y="478177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7439" y="44023"/>
                </a:moveTo>
                <a:cubicBezTo>
                  <a:pt x="230832" y="40630"/>
                  <a:pt x="236503" y="41478"/>
                  <a:pt x="238199" y="45943"/>
                </a:cubicBezTo>
                <a:cubicBezTo>
                  <a:pt x="241236" y="53846"/>
                  <a:pt x="242888" y="62463"/>
                  <a:pt x="242888" y="71438"/>
                </a:cubicBezTo>
                <a:cubicBezTo>
                  <a:pt x="242888" y="110907"/>
                  <a:pt x="210919" y="142875"/>
                  <a:pt x="171450" y="142875"/>
                </a:cubicBezTo>
                <a:cubicBezTo>
                  <a:pt x="163637" y="142875"/>
                  <a:pt x="156091" y="141625"/>
                  <a:pt x="149036" y="139303"/>
                </a:cubicBezTo>
                <a:lnTo>
                  <a:pt x="65589" y="222751"/>
                </a:lnTo>
                <a:cubicBezTo>
                  <a:pt x="53042" y="235297"/>
                  <a:pt x="32683" y="235297"/>
                  <a:pt x="20136" y="222751"/>
                </a:cubicBezTo>
                <a:cubicBezTo>
                  <a:pt x="7590" y="210205"/>
                  <a:pt x="7590" y="189845"/>
                  <a:pt x="20136" y="177299"/>
                </a:cubicBezTo>
                <a:lnTo>
                  <a:pt x="103584" y="93851"/>
                </a:lnTo>
                <a:cubicBezTo>
                  <a:pt x="101263" y="86797"/>
                  <a:pt x="100013" y="79296"/>
                  <a:pt x="100013" y="71438"/>
                </a:cubicBezTo>
                <a:cubicBezTo>
                  <a:pt x="100013" y="31968"/>
                  <a:pt x="131981" y="0"/>
                  <a:pt x="171450" y="0"/>
                </a:cubicBezTo>
                <a:cubicBezTo>
                  <a:pt x="180424" y="0"/>
                  <a:pt x="189041" y="1652"/>
                  <a:pt x="196944" y="4688"/>
                </a:cubicBezTo>
                <a:cubicBezTo>
                  <a:pt x="201409" y="6385"/>
                  <a:pt x="202213" y="12055"/>
                  <a:pt x="198864" y="15448"/>
                </a:cubicBezTo>
                <a:lnTo>
                  <a:pt x="159261" y="55052"/>
                </a:lnTo>
                <a:cubicBezTo>
                  <a:pt x="157922" y="56391"/>
                  <a:pt x="157163" y="58222"/>
                  <a:pt x="157163" y="60097"/>
                </a:cubicBezTo>
                <a:lnTo>
                  <a:pt x="157163" y="78581"/>
                </a:lnTo>
                <a:cubicBezTo>
                  <a:pt x="157163" y="82510"/>
                  <a:pt x="160377" y="85725"/>
                  <a:pt x="164306" y="85725"/>
                </a:cubicBezTo>
                <a:lnTo>
                  <a:pt x="182791" y="85725"/>
                </a:lnTo>
                <a:cubicBezTo>
                  <a:pt x="184666" y="85725"/>
                  <a:pt x="186497" y="84966"/>
                  <a:pt x="187836" y="83627"/>
                </a:cubicBezTo>
                <a:lnTo>
                  <a:pt x="227439" y="44023"/>
                </a:lnTo>
                <a:close/>
              </a:path>
            </a:pathLst>
          </a:custGeom>
          <a:solidFill>
            <a:srgbClr val="0984E3"/>
          </a:solidFill>
          <a:ln/>
        </p:spPr>
      </p:sp>
      <p:sp>
        <p:nvSpPr>
          <p:cNvPr id="22" name="Text 19"/>
          <p:cNvSpPr/>
          <p:nvPr/>
        </p:nvSpPr>
        <p:spPr>
          <a:xfrm>
            <a:off x="7627874" y="5315117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易维护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37399" y="5619815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MTTR&lt;5min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1900</Words>
  <Application>Microsoft Macintosh PowerPoint</Application>
  <PresentationFormat>宽屏</PresentationFormat>
  <Paragraphs>534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思源宋体</vt:lpstr>
      <vt:lpstr>微软雅黑</vt:lpstr>
      <vt:lpstr>LXGW Bright</vt:lpstr>
      <vt:lpstr>MiSans</vt:lpstr>
      <vt:lpstr>Arial</vt:lpstr>
      <vt:lpstr>Oranienbaum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XHS Food Agent 技术深度解析</dc:title>
  <dc:subject>XHS Food Agent 技术深度解析</dc:subject>
  <dc:creator>Kimi</dc:creator>
  <cp:lastModifiedBy>俊言 刘</cp:lastModifiedBy>
  <cp:revision>3</cp:revision>
  <dcterms:created xsi:type="dcterms:W3CDTF">2026-03-25T05:38:51Z</dcterms:created>
  <dcterms:modified xsi:type="dcterms:W3CDTF">2026-04-01T06:38:33Z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{"Label":"XHS Food Agent 技术深度解析","ContentProducer":"001191110108MACG2KBH8F10000","ProduceID":"19d2335a-9a62-8601-8000-00009a27fa91","ReservedCode1":"","ContentPropagator":"001191110108MACG2KBH8F20000","PropagateID":"19d2335a-9a62-8601-8000-00009a27fa91","ReservedCode2":""}</vt:lpwstr>
  </property>
</Properties>
</file>