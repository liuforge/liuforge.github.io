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AE2E9"/>
          </a:solidFill>
        </a:fill>
      </a:tcStyle>
    </a:wholeTbl>
    <a:band2H>
      <a:tcTxStyle b="def" i="def"/>
      <a:tcStyle>
        <a:tcBdr/>
        <a:fill>
          <a:solidFill>
            <a:srgbClr val="EDF1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" name="Shape 2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PTIST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标题文本</a:t>
            </a:r>
          </a:p>
        </p:txBody>
      </p:sp>
      <p:sp>
        <p:nvSpPr>
          <p:cNvPr id="3" name="正文级别 1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0" descr="Image 0"/>
          <p:cNvPicPr>
            <a:picLocks noChangeAspect="1"/>
          </p:cNvPicPr>
          <p:nvPr/>
        </p:nvPicPr>
        <p:blipFill>
          <a:blip r:embed="rId2">
            <a:alphaModFix amt="30000"/>
            <a:extLst/>
          </a:blip>
          <a:srcRect l="6481" t="0" r="6481" b="0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8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4A6C8C">
                  <a:alpha val="40000"/>
                </a:srgbClr>
              </a:gs>
            </a:gsLst>
            <a:lin ang="2700000"/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Shape 1"/>
          <p:cNvSpPr/>
          <p:nvPr/>
        </p:nvSpPr>
        <p:spPr>
          <a:xfrm>
            <a:off x="381000" y="685759"/>
            <a:ext cx="76200" cy="609601"/>
          </a:xfrm>
          <a:prstGeom prst="rect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" name="Text 2"/>
          <p:cNvSpPr txBox="1"/>
          <p:nvPr/>
        </p:nvSpPr>
        <p:spPr>
          <a:xfrm>
            <a:off x="571431" y="755662"/>
            <a:ext cx="196215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pc="68" sz="1300">
                <a:solidFill>
                  <a:srgbClr val="7D8A96"/>
                </a:solidFill>
                <a:latin typeface="Liter"/>
                <a:ea typeface="Liter"/>
                <a:cs typeface="Liter"/>
                <a:sym typeface="Liter"/>
              </a:defRPr>
            </a:lvl1pPr>
          </a:lstStyle>
          <a:p>
            <a:pPr/>
            <a:r>
              <a:t>MEDICAL AI PROJECT</a:t>
            </a:r>
          </a:p>
        </p:txBody>
      </p:sp>
      <p:sp>
        <p:nvSpPr>
          <p:cNvPr id="31" name="Text 3"/>
          <p:cNvSpPr txBox="1"/>
          <p:nvPr/>
        </p:nvSpPr>
        <p:spPr>
          <a:xfrm>
            <a:off x="571431" y="1034955"/>
            <a:ext cx="195262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2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阿里天池竞赛 · 2025</a:t>
            </a:r>
          </a:p>
        </p:txBody>
      </p:sp>
      <p:sp>
        <p:nvSpPr>
          <p:cNvPr id="32" name="Text 4"/>
          <p:cNvSpPr txBox="1"/>
          <p:nvPr/>
        </p:nvSpPr>
        <p:spPr>
          <a:xfrm>
            <a:off x="381000" y="2104971"/>
            <a:ext cx="11772900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54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面向中文病历代谢疾病用药推荐</a:t>
            </a:r>
          </a:p>
        </p:txBody>
      </p:sp>
      <p:sp>
        <p:nvSpPr>
          <p:cNvPr id="33" name="Shape 5"/>
          <p:cNvSpPr/>
          <p:nvPr/>
        </p:nvSpPr>
        <p:spPr>
          <a:xfrm>
            <a:off x="381000" y="4171855"/>
            <a:ext cx="1524000" cy="57151"/>
          </a:xfrm>
          <a:prstGeom prst="rect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Text 6"/>
          <p:cNvSpPr txBox="1"/>
          <p:nvPr/>
        </p:nvSpPr>
        <p:spPr>
          <a:xfrm>
            <a:off x="381000" y="4619476"/>
            <a:ext cx="7458075" cy="91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sz="22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基于GLM-4-9B的智能医疗决策系统</a:t>
            </a:r>
            <a:endParaRPr sz="1600"/>
          </a:p>
          <a:p>
            <a:pPr>
              <a:lnSpc>
                <a:spcPct val="140000"/>
              </a:lnSpc>
              <a:defRPr sz="22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4-bit LoRA · RAG知识增强 · CoT蒸馏 · 多层安全防护</a:t>
            </a:r>
          </a:p>
        </p:txBody>
      </p:sp>
      <p:sp>
        <p:nvSpPr>
          <p:cNvPr id="35" name="Shape 7"/>
          <p:cNvSpPr/>
          <p:nvPr/>
        </p:nvSpPr>
        <p:spPr>
          <a:xfrm>
            <a:off x="398318" y="5538639"/>
            <a:ext cx="3636818" cy="1028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6" y="0"/>
                </a:moveTo>
                <a:lnTo>
                  <a:pt x="21147" y="0"/>
                </a:lnTo>
                <a:cubicBezTo>
                  <a:pt x="21397" y="0"/>
                  <a:pt x="21600" y="716"/>
                  <a:pt x="21600" y="1600"/>
                </a:cubicBezTo>
                <a:lnTo>
                  <a:pt x="21600" y="20000"/>
                </a:lnTo>
                <a:cubicBezTo>
                  <a:pt x="21600" y="20884"/>
                  <a:pt x="21397" y="21600"/>
                  <a:pt x="21147" y="21600"/>
                </a:cubicBezTo>
                <a:lnTo>
                  <a:pt x="206" y="21600"/>
                </a:lnTo>
                <a:cubicBezTo>
                  <a:pt x="92" y="21600"/>
                  <a:pt x="0" y="21274"/>
                  <a:pt x="0" y="20873"/>
                </a:cubicBezTo>
                <a:lnTo>
                  <a:pt x="0" y="727"/>
                </a:lnTo>
                <a:cubicBezTo>
                  <a:pt x="0" y="326"/>
                  <a:pt x="92" y="0"/>
                  <a:pt x="206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Shape 8"/>
          <p:cNvSpPr/>
          <p:nvPr/>
        </p:nvSpPr>
        <p:spPr>
          <a:xfrm>
            <a:off x="398318" y="5538639"/>
            <a:ext cx="34637" cy="1028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274"/>
                  <a:pt x="0" y="20873"/>
                </a:cubicBezTo>
                <a:lnTo>
                  <a:pt x="0" y="727"/>
                </a:lnTo>
                <a:cubicBezTo>
                  <a:pt x="0" y="326"/>
                  <a:pt x="9671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Text 9"/>
          <p:cNvSpPr txBox="1"/>
          <p:nvPr/>
        </p:nvSpPr>
        <p:spPr>
          <a:xfrm>
            <a:off x="606136" y="5735489"/>
            <a:ext cx="33147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2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竞赛成绩</a:t>
            </a:r>
          </a:p>
        </p:txBody>
      </p:sp>
      <p:sp>
        <p:nvSpPr>
          <p:cNvPr id="38" name="Text 10"/>
          <p:cNvSpPr txBox="1"/>
          <p:nvPr/>
        </p:nvSpPr>
        <p:spPr>
          <a:xfrm>
            <a:off x="606136" y="6014847"/>
            <a:ext cx="338137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25名/500+</a:t>
            </a:r>
          </a:p>
        </p:txBody>
      </p:sp>
      <p:sp>
        <p:nvSpPr>
          <p:cNvPr id="39" name="Shape 11"/>
          <p:cNvSpPr/>
          <p:nvPr/>
        </p:nvSpPr>
        <p:spPr>
          <a:xfrm>
            <a:off x="4284491" y="5538639"/>
            <a:ext cx="3636819" cy="1028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6" y="0"/>
                </a:moveTo>
                <a:lnTo>
                  <a:pt x="21147" y="0"/>
                </a:lnTo>
                <a:cubicBezTo>
                  <a:pt x="21397" y="0"/>
                  <a:pt x="21600" y="716"/>
                  <a:pt x="21600" y="1600"/>
                </a:cubicBezTo>
                <a:lnTo>
                  <a:pt x="21600" y="20000"/>
                </a:lnTo>
                <a:cubicBezTo>
                  <a:pt x="21600" y="20884"/>
                  <a:pt x="21397" y="21600"/>
                  <a:pt x="21147" y="21600"/>
                </a:cubicBezTo>
                <a:lnTo>
                  <a:pt x="206" y="21600"/>
                </a:lnTo>
                <a:cubicBezTo>
                  <a:pt x="92" y="21600"/>
                  <a:pt x="0" y="21274"/>
                  <a:pt x="0" y="20873"/>
                </a:cubicBezTo>
                <a:lnTo>
                  <a:pt x="0" y="727"/>
                </a:lnTo>
                <a:cubicBezTo>
                  <a:pt x="0" y="326"/>
                  <a:pt x="92" y="0"/>
                  <a:pt x="206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Shape 12"/>
          <p:cNvSpPr/>
          <p:nvPr/>
        </p:nvSpPr>
        <p:spPr>
          <a:xfrm>
            <a:off x="4284491" y="5538639"/>
            <a:ext cx="34637" cy="1028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274"/>
                  <a:pt x="0" y="20873"/>
                </a:cubicBezTo>
                <a:lnTo>
                  <a:pt x="0" y="727"/>
                </a:lnTo>
                <a:cubicBezTo>
                  <a:pt x="0" y="326"/>
                  <a:pt x="9671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" name="Text 13"/>
          <p:cNvSpPr txBox="1"/>
          <p:nvPr/>
        </p:nvSpPr>
        <p:spPr>
          <a:xfrm>
            <a:off x="4492309" y="5735489"/>
            <a:ext cx="33147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2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学术成果</a:t>
            </a:r>
          </a:p>
        </p:txBody>
      </p:sp>
      <p:sp>
        <p:nvSpPr>
          <p:cNvPr id="42" name="Text 14"/>
          <p:cNvSpPr txBox="1"/>
          <p:nvPr/>
        </p:nvSpPr>
        <p:spPr>
          <a:xfrm>
            <a:off x="4492309" y="6014847"/>
            <a:ext cx="338137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EI会议，Github开源</a:t>
            </a:r>
          </a:p>
        </p:txBody>
      </p:sp>
      <p:sp>
        <p:nvSpPr>
          <p:cNvPr id="43" name="Shape 15"/>
          <p:cNvSpPr/>
          <p:nvPr/>
        </p:nvSpPr>
        <p:spPr>
          <a:xfrm>
            <a:off x="8170664" y="5538639"/>
            <a:ext cx="3636818" cy="1028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6" y="0"/>
                </a:moveTo>
                <a:lnTo>
                  <a:pt x="21147" y="0"/>
                </a:lnTo>
                <a:cubicBezTo>
                  <a:pt x="21397" y="0"/>
                  <a:pt x="21600" y="716"/>
                  <a:pt x="21600" y="1600"/>
                </a:cubicBezTo>
                <a:lnTo>
                  <a:pt x="21600" y="20000"/>
                </a:lnTo>
                <a:cubicBezTo>
                  <a:pt x="21600" y="20884"/>
                  <a:pt x="21397" y="21600"/>
                  <a:pt x="21147" y="21600"/>
                </a:cubicBezTo>
                <a:lnTo>
                  <a:pt x="206" y="21600"/>
                </a:lnTo>
                <a:cubicBezTo>
                  <a:pt x="92" y="21600"/>
                  <a:pt x="0" y="21274"/>
                  <a:pt x="0" y="20873"/>
                </a:cubicBezTo>
                <a:lnTo>
                  <a:pt x="0" y="727"/>
                </a:lnTo>
                <a:cubicBezTo>
                  <a:pt x="0" y="326"/>
                  <a:pt x="92" y="0"/>
                  <a:pt x="206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" name="Shape 16"/>
          <p:cNvSpPr/>
          <p:nvPr/>
        </p:nvSpPr>
        <p:spPr>
          <a:xfrm>
            <a:off x="8170664" y="5538639"/>
            <a:ext cx="34637" cy="1028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274"/>
                  <a:pt x="0" y="20873"/>
                </a:cubicBezTo>
                <a:lnTo>
                  <a:pt x="0" y="727"/>
                </a:lnTo>
                <a:cubicBezTo>
                  <a:pt x="0" y="326"/>
                  <a:pt x="9671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" name="Text 17"/>
          <p:cNvSpPr txBox="1"/>
          <p:nvPr/>
        </p:nvSpPr>
        <p:spPr>
          <a:xfrm>
            <a:off x="8378482" y="5735489"/>
            <a:ext cx="33147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2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团队</a:t>
            </a:r>
          </a:p>
        </p:txBody>
      </p:sp>
      <p:sp>
        <p:nvSpPr>
          <p:cNvPr id="46" name="Text 18"/>
          <p:cNvSpPr txBox="1"/>
          <p:nvPr/>
        </p:nvSpPr>
        <p:spPr>
          <a:xfrm>
            <a:off x="8378482" y="6014847"/>
            <a:ext cx="3470960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NLP实验室-刘俊言、吴小龙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0"/>
          <p:cNvSpPr txBox="1"/>
          <p:nvPr/>
        </p:nvSpPr>
        <p:spPr>
          <a:xfrm>
            <a:off x="357274" y="381907"/>
            <a:ext cx="1154890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pc="56" sz="1100">
                <a:solidFill>
                  <a:srgbClr val="5E8B7E"/>
                </a:solidFill>
                <a:latin typeface="Liter"/>
                <a:ea typeface="Liter"/>
                <a:cs typeface="Liter"/>
                <a:sym typeface="Liter"/>
              </a:defRPr>
            </a:lvl1pPr>
          </a:lstStyle>
          <a:p>
            <a:pPr/>
            <a:r>
              <a:t>CONTENTS</a:t>
            </a:r>
          </a:p>
        </p:txBody>
      </p:sp>
      <p:sp>
        <p:nvSpPr>
          <p:cNvPr id="49" name="Text 1"/>
          <p:cNvSpPr txBox="1"/>
          <p:nvPr/>
        </p:nvSpPr>
        <p:spPr>
          <a:xfrm>
            <a:off x="357274" y="565320"/>
            <a:ext cx="11691816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80000"/>
              </a:lnSpc>
              <a:defRPr b="1" sz="33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目录</a:t>
            </a:r>
          </a:p>
        </p:txBody>
      </p:sp>
      <p:sp>
        <p:nvSpPr>
          <p:cNvPr id="50" name="Shape 2"/>
          <p:cNvSpPr/>
          <p:nvPr/>
        </p:nvSpPr>
        <p:spPr>
          <a:xfrm>
            <a:off x="357274" y="1214620"/>
            <a:ext cx="857460" cy="35728"/>
          </a:xfrm>
          <a:prstGeom prst="rect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Shape 3"/>
          <p:cNvSpPr/>
          <p:nvPr/>
        </p:nvSpPr>
        <p:spPr>
          <a:xfrm>
            <a:off x="373513" y="1464686"/>
            <a:ext cx="5634387" cy="11254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5" y="0"/>
                </a:moveTo>
                <a:lnTo>
                  <a:pt x="21189" y="0"/>
                </a:lnTo>
                <a:cubicBezTo>
                  <a:pt x="21416" y="0"/>
                  <a:pt x="21600" y="921"/>
                  <a:pt x="21600" y="2057"/>
                </a:cubicBezTo>
                <a:lnTo>
                  <a:pt x="21600" y="19543"/>
                </a:lnTo>
                <a:cubicBezTo>
                  <a:pt x="21600" y="20679"/>
                  <a:pt x="21416" y="21600"/>
                  <a:pt x="21189" y="21600"/>
                </a:cubicBezTo>
                <a:lnTo>
                  <a:pt x="125" y="21600"/>
                </a:lnTo>
                <a:cubicBezTo>
                  <a:pt x="56" y="21600"/>
                  <a:pt x="0" y="21321"/>
                  <a:pt x="0" y="20977"/>
                </a:cubicBezTo>
                <a:lnTo>
                  <a:pt x="0" y="623"/>
                </a:lnTo>
                <a:cubicBezTo>
                  <a:pt x="0" y="279"/>
                  <a:pt x="56" y="0"/>
                  <a:pt x="125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" name="Shape 4"/>
          <p:cNvSpPr/>
          <p:nvPr/>
        </p:nvSpPr>
        <p:spPr>
          <a:xfrm>
            <a:off x="373513" y="1464686"/>
            <a:ext cx="32480" cy="11254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9" y="21600"/>
                  <a:pt x="0" y="21321"/>
                  <a:pt x="0" y="20977"/>
                </a:cubicBezTo>
                <a:lnTo>
                  <a:pt x="0" y="623"/>
                </a:lnTo>
                <a:cubicBezTo>
                  <a:pt x="0" y="279"/>
                  <a:pt x="9671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Shape 5"/>
          <p:cNvSpPr/>
          <p:nvPr/>
        </p:nvSpPr>
        <p:spPr>
          <a:xfrm>
            <a:off x="568392" y="1643323"/>
            <a:ext cx="428730" cy="428731"/>
          </a:xfrm>
          <a:prstGeom prst="ellipse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Text 6"/>
          <p:cNvSpPr txBox="1"/>
          <p:nvPr/>
        </p:nvSpPr>
        <p:spPr>
          <a:xfrm>
            <a:off x="523731" y="1749738"/>
            <a:ext cx="51804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b="1" sz="1400">
                <a:solidFill>
                  <a:srgbClr val="1A1D21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55" name="Text 7"/>
          <p:cNvSpPr txBox="1"/>
          <p:nvPr/>
        </p:nvSpPr>
        <p:spPr>
          <a:xfrm>
            <a:off x="1139955" y="1717963"/>
            <a:ext cx="1607737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z="16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项目概述与背景</a:t>
            </a:r>
          </a:p>
        </p:txBody>
      </p:sp>
      <p:sp>
        <p:nvSpPr>
          <p:cNvPr id="56" name="Text 8"/>
          <p:cNvSpPr txBox="1"/>
          <p:nvPr/>
        </p:nvSpPr>
        <p:spPr>
          <a:xfrm>
            <a:off x="1140017" y="2193687"/>
            <a:ext cx="476068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11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项目背景、核心挑战、技术创新亮点与竞赛成果展示</a:t>
            </a:r>
          </a:p>
        </p:txBody>
      </p:sp>
      <p:sp>
        <p:nvSpPr>
          <p:cNvPr id="57" name="Shape 9"/>
          <p:cNvSpPr/>
          <p:nvPr/>
        </p:nvSpPr>
        <p:spPr>
          <a:xfrm>
            <a:off x="6203017" y="1464686"/>
            <a:ext cx="5634386" cy="11254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5" y="0"/>
                </a:moveTo>
                <a:lnTo>
                  <a:pt x="21189" y="0"/>
                </a:lnTo>
                <a:cubicBezTo>
                  <a:pt x="21416" y="0"/>
                  <a:pt x="21600" y="921"/>
                  <a:pt x="21600" y="2057"/>
                </a:cubicBezTo>
                <a:lnTo>
                  <a:pt x="21600" y="19543"/>
                </a:lnTo>
                <a:cubicBezTo>
                  <a:pt x="21600" y="20679"/>
                  <a:pt x="21416" y="21600"/>
                  <a:pt x="21189" y="21600"/>
                </a:cubicBezTo>
                <a:lnTo>
                  <a:pt x="125" y="21600"/>
                </a:lnTo>
                <a:cubicBezTo>
                  <a:pt x="56" y="21600"/>
                  <a:pt x="0" y="21321"/>
                  <a:pt x="0" y="20977"/>
                </a:cubicBezTo>
                <a:lnTo>
                  <a:pt x="0" y="623"/>
                </a:lnTo>
                <a:cubicBezTo>
                  <a:pt x="0" y="279"/>
                  <a:pt x="56" y="0"/>
                  <a:pt x="125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" name="Shape 10"/>
          <p:cNvSpPr/>
          <p:nvPr/>
        </p:nvSpPr>
        <p:spPr>
          <a:xfrm>
            <a:off x="6203017" y="1464686"/>
            <a:ext cx="32480" cy="11254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9" y="21600"/>
                  <a:pt x="0" y="21321"/>
                  <a:pt x="0" y="20977"/>
                </a:cubicBezTo>
                <a:lnTo>
                  <a:pt x="0" y="623"/>
                </a:lnTo>
                <a:cubicBezTo>
                  <a:pt x="0" y="279"/>
                  <a:pt x="9671" y="0"/>
                  <a:pt x="21600" y="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Shape 11"/>
          <p:cNvSpPr/>
          <p:nvPr/>
        </p:nvSpPr>
        <p:spPr>
          <a:xfrm>
            <a:off x="6397893" y="1643323"/>
            <a:ext cx="428731" cy="428731"/>
          </a:xfrm>
          <a:prstGeom prst="ellipse">
            <a:avLst/>
          </a:pr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0" name="Text 12"/>
          <p:cNvSpPr txBox="1"/>
          <p:nvPr/>
        </p:nvSpPr>
        <p:spPr>
          <a:xfrm>
            <a:off x="6353235" y="1749738"/>
            <a:ext cx="51804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b="1" sz="14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61" name="Text 13"/>
          <p:cNvSpPr txBox="1"/>
          <p:nvPr/>
        </p:nvSpPr>
        <p:spPr>
          <a:xfrm>
            <a:off x="6969458" y="1717963"/>
            <a:ext cx="1393372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z="16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系统架构总览</a:t>
            </a:r>
          </a:p>
        </p:txBody>
      </p:sp>
      <p:sp>
        <p:nvSpPr>
          <p:cNvPr id="62" name="Text 14"/>
          <p:cNvSpPr txBox="1"/>
          <p:nvPr/>
        </p:nvSpPr>
        <p:spPr>
          <a:xfrm>
            <a:off x="6969521" y="2193687"/>
            <a:ext cx="4760687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11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完整系统架构图、数据层设计与五大核心模块介绍</a:t>
            </a:r>
          </a:p>
        </p:txBody>
      </p:sp>
      <p:sp>
        <p:nvSpPr>
          <p:cNvPr id="63" name="Shape 15"/>
          <p:cNvSpPr/>
          <p:nvPr/>
        </p:nvSpPr>
        <p:spPr>
          <a:xfrm>
            <a:off x="373513" y="2768751"/>
            <a:ext cx="5634387" cy="11254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5" y="0"/>
                </a:moveTo>
                <a:lnTo>
                  <a:pt x="21189" y="0"/>
                </a:lnTo>
                <a:cubicBezTo>
                  <a:pt x="21416" y="0"/>
                  <a:pt x="21600" y="921"/>
                  <a:pt x="21600" y="2057"/>
                </a:cubicBezTo>
                <a:lnTo>
                  <a:pt x="21600" y="19543"/>
                </a:lnTo>
                <a:cubicBezTo>
                  <a:pt x="21600" y="20679"/>
                  <a:pt x="21416" y="21600"/>
                  <a:pt x="21189" y="21600"/>
                </a:cubicBezTo>
                <a:lnTo>
                  <a:pt x="125" y="21600"/>
                </a:lnTo>
                <a:cubicBezTo>
                  <a:pt x="56" y="21600"/>
                  <a:pt x="0" y="21321"/>
                  <a:pt x="0" y="20977"/>
                </a:cubicBezTo>
                <a:lnTo>
                  <a:pt x="0" y="623"/>
                </a:lnTo>
                <a:cubicBezTo>
                  <a:pt x="0" y="279"/>
                  <a:pt x="56" y="0"/>
                  <a:pt x="125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Shape 16"/>
          <p:cNvSpPr/>
          <p:nvPr/>
        </p:nvSpPr>
        <p:spPr>
          <a:xfrm>
            <a:off x="373513" y="2768751"/>
            <a:ext cx="32480" cy="11254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9" y="21600"/>
                  <a:pt x="0" y="21321"/>
                  <a:pt x="0" y="20977"/>
                </a:cubicBezTo>
                <a:lnTo>
                  <a:pt x="0" y="623"/>
                </a:lnTo>
                <a:cubicBezTo>
                  <a:pt x="0" y="279"/>
                  <a:pt x="9671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Shape 17"/>
          <p:cNvSpPr/>
          <p:nvPr/>
        </p:nvSpPr>
        <p:spPr>
          <a:xfrm>
            <a:off x="568392" y="2947389"/>
            <a:ext cx="428730" cy="428731"/>
          </a:xfrm>
          <a:prstGeom prst="ellipse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Text 18"/>
          <p:cNvSpPr txBox="1"/>
          <p:nvPr/>
        </p:nvSpPr>
        <p:spPr>
          <a:xfrm>
            <a:off x="523731" y="3053803"/>
            <a:ext cx="51804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b="1" sz="1400">
                <a:solidFill>
                  <a:srgbClr val="1A1D21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67" name="Text 19"/>
          <p:cNvSpPr txBox="1"/>
          <p:nvPr/>
        </p:nvSpPr>
        <p:spPr>
          <a:xfrm>
            <a:off x="1139955" y="3022029"/>
            <a:ext cx="1607737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z="16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数据预处理模块</a:t>
            </a:r>
          </a:p>
        </p:txBody>
      </p:sp>
      <p:sp>
        <p:nvSpPr>
          <p:cNvPr id="68" name="Text 20"/>
          <p:cNvSpPr txBox="1"/>
          <p:nvPr/>
        </p:nvSpPr>
        <p:spPr>
          <a:xfrm>
            <a:off x="1140017" y="3497752"/>
            <a:ext cx="476068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11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文本清洗、结构化提取、医学实体识别与数据格式化流程</a:t>
            </a:r>
          </a:p>
        </p:txBody>
      </p:sp>
      <p:sp>
        <p:nvSpPr>
          <p:cNvPr id="69" name="Shape 21"/>
          <p:cNvSpPr/>
          <p:nvPr/>
        </p:nvSpPr>
        <p:spPr>
          <a:xfrm>
            <a:off x="6203017" y="2768751"/>
            <a:ext cx="5634386" cy="11254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5" y="0"/>
                </a:moveTo>
                <a:lnTo>
                  <a:pt x="21189" y="0"/>
                </a:lnTo>
                <a:cubicBezTo>
                  <a:pt x="21416" y="0"/>
                  <a:pt x="21600" y="921"/>
                  <a:pt x="21600" y="2057"/>
                </a:cubicBezTo>
                <a:lnTo>
                  <a:pt x="21600" y="19543"/>
                </a:lnTo>
                <a:cubicBezTo>
                  <a:pt x="21600" y="20679"/>
                  <a:pt x="21416" y="21600"/>
                  <a:pt x="21189" y="21600"/>
                </a:cubicBezTo>
                <a:lnTo>
                  <a:pt x="125" y="21600"/>
                </a:lnTo>
                <a:cubicBezTo>
                  <a:pt x="56" y="21600"/>
                  <a:pt x="0" y="21321"/>
                  <a:pt x="0" y="20977"/>
                </a:cubicBezTo>
                <a:lnTo>
                  <a:pt x="0" y="623"/>
                </a:lnTo>
                <a:cubicBezTo>
                  <a:pt x="0" y="279"/>
                  <a:pt x="56" y="0"/>
                  <a:pt x="125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0" name="Shape 22"/>
          <p:cNvSpPr/>
          <p:nvPr/>
        </p:nvSpPr>
        <p:spPr>
          <a:xfrm>
            <a:off x="6203017" y="2768751"/>
            <a:ext cx="32480" cy="11254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9" y="21600"/>
                  <a:pt x="0" y="21321"/>
                  <a:pt x="0" y="20977"/>
                </a:cubicBezTo>
                <a:lnTo>
                  <a:pt x="0" y="623"/>
                </a:lnTo>
                <a:cubicBezTo>
                  <a:pt x="0" y="279"/>
                  <a:pt x="9671" y="0"/>
                  <a:pt x="21600" y="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Shape 23"/>
          <p:cNvSpPr/>
          <p:nvPr/>
        </p:nvSpPr>
        <p:spPr>
          <a:xfrm>
            <a:off x="6397893" y="2947389"/>
            <a:ext cx="428731" cy="428731"/>
          </a:xfrm>
          <a:prstGeom prst="ellipse">
            <a:avLst/>
          </a:pr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2" name="Text 24"/>
          <p:cNvSpPr txBox="1"/>
          <p:nvPr/>
        </p:nvSpPr>
        <p:spPr>
          <a:xfrm>
            <a:off x="6353235" y="3053803"/>
            <a:ext cx="51804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b="1" sz="14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73" name="Text 25"/>
          <p:cNvSpPr txBox="1"/>
          <p:nvPr/>
        </p:nvSpPr>
        <p:spPr>
          <a:xfrm>
            <a:off x="6969458" y="3022029"/>
            <a:ext cx="1831034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z="16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RAG知识检索系统</a:t>
            </a:r>
          </a:p>
        </p:txBody>
      </p:sp>
      <p:sp>
        <p:nvSpPr>
          <p:cNvPr id="74" name="Text 26"/>
          <p:cNvSpPr txBox="1"/>
          <p:nvPr/>
        </p:nvSpPr>
        <p:spPr>
          <a:xfrm>
            <a:off x="6969521" y="3497752"/>
            <a:ext cx="4760687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11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知识图谱构建、向量索引、图-向量混合检索与结果融合</a:t>
            </a:r>
          </a:p>
        </p:txBody>
      </p:sp>
      <p:sp>
        <p:nvSpPr>
          <p:cNvPr id="75" name="Shape 27"/>
          <p:cNvSpPr/>
          <p:nvPr/>
        </p:nvSpPr>
        <p:spPr>
          <a:xfrm>
            <a:off x="373513" y="4072816"/>
            <a:ext cx="5634387" cy="11254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5" y="0"/>
                </a:moveTo>
                <a:lnTo>
                  <a:pt x="21189" y="0"/>
                </a:lnTo>
                <a:cubicBezTo>
                  <a:pt x="21416" y="0"/>
                  <a:pt x="21600" y="921"/>
                  <a:pt x="21600" y="2057"/>
                </a:cubicBezTo>
                <a:lnTo>
                  <a:pt x="21600" y="19543"/>
                </a:lnTo>
                <a:cubicBezTo>
                  <a:pt x="21600" y="20679"/>
                  <a:pt x="21416" y="21600"/>
                  <a:pt x="21189" y="21600"/>
                </a:cubicBezTo>
                <a:lnTo>
                  <a:pt x="125" y="21600"/>
                </a:lnTo>
                <a:cubicBezTo>
                  <a:pt x="56" y="21600"/>
                  <a:pt x="0" y="21321"/>
                  <a:pt x="0" y="20977"/>
                </a:cubicBezTo>
                <a:lnTo>
                  <a:pt x="0" y="623"/>
                </a:lnTo>
                <a:cubicBezTo>
                  <a:pt x="0" y="279"/>
                  <a:pt x="56" y="0"/>
                  <a:pt x="125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Shape 28"/>
          <p:cNvSpPr/>
          <p:nvPr/>
        </p:nvSpPr>
        <p:spPr>
          <a:xfrm>
            <a:off x="373513" y="4072816"/>
            <a:ext cx="32480" cy="11254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9" y="21600"/>
                  <a:pt x="0" y="21321"/>
                  <a:pt x="0" y="20977"/>
                </a:cubicBezTo>
                <a:lnTo>
                  <a:pt x="0" y="623"/>
                </a:lnTo>
                <a:cubicBezTo>
                  <a:pt x="0" y="279"/>
                  <a:pt x="9671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Shape 29"/>
          <p:cNvSpPr/>
          <p:nvPr/>
        </p:nvSpPr>
        <p:spPr>
          <a:xfrm>
            <a:off x="568392" y="4251454"/>
            <a:ext cx="428730" cy="428731"/>
          </a:xfrm>
          <a:prstGeom prst="ellipse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8" name="Text 30"/>
          <p:cNvSpPr txBox="1"/>
          <p:nvPr/>
        </p:nvSpPr>
        <p:spPr>
          <a:xfrm>
            <a:off x="523731" y="4357869"/>
            <a:ext cx="51804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b="1" sz="1400">
                <a:solidFill>
                  <a:srgbClr val="1A1D21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79" name="Text 31"/>
          <p:cNvSpPr txBox="1"/>
          <p:nvPr/>
        </p:nvSpPr>
        <p:spPr>
          <a:xfrm>
            <a:off x="1139955" y="4326094"/>
            <a:ext cx="1589874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z="16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4-bit LoRA微调</a:t>
            </a:r>
          </a:p>
        </p:txBody>
      </p:sp>
      <p:sp>
        <p:nvSpPr>
          <p:cNvPr id="80" name="Text 32"/>
          <p:cNvSpPr txBox="1"/>
          <p:nvPr/>
        </p:nvSpPr>
        <p:spPr>
          <a:xfrm>
            <a:off x="1140017" y="4801818"/>
            <a:ext cx="476068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11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高效微调架构、技术细节、训练配置与SFT数据格式</a:t>
            </a:r>
          </a:p>
        </p:txBody>
      </p:sp>
      <p:sp>
        <p:nvSpPr>
          <p:cNvPr id="81" name="Shape 33"/>
          <p:cNvSpPr/>
          <p:nvPr/>
        </p:nvSpPr>
        <p:spPr>
          <a:xfrm>
            <a:off x="6203017" y="4072816"/>
            <a:ext cx="5634386" cy="11254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5" y="0"/>
                </a:moveTo>
                <a:lnTo>
                  <a:pt x="21189" y="0"/>
                </a:lnTo>
                <a:cubicBezTo>
                  <a:pt x="21416" y="0"/>
                  <a:pt x="21600" y="921"/>
                  <a:pt x="21600" y="2057"/>
                </a:cubicBezTo>
                <a:lnTo>
                  <a:pt x="21600" y="19543"/>
                </a:lnTo>
                <a:cubicBezTo>
                  <a:pt x="21600" y="20679"/>
                  <a:pt x="21416" y="21600"/>
                  <a:pt x="21189" y="21600"/>
                </a:cubicBezTo>
                <a:lnTo>
                  <a:pt x="125" y="21600"/>
                </a:lnTo>
                <a:cubicBezTo>
                  <a:pt x="56" y="21600"/>
                  <a:pt x="0" y="21321"/>
                  <a:pt x="0" y="20977"/>
                </a:cubicBezTo>
                <a:lnTo>
                  <a:pt x="0" y="623"/>
                </a:lnTo>
                <a:cubicBezTo>
                  <a:pt x="0" y="279"/>
                  <a:pt x="56" y="0"/>
                  <a:pt x="125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Shape 34"/>
          <p:cNvSpPr/>
          <p:nvPr/>
        </p:nvSpPr>
        <p:spPr>
          <a:xfrm>
            <a:off x="6203017" y="4072816"/>
            <a:ext cx="32480" cy="11254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9" y="21600"/>
                  <a:pt x="0" y="21321"/>
                  <a:pt x="0" y="20977"/>
                </a:cubicBezTo>
                <a:lnTo>
                  <a:pt x="0" y="623"/>
                </a:lnTo>
                <a:cubicBezTo>
                  <a:pt x="0" y="279"/>
                  <a:pt x="9671" y="0"/>
                  <a:pt x="21600" y="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Shape 35"/>
          <p:cNvSpPr/>
          <p:nvPr/>
        </p:nvSpPr>
        <p:spPr>
          <a:xfrm>
            <a:off x="6397893" y="4251454"/>
            <a:ext cx="428731" cy="428731"/>
          </a:xfrm>
          <a:prstGeom prst="ellipse">
            <a:avLst/>
          </a:pr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Text 36"/>
          <p:cNvSpPr txBox="1"/>
          <p:nvPr/>
        </p:nvSpPr>
        <p:spPr>
          <a:xfrm>
            <a:off x="6353235" y="4357869"/>
            <a:ext cx="51804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b="1" sz="14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85" name="Text 37"/>
          <p:cNvSpPr txBox="1"/>
          <p:nvPr/>
        </p:nvSpPr>
        <p:spPr>
          <a:xfrm>
            <a:off x="6969458" y="4326094"/>
            <a:ext cx="2036467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z="16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CoT蒸馏与DPO优化</a:t>
            </a:r>
          </a:p>
        </p:txBody>
      </p:sp>
      <p:sp>
        <p:nvSpPr>
          <p:cNvPr id="86" name="Text 38"/>
          <p:cNvSpPr txBox="1"/>
          <p:nvPr/>
        </p:nvSpPr>
        <p:spPr>
          <a:xfrm>
            <a:off x="6969521" y="4801818"/>
            <a:ext cx="4760687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11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DeepSeek-R1知识蒸馏、四阶段CoT推理与DPO偏好优化</a:t>
            </a:r>
          </a:p>
        </p:txBody>
      </p:sp>
      <p:sp>
        <p:nvSpPr>
          <p:cNvPr id="87" name="Shape 39"/>
          <p:cNvSpPr/>
          <p:nvPr/>
        </p:nvSpPr>
        <p:spPr>
          <a:xfrm>
            <a:off x="373513" y="5376883"/>
            <a:ext cx="5634387" cy="11254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5" y="0"/>
                </a:moveTo>
                <a:lnTo>
                  <a:pt x="21189" y="0"/>
                </a:lnTo>
                <a:cubicBezTo>
                  <a:pt x="21416" y="0"/>
                  <a:pt x="21600" y="921"/>
                  <a:pt x="21600" y="2057"/>
                </a:cubicBezTo>
                <a:lnTo>
                  <a:pt x="21600" y="19543"/>
                </a:lnTo>
                <a:cubicBezTo>
                  <a:pt x="21600" y="20679"/>
                  <a:pt x="21416" y="21600"/>
                  <a:pt x="21189" y="21600"/>
                </a:cubicBezTo>
                <a:lnTo>
                  <a:pt x="125" y="21600"/>
                </a:lnTo>
                <a:cubicBezTo>
                  <a:pt x="56" y="21600"/>
                  <a:pt x="0" y="21321"/>
                  <a:pt x="0" y="20977"/>
                </a:cubicBezTo>
                <a:lnTo>
                  <a:pt x="0" y="623"/>
                </a:lnTo>
                <a:cubicBezTo>
                  <a:pt x="0" y="279"/>
                  <a:pt x="56" y="0"/>
                  <a:pt x="125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Shape 40"/>
          <p:cNvSpPr/>
          <p:nvPr/>
        </p:nvSpPr>
        <p:spPr>
          <a:xfrm>
            <a:off x="373513" y="5376883"/>
            <a:ext cx="32480" cy="11254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9" y="21600"/>
                  <a:pt x="0" y="21321"/>
                  <a:pt x="0" y="20977"/>
                </a:cubicBezTo>
                <a:lnTo>
                  <a:pt x="0" y="623"/>
                </a:lnTo>
                <a:cubicBezTo>
                  <a:pt x="0" y="279"/>
                  <a:pt x="9671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Shape 41"/>
          <p:cNvSpPr/>
          <p:nvPr/>
        </p:nvSpPr>
        <p:spPr>
          <a:xfrm>
            <a:off x="568392" y="5555584"/>
            <a:ext cx="428730" cy="428731"/>
          </a:xfrm>
          <a:prstGeom prst="ellipse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0" name="Text 42"/>
          <p:cNvSpPr txBox="1"/>
          <p:nvPr/>
        </p:nvSpPr>
        <p:spPr>
          <a:xfrm>
            <a:off x="523731" y="5661998"/>
            <a:ext cx="51804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b="1" sz="1400">
                <a:solidFill>
                  <a:srgbClr val="1A1D21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91" name="Text 43"/>
          <p:cNvSpPr txBox="1"/>
          <p:nvPr/>
        </p:nvSpPr>
        <p:spPr>
          <a:xfrm>
            <a:off x="1139955" y="5630223"/>
            <a:ext cx="1393372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z="16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安全防护机制</a:t>
            </a:r>
          </a:p>
        </p:txBody>
      </p:sp>
      <p:sp>
        <p:nvSpPr>
          <p:cNvPr id="92" name="Text 44"/>
          <p:cNvSpPr txBox="1"/>
          <p:nvPr/>
        </p:nvSpPr>
        <p:spPr>
          <a:xfrm>
            <a:off x="1140017" y="6105947"/>
            <a:ext cx="476068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11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置信度过滤、规则引擎硬约束与DDI药物相互作用检测</a:t>
            </a:r>
          </a:p>
        </p:txBody>
      </p:sp>
      <p:sp>
        <p:nvSpPr>
          <p:cNvPr id="93" name="Shape 45"/>
          <p:cNvSpPr/>
          <p:nvPr/>
        </p:nvSpPr>
        <p:spPr>
          <a:xfrm>
            <a:off x="6203017" y="5376883"/>
            <a:ext cx="5634386" cy="11254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5" y="0"/>
                </a:moveTo>
                <a:lnTo>
                  <a:pt x="21189" y="0"/>
                </a:lnTo>
                <a:cubicBezTo>
                  <a:pt x="21416" y="0"/>
                  <a:pt x="21600" y="921"/>
                  <a:pt x="21600" y="2057"/>
                </a:cubicBezTo>
                <a:lnTo>
                  <a:pt x="21600" y="19543"/>
                </a:lnTo>
                <a:cubicBezTo>
                  <a:pt x="21600" y="20679"/>
                  <a:pt x="21416" y="21600"/>
                  <a:pt x="21189" y="21600"/>
                </a:cubicBezTo>
                <a:lnTo>
                  <a:pt x="125" y="21600"/>
                </a:lnTo>
                <a:cubicBezTo>
                  <a:pt x="56" y="21600"/>
                  <a:pt x="0" y="21321"/>
                  <a:pt x="0" y="20977"/>
                </a:cubicBezTo>
                <a:lnTo>
                  <a:pt x="0" y="623"/>
                </a:lnTo>
                <a:cubicBezTo>
                  <a:pt x="0" y="279"/>
                  <a:pt x="56" y="0"/>
                  <a:pt x="125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4" name="Shape 46"/>
          <p:cNvSpPr/>
          <p:nvPr/>
        </p:nvSpPr>
        <p:spPr>
          <a:xfrm>
            <a:off x="6203017" y="5376883"/>
            <a:ext cx="32480" cy="11254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9" y="21600"/>
                  <a:pt x="0" y="21321"/>
                  <a:pt x="0" y="20977"/>
                </a:cubicBezTo>
                <a:lnTo>
                  <a:pt x="0" y="623"/>
                </a:lnTo>
                <a:cubicBezTo>
                  <a:pt x="0" y="279"/>
                  <a:pt x="9671" y="0"/>
                  <a:pt x="21600" y="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Shape 47"/>
          <p:cNvSpPr/>
          <p:nvPr/>
        </p:nvSpPr>
        <p:spPr>
          <a:xfrm>
            <a:off x="6397893" y="5555584"/>
            <a:ext cx="428731" cy="428731"/>
          </a:xfrm>
          <a:prstGeom prst="ellipse">
            <a:avLst/>
          </a:pr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6" name="Text 48"/>
          <p:cNvSpPr txBox="1"/>
          <p:nvPr/>
        </p:nvSpPr>
        <p:spPr>
          <a:xfrm>
            <a:off x="6353235" y="5661998"/>
            <a:ext cx="51804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b="1" sz="14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97" name="Text 49"/>
          <p:cNvSpPr txBox="1"/>
          <p:nvPr/>
        </p:nvSpPr>
        <p:spPr>
          <a:xfrm>
            <a:off x="6969458" y="5630223"/>
            <a:ext cx="2036467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z="16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推理流程与工程实现</a:t>
            </a:r>
          </a:p>
        </p:txBody>
      </p:sp>
      <p:sp>
        <p:nvSpPr>
          <p:cNvPr id="98" name="Text 50"/>
          <p:cNvSpPr txBox="1"/>
          <p:nvPr/>
        </p:nvSpPr>
        <p:spPr>
          <a:xfrm>
            <a:off x="6969521" y="6105947"/>
            <a:ext cx="4760687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11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完整推理流程演示、工程配置与关键性能指标展示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0"/>
          <p:cNvSpPr txBox="1"/>
          <p:nvPr/>
        </p:nvSpPr>
        <p:spPr>
          <a:xfrm>
            <a:off x="381000" y="406399"/>
            <a:ext cx="115062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pc="60" sz="1200">
                <a:solidFill>
                  <a:srgbClr val="5E8B7E"/>
                </a:solidFill>
                <a:latin typeface="Liter"/>
                <a:ea typeface="Liter"/>
                <a:cs typeface="Liter"/>
                <a:sym typeface="Liter"/>
              </a:defRPr>
            </a:lvl1pPr>
          </a:lstStyle>
          <a:p>
            <a:pPr/>
            <a:r>
              <a:t>PROJECT BACKGROUND</a:t>
            </a:r>
          </a:p>
        </p:txBody>
      </p:sp>
      <p:sp>
        <p:nvSpPr>
          <p:cNvPr id="101" name="Text 1"/>
          <p:cNvSpPr txBox="1"/>
          <p:nvPr/>
        </p:nvSpPr>
        <p:spPr>
          <a:xfrm>
            <a:off x="381000" y="596859"/>
            <a:ext cx="116586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80000"/>
              </a:lnSpc>
              <a:defRPr b="1" sz="36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项目背景与挑战</a:t>
            </a:r>
          </a:p>
        </p:txBody>
      </p:sp>
      <p:sp>
        <p:nvSpPr>
          <p:cNvPr id="102" name="Shape 2"/>
          <p:cNvSpPr/>
          <p:nvPr/>
        </p:nvSpPr>
        <p:spPr>
          <a:xfrm>
            <a:off x="381000" y="1295278"/>
            <a:ext cx="914400" cy="38101"/>
          </a:xfrm>
          <a:prstGeom prst="rect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3" name="Shape 3"/>
          <p:cNvSpPr/>
          <p:nvPr/>
        </p:nvSpPr>
        <p:spPr>
          <a:xfrm>
            <a:off x="398317" y="1561950"/>
            <a:ext cx="11409220" cy="1333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6" y="0"/>
                </a:moveTo>
                <a:lnTo>
                  <a:pt x="21384" y="0"/>
                </a:lnTo>
                <a:cubicBezTo>
                  <a:pt x="21503" y="0"/>
                  <a:pt x="21600" y="830"/>
                  <a:pt x="21600" y="1851"/>
                </a:cubicBezTo>
                <a:lnTo>
                  <a:pt x="21600" y="19749"/>
                </a:lnTo>
                <a:cubicBezTo>
                  <a:pt x="21600" y="20770"/>
                  <a:pt x="21503" y="21600"/>
                  <a:pt x="21384" y="21600"/>
                </a:cubicBezTo>
                <a:lnTo>
                  <a:pt x="66" y="21600"/>
                </a:lnTo>
                <a:cubicBezTo>
                  <a:pt x="29" y="21600"/>
                  <a:pt x="0" y="21349"/>
                  <a:pt x="0" y="21039"/>
                </a:cubicBezTo>
                <a:lnTo>
                  <a:pt x="0" y="561"/>
                </a:lnTo>
                <a:cubicBezTo>
                  <a:pt x="0" y="251"/>
                  <a:pt x="29" y="0"/>
                  <a:pt x="66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4" name="Shape 4"/>
          <p:cNvSpPr/>
          <p:nvPr/>
        </p:nvSpPr>
        <p:spPr>
          <a:xfrm>
            <a:off x="398318" y="1561950"/>
            <a:ext cx="34637" cy="1333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349"/>
                  <a:pt x="0" y="21039"/>
                </a:cubicBezTo>
                <a:lnTo>
                  <a:pt x="0" y="561"/>
                </a:lnTo>
                <a:cubicBezTo>
                  <a:pt x="0" y="251"/>
                  <a:pt x="9671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5" name="Shape 5"/>
          <p:cNvSpPr/>
          <p:nvPr/>
        </p:nvSpPr>
        <p:spPr>
          <a:xfrm>
            <a:off x="644222" y="1790537"/>
            <a:ext cx="533401" cy="533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086" y="0"/>
                </a:moveTo>
                <a:lnTo>
                  <a:pt x="18514" y="0"/>
                </a:lnTo>
                <a:cubicBezTo>
                  <a:pt x="20218" y="0"/>
                  <a:pt x="21600" y="1382"/>
                  <a:pt x="21600" y="3086"/>
                </a:cubicBezTo>
                <a:lnTo>
                  <a:pt x="21600" y="18514"/>
                </a:lnTo>
                <a:cubicBezTo>
                  <a:pt x="21600" y="20218"/>
                  <a:pt x="20218" y="21600"/>
                  <a:pt x="18514" y="21600"/>
                </a:cubicBezTo>
                <a:lnTo>
                  <a:pt x="3086" y="21600"/>
                </a:lnTo>
                <a:cubicBezTo>
                  <a:pt x="1382" y="21600"/>
                  <a:pt x="0" y="20218"/>
                  <a:pt x="0" y="18514"/>
                </a:cubicBezTo>
                <a:lnTo>
                  <a:pt x="0" y="3086"/>
                </a:lnTo>
                <a:cubicBezTo>
                  <a:pt x="0" y="1383"/>
                  <a:pt x="1383" y="0"/>
                  <a:pt x="3086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6" name="Shape 6"/>
          <p:cNvSpPr/>
          <p:nvPr/>
        </p:nvSpPr>
        <p:spPr>
          <a:xfrm>
            <a:off x="796595" y="1942883"/>
            <a:ext cx="257176" cy="2428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541"/>
                </a:moveTo>
                <a:cubicBezTo>
                  <a:pt x="0" y="1140"/>
                  <a:pt x="1076" y="0"/>
                  <a:pt x="2400" y="0"/>
                </a:cubicBezTo>
                <a:lnTo>
                  <a:pt x="12000" y="0"/>
                </a:lnTo>
                <a:cubicBezTo>
                  <a:pt x="13324" y="0"/>
                  <a:pt x="14400" y="1140"/>
                  <a:pt x="14400" y="2541"/>
                </a:cubicBezTo>
                <a:lnTo>
                  <a:pt x="14400" y="7358"/>
                </a:lnTo>
                <a:cubicBezTo>
                  <a:pt x="12641" y="8112"/>
                  <a:pt x="11400" y="9938"/>
                  <a:pt x="11400" y="12071"/>
                </a:cubicBezTo>
                <a:cubicBezTo>
                  <a:pt x="11400" y="13170"/>
                  <a:pt x="11730" y="14191"/>
                  <a:pt x="12293" y="15025"/>
                </a:cubicBezTo>
                <a:cubicBezTo>
                  <a:pt x="10361" y="15859"/>
                  <a:pt x="9000" y="17868"/>
                  <a:pt x="9000" y="20214"/>
                </a:cubicBezTo>
                <a:cubicBezTo>
                  <a:pt x="9000" y="20254"/>
                  <a:pt x="9000" y="20290"/>
                  <a:pt x="9000" y="20329"/>
                </a:cubicBezTo>
                <a:lnTo>
                  <a:pt x="2400" y="20329"/>
                </a:lnTo>
                <a:cubicBezTo>
                  <a:pt x="1076" y="20329"/>
                  <a:pt x="0" y="19190"/>
                  <a:pt x="0" y="17788"/>
                </a:cubicBezTo>
                <a:lnTo>
                  <a:pt x="0" y="2541"/>
                </a:lnTo>
                <a:close/>
                <a:moveTo>
                  <a:pt x="5400" y="15882"/>
                </a:moveTo>
                <a:lnTo>
                  <a:pt x="5400" y="18424"/>
                </a:lnTo>
                <a:lnTo>
                  <a:pt x="7402" y="18424"/>
                </a:lnTo>
                <a:cubicBezTo>
                  <a:pt x="7673" y="17256"/>
                  <a:pt x="8201" y="16196"/>
                  <a:pt x="8918" y="15315"/>
                </a:cubicBezTo>
                <a:cubicBezTo>
                  <a:pt x="8689" y="14540"/>
                  <a:pt x="8006" y="13976"/>
                  <a:pt x="7200" y="13976"/>
                </a:cubicBezTo>
                <a:cubicBezTo>
                  <a:pt x="6206" y="13976"/>
                  <a:pt x="5400" y="14830"/>
                  <a:pt x="5400" y="15882"/>
                </a:cubicBezTo>
                <a:close/>
                <a:moveTo>
                  <a:pt x="6900" y="3494"/>
                </a:moveTo>
                <a:cubicBezTo>
                  <a:pt x="6570" y="3494"/>
                  <a:pt x="6300" y="3780"/>
                  <a:pt x="6300" y="4129"/>
                </a:cubicBezTo>
                <a:lnTo>
                  <a:pt x="6300" y="5400"/>
                </a:lnTo>
                <a:lnTo>
                  <a:pt x="5100" y="5400"/>
                </a:lnTo>
                <a:cubicBezTo>
                  <a:pt x="4770" y="5400"/>
                  <a:pt x="4500" y="5686"/>
                  <a:pt x="4500" y="6035"/>
                </a:cubicBezTo>
                <a:lnTo>
                  <a:pt x="4500" y="6671"/>
                </a:lnTo>
                <a:cubicBezTo>
                  <a:pt x="4500" y="7020"/>
                  <a:pt x="4770" y="7306"/>
                  <a:pt x="5100" y="7306"/>
                </a:cubicBezTo>
                <a:lnTo>
                  <a:pt x="6300" y="7306"/>
                </a:lnTo>
                <a:lnTo>
                  <a:pt x="6300" y="8576"/>
                </a:lnTo>
                <a:cubicBezTo>
                  <a:pt x="6300" y="8926"/>
                  <a:pt x="6570" y="9212"/>
                  <a:pt x="6900" y="9212"/>
                </a:cubicBezTo>
                <a:lnTo>
                  <a:pt x="7500" y="9212"/>
                </a:lnTo>
                <a:cubicBezTo>
                  <a:pt x="7830" y="9212"/>
                  <a:pt x="8100" y="8926"/>
                  <a:pt x="8100" y="8576"/>
                </a:cubicBezTo>
                <a:lnTo>
                  <a:pt x="8100" y="7306"/>
                </a:lnTo>
                <a:lnTo>
                  <a:pt x="9300" y="7306"/>
                </a:lnTo>
                <a:cubicBezTo>
                  <a:pt x="9630" y="7306"/>
                  <a:pt x="9900" y="7020"/>
                  <a:pt x="9900" y="6671"/>
                </a:cubicBezTo>
                <a:lnTo>
                  <a:pt x="9900" y="6035"/>
                </a:lnTo>
                <a:cubicBezTo>
                  <a:pt x="9900" y="5686"/>
                  <a:pt x="9630" y="5400"/>
                  <a:pt x="9300" y="5400"/>
                </a:cubicBezTo>
                <a:lnTo>
                  <a:pt x="8100" y="5400"/>
                </a:lnTo>
                <a:lnTo>
                  <a:pt x="8100" y="4129"/>
                </a:lnTo>
                <a:cubicBezTo>
                  <a:pt x="8100" y="3780"/>
                  <a:pt x="7830" y="3494"/>
                  <a:pt x="7500" y="3494"/>
                </a:cubicBezTo>
                <a:lnTo>
                  <a:pt x="6900" y="3494"/>
                </a:lnTo>
                <a:close/>
                <a:moveTo>
                  <a:pt x="13200" y="12071"/>
                </a:moveTo>
                <a:cubicBezTo>
                  <a:pt x="13200" y="10317"/>
                  <a:pt x="14544" y="8894"/>
                  <a:pt x="16200" y="8894"/>
                </a:cubicBezTo>
                <a:cubicBezTo>
                  <a:pt x="17856" y="8894"/>
                  <a:pt x="19200" y="10317"/>
                  <a:pt x="19200" y="12071"/>
                </a:cubicBezTo>
                <a:cubicBezTo>
                  <a:pt x="19200" y="13824"/>
                  <a:pt x="17856" y="15247"/>
                  <a:pt x="16200" y="15247"/>
                </a:cubicBezTo>
                <a:cubicBezTo>
                  <a:pt x="14544" y="15247"/>
                  <a:pt x="13200" y="13824"/>
                  <a:pt x="13200" y="12071"/>
                </a:cubicBezTo>
                <a:close/>
                <a:moveTo>
                  <a:pt x="10800" y="20329"/>
                </a:moveTo>
                <a:cubicBezTo>
                  <a:pt x="10800" y="18225"/>
                  <a:pt x="12412" y="16518"/>
                  <a:pt x="14400" y="16518"/>
                </a:cubicBezTo>
                <a:lnTo>
                  <a:pt x="18000" y="16518"/>
                </a:lnTo>
                <a:cubicBezTo>
                  <a:pt x="19987" y="16518"/>
                  <a:pt x="21600" y="18225"/>
                  <a:pt x="21600" y="20329"/>
                </a:cubicBezTo>
                <a:cubicBezTo>
                  <a:pt x="21600" y="21032"/>
                  <a:pt x="21064" y="21600"/>
                  <a:pt x="20400" y="21600"/>
                </a:cubicBezTo>
                <a:lnTo>
                  <a:pt x="12000" y="21600"/>
                </a:lnTo>
                <a:cubicBezTo>
                  <a:pt x="11336" y="21600"/>
                  <a:pt x="10800" y="21032"/>
                  <a:pt x="10800" y="20329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Text 7"/>
          <p:cNvSpPr txBox="1"/>
          <p:nvPr/>
        </p:nvSpPr>
        <p:spPr>
          <a:xfrm>
            <a:off x="1329915" y="1784188"/>
            <a:ext cx="103632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代谢疾病用药决策的复杂性</a:t>
            </a:r>
          </a:p>
        </p:txBody>
      </p:sp>
      <p:sp>
        <p:nvSpPr>
          <p:cNvPr id="108" name="Text 8"/>
          <p:cNvSpPr txBox="1"/>
          <p:nvPr/>
        </p:nvSpPr>
        <p:spPr>
          <a:xfrm>
            <a:off x="1329915" y="2160039"/>
            <a:ext cx="10325101" cy="518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sz="12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代谢疾病患者往往伴随多种并发症，需要同时管理血糖、血压、血脂等多项指标。医生在面对 </a:t>
            </a:r>
            <a:r>
              <a:rPr b="1">
                <a:solidFill>
                  <a:srgbClr val="5E8B7E"/>
                </a:solidFill>
              </a:rPr>
              <a:t>651种候选药物</a:t>
            </a:r>
            <a:r>
              <a:t> 时，需要综合考虑药物适应症、禁忌症、相互作用、患者个体差异等多重因素，决策过程极其复杂。</a:t>
            </a:r>
          </a:p>
        </p:txBody>
      </p:sp>
      <p:sp>
        <p:nvSpPr>
          <p:cNvPr id="109" name="Shape 9"/>
          <p:cNvSpPr/>
          <p:nvPr/>
        </p:nvSpPr>
        <p:spPr>
          <a:xfrm>
            <a:off x="398318" y="3085883"/>
            <a:ext cx="5598968" cy="1371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4" y="0"/>
                </a:moveTo>
                <a:lnTo>
                  <a:pt x="21159" y="0"/>
                </a:lnTo>
                <a:cubicBezTo>
                  <a:pt x="21402" y="0"/>
                  <a:pt x="21600" y="807"/>
                  <a:pt x="21600" y="1800"/>
                </a:cubicBezTo>
                <a:lnTo>
                  <a:pt x="21600" y="19800"/>
                </a:lnTo>
                <a:cubicBezTo>
                  <a:pt x="21600" y="20793"/>
                  <a:pt x="21402" y="21600"/>
                  <a:pt x="21159" y="21600"/>
                </a:cubicBezTo>
                <a:lnTo>
                  <a:pt x="134" y="21600"/>
                </a:lnTo>
                <a:cubicBezTo>
                  <a:pt x="60" y="21600"/>
                  <a:pt x="0" y="21356"/>
                  <a:pt x="0" y="21055"/>
                </a:cubicBezTo>
                <a:lnTo>
                  <a:pt x="0" y="545"/>
                </a:lnTo>
                <a:cubicBezTo>
                  <a:pt x="0" y="244"/>
                  <a:pt x="60" y="0"/>
                  <a:pt x="134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0" name="Shape 10"/>
          <p:cNvSpPr/>
          <p:nvPr/>
        </p:nvSpPr>
        <p:spPr>
          <a:xfrm>
            <a:off x="398318" y="3085883"/>
            <a:ext cx="34637" cy="1371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356"/>
                  <a:pt x="0" y="21055"/>
                </a:cubicBezTo>
                <a:lnTo>
                  <a:pt x="0" y="545"/>
                </a:lnTo>
                <a:cubicBezTo>
                  <a:pt x="0" y="244"/>
                  <a:pt x="9671" y="0"/>
                  <a:pt x="21600" y="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1" name="Shape 11"/>
          <p:cNvSpPr/>
          <p:nvPr/>
        </p:nvSpPr>
        <p:spPr>
          <a:xfrm>
            <a:off x="672772" y="3333479"/>
            <a:ext cx="228635" cy="2143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44" h="21600" fill="norm" stroke="1" extrusionOk="0">
                <a:moveTo>
                  <a:pt x="10723" y="0"/>
                </a:moveTo>
                <a:cubicBezTo>
                  <a:pt x="11339" y="0"/>
                  <a:pt x="11904" y="365"/>
                  <a:pt x="12197" y="945"/>
                </a:cubicBezTo>
                <a:lnTo>
                  <a:pt x="21242" y="18945"/>
                </a:lnTo>
                <a:cubicBezTo>
                  <a:pt x="21523" y="19503"/>
                  <a:pt x="21510" y="20178"/>
                  <a:pt x="21209" y="20722"/>
                </a:cubicBezTo>
                <a:cubicBezTo>
                  <a:pt x="20907" y="21267"/>
                  <a:pt x="20359" y="21600"/>
                  <a:pt x="19768" y="21600"/>
                </a:cubicBezTo>
                <a:lnTo>
                  <a:pt x="1678" y="21600"/>
                </a:lnTo>
                <a:cubicBezTo>
                  <a:pt x="1087" y="21600"/>
                  <a:pt x="543" y="21267"/>
                  <a:pt x="237" y="20722"/>
                </a:cubicBezTo>
                <a:cubicBezTo>
                  <a:pt x="-69" y="20178"/>
                  <a:pt x="-77" y="19503"/>
                  <a:pt x="204" y="18945"/>
                </a:cubicBezTo>
                <a:lnTo>
                  <a:pt x="9249" y="945"/>
                </a:lnTo>
                <a:cubicBezTo>
                  <a:pt x="9542" y="365"/>
                  <a:pt x="10107" y="0"/>
                  <a:pt x="10723" y="0"/>
                </a:cubicBezTo>
                <a:close/>
                <a:moveTo>
                  <a:pt x="10723" y="7560"/>
                </a:moveTo>
                <a:cubicBezTo>
                  <a:pt x="10166" y="7560"/>
                  <a:pt x="9718" y="8042"/>
                  <a:pt x="9718" y="8640"/>
                </a:cubicBezTo>
                <a:lnTo>
                  <a:pt x="9718" y="13680"/>
                </a:lnTo>
                <a:cubicBezTo>
                  <a:pt x="9718" y="14278"/>
                  <a:pt x="10166" y="14760"/>
                  <a:pt x="10723" y="14760"/>
                </a:cubicBezTo>
                <a:cubicBezTo>
                  <a:pt x="11280" y="14760"/>
                  <a:pt x="11728" y="14278"/>
                  <a:pt x="11728" y="13680"/>
                </a:cubicBezTo>
                <a:lnTo>
                  <a:pt x="11728" y="8640"/>
                </a:lnTo>
                <a:cubicBezTo>
                  <a:pt x="11728" y="8042"/>
                  <a:pt x="11280" y="7560"/>
                  <a:pt x="10723" y="7560"/>
                </a:cubicBezTo>
                <a:close/>
                <a:moveTo>
                  <a:pt x="11841" y="17280"/>
                </a:moveTo>
                <a:cubicBezTo>
                  <a:pt x="11867" y="16834"/>
                  <a:pt x="11660" y="16410"/>
                  <a:pt x="11304" y="16178"/>
                </a:cubicBezTo>
                <a:cubicBezTo>
                  <a:pt x="10948" y="15947"/>
                  <a:pt x="10502" y="15947"/>
                  <a:pt x="10146" y="16178"/>
                </a:cubicBezTo>
                <a:cubicBezTo>
                  <a:pt x="9791" y="16410"/>
                  <a:pt x="9584" y="16834"/>
                  <a:pt x="9609" y="17280"/>
                </a:cubicBezTo>
                <a:cubicBezTo>
                  <a:pt x="9584" y="17726"/>
                  <a:pt x="9791" y="18150"/>
                  <a:pt x="10146" y="18381"/>
                </a:cubicBezTo>
                <a:cubicBezTo>
                  <a:pt x="10502" y="18613"/>
                  <a:pt x="10948" y="18613"/>
                  <a:pt x="11304" y="18381"/>
                </a:cubicBezTo>
                <a:cubicBezTo>
                  <a:pt x="11660" y="18150"/>
                  <a:pt x="11867" y="17726"/>
                  <a:pt x="11841" y="1728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Text 12"/>
          <p:cNvSpPr txBox="1"/>
          <p:nvPr/>
        </p:nvSpPr>
        <p:spPr>
          <a:xfrm>
            <a:off x="1044231" y="3314470"/>
            <a:ext cx="142875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5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中西医逻辑鸿沟</a:t>
            </a:r>
          </a:p>
        </p:txBody>
      </p:sp>
      <p:sp>
        <p:nvSpPr>
          <p:cNvPr id="113" name="Text 13"/>
          <p:cNvSpPr txBox="1"/>
          <p:nvPr/>
        </p:nvSpPr>
        <p:spPr>
          <a:xfrm>
            <a:off x="644222" y="3722059"/>
            <a:ext cx="5200651" cy="518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12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中医辨证论治与西医循证医学的决策逻辑存在本质差异，传统AI模型难以同时理解和融合两种医学体系的用药原则</a:t>
            </a:r>
          </a:p>
        </p:txBody>
      </p:sp>
      <p:sp>
        <p:nvSpPr>
          <p:cNvPr id="114" name="Shape 14"/>
          <p:cNvSpPr/>
          <p:nvPr/>
        </p:nvSpPr>
        <p:spPr>
          <a:xfrm>
            <a:off x="6208567" y="3085883"/>
            <a:ext cx="5598969" cy="1371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4" y="0"/>
                </a:moveTo>
                <a:lnTo>
                  <a:pt x="21159" y="0"/>
                </a:lnTo>
                <a:cubicBezTo>
                  <a:pt x="21402" y="0"/>
                  <a:pt x="21600" y="807"/>
                  <a:pt x="21600" y="1800"/>
                </a:cubicBezTo>
                <a:lnTo>
                  <a:pt x="21600" y="19800"/>
                </a:lnTo>
                <a:cubicBezTo>
                  <a:pt x="21600" y="20793"/>
                  <a:pt x="21402" y="21600"/>
                  <a:pt x="21159" y="21600"/>
                </a:cubicBezTo>
                <a:lnTo>
                  <a:pt x="134" y="21600"/>
                </a:lnTo>
                <a:cubicBezTo>
                  <a:pt x="60" y="21600"/>
                  <a:pt x="0" y="21356"/>
                  <a:pt x="0" y="21055"/>
                </a:cubicBezTo>
                <a:lnTo>
                  <a:pt x="0" y="545"/>
                </a:lnTo>
                <a:cubicBezTo>
                  <a:pt x="0" y="244"/>
                  <a:pt x="60" y="0"/>
                  <a:pt x="134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Shape 15"/>
          <p:cNvSpPr/>
          <p:nvPr/>
        </p:nvSpPr>
        <p:spPr>
          <a:xfrm>
            <a:off x="6208567" y="3085883"/>
            <a:ext cx="34637" cy="1371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356"/>
                  <a:pt x="0" y="21055"/>
                </a:cubicBezTo>
                <a:lnTo>
                  <a:pt x="0" y="545"/>
                </a:lnTo>
                <a:cubicBezTo>
                  <a:pt x="0" y="244"/>
                  <a:pt x="9671" y="0"/>
                  <a:pt x="21600" y="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6" name="Shape 16"/>
          <p:cNvSpPr/>
          <p:nvPr/>
        </p:nvSpPr>
        <p:spPr>
          <a:xfrm>
            <a:off x="6486619" y="3333479"/>
            <a:ext cx="221457" cy="228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877" y="2362"/>
                </a:moveTo>
                <a:cubicBezTo>
                  <a:pt x="4877" y="1059"/>
                  <a:pt x="5970" y="0"/>
                  <a:pt x="7316" y="0"/>
                </a:cubicBezTo>
                <a:lnTo>
                  <a:pt x="8361" y="0"/>
                </a:lnTo>
                <a:cubicBezTo>
                  <a:pt x="9132" y="0"/>
                  <a:pt x="9755" y="603"/>
                  <a:pt x="9755" y="1350"/>
                </a:cubicBezTo>
                <a:lnTo>
                  <a:pt x="9755" y="20250"/>
                </a:lnTo>
                <a:cubicBezTo>
                  <a:pt x="9755" y="20997"/>
                  <a:pt x="9132" y="21600"/>
                  <a:pt x="8361" y="21600"/>
                </a:cubicBezTo>
                <a:lnTo>
                  <a:pt x="6968" y="21600"/>
                </a:lnTo>
                <a:cubicBezTo>
                  <a:pt x="5670" y="21600"/>
                  <a:pt x="4577" y="20739"/>
                  <a:pt x="4268" y="19575"/>
                </a:cubicBezTo>
                <a:cubicBezTo>
                  <a:pt x="4237" y="19575"/>
                  <a:pt x="4211" y="19575"/>
                  <a:pt x="4181" y="19575"/>
                </a:cubicBezTo>
                <a:cubicBezTo>
                  <a:pt x="2256" y="19575"/>
                  <a:pt x="697" y="18065"/>
                  <a:pt x="697" y="16200"/>
                </a:cubicBezTo>
                <a:cubicBezTo>
                  <a:pt x="697" y="15441"/>
                  <a:pt x="958" y="14740"/>
                  <a:pt x="1394" y="14175"/>
                </a:cubicBezTo>
                <a:cubicBezTo>
                  <a:pt x="549" y="13559"/>
                  <a:pt x="0" y="12580"/>
                  <a:pt x="0" y="11475"/>
                </a:cubicBezTo>
                <a:cubicBezTo>
                  <a:pt x="0" y="10171"/>
                  <a:pt x="766" y="9037"/>
                  <a:pt x="1881" y="8475"/>
                </a:cubicBezTo>
                <a:cubicBezTo>
                  <a:pt x="1572" y="7969"/>
                  <a:pt x="1394" y="7379"/>
                  <a:pt x="1394" y="6750"/>
                </a:cubicBezTo>
                <a:cubicBezTo>
                  <a:pt x="1394" y="4885"/>
                  <a:pt x="2953" y="3375"/>
                  <a:pt x="4877" y="3375"/>
                </a:cubicBezTo>
                <a:lnTo>
                  <a:pt x="4877" y="2362"/>
                </a:lnTo>
                <a:close/>
                <a:moveTo>
                  <a:pt x="16723" y="2362"/>
                </a:moveTo>
                <a:lnTo>
                  <a:pt x="16723" y="3375"/>
                </a:lnTo>
                <a:cubicBezTo>
                  <a:pt x="18647" y="3375"/>
                  <a:pt x="20206" y="4885"/>
                  <a:pt x="20206" y="6750"/>
                </a:cubicBezTo>
                <a:cubicBezTo>
                  <a:pt x="20206" y="7383"/>
                  <a:pt x="20028" y="7973"/>
                  <a:pt x="19719" y="8475"/>
                </a:cubicBezTo>
                <a:cubicBezTo>
                  <a:pt x="20838" y="9037"/>
                  <a:pt x="21600" y="10167"/>
                  <a:pt x="21600" y="11475"/>
                </a:cubicBezTo>
                <a:cubicBezTo>
                  <a:pt x="21600" y="12580"/>
                  <a:pt x="21051" y="13559"/>
                  <a:pt x="20206" y="14175"/>
                </a:cubicBezTo>
                <a:cubicBezTo>
                  <a:pt x="20642" y="14740"/>
                  <a:pt x="20903" y="15441"/>
                  <a:pt x="20903" y="16200"/>
                </a:cubicBezTo>
                <a:cubicBezTo>
                  <a:pt x="20903" y="18065"/>
                  <a:pt x="19344" y="19575"/>
                  <a:pt x="17419" y="19575"/>
                </a:cubicBezTo>
                <a:cubicBezTo>
                  <a:pt x="17389" y="19575"/>
                  <a:pt x="17363" y="19575"/>
                  <a:pt x="17332" y="19575"/>
                </a:cubicBezTo>
                <a:cubicBezTo>
                  <a:pt x="17023" y="20739"/>
                  <a:pt x="15930" y="21600"/>
                  <a:pt x="14632" y="21600"/>
                </a:cubicBezTo>
                <a:lnTo>
                  <a:pt x="13239" y="21600"/>
                </a:lnTo>
                <a:cubicBezTo>
                  <a:pt x="12468" y="21600"/>
                  <a:pt x="11845" y="20997"/>
                  <a:pt x="11845" y="20250"/>
                </a:cubicBezTo>
                <a:lnTo>
                  <a:pt x="11845" y="1350"/>
                </a:lnTo>
                <a:cubicBezTo>
                  <a:pt x="11845" y="603"/>
                  <a:pt x="12468" y="0"/>
                  <a:pt x="13239" y="0"/>
                </a:cubicBezTo>
                <a:lnTo>
                  <a:pt x="14284" y="0"/>
                </a:lnTo>
                <a:cubicBezTo>
                  <a:pt x="15630" y="0"/>
                  <a:pt x="16723" y="1059"/>
                  <a:pt x="16723" y="2362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Text 17"/>
          <p:cNvSpPr txBox="1"/>
          <p:nvPr/>
        </p:nvSpPr>
        <p:spPr>
          <a:xfrm>
            <a:off x="6854482" y="3314470"/>
            <a:ext cx="142875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5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中成药幻觉难题</a:t>
            </a:r>
          </a:p>
        </p:txBody>
      </p:sp>
      <p:sp>
        <p:nvSpPr>
          <p:cNvPr id="118" name="Text 18"/>
          <p:cNvSpPr txBox="1"/>
          <p:nvPr/>
        </p:nvSpPr>
        <p:spPr>
          <a:xfrm>
            <a:off x="6454473" y="3722059"/>
            <a:ext cx="5200651" cy="518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12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大语言模型在推荐中成药时容易产生"幻觉"，生成不存在或不适用的药物组合，对医疗安全构成严重威胁</a:t>
            </a:r>
          </a:p>
        </p:txBody>
      </p:sp>
      <p:sp>
        <p:nvSpPr>
          <p:cNvPr id="119" name="Shape 19"/>
          <p:cNvSpPr/>
          <p:nvPr/>
        </p:nvSpPr>
        <p:spPr>
          <a:xfrm>
            <a:off x="398317" y="4647903"/>
            <a:ext cx="11409220" cy="1333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6" y="0"/>
                </a:moveTo>
                <a:lnTo>
                  <a:pt x="21384" y="0"/>
                </a:lnTo>
                <a:cubicBezTo>
                  <a:pt x="21503" y="0"/>
                  <a:pt x="21600" y="830"/>
                  <a:pt x="21600" y="1851"/>
                </a:cubicBezTo>
                <a:lnTo>
                  <a:pt x="21600" y="19749"/>
                </a:lnTo>
                <a:cubicBezTo>
                  <a:pt x="21600" y="20770"/>
                  <a:pt x="21503" y="21600"/>
                  <a:pt x="21384" y="21600"/>
                </a:cubicBezTo>
                <a:lnTo>
                  <a:pt x="66" y="21600"/>
                </a:lnTo>
                <a:cubicBezTo>
                  <a:pt x="29" y="21600"/>
                  <a:pt x="0" y="21349"/>
                  <a:pt x="0" y="21039"/>
                </a:cubicBezTo>
                <a:lnTo>
                  <a:pt x="0" y="561"/>
                </a:lnTo>
                <a:cubicBezTo>
                  <a:pt x="0" y="251"/>
                  <a:pt x="29" y="0"/>
                  <a:pt x="66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Shape 20"/>
          <p:cNvSpPr/>
          <p:nvPr/>
        </p:nvSpPr>
        <p:spPr>
          <a:xfrm>
            <a:off x="398318" y="4647903"/>
            <a:ext cx="34637" cy="1333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349"/>
                  <a:pt x="0" y="21039"/>
                </a:cubicBezTo>
                <a:lnTo>
                  <a:pt x="0" y="561"/>
                </a:lnTo>
                <a:cubicBezTo>
                  <a:pt x="0" y="251"/>
                  <a:pt x="9671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Shape 21"/>
          <p:cNvSpPr/>
          <p:nvPr/>
        </p:nvSpPr>
        <p:spPr>
          <a:xfrm>
            <a:off x="644222" y="4876489"/>
            <a:ext cx="533401" cy="533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086" y="0"/>
                </a:moveTo>
                <a:lnTo>
                  <a:pt x="18514" y="0"/>
                </a:lnTo>
                <a:cubicBezTo>
                  <a:pt x="20218" y="0"/>
                  <a:pt x="21600" y="1382"/>
                  <a:pt x="21600" y="3086"/>
                </a:cubicBezTo>
                <a:lnTo>
                  <a:pt x="21600" y="18514"/>
                </a:lnTo>
                <a:cubicBezTo>
                  <a:pt x="21600" y="20218"/>
                  <a:pt x="20218" y="21600"/>
                  <a:pt x="18514" y="21600"/>
                </a:cubicBezTo>
                <a:lnTo>
                  <a:pt x="3086" y="21600"/>
                </a:lnTo>
                <a:cubicBezTo>
                  <a:pt x="1382" y="21600"/>
                  <a:pt x="0" y="20218"/>
                  <a:pt x="0" y="18514"/>
                </a:cubicBezTo>
                <a:lnTo>
                  <a:pt x="0" y="3086"/>
                </a:lnTo>
                <a:cubicBezTo>
                  <a:pt x="0" y="1383"/>
                  <a:pt x="1383" y="0"/>
                  <a:pt x="3086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Shape 22"/>
          <p:cNvSpPr/>
          <p:nvPr/>
        </p:nvSpPr>
        <p:spPr>
          <a:xfrm>
            <a:off x="803783" y="5028836"/>
            <a:ext cx="214315" cy="2273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1" h="21515" fill="norm" stroke="1" extrusionOk="0">
                <a:moveTo>
                  <a:pt x="10791" y="0"/>
                </a:moveTo>
                <a:cubicBezTo>
                  <a:pt x="10998" y="0"/>
                  <a:pt x="11205" y="42"/>
                  <a:pt x="11394" y="123"/>
                </a:cubicBezTo>
                <a:lnTo>
                  <a:pt x="19869" y="3499"/>
                </a:lnTo>
                <a:cubicBezTo>
                  <a:pt x="20858" y="3892"/>
                  <a:pt x="21596" y="4808"/>
                  <a:pt x="21591" y="5916"/>
                </a:cubicBezTo>
                <a:cubicBezTo>
                  <a:pt x="21569" y="10107"/>
                  <a:pt x="19734" y="17776"/>
                  <a:pt x="11983" y="21262"/>
                </a:cubicBezTo>
                <a:cubicBezTo>
                  <a:pt x="11232" y="21600"/>
                  <a:pt x="10360" y="21600"/>
                  <a:pt x="9608" y="21262"/>
                </a:cubicBezTo>
                <a:cubicBezTo>
                  <a:pt x="1854" y="17776"/>
                  <a:pt x="23" y="10107"/>
                  <a:pt x="0" y="5916"/>
                </a:cubicBezTo>
                <a:cubicBezTo>
                  <a:pt x="-4" y="4808"/>
                  <a:pt x="734" y="3892"/>
                  <a:pt x="1723" y="3499"/>
                </a:cubicBezTo>
                <a:lnTo>
                  <a:pt x="10193" y="123"/>
                </a:lnTo>
                <a:cubicBezTo>
                  <a:pt x="10382" y="42"/>
                  <a:pt x="10585" y="0"/>
                  <a:pt x="10791" y="0"/>
                </a:cubicBezTo>
                <a:close/>
                <a:moveTo>
                  <a:pt x="10791" y="2823"/>
                </a:moveTo>
                <a:lnTo>
                  <a:pt x="10791" y="18799"/>
                </a:lnTo>
                <a:cubicBezTo>
                  <a:pt x="16999" y="15976"/>
                  <a:pt x="18668" y="9723"/>
                  <a:pt x="18708" y="5979"/>
                </a:cubicBezTo>
                <a:lnTo>
                  <a:pt x="10791" y="2827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3" name="Text 23"/>
          <p:cNvSpPr txBox="1"/>
          <p:nvPr/>
        </p:nvSpPr>
        <p:spPr>
          <a:xfrm>
            <a:off x="1329915" y="4870139"/>
            <a:ext cx="103632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医疗安全的极高要求</a:t>
            </a:r>
          </a:p>
        </p:txBody>
      </p:sp>
      <p:sp>
        <p:nvSpPr>
          <p:cNvPr id="124" name="Text 24"/>
          <p:cNvSpPr txBox="1"/>
          <p:nvPr/>
        </p:nvSpPr>
        <p:spPr>
          <a:xfrm>
            <a:off x="1329915" y="5245992"/>
            <a:ext cx="10325101" cy="518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sz="12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用药推荐系统必须具备 </a:t>
            </a:r>
            <a:r>
              <a:rPr b="1">
                <a:solidFill>
                  <a:srgbClr val="5E8B7E"/>
                </a:solidFill>
              </a:rPr>
              <a:t>可解释性</a:t>
            </a:r>
            <a:r>
              <a:t> 和 </a:t>
            </a:r>
            <a:r>
              <a:rPr b="1">
                <a:solidFill>
                  <a:srgbClr val="5E8B7E"/>
                </a:solidFill>
              </a:rPr>
              <a:t>安全性保障</a:t>
            </a:r>
            <a:r>
              <a:t> ，任何错误的推荐都可能对患者健康造成不可逆的伤害。系统需要提供清晰的推理链条，并建立多层安全防护机制。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 0"/>
          <p:cNvSpPr txBox="1"/>
          <p:nvPr/>
        </p:nvSpPr>
        <p:spPr>
          <a:xfrm>
            <a:off x="317500" y="336549"/>
            <a:ext cx="116205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pc="50" sz="1000">
                <a:solidFill>
                  <a:srgbClr val="5E8B7E"/>
                </a:solidFill>
                <a:latin typeface="Liter"/>
                <a:ea typeface="Liter"/>
                <a:cs typeface="Liter"/>
                <a:sym typeface="Liter"/>
              </a:defRPr>
            </a:lvl1pPr>
          </a:lstStyle>
          <a:p>
            <a:pPr/>
            <a:r>
              <a:t>PROJECT GOALS &amp; ACHIEVEMENTS</a:t>
            </a:r>
          </a:p>
        </p:txBody>
      </p:sp>
      <p:sp>
        <p:nvSpPr>
          <p:cNvPr id="127" name="Text 1"/>
          <p:cNvSpPr txBox="1"/>
          <p:nvPr/>
        </p:nvSpPr>
        <p:spPr>
          <a:xfrm>
            <a:off x="317500" y="495265"/>
            <a:ext cx="117475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80000"/>
              </a:lnSpc>
              <a:defRPr b="1" sz="3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项目目标与核心成果</a:t>
            </a:r>
          </a:p>
        </p:txBody>
      </p:sp>
      <p:sp>
        <p:nvSpPr>
          <p:cNvPr id="128" name="Shape 2"/>
          <p:cNvSpPr/>
          <p:nvPr/>
        </p:nvSpPr>
        <p:spPr>
          <a:xfrm>
            <a:off x="317500" y="1079397"/>
            <a:ext cx="762000" cy="31751"/>
          </a:xfrm>
          <a:prstGeom prst="rect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Shape 3"/>
          <p:cNvSpPr/>
          <p:nvPr/>
        </p:nvSpPr>
        <p:spPr>
          <a:xfrm>
            <a:off x="331931" y="1301626"/>
            <a:ext cx="6872433" cy="42465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1" y="0"/>
                </a:moveTo>
                <a:lnTo>
                  <a:pt x="21301" y="0"/>
                </a:lnTo>
                <a:cubicBezTo>
                  <a:pt x="21466" y="0"/>
                  <a:pt x="21600" y="217"/>
                  <a:pt x="21600" y="484"/>
                </a:cubicBezTo>
                <a:lnTo>
                  <a:pt x="21600" y="21116"/>
                </a:lnTo>
                <a:cubicBezTo>
                  <a:pt x="21600" y="21383"/>
                  <a:pt x="21466" y="21600"/>
                  <a:pt x="21301" y="21600"/>
                </a:cubicBezTo>
                <a:lnTo>
                  <a:pt x="91" y="21600"/>
                </a:lnTo>
                <a:cubicBezTo>
                  <a:pt x="41" y="21600"/>
                  <a:pt x="0" y="21534"/>
                  <a:pt x="0" y="21453"/>
                </a:cubicBezTo>
                <a:lnTo>
                  <a:pt x="0" y="147"/>
                </a:lnTo>
                <a:cubicBezTo>
                  <a:pt x="0" y="66"/>
                  <a:pt x="41" y="0"/>
                  <a:pt x="91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Shape 4"/>
          <p:cNvSpPr/>
          <p:nvPr/>
        </p:nvSpPr>
        <p:spPr>
          <a:xfrm>
            <a:off x="331931" y="1301626"/>
            <a:ext cx="28865" cy="42465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534"/>
                  <a:pt x="0" y="21453"/>
                </a:cubicBezTo>
                <a:lnTo>
                  <a:pt x="0" y="147"/>
                </a:lnTo>
                <a:cubicBezTo>
                  <a:pt x="0" y="66"/>
                  <a:pt x="9671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1" name="Shape 5"/>
          <p:cNvSpPr/>
          <p:nvPr/>
        </p:nvSpPr>
        <p:spPr>
          <a:xfrm>
            <a:off x="560665" y="1523853"/>
            <a:ext cx="190501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900" y="10800"/>
                </a:moveTo>
                <a:cubicBezTo>
                  <a:pt x="18900" y="6330"/>
                  <a:pt x="15270" y="2700"/>
                  <a:pt x="10800" y="2700"/>
                </a:cubicBezTo>
                <a:cubicBezTo>
                  <a:pt x="6330" y="2700"/>
                  <a:pt x="2700" y="6330"/>
                  <a:pt x="2700" y="10800"/>
                </a:cubicBezTo>
                <a:cubicBezTo>
                  <a:pt x="2700" y="15270"/>
                  <a:pt x="6330" y="18900"/>
                  <a:pt x="10800" y="18900"/>
                </a:cubicBezTo>
                <a:cubicBezTo>
                  <a:pt x="15270" y="18900"/>
                  <a:pt x="18900" y="15270"/>
                  <a:pt x="18900" y="10800"/>
                </a:cubicBezTo>
                <a:close/>
                <a:moveTo>
                  <a:pt x="0" y="10800"/>
                </a:moveTo>
                <a:cubicBezTo>
                  <a:pt x="0" y="4839"/>
                  <a:pt x="4839" y="0"/>
                  <a:pt x="10800" y="0"/>
                </a:cubicBezTo>
                <a:cubicBezTo>
                  <a:pt x="16761" y="0"/>
                  <a:pt x="21600" y="4839"/>
                  <a:pt x="21600" y="10800"/>
                </a:cubicBezTo>
                <a:cubicBezTo>
                  <a:pt x="21600" y="16761"/>
                  <a:pt x="16761" y="21600"/>
                  <a:pt x="10800" y="21600"/>
                </a:cubicBezTo>
                <a:cubicBezTo>
                  <a:pt x="4839" y="21600"/>
                  <a:pt x="0" y="16761"/>
                  <a:pt x="0" y="10800"/>
                </a:cubicBezTo>
                <a:close/>
                <a:moveTo>
                  <a:pt x="10800" y="14175"/>
                </a:moveTo>
                <a:cubicBezTo>
                  <a:pt x="12663" y="14175"/>
                  <a:pt x="14175" y="12663"/>
                  <a:pt x="14175" y="10800"/>
                </a:cubicBezTo>
                <a:cubicBezTo>
                  <a:pt x="14175" y="8937"/>
                  <a:pt x="12663" y="7425"/>
                  <a:pt x="10800" y="7425"/>
                </a:cubicBezTo>
                <a:cubicBezTo>
                  <a:pt x="8937" y="7425"/>
                  <a:pt x="7425" y="8937"/>
                  <a:pt x="7425" y="10800"/>
                </a:cubicBezTo>
                <a:cubicBezTo>
                  <a:pt x="7425" y="12663"/>
                  <a:pt x="8937" y="14175"/>
                  <a:pt x="10800" y="14175"/>
                </a:cubicBezTo>
                <a:close/>
                <a:moveTo>
                  <a:pt x="10800" y="4725"/>
                </a:moveTo>
                <a:cubicBezTo>
                  <a:pt x="14153" y="4725"/>
                  <a:pt x="16875" y="7447"/>
                  <a:pt x="16875" y="10800"/>
                </a:cubicBezTo>
                <a:cubicBezTo>
                  <a:pt x="16875" y="14153"/>
                  <a:pt x="14153" y="16875"/>
                  <a:pt x="10800" y="16875"/>
                </a:cubicBezTo>
                <a:cubicBezTo>
                  <a:pt x="7447" y="16875"/>
                  <a:pt x="4725" y="14153"/>
                  <a:pt x="4725" y="10800"/>
                </a:cubicBezTo>
                <a:cubicBezTo>
                  <a:pt x="4725" y="7447"/>
                  <a:pt x="7447" y="4725"/>
                  <a:pt x="10800" y="4725"/>
                </a:cubicBezTo>
                <a:close/>
                <a:moveTo>
                  <a:pt x="9450" y="10800"/>
                </a:moveTo>
                <a:cubicBezTo>
                  <a:pt x="9450" y="10055"/>
                  <a:pt x="10055" y="9450"/>
                  <a:pt x="10800" y="9450"/>
                </a:cubicBezTo>
                <a:cubicBezTo>
                  <a:pt x="11545" y="9450"/>
                  <a:pt x="12150" y="10055"/>
                  <a:pt x="12150" y="10800"/>
                </a:cubicBezTo>
                <a:cubicBezTo>
                  <a:pt x="12150" y="11545"/>
                  <a:pt x="11545" y="12150"/>
                  <a:pt x="10800" y="12150"/>
                </a:cubicBezTo>
                <a:cubicBezTo>
                  <a:pt x="10055" y="12150"/>
                  <a:pt x="9450" y="11545"/>
                  <a:pt x="9450" y="1080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2" name="Text 6"/>
          <p:cNvSpPr txBox="1"/>
          <p:nvPr/>
        </p:nvSpPr>
        <p:spPr>
          <a:xfrm>
            <a:off x="774977" y="1485763"/>
            <a:ext cx="6334126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z="15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项目目标</a:t>
            </a:r>
          </a:p>
        </p:txBody>
      </p:sp>
      <p:sp>
        <p:nvSpPr>
          <p:cNvPr id="133" name="Shape 7"/>
          <p:cNvSpPr/>
          <p:nvPr/>
        </p:nvSpPr>
        <p:spPr>
          <a:xfrm>
            <a:off x="536852" y="1873035"/>
            <a:ext cx="254001" cy="254001"/>
          </a:xfrm>
          <a:prstGeom prst="ellipse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Text 8"/>
          <p:cNvSpPr txBox="1"/>
          <p:nvPr/>
        </p:nvSpPr>
        <p:spPr>
          <a:xfrm>
            <a:off x="505102" y="1923835"/>
            <a:ext cx="3175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000">
                <a:solidFill>
                  <a:srgbClr val="1A1D21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35" name="Text 9"/>
          <p:cNvSpPr txBox="1"/>
          <p:nvPr/>
        </p:nvSpPr>
        <p:spPr>
          <a:xfrm>
            <a:off x="886034" y="1887322"/>
            <a:ext cx="619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构建覆盖</a:t>
            </a:r>
            <a:r>
              <a:rPr b="1">
                <a:solidFill>
                  <a:srgbClr val="5E8B7E"/>
                </a:solidFill>
              </a:rPr>
              <a:t>651种药物</a:t>
            </a:r>
            <a:r>
              <a:t>的代谢疾病用药推荐系统</a:t>
            </a:r>
          </a:p>
        </p:txBody>
      </p:sp>
      <p:sp>
        <p:nvSpPr>
          <p:cNvPr id="136" name="Shape 10"/>
          <p:cNvSpPr/>
          <p:nvPr/>
        </p:nvSpPr>
        <p:spPr>
          <a:xfrm>
            <a:off x="536852" y="2222217"/>
            <a:ext cx="254001" cy="254001"/>
          </a:xfrm>
          <a:prstGeom prst="ellipse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Text 11"/>
          <p:cNvSpPr txBox="1"/>
          <p:nvPr/>
        </p:nvSpPr>
        <p:spPr>
          <a:xfrm>
            <a:off x="505102" y="2273017"/>
            <a:ext cx="3175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000">
                <a:solidFill>
                  <a:srgbClr val="1A1D21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38" name="Text 12"/>
          <p:cNvSpPr txBox="1"/>
          <p:nvPr/>
        </p:nvSpPr>
        <p:spPr>
          <a:xfrm>
            <a:off x="886034" y="2236504"/>
            <a:ext cx="619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解决</a:t>
            </a:r>
            <a:r>
              <a:rPr b="1">
                <a:solidFill>
                  <a:srgbClr val="5E8B7E"/>
                </a:solidFill>
              </a:rPr>
              <a:t>中西医逻辑鸿沟</a:t>
            </a:r>
            <a:r>
              <a:t>与</a:t>
            </a:r>
            <a:r>
              <a:rPr b="1">
                <a:solidFill>
                  <a:srgbClr val="5E8B7E"/>
                </a:solidFill>
              </a:rPr>
              <a:t>中成药幻觉</a:t>
            </a:r>
            <a:r>
              <a:t>难题</a:t>
            </a:r>
          </a:p>
        </p:txBody>
      </p:sp>
      <p:sp>
        <p:nvSpPr>
          <p:cNvPr id="139" name="Shape 13"/>
          <p:cNvSpPr/>
          <p:nvPr/>
        </p:nvSpPr>
        <p:spPr>
          <a:xfrm>
            <a:off x="536852" y="2571399"/>
            <a:ext cx="254001" cy="254001"/>
          </a:xfrm>
          <a:prstGeom prst="ellipse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0" name="Text 14"/>
          <p:cNvSpPr txBox="1"/>
          <p:nvPr/>
        </p:nvSpPr>
        <p:spPr>
          <a:xfrm>
            <a:off x="505102" y="2622199"/>
            <a:ext cx="3175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000">
                <a:solidFill>
                  <a:srgbClr val="1A1D21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41" name="Text 15"/>
          <p:cNvSpPr txBox="1"/>
          <p:nvPr/>
        </p:nvSpPr>
        <p:spPr>
          <a:xfrm>
            <a:off x="886034" y="2585686"/>
            <a:ext cx="619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实现</a:t>
            </a:r>
            <a:r>
              <a:rPr b="1">
                <a:solidFill>
                  <a:srgbClr val="5E8B7E"/>
                </a:solidFill>
              </a:rPr>
              <a:t>可解释推理</a:t>
            </a:r>
            <a:r>
              <a:t>与</a:t>
            </a:r>
            <a:r>
              <a:rPr b="1">
                <a:solidFill>
                  <a:srgbClr val="5E8B7E"/>
                </a:solidFill>
              </a:rPr>
              <a:t>多层安全防护</a:t>
            </a:r>
          </a:p>
        </p:txBody>
      </p:sp>
      <p:sp>
        <p:nvSpPr>
          <p:cNvPr id="142" name="Shape 16"/>
          <p:cNvSpPr/>
          <p:nvPr/>
        </p:nvSpPr>
        <p:spPr>
          <a:xfrm>
            <a:off x="536852" y="2920581"/>
            <a:ext cx="254001" cy="254001"/>
          </a:xfrm>
          <a:prstGeom prst="ellipse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Text 17"/>
          <p:cNvSpPr txBox="1"/>
          <p:nvPr/>
        </p:nvSpPr>
        <p:spPr>
          <a:xfrm>
            <a:off x="505102" y="2971381"/>
            <a:ext cx="3175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000">
                <a:solidFill>
                  <a:srgbClr val="1A1D21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44" name="Text 18"/>
          <p:cNvSpPr txBox="1"/>
          <p:nvPr/>
        </p:nvSpPr>
        <p:spPr>
          <a:xfrm>
            <a:off x="886034" y="2934868"/>
            <a:ext cx="619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在阿里天池竞赛中取得</a:t>
            </a:r>
            <a:r>
              <a:rPr b="1">
                <a:solidFill>
                  <a:srgbClr val="5E8B7E"/>
                </a:solidFill>
              </a:rPr>
              <a:t>Top 5%</a:t>
            </a:r>
            <a:r>
              <a:t>优异成绩</a:t>
            </a:r>
          </a:p>
        </p:txBody>
      </p:sp>
      <p:sp>
        <p:nvSpPr>
          <p:cNvPr id="145" name="Shape 19"/>
          <p:cNvSpPr/>
          <p:nvPr/>
        </p:nvSpPr>
        <p:spPr>
          <a:xfrm>
            <a:off x="7335028" y="1308842"/>
            <a:ext cx="4530870" cy="13161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4" y="0"/>
                </a:moveTo>
                <a:lnTo>
                  <a:pt x="21146" y="0"/>
                </a:lnTo>
                <a:cubicBezTo>
                  <a:pt x="21397" y="0"/>
                  <a:pt x="21600" y="700"/>
                  <a:pt x="21600" y="1563"/>
                </a:cubicBezTo>
                <a:lnTo>
                  <a:pt x="21600" y="20037"/>
                </a:lnTo>
                <a:cubicBezTo>
                  <a:pt x="21600" y="20900"/>
                  <a:pt x="21397" y="21600"/>
                  <a:pt x="21146" y="21600"/>
                </a:cubicBezTo>
                <a:lnTo>
                  <a:pt x="454" y="21600"/>
                </a:lnTo>
                <a:cubicBezTo>
                  <a:pt x="203" y="21600"/>
                  <a:pt x="0" y="20900"/>
                  <a:pt x="0" y="20037"/>
                </a:cubicBezTo>
                <a:lnTo>
                  <a:pt x="0" y="1563"/>
                </a:lnTo>
                <a:cubicBezTo>
                  <a:pt x="0" y="700"/>
                  <a:pt x="203" y="0"/>
                  <a:pt x="454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23091">
            <a:solidFill>
              <a:srgbClr val="5E8B7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Shape 20"/>
          <p:cNvSpPr/>
          <p:nvPr/>
        </p:nvSpPr>
        <p:spPr>
          <a:xfrm>
            <a:off x="7537320" y="1474750"/>
            <a:ext cx="284875" cy="2858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46" h="21600" fill="norm" stroke="1" extrusionOk="0">
                <a:moveTo>
                  <a:pt x="6017" y="4"/>
                </a:moveTo>
                <a:lnTo>
                  <a:pt x="15429" y="4"/>
                </a:lnTo>
                <a:cubicBezTo>
                  <a:pt x="16542" y="4"/>
                  <a:pt x="17450" y="924"/>
                  <a:pt x="17408" y="2037"/>
                </a:cubicBezTo>
                <a:cubicBezTo>
                  <a:pt x="17399" y="2261"/>
                  <a:pt x="17391" y="2484"/>
                  <a:pt x="17378" y="2704"/>
                </a:cubicBezTo>
                <a:lnTo>
                  <a:pt x="19462" y="2704"/>
                </a:lnTo>
                <a:cubicBezTo>
                  <a:pt x="20559" y="2704"/>
                  <a:pt x="21525" y="3615"/>
                  <a:pt x="21441" y="4804"/>
                </a:cubicBezTo>
                <a:cubicBezTo>
                  <a:pt x="21126" y="9178"/>
                  <a:pt x="18899" y="11582"/>
                  <a:pt x="16483" y="12839"/>
                </a:cubicBezTo>
                <a:cubicBezTo>
                  <a:pt x="15819" y="13185"/>
                  <a:pt x="15143" y="13443"/>
                  <a:pt x="14500" y="13632"/>
                </a:cubicBezTo>
                <a:cubicBezTo>
                  <a:pt x="13651" y="14839"/>
                  <a:pt x="12769" y="15476"/>
                  <a:pt x="12067" y="15817"/>
                </a:cubicBezTo>
                <a:lnTo>
                  <a:pt x="12067" y="18901"/>
                </a:lnTo>
                <a:lnTo>
                  <a:pt x="14756" y="18901"/>
                </a:lnTo>
                <a:cubicBezTo>
                  <a:pt x="15500" y="18901"/>
                  <a:pt x="16101" y="19504"/>
                  <a:pt x="16101" y="20250"/>
                </a:cubicBezTo>
                <a:cubicBezTo>
                  <a:pt x="16101" y="20997"/>
                  <a:pt x="15500" y="21600"/>
                  <a:pt x="14756" y="21600"/>
                </a:cubicBezTo>
                <a:lnTo>
                  <a:pt x="6689" y="21600"/>
                </a:lnTo>
                <a:cubicBezTo>
                  <a:pt x="5946" y="21600"/>
                  <a:pt x="5345" y="20997"/>
                  <a:pt x="5345" y="20250"/>
                </a:cubicBezTo>
                <a:cubicBezTo>
                  <a:pt x="5345" y="19504"/>
                  <a:pt x="5946" y="18901"/>
                  <a:pt x="6689" y="18901"/>
                </a:cubicBezTo>
                <a:lnTo>
                  <a:pt x="9378" y="18901"/>
                </a:lnTo>
                <a:lnTo>
                  <a:pt x="9378" y="15817"/>
                </a:lnTo>
                <a:cubicBezTo>
                  <a:pt x="8706" y="15492"/>
                  <a:pt x="7870" y="14889"/>
                  <a:pt x="7055" y="13780"/>
                </a:cubicBezTo>
                <a:cubicBezTo>
                  <a:pt x="6282" y="13577"/>
                  <a:pt x="5442" y="13270"/>
                  <a:pt x="4622" y="12806"/>
                </a:cubicBezTo>
                <a:cubicBezTo>
                  <a:pt x="2349" y="11528"/>
                  <a:pt x="299" y="9119"/>
                  <a:pt x="5" y="4796"/>
                </a:cubicBezTo>
                <a:cubicBezTo>
                  <a:pt x="-75" y="3611"/>
                  <a:pt x="887" y="2699"/>
                  <a:pt x="1984" y="2699"/>
                </a:cubicBezTo>
                <a:lnTo>
                  <a:pt x="4068" y="2699"/>
                </a:lnTo>
                <a:cubicBezTo>
                  <a:pt x="4055" y="2480"/>
                  <a:pt x="4047" y="2261"/>
                  <a:pt x="4038" y="2033"/>
                </a:cubicBezTo>
                <a:cubicBezTo>
                  <a:pt x="3996" y="915"/>
                  <a:pt x="4904" y="0"/>
                  <a:pt x="6017" y="0"/>
                </a:cubicBezTo>
                <a:close/>
                <a:moveTo>
                  <a:pt x="4219" y="4728"/>
                </a:moveTo>
                <a:lnTo>
                  <a:pt x="2017" y="4728"/>
                </a:lnTo>
                <a:cubicBezTo>
                  <a:pt x="2278" y="8301"/>
                  <a:pt x="3912" y="10089"/>
                  <a:pt x="5597" y="11038"/>
                </a:cubicBezTo>
                <a:cubicBezTo>
                  <a:pt x="4992" y="9465"/>
                  <a:pt x="4492" y="7411"/>
                  <a:pt x="4219" y="4728"/>
                </a:cubicBezTo>
                <a:close/>
                <a:moveTo>
                  <a:pt x="15920" y="10836"/>
                </a:moveTo>
                <a:cubicBezTo>
                  <a:pt x="17622" y="9832"/>
                  <a:pt x="19160" y="8048"/>
                  <a:pt x="19420" y="4728"/>
                </a:cubicBezTo>
                <a:lnTo>
                  <a:pt x="17223" y="4728"/>
                </a:lnTo>
                <a:cubicBezTo>
                  <a:pt x="16962" y="7297"/>
                  <a:pt x="16492" y="9292"/>
                  <a:pt x="15920" y="10836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7" name="Text 21"/>
          <p:cNvSpPr txBox="1"/>
          <p:nvPr/>
        </p:nvSpPr>
        <p:spPr>
          <a:xfrm>
            <a:off x="7469244" y="1862134"/>
            <a:ext cx="426243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竞赛排名</a:t>
            </a:r>
          </a:p>
        </p:txBody>
      </p:sp>
      <p:sp>
        <p:nvSpPr>
          <p:cNvPr id="148" name="Text 22"/>
          <p:cNvSpPr txBox="1"/>
          <p:nvPr/>
        </p:nvSpPr>
        <p:spPr>
          <a:xfrm>
            <a:off x="7405744" y="2039913"/>
            <a:ext cx="4389438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80000"/>
              </a:lnSpc>
              <a:defRPr b="1" sz="3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Top 5%</a:t>
            </a:r>
          </a:p>
        </p:txBody>
      </p:sp>
      <p:sp>
        <p:nvSpPr>
          <p:cNvPr id="149" name="Shape 23"/>
          <p:cNvSpPr/>
          <p:nvPr/>
        </p:nvSpPr>
        <p:spPr>
          <a:xfrm>
            <a:off x="7335028" y="2766341"/>
            <a:ext cx="4530870" cy="13161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4" y="0"/>
                </a:moveTo>
                <a:lnTo>
                  <a:pt x="21146" y="0"/>
                </a:lnTo>
                <a:cubicBezTo>
                  <a:pt x="21397" y="0"/>
                  <a:pt x="21600" y="700"/>
                  <a:pt x="21600" y="1563"/>
                </a:cubicBezTo>
                <a:lnTo>
                  <a:pt x="21600" y="20037"/>
                </a:lnTo>
                <a:cubicBezTo>
                  <a:pt x="21600" y="20900"/>
                  <a:pt x="21397" y="21600"/>
                  <a:pt x="21146" y="21600"/>
                </a:cubicBezTo>
                <a:lnTo>
                  <a:pt x="454" y="21600"/>
                </a:lnTo>
                <a:cubicBezTo>
                  <a:pt x="203" y="21600"/>
                  <a:pt x="0" y="20900"/>
                  <a:pt x="0" y="20037"/>
                </a:cubicBezTo>
                <a:lnTo>
                  <a:pt x="0" y="1563"/>
                </a:lnTo>
                <a:cubicBezTo>
                  <a:pt x="0" y="700"/>
                  <a:pt x="203" y="0"/>
                  <a:pt x="454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23091">
            <a:solidFill>
              <a:srgbClr val="4A6C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0" name="Shape 24"/>
          <p:cNvSpPr/>
          <p:nvPr/>
        </p:nvSpPr>
        <p:spPr>
          <a:xfrm>
            <a:off x="7572430" y="2932307"/>
            <a:ext cx="214314" cy="285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700"/>
                </a:moveTo>
                <a:cubicBezTo>
                  <a:pt x="0" y="1211"/>
                  <a:pt x="1614" y="0"/>
                  <a:pt x="3600" y="0"/>
                </a:cubicBezTo>
                <a:lnTo>
                  <a:pt x="12009" y="0"/>
                </a:lnTo>
                <a:cubicBezTo>
                  <a:pt x="12966" y="0"/>
                  <a:pt x="13882" y="283"/>
                  <a:pt x="14557" y="789"/>
                </a:cubicBezTo>
                <a:lnTo>
                  <a:pt x="20548" y="5286"/>
                </a:lnTo>
                <a:cubicBezTo>
                  <a:pt x="21223" y="5792"/>
                  <a:pt x="21600" y="6480"/>
                  <a:pt x="21600" y="7197"/>
                </a:cubicBezTo>
                <a:lnTo>
                  <a:pt x="21600" y="18900"/>
                </a:lnTo>
                <a:cubicBezTo>
                  <a:pt x="21600" y="20389"/>
                  <a:pt x="19986" y="21600"/>
                  <a:pt x="18000" y="21600"/>
                </a:cubicBezTo>
                <a:lnTo>
                  <a:pt x="3600" y="21600"/>
                </a:lnTo>
                <a:cubicBezTo>
                  <a:pt x="1614" y="21600"/>
                  <a:pt x="0" y="20389"/>
                  <a:pt x="0" y="18900"/>
                </a:cubicBezTo>
                <a:lnTo>
                  <a:pt x="0" y="2700"/>
                </a:lnTo>
                <a:close/>
                <a:moveTo>
                  <a:pt x="11700" y="2468"/>
                </a:moveTo>
                <a:lnTo>
                  <a:pt x="11700" y="6412"/>
                </a:lnTo>
                <a:cubicBezTo>
                  <a:pt x="11700" y="6974"/>
                  <a:pt x="12302" y="7425"/>
                  <a:pt x="13050" y="7425"/>
                </a:cubicBezTo>
                <a:lnTo>
                  <a:pt x="18309" y="7425"/>
                </a:lnTo>
                <a:lnTo>
                  <a:pt x="11700" y="2468"/>
                </a:lnTo>
                <a:close/>
                <a:moveTo>
                  <a:pt x="6750" y="10800"/>
                </a:moveTo>
                <a:cubicBezTo>
                  <a:pt x="6002" y="10800"/>
                  <a:pt x="5400" y="11251"/>
                  <a:pt x="5400" y="11813"/>
                </a:cubicBezTo>
                <a:cubicBezTo>
                  <a:pt x="5400" y="12374"/>
                  <a:pt x="6002" y="12825"/>
                  <a:pt x="6750" y="12825"/>
                </a:cubicBezTo>
                <a:lnTo>
                  <a:pt x="14850" y="12825"/>
                </a:lnTo>
                <a:cubicBezTo>
                  <a:pt x="15598" y="12825"/>
                  <a:pt x="16200" y="12374"/>
                  <a:pt x="16200" y="11813"/>
                </a:cubicBezTo>
                <a:cubicBezTo>
                  <a:pt x="16200" y="11251"/>
                  <a:pt x="15598" y="10800"/>
                  <a:pt x="14850" y="10800"/>
                </a:cubicBezTo>
                <a:lnTo>
                  <a:pt x="6750" y="10800"/>
                </a:lnTo>
                <a:close/>
                <a:moveTo>
                  <a:pt x="6750" y="14850"/>
                </a:moveTo>
                <a:cubicBezTo>
                  <a:pt x="6002" y="14850"/>
                  <a:pt x="5400" y="15301"/>
                  <a:pt x="5400" y="15863"/>
                </a:cubicBezTo>
                <a:cubicBezTo>
                  <a:pt x="5400" y="16424"/>
                  <a:pt x="6002" y="16875"/>
                  <a:pt x="6750" y="16875"/>
                </a:cubicBezTo>
                <a:lnTo>
                  <a:pt x="14850" y="16875"/>
                </a:lnTo>
                <a:cubicBezTo>
                  <a:pt x="15598" y="16875"/>
                  <a:pt x="16200" y="16424"/>
                  <a:pt x="16200" y="15863"/>
                </a:cubicBezTo>
                <a:cubicBezTo>
                  <a:pt x="16200" y="15301"/>
                  <a:pt x="15598" y="14850"/>
                  <a:pt x="14850" y="14850"/>
                </a:cubicBezTo>
                <a:lnTo>
                  <a:pt x="6750" y="14850"/>
                </a:ln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1" name="Text 25"/>
          <p:cNvSpPr txBox="1"/>
          <p:nvPr/>
        </p:nvSpPr>
        <p:spPr>
          <a:xfrm>
            <a:off x="7469244" y="3319636"/>
            <a:ext cx="426243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学术成果</a:t>
            </a:r>
          </a:p>
        </p:txBody>
      </p:sp>
      <p:sp>
        <p:nvSpPr>
          <p:cNvPr id="152" name="Text 26"/>
          <p:cNvSpPr txBox="1"/>
          <p:nvPr/>
        </p:nvSpPr>
        <p:spPr>
          <a:xfrm>
            <a:off x="7405744" y="3459312"/>
            <a:ext cx="4389438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80000"/>
              </a:lnSpc>
              <a:defRPr b="1" sz="3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EI会议</a:t>
            </a:r>
          </a:p>
        </p:txBody>
      </p:sp>
      <p:sp>
        <p:nvSpPr>
          <p:cNvPr id="153" name="Shape 27"/>
          <p:cNvSpPr/>
          <p:nvPr/>
        </p:nvSpPr>
        <p:spPr>
          <a:xfrm>
            <a:off x="7335028" y="4223842"/>
            <a:ext cx="4530870" cy="13161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4" y="0"/>
                </a:moveTo>
                <a:lnTo>
                  <a:pt x="21146" y="0"/>
                </a:lnTo>
                <a:cubicBezTo>
                  <a:pt x="21397" y="0"/>
                  <a:pt x="21600" y="700"/>
                  <a:pt x="21600" y="1563"/>
                </a:cubicBezTo>
                <a:lnTo>
                  <a:pt x="21600" y="20037"/>
                </a:lnTo>
                <a:cubicBezTo>
                  <a:pt x="21600" y="20900"/>
                  <a:pt x="21397" y="21600"/>
                  <a:pt x="21146" y="21600"/>
                </a:cubicBezTo>
                <a:lnTo>
                  <a:pt x="454" y="21600"/>
                </a:lnTo>
                <a:cubicBezTo>
                  <a:pt x="203" y="21600"/>
                  <a:pt x="0" y="20900"/>
                  <a:pt x="0" y="20037"/>
                </a:cubicBezTo>
                <a:lnTo>
                  <a:pt x="0" y="1563"/>
                </a:lnTo>
                <a:cubicBezTo>
                  <a:pt x="0" y="700"/>
                  <a:pt x="203" y="0"/>
                  <a:pt x="454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23091">
            <a:solidFill>
              <a:srgbClr val="5E8B7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Shape 28"/>
          <p:cNvSpPr/>
          <p:nvPr/>
        </p:nvSpPr>
        <p:spPr>
          <a:xfrm>
            <a:off x="7500994" y="4398738"/>
            <a:ext cx="357189" cy="2589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12737" y="0"/>
                  <a:pt x="14310" y="2169"/>
                  <a:pt x="14310" y="4841"/>
                </a:cubicBezTo>
                <a:cubicBezTo>
                  <a:pt x="14310" y="7513"/>
                  <a:pt x="12737" y="9683"/>
                  <a:pt x="10800" y="9683"/>
                </a:cubicBezTo>
                <a:cubicBezTo>
                  <a:pt x="8863" y="9683"/>
                  <a:pt x="7290" y="7513"/>
                  <a:pt x="7290" y="4841"/>
                </a:cubicBezTo>
                <a:cubicBezTo>
                  <a:pt x="7290" y="2169"/>
                  <a:pt x="8863" y="0"/>
                  <a:pt x="10800" y="0"/>
                </a:cubicBezTo>
                <a:close/>
                <a:moveTo>
                  <a:pt x="3240" y="3352"/>
                </a:moveTo>
                <a:cubicBezTo>
                  <a:pt x="4581" y="3352"/>
                  <a:pt x="5670" y="4854"/>
                  <a:pt x="5670" y="6703"/>
                </a:cubicBezTo>
                <a:cubicBezTo>
                  <a:pt x="5670" y="8553"/>
                  <a:pt x="4581" y="10055"/>
                  <a:pt x="3240" y="10055"/>
                </a:cubicBezTo>
                <a:cubicBezTo>
                  <a:pt x="1899" y="10055"/>
                  <a:pt x="810" y="8553"/>
                  <a:pt x="810" y="6703"/>
                </a:cubicBezTo>
                <a:cubicBezTo>
                  <a:pt x="810" y="4854"/>
                  <a:pt x="1899" y="3352"/>
                  <a:pt x="3240" y="3352"/>
                </a:cubicBezTo>
                <a:close/>
                <a:moveTo>
                  <a:pt x="0" y="18621"/>
                </a:moveTo>
                <a:cubicBezTo>
                  <a:pt x="0" y="15329"/>
                  <a:pt x="1934" y="12662"/>
                  <a:pt x="4320" y="12662"/>
                </a:cubicBezTo>
                <a:cubicBezTo>
                  <a:pt x="4752" y="12662"/>
                  <a:pt x="5171" y="12751"/>
                  <a:pt x="5565" y="12913"/>
                </a:cubicBezTo>
                <a:cubicBezTo>
                  <a:pt x="4455" y="14626"/>
                  <a:pt x="3780" y="16889"/>
                  <a:pt x="3780" y="19366"/>
                </a:cubicBezTo>
                <a:lnTo>
                  <a:pt x="3780" y="20110"/>
                </a:lnTo>
                <a:cubicBezTo>
                  <a:pt x="3780" y="20641"/>
                  <a:pt x="3861" y="21144"/>
                  <a:pt x="4006" y="21600"/>
                </a:cubicBezTo>
                <a:lnTo>
                  <a:pt x="1080" y="21600"/>
                </a:lnTo>
                <a:cubicBezTo>
                  <a:pt x="483" y="21600"/>
                  <a:pt x="0" y="20934"/>
                  <a:pt x="0" y="20110"/>
                </a:cubicBezTo>
                <a:lnTo>
                  <a:pt x="0" y="18621"/>
                </a:lnTo>
                <a:close/>
                <a:moveTo>
                  <a:pt x="17594" y="21600"/>
                </a:moveTo>
                <a:cubicBezTo>
                  <a:pt x="17739" y="21144"/>
                  <a:pt x="17820" y="20641"/>
                  <a:pt x="17820" y="20110"/>
                </a:cubicBezTo>
                <a:lnTo>
                  <a:pt x="17820" y="19366"/>
                </a:lnTo>
                <a:cubicBezTo>
                  <a:pt x="17820" y="16889"/>
                  <a:pt x="17145" y="14626"/>
                  <a:pt x="16035" y="12913"/>
                </a:cubicBezTo>
                <a:cubicBezTo>
                  <a:pt x="16429" y="12751"/>
                  <a:pt x="16848" y="12662"/>
                  <a:pt x="17280" y="12662"/>
                </a:cubicBezTo>
                <a:cubicBezTo>
                  <a:pt x="19666" y="12662"/>
                  <a:pt x="21600" y="15329"/>
                  <a:pt x="21600" y="18621"/>
                </a:cubicBezTo>
                <a:lnTo>
                  <a:pt x="21600" y="20110"/>
                </a:lnTo>
                <a:cubicBezTo>
                  <a:pt x="21600" y="20934"/>
                  <a:pt x="21117" y="21600"/>
                  <a:pt x="20520" y="21600"/>
                </a:cubicBezTo>
                <a:lnTo>
                  <a:pt x="17594" y="21600"/>
                </a:lnTo>
                <a:close/>
                <a:moveTo>
                  <a:pt x="15930" y="6703"/>
                </a:moveTo>
                <a:cubicBezTo>
                  <a:pt x="15930" y="4854"/>
                  <a:pt x="17019" y="3352"/>
                  <a:pt x="18360" y="3352"/>
                </a:cubicBezTo>
                <a:cubicBezTo>
                  <a:pt x="19701" y="3352"/>
                  <a:pt x="20790" y="4854"/>
                  <a:pt x="20790" y="6703"/>
                </a:cubicBezTo>
                <a:cubicBezTo>
                  <a:pt x="20790" y="8553"/>
                  <a:pt x="19701" y="10055"/>
                  <a:pt x="18360" y="10055"/>
                </a:cubicBezTo>
                <a:cubicBezTo>
                  <a:pt x="17019" y="10055"/>
                  <a:pt x="15930" y="8553"/>
                  <a:pt x="15930" y="6703"/>
                </a:cubicBezTo>
                <a:close/>
                <a:moveTo>
                  <a:pt x="5400" y="19366"/>
                </a:moveTo>
                <a:cubicBezTo>
                  <a:pt x="5400" y="15250"/>
                  <a:pt x="7816" y="11917"/>
                  <a:pt x="10800" y="11917"/>
                </a:cubicBezTo>
                <a:cubicBezTo>
                  <a:pt x="13783" y="11917"/>
                  <a:pt x="16200" y="15250"/>
                  <a:pt x="16200" y="19366"/>
                </a:cubicBezTo>
                <a:lnTo>
                  <a:pt x="16200" y="20110"/>
                </a:lnTo>
                <a:cubicBezTo>
                  <a:pt x="16200" y="20934"/>
                  <a:pt x="15717" y="21600"/>
                  <a:pt x="15120" y="21600"/>
                </a:cubicBezTo>
                <a:lnTo>
                  <a:pt x="6480" y="21600"/>
                </a:lnTo>
                <a:cubicBezTo>
                  <a:pt x="5883" y="21600"/>
                  <a:pt x="5400" y="20934"/>
                  <a:pt x="5400" y="20110"/>
                </a:cubicBezTo>
                <a:lnTo>
                  <a:pt x="5400" y="19366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5" name="Text 29"/>
          <p:cNvSpPr txBox="1"/>
          <p:nvPr/>
        </p:nvSpPr>
        <p:spPr>
          <a:xfrm>
            <a:off x="7469244" y="4777135"/>
            <a:ext cx="426243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团队规模</a:t>
            </a:r>
          </a:p>
        </p:txBody>
      </p:sp>
      <p:sp>
        <p:nvSpPr>
          <p:cNvPr id="156" name="Text 30"/>
          <p:cNvSpPr txBox="1"/>
          <p:nvPr/>
        </p:nvSpPr>
        <p:spPr>
          <a:xfrm>
            <a:off x="7405744" y="4916813"/>
            <a:ext cx="4389438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80000"/>
              </a:lnSpc>
              <a:defRPr b="1" sz="3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2人</a:t>
            </a:r>
          </a:p>
        </p:txBody>
      </p:sp>
      <p:sp>
        <p:nvSpPr>
          <p:cNvPr id="157" name="Shape 31"/>
          <p:cNvSpPr/>
          <p:nvPr/>
        </p:nvSpPr>
        <p:spPr>
          <a:xfrm>
            <a:off x="317500" y="5737661"/>
            <a:ext cx="2794000" cy="889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36" y="0"/>
                </a:moveTo>
                <a:lnTo>
                  <a:pt x="20864" y="0"/>
                </a:lnTo>
                <a:cubicBezTo>
                  <a:pt x="21270" y="0"/>
                  <a:pt x="21600" y="1036"/>
                  <a:pt x="21600" y="2314"/>
                </a:cubicBezTo>
                <a:lnTo>
                  <a:pt x="21600" y="19286"/>
                </a:lnTo>
                <a:cubicBezTo>
                  <a:pt x="21600" y="20564"/>
                  <a:pt x="21270" y="21600"/>
                  <a:pt x="20864" y="21600"/>
                </a:cubicBezTo>
                <a:lnTo>
                  <a:pt x="736" y="21600"/>
                </a:lnTo>
                <a:cubicBezTo>
                  <a:pt x="330" y="21600"/>
                  <a:pt x="0" y="20564"/>
                  <a:pt x="0" y="19286"/>
                </a:cubicBezTo>
                <a:lnTo>
                  <a:pt x="0" y="2314"/>
                </a:lnTo>
                <a:cubicBezTo>
                  <a:pt x="0" y="1037"/>
                  <a:pt x="330" y="0"/>
                  <a:pt x="736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8" name="Text 32"/>
          <p:cNvSpPr txBox="1"/>
          <p:nvPr/>
        </p:nvSpPr>
        <p:spPr>
          <a:xfrm>
            <a:off x="444500" y="5902761"/>
            <a:ext cx="25400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AVG_P 性能指标</a:t>
            </a:r>
          </a:p>
        </p:txBody>
      </p:sp>
      <p:sp>
        <p:nvSpPr>
          <p:cNvPr id="159" name="Text 33"/>
          <p:cNvSpPr txBox="1"/>
          <p:nvPr/>
        </p:nvSpPr>
        <p:spPr>
          <a:xfrm>
            <a:off x="404811" y="6144028"/>
            <a:ext cx="2619376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90000"/>
              </a:lnSpc>
              <a:defRPr b="1" sz="22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0.6693</a:t>
            </a:r>
          </a:p>
        </p:txBody>
      </p:sp>
      <p:sp>
        <p:nvSpPr>
          <p:cNvPr id="160" name="Shape 34"/>
          <p:cNvSpPr/>
          <p:nvPr/>
        </p:nvSpPr>
        <p:spPr>
          <a:xfrm>
            <a:off x="3238476" y="5737661"/>
            <a:ext cx="2794001" cy="889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36" y="0"/>
                </a:moveTo>
                <a:lnTo>
                  <a:pt x="20864" y="0"/>
                </a:lnTo>
                <a:cubicBezTo>
                  <a:pt x="21270" y="0"/>
                  <a:pt x="21600" y="1036"/>
                  <a:pt x="21600" y="2314"/>
                </a:cubicBezTo>
                <a:lnTo>
                  <a:pt x="21600" y="19286"/>
                </a:lnTo>
                <a:cubicBezTo>
                  <a:pt x="21600" y="20564"/>
                  <a:pt x="21270" y="21600"/>
                  <a:pt x="20864" y="21600"/>
                </a:cubicBezTo>
                <a:lnTo>
                  <a:pt x="736" y="21600"/>
                </a:lnTo>
                <a:cubicBezTo>
                  <a:pt x="330" y="21600"/>
                  <a:pt x="0" y="20564"/>
                  <a:pt x="0" y="19286"/>
                </a:cubicBezTo>
                <a:lnTo>
                  <a:pt x="0" y="2314"/>
                </a:lnTo>
                <a:cubicBezTo>
                  <a:pt x="0" y="1037"/>
                  <a:pt x="330" y="0"/>
                  <a:pt x="736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1" name="Text 35"/>
          <p:cNvSpPr txBox="1"/>
          <p:nvPr/>
        </p:nvSpPr>
        <p:spPr>
          <a:xfrm>
            <a:off x="3365477" y="5915461"/>
            <a:ext cx="2540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F1 Score</a:t>
            </a:r>
          </a:p>
        </p:txBody>
      </p:sp>
      <p:sp>
        <p:nvSpPr>
          <p:cNvPr id="162" name="Text 36"/>
          <p:cNvSpPr txBox="1"/>
          <p:nvPr/>
        </p:nvSpPr>
        <p:spPr>
          <a:xfrm>
            <a:off x="3325790" y="6144028"/>
            <a:ext cx="2619376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90000"/>
              </a:lnSpc>
              <a:defRPr b="1" sz="22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0.527</a:t>
            </a:r>
          </a:p>
        </p:txBody>
      </p:sp>
      <p:sp>
        <p:nvSpPr>
          <p:cNvPr id="163" name="Shape 37"/>
          <p:cNvSpPr/>
          <p:nvPr/>
        </p:nvSpPr>
        <p:spPr>
          <a:xfrm>
            <a:off x="6159453" y="5737661"/>
            <a:ext cx="2794001" cy="889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36" y="0"/>
                </a:moveTo>
                <a:lnTo>
                  <a:pt x="20864" y="0"/>
                </a:lnTo>
                <a:cubicBezTo>
                  <a:pt x="21270" y="0"/>
                  <a:pt x="21600" y="1036"/>
                  <a:pt x="21600" y="2314"/>
                </a:cubicBezTo>
                <a:lnTo>
                  <a:pt x="21600" y="19286"/>
                </a:lnTo>
                <a:cubicBezTo>
                  <a:pt x="21600" y="20564"/>
                  <a:pt x="21270" y="21600"/>
                  <a:pt x="20864" y="21600"/>
                </a:cubicBezTo>
                <a:lnTo>
                  <a:pt x="736" y="21600"/>
                </a:lnTo>
                <a:cubicBezTo>
                  <a:pt x="330" y="21600"/>
                  <a:pt x="0" y="20564"/>
                  <a:pt x="0" y="19286"/>
                </a:cubicBezTo>
                <a:lnTo>
                  <a:pt x="0" y="2314"/>
                </a:lnTo>
                <a:cubicBezTo>
                  <a:pt x="0" y="1037"/>
                  <a:pt x="330" y="0"/>
                  <a:pt x="736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Text 38"/>
          <p:cNvSpPr txBox="1"/>
          <p:nvPr/>
        </p:nvSpPr>
        <p:spPr>
          <a:xfrm>
            <a:off x="6286453" y="5902761"/>
            <a:ext cx="2540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逼近SOTA</a:t>
            </a:r>
          </a:p>
        </p:txBody>
      </p:sp>
      <p:sp>
        <p:nvSpPr>
          <p:cNvPr id="165" name="Text 39"/>
          <p:cNvSpPr txBox="1"/>
          <p:nvPr/>
        </p:nvSpPr>
        <p:spPr>
          <a:xfrm>
            <a:off x="6246767" y="6144028"/>
            <a:ext cx="2619376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90000"/>
              </a:lnSpc>
              <a:defRPr b="1" sz="22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0.543</a:t>
            </a:r>
          </a:p>
        </p:txBody>
      </p:sp>
      <p:sp>
        <p:nvSpPr>
          <p:cNvPr id="166" name="Shape 40"/>
          <p:cNvSpPr/>
          <p:nvPr/>
        </p:nvSpPr>
        <p:spPr>
          <a:xfrm>
            <a:off x="9080431" y="5737661"/>
            <a:ext cx="2794001" cy="889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36" y="0"/>
                </a:moveTo>
                <a:lnTo>
                  <a:pt x="20864" y="0"/>
                </a:lnTo>
                <a:cubicBezTo>
                  <a:pt x="21270" y="0"/>
                  <a:pt x="21600" y="1036"/>
                  <a:pt x="21600" y="2314"/>
                </a:cubicBezTo>
                <a:lnTo>
                  <a:pt x="21600" y="19286"/>
                </a:lnTo>
                <a:cubicBezTo>
                  <a:pt x="21600" y="20564"/>
                  <a:pt x="21270" y="21600"/>
                  <a:pt x="20864" y="21600"/>
                </a:cubicBezTo>
                <a:lnTo>
                  <a:pt x="736" y="21600"/>
                </a:lnTo>
                <a:cubicBezTo>
                  <a:pt x="330" y="21600"/>
                  <a:pt x="0" y="20564"/>
                  <a:pt x="0" y="19286"/>
                </a:cubicBezTo>
                <a:lnTo>
                  <a:pt x="0" y="2314"/>
                </a:lnTo>
                <a:cubicBezTo>
                  <a:pt x="0" y="1037"/>
                  <a:pt x="330" y="0"/>
                  <a:pt x="736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7" name="Text 41"/>
          <p:cNvSpPr txBox="1"/>
          <p:nvPr/>
        </p:nvSpPr>
        <p:spPr>
          <a:xfrm>
            <a:off x="9207431" y="5902761"/>
            <a:ext cx="2540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置信度阈值</a:t>
            </a:r>
          </a:p>
        </p:txBody>
      </p:sp>
      <p:sp>
        <p:nvSpPr>
          <p:cNvPr id="168" name="Text 42"/>
          <p:cNvSpPr txBox="1"/>
          <p:nvPr/>
        </p:nvSpPr>
        <p:spPr>
          <a:xfrm>
            <a:off x="9167745" y="6144028"/>
            <a:ext cx="2619376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90000"/>
              </a:lnSpc>
              <a:defRPr b="1" sz="22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0.6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 0"/>
          <p:cNvSpPr txBox="1"/>
          <p:nvPr/>
        </p:nvSpPr>
        <p:spPr>
          <a:xfrm>
            <a:off x="326643" y="348437"/>
            <a:ext cx="116040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pc="51" sz="1000">
                <a:solidFill>
                  <a:srgbClr val="5E8B7E"/>
                </a:solidFill>
                <a:latin typeface="Liter"/>
                <a:ea typeface="Liter"/>
                <a:cs typeface="Liter"/>
                <a:sym typeface="Liter"/>
              </a:defRPr>
            </a:lvl1pPr>
          </a:lstStyle>
          <a:p>
            <a:pPr/>
            <a:r>
              <a:t>TECHNICAL INNOVATIONS</a:t>
            </a:r>
          </a:p>
        </p:txBody>
      </p:sp>
      <p:sp>
        <p:nvSpPr>
          <p:cNvPr id="171" name="Text 1"/>
          <p:cNvSpPr txBox="1"/>
          <p:nvPr/>
        </p:nvSpPr>
        <p:spPr>
          <a:xfrm>
            <a:off x="326643" y="517210"/>
            <a:ext cx="117347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80000"/>
              </a:lnSpc>
              <a:defRPr b="1" sz="3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技术创新亮点</a:t>
            </a:r>
          </a:p>
        </p:txBody>
      </p:sp>
      <p:sp>
        <p:nvSpPr>
          <p:cNvPr id="172" name="Shape 2"/>
          <p:cNvSpPr/>
          <p:nvPr/>
        </p:nvSpPr>
        <p:spPr>
          <a:xfrm>
            <a:off x="326643" y="1110485"/>
            <a:ext cx="783947" cy="32665"/>
          </a:xfrm>
          <a:prstGeom prst="rect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3" name="Shape 3"/>
          <p:cNvSpPr/>
          <p:nvPr/>
        </p:nvSpPr>
        <p:spPr>
          <a:xfrm>
            <a:off x="341491" y="1339113"/>
            <a:ext cx="5673963" cy="20251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3" y="0"/>
                </a:moveTo>
                <a:lnTo>
                  <a:pt x="21227" y="0"/>
                </a:lnTo>
                <a:cubicBezTo>
                  <a:pt x="21433" y="0"/>
                  <a:pt x="21600" y="468"/>
                  <a:pt x="21600" y="1045"/>
                </a:cubicBezTo>
                <a:lnTo>
                  <a:pt x="21600" y="20555"/>
                </a:lnTo>
                <a:cubicBezTo>
                  <a:pt x="21600" y="21132"/>
                  <a:pt x="21433" y="21600"/>
                  <a:pt x="21227" y="21600"/>
                </a:cubicBezTo>
                <a:lnTo>
                  <a:pt x="113" y="21600"/>
                </a:lnTo>
                <a:cubicBezTo>
                  <a:pt x="51" y="21600"/>
                  <a:pt x="0" y="21458"/>
                  <a:pt x="0" y="21283"/>
                </a:cubicBezTo>
                <a:lnTo>
                  <a:pt x="0" y="317"/>
                </a:lnTo>
                <a:cubicBezTo>
                  <a:pt x="0" y="142"/>
                  <a:pt x="51" y="0"/>
                  <a:pt x="113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Shape 4"/>
          <p:cNvSpPr/>
          <p:nvPr/>
        </p:nvSpPr>
        <p:spPr>
          <a:xfrm>
            <a:off x="341491" y="1339113"/>
            <a:ext cx="29696" cy="20251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458"/>
                  <a:pt x="0" y="21283"/>
                </a:cubicBezTo>
                <a:lnTo>
                  <a:pt x="0" y="317"/>
                </a:lnTo>
                <a:cubicBezTo>
                  <a:pt x="0" y="142"/>
                  <a:pt x="9671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5" name="Shape 5"/>
          <p:cNvSpPr/>
          <p:nvPr/>
        </p:nvSpPr>
        <p:spPr>
          <a:xfrm>
            <a:off x="552314" y="1535088"/>
            <a:ext cx="457302" cy="4573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086" y="0"/>
                </a:moveTo>
                <a:lnTo>
                  <a:pt x="18514" y="0"/>
                </a:lnTo>
                <a:cubicBezTo>
                  <a:pt x="20218" y="0"/>
                  <a:pt x="21600" y="1382"/>
                  <a:pt x="21600" y="3086"/>
                </a:cubicBezTo>
                <a:lnTo>
                  <a:pt x="21600" y="18514"/>
                </a:lnTo>
                <a:cubicBezTo>
                  <a:pt x="21600" y="20218"/>
                  <a:pt x="20218" y="21600"/>
                  <a:pt x="18514" y="21600"/>
                </a:cubicBezTo>
                <a:lnTo>
                  <a:pt x="3086" y="21600"/>
                </a:lnTo>
                <a:cubicBezTo>
                  <a:pt x="1382" y="21600"/>
                  <a:pt x="0" y="20218"/>
                  <a:pt x="0" y="18514"/>
                </a:cubicBezTo>
                <a:lnTo>
                  <a:pt x="0" y="3086"/>
                </a:lnTo>
                <a:cubicBezTo>
                  <a:pt x="0" y="1383"/>
                  <a:pt x="1383" y="0"/>
                  <a:pt x="3086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6" name="Shape 6"/>
          <p:cNvSpPr/>
          <p:nvPr/>
        </p:nvSpPr>
        <p:spPr>
          <a:xfrm>
            <a:off x="682949" y="1665698"/>
            <a:ext cx="195988" cy="1959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425" y="1013"/>
                </a:moveTo>
                <a:cubicBezTo>
                  <a:pt x="7425" y="451"/>
                  <a:pt x="6974" y="0"/>
                  <a:pt x="6413" y="0"/>
                </a:cubicBezTo>
                <a:cubicBezTo>
                  <a:pt x="5851" y="0"/>
                  <a:pt x="5400" y="451"/>
                  <a:pt x="5400" y="1013"/>
                </a:cubicBezTo>
                <a:lnTo>
                  <a:pt x="5400" y="2700"/>
                </a:lnTo>
                <a:cubicBezTo>
                  <a:pt x="3911" y="2700"/>
                  <a:pt x="2700" y="3911"/>
                  <a:pt x="2700" y="5400"/>
                </a:cubicBezTo>
                <a:lnTo>
                  <a:pt x="1013" y="5400"/>
                </a:lnTo>
                <a:cubicBezTo>
                  <a:pt x="451" y="5400"/>
                  <a:pt x="0" y="5851"/>
                  <a:pt x="0" y="6413"/>
                </a:cubicBezTo>
                <a:cubicBezTo>
                  <a:pt x="0" y="6974"/>
                  <a:pt x="451" y="7425"/>
                  <a:pt x="1013" y="7425"/>
                </a:cubicBezTo>
                <a:lnTo>
                  <a:pt x="2700" y="7425"/>
                </a:lnTo>
                <a:lnTo>
                  <a:pt x="2700" y="9787"/>
                </a:lnTo>
                <a:lnTo>
                  <a:pt x="1013" y="9787"/>
                </a:lnTo>
                <a:cubicBezTo>
                  <a:pt x="451" y="9787"/>
                  <a:pt x="0" y="10239"/>
                  <a:pt x="0" y="10800"/>
                </a:cubicBezTo>
                <a:cubicBezTo>
                  <a:pt x="0" y="11361"/>
                  <a:pt x="451" y="11812"/>
                  <a:pt x="1013" y="11812"/>
                </a:cubicBezTo>
                <a:lnTo>
                  <a:pt x="2700" y="11812"/>
                </a:lnTo>
                <a:lnTo>
                  <a:pt x="2700" y="14175"/>
                </a:lnTo>
                <a:lnTo>
                  <a:pt x="1013" y="14175"/>
                </a:lnTo>
                <a:cubicBezTo>
                  <a:pt x="451" y="14175"/>
                  <a:pt x="0" y="14626"/>
                  <a:pt x="0" y="15187"/>
                </a:cubicBezTo>
                <a:cubicBezTo>
                  <a:pt x="0" y="15749"/>
                  <a:pt x="451" y="16200"/>
                  <a:pt x="1013" y="16200"/>
                </a:cubicBezTo>
                <a:lnTo>
                  <a:pt x="2700" y="16200"/>
                </a:lnTo>
                <a:cubicBezTo>
                  <a:pt x="2700" y="17689"/>
                  <a:pt x="3911" y="18900"/>
                  <a:pt x="5400" y="18900"/>
                </a:cubicBezTo>
                <a:lnTo>
                  <a:pt x="5400" y="20587"/>
                </a:lnTo>
                <a:cubicBezTo>
                  <a:pt x="5400" y="21149"/>
                  <a:pt x="5851" y="21600"/>
                  <a:pt x="6413" y="21600"/>
                </a:cubicBezTo>
                <a:cubicBezTo>
                  <a:pt x="6974" y="21600"/>
                  <a:pt x="7425" y="21149"/>
                  <a:pt x="7425" y="20587"/>
                </a:cubicBezTo>
                <a:lnTo>
                  <a:pt x="7425" y="18900"/>
                </a:lnTo>
                <a:lnTo>
                  <a:pt x="9787" y="18900"/>
                </a:lnTo>
                <a:lnTo>
                  <a:pt x="9787" y="20587"/>
                </a:lnTo>
                <a:cubicBezTo>
                  <a:pt x="9787" y="21149"/>
                  <a:pt x="10239" y="21600"/>
                  <a:pt x="10800" y="21600"/>
                </a:cubicBezTo>
                <a:cubicBezTo>
                  <a:pt x="11361" y="21600"/>
                  <a:pt x="11812" y="21149"/>
                  <a:pt x="11812" y="20587"/>
                </a:cubicBezTo>
                <a:lnTo>
                  <a:pt x="11812" y="18900"/>
                </a:lnTo>
                <a:lnTo>
                  <a:pt x="14175" y="18900"/>
                </a:lnTo>
                <a:lnTo>
                  <a:pt x="14175" y="20587"/>
                </a:lnTo>
                <a:cubicBezTo>
                  <a:pt x="14175" y="21149"/>
                  <a:pt x="14626" y="21600"/>
                  <a:pt x="15187" y="21600"/>
                </a:cubicBezTo>
                <a:cubicBezTo>
                  <a:pt x="15749" y="21600"/>
                  <a:pt x="16200" y="21149"/>
                  <a:pt x="16200" y="20587"/>
                </a:cubicBezTo>
                <a:lnTo>
                  <a:pt x="16200" y="18900"/>
                </a:lnTo>
                <a:cubicBezTo>
                  <a:pt x="17689" y="18900"/>
                  <a:pt x="18900" y="17689"/>
                  <a:pt x="18900" y="16200"/>
                </a:cubicBezTo>
                <a:lnTo>
                  <a:pt x="20587" y="16200"/>
                </a:lnTo>
                <a:cubicBezTo>
                  <a:pt x="21149" y="16200"/>
                  <a:pt x="21600" y="15749"/>
                  <a:pt x="21600" y="15187"/>
                </a:cubicBezTo>
                <a:cubicBezTo>
                  <a:pt x="21600" y="14626"/>
                  <a:pt x="21149" y="14175"/>
                  <a:pt x="20587" y="14175"/>
                </a:cubicBezTo>
                <a:lnTo>
                  <a:pt x="18900" y="14175"/>
                </a:lnTo>
                <a:lnTo>
                  <a:pt x="18900" y="11812"/>
                </a:lnTo>
                <a:lnTo>
                  <a:pt x="20587" y="11812"/>
                </a:lnTo>
                <a:cubicBezTo>
                  <a:pt x="21149" y="11812"/>
                  <a:pt x="21600" y="11361"/>
                  <a:pt x="21600" y="10800"/>
                </a:cubicBezTo>
                <a:cubicBezTo>
                  <a:pt x="21600" y="10239"/>
                  <a:pt x="21149" y="9787"/>
                  <a:pt x="20587" y="9787"/>
                </a:cubicBezTo>
                <a:lnTo>
                  <a:pt x="18900" y="9787"/>
                </a:lnTo>
                <a:lnTo>
                  <a:pt x="18900" y="7425"/>
                </a:lnTo>
                <a:lnTo>
                  <a:pt x="20587" y="7425"/>
                </a:lnTo>
                <a:cubicBezTo>
                  <a:pt x="21149" y="7425"/>
                  <a:pt x="21600" y="6974"/>
                  <a:pt x="21600" y="6413"/>
                </a:cubicBezTo>
                <a:cubicBezTo>
                  <a:pt x="21600" y="5851"/>
                  <a:pt x="21149" y="5400"/>
                  <a:pt x="20587" y="5400"/>
                </a:cubicBezTo>
                <a:lnTo>
                  <a:pt x="18900" y="5400"/>
                </a:lnTo>
                <a:cubicBezTo>
                  <a:pt x="18900" y="3911"/>
                  <a:pt x="17689" y="2700"/>
                  <a:pt x="16200" y="2700"/>
                </a:cubicBezTo>
                <a:lnTo>
                  <a:pt x="16200" y="1013"/>
                </a:lnTo>
                <a:cubicBezTo>
                  <a:pt x="16200" y="451"/>
                  <a:pt x="15749" y="0"/>
                  <a:pt x="15187" y="0"/>
                </a:cubicBezTo>
                <a:cubicBezTo>
                  <a:pt x="14626" y="0"/>
                  <a:pt x="14175" y="451"/>
                  <a:pt x="14175" y="1013"/>
                </a:cubicBezTo>
                <a:lnTo>
                  <a:pt x="14175" y="2700"/>
                </a:lnTo>
                <a:lnTo>
                  <a:pt x="11812" y="2700"/>
                </a:lnTo>
                <a:lnTo>
                  <a:pt x="11812" y="1013"/>
                </a:lnTo>
                <a:cubicBezTo>
                  <a:pt x="11812" y="451"/>
                  <a:pt x="11361" y="0"/>
                  <a:pt x="10800" y="0"/>
                </a:cubicBezTo>
                <a:cubicBezTo>
                  <a:pt x="10239" y="0"/>
                  <a:pt x="9787" y="451"/>
                  <a:pt x="9787" y="1013"/>
                </a:cubicBezTo>
                <a:lnTo>
                  <a:pt x="9787" y="2700"/>
                </a:lnTo>
                <a:lnTo>
                  <a:pt x="7425" y="2700"/>
                </a:lnTo>
                <a:lnTo>
                  <a:pt x="7425" y="1013"/>
                </a:lnTo>
                <a:close/>
                <a:moveTo>
                  <a:pt x="6750" y="5400"/>
                </a:moveTo>
                <a:lnTo>
                  <a:pt x="14850" y="5400"/>
                </a:lnTo>
                <a:cubicBezTo>
                  <a:pt x="15597" y="5400"/>
                  <a:pt x="16200" y="6003"/>
                  <a:pt x="16200" y="6750"/>
                </a:cubicBezTo>
                <a:lnTo>
                  <a:pt x="16200" y="14850"/>
                </a:lnTo>
                <a:cubicBezTo>
                  <a:pt x="16200" y="15597"/>
                  <a:pt x="15597" y="16200"/>
                  <a:pt x="14850" y="16200"/>
                </a:cubicBezTo>
                <a:lnTo>
                  <a:pt x="6750" y="16200"/>
                </a:lnTo>
                <a:cubicBezTo>
                  <a:pt x="6003" y="16200"/>
                  <a:pt x="5400" y="15597"/>
                  <a:pt x="5400" y="14850"/>
                </a:cubicBezTo>
                <a:lnTo>
                  <a:pt x="5400" y="6750"/>
                </a:lnTo>
                <a:cubicBezTo>
                  <a:pt x="5400" y="6003"/>
                  <a:pt x="6003" y="5400"/>
                  <a:pt x="6750" y="5400"/>
                </a:cubicBezTo>
                <a:close/>
                <a:moveTo>
                  <a:pt x="7425" y="7425"/>
                </a:moveTo>
                <a:lnTo>
                  <a:pt x="7425" y="14175"/>
                </a:lnTo>
                <a:lnTo>
                  <a:pt x="14175" y="14175"/>
                </a:lnTo>
                <a:lnTo>
                  <a:pt x="14175" y="7425"/>
                </a:lnTo>
                <a:lnTo>
                  <a:pt x="7425" y="7425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7" name="Text 7"/>
          <p:cNvSpPr txBox="1"/>
          <p:nvPr/>
        </p:nvSpPr>
        <p:spPr>
          <a:xfrm>
            <a:off x="1140180" y="1630353"/>
            <a:ext cx="1845543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z="15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4-bit LoRA高效微调</a:t>
            </a:r>
          </a:p>
        </p:txBody>
      </p:sp>
      <p:sp>
        <p:nvSpPr>
          <p:cNvPr id="178" name="Text 8"/>
          <p:cNvSpPr txBox="1"/>
          <p:nvPr/>
        </p:nvSpPr>
        <p:spPr>
          <a:xfrm>
            <a:off x="552313" y="2140214"/>
            <a:ext cx="533247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 b="0">
                <a:solidFill>
                  <a:srgbClr val="7D8A96"/>
                </a:solidFill>
              </a:rPr>
              <a:t> 4-bit NF4量化 + LoRA适配器(rank=16, alpha=32)</a:t>
            </a:r>
          </a:p>
        </p:txBody>
      </p:sp>
      <p:sp>
        <p:nvSpPr>
          <p:cNvPr id="179" name="Text 9"/>
          <p:cNvSpPr txBox="1"/>
          <p:nvPr/>
        </p:nvSpPr>
        <p:spPr>
          <a:xfrm>
            <a:off x="552313" y="2417850"/>
            <a:ext cx="533247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 b="0">
                <a:solidFill>
                  <a:srgbClr val="7D8A96"/>
                </a:solidFill>
              </a:rPr>
              <a:t> 可训练参数~50M，冻结参数~9B</a:t>
            </a:r>
          </a:p>
        </p:txBody>
      </p:sp>
      <p:sp>
        <p:nvSpPr>
          <p:cNvPr id="180" name="Text 10"/>
          <p:cNvSpPr txBox="1"/>
          <p:nvPr/>
        </p:nvSpPr>
        <p:spPr>
          <a:xfrm>
            <a:off x="552313" y="2695487"/>
            <a:ext cx="533247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 b="0">
                <a:solidFill>
                  <a:srgbClr val="7D8A96"/>
                </a:solidFill>
              </a:rPr>
              <a:t> 内存占用减少75%，单卡支持14k长文本训练</a:t>
            </a:r>
          </a:p>
        </p:txBody>
      </p:sp>
      <p:sp>
        <p:nvSpPr>
          <p:cNvPr id="181" name="Text 11"/>
          <p:cNvSpPr txBox="1"/>
          <p:nvPr/>
        </p:nvSpPr>
        <p:spPr>
          <a:xfrm>
            <a:off x="552313" y="2973123"/>
            <a:ext cx="533247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 b="0">
                <a:solidFill>
                  <a:srgbClr val="7D8A96"/>
                </a:solidFill>
              </a:rPr>
              <a:t> Flash Attention 2加速训练</a:t>
            </a:r>
          </a:p>
        </p:txBody>
      </p:sp>
      <p:sp>
        <p:nvSpPr>
          <p:cNvPr id="182" name="Shape 12"/>
          <p:cNvSpPr/>
          <p:nvPr/>
        </p:nvSpPr>
        <p:spPr>
          <a:xfrm>
            <a:off x="6193830" y="1339113"/>
            <a:ext cx="5673962" cy="20251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3" y="0"/>
                </a:moveTo>
                <a:lnTo>
                  <a:pt x="21227" y="0"/>
                </a:lnTo>
                <a:cubicBezTo>
                  <a:pt x="21433" y="0"/>
                  <a:pt x="21600" y="468"/>
                  <a:pt x="21600" y="1045"/>
                </a:cubicBezTo>
                <a:lnTo>
                  <a:pt x="21600" y="20555"/>
                </a:lnTo>
                <a:cubicBezTo>
                  <a:pt x="21600" y="21132"/>
                  <a:pt x="21433" y="21600"/>
                  <a:pt x="21227" y="21600"/>
                </a:cubicBezTo>
                <a:lnTo>
                  <a:pt x="113" y="21600"/>
                </a:lnTo>
                <a:cubicBezTo>
                  <a:pt x="51" y="21600"/>
                  <a:pt x="0" y="21458"/>
                  <a:pt x="0" y="21283"/>
                </a:cubicBezTo>
                <a:lnTo>
                  <a:pt x="0" y="317"/>
                </a:lnTo>
                <a:cubicBezTo>
                  <a:pt x="0" y="142"/>
                  <a:pt x="51" y="0"/>
                  <a:pt x="113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3" name="Shape 13"/>
          <p:cNvSpPr/>
          <p:nvPr/>
        </p:nvSpPr>
        <p:spPr>
          <a:xfrm>
            <a:off x="6193830" y="1339113"/>
            <a:ext cx="29696" cy="20251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458"/>
                  <a:pt x="0" y="21283"/>
                </a:cubicBezTo>
                <a:lnTo>
                  <a:pt x="0" y="317"/>
                </a:lnTo>
                <a:cubicBezTo>
                  <a:pt x="0" y="142"/>
                  <a:pt x="9671" y="0"/>
                  <a:pt x="21600" y="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4" name="Shape 14"/>
          <p:cNvSpPr/>
          <p:nvPr/>
        </p:nvSpPr>
        <p:spPr>
          <a:xfrm>
            <a:off x="6404652" y="1535088"/>
            <a:ext cx="457303" cy="4573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086" y="0"/>
                </a:moveTo>
                <a:lnTo>
                  <a:pt x="18514" y="0"/>
                </a:lnTo>
                <a:cubicBezTo>
                  <a:pt x="20218" y="0"/>
                  <a:pt x="21600" y="1382"/>
                  <a:pt x="21600" y="3086"/>
                </a:cubicBezTo>
                <a:lnTo>
                  <a:pt x="21600" y="18514"/>
                </a:lnTo>
                <a:cubicBezTo>
                  <a:pt x="21600" y="20218"/>
                  <a:pt x="20218" y="21600"/>
                  <a:pt x="18514" y="21600"/>
                </a:cubicBezTo>
                <a:lnTo>
                  <a:pt x="3086" y="21600"/>
                </a:lnTo>
                <a:cubicBezTo>
                  <a:pt x="1382" y="21600"/>
                  <a:pt x="0" y="20218"/>
                  <a:pt x="0" y="18514"/>
                </a:cubicBezTo>
                <a:lnTo>
                  <a:pt x="0" y="3086"/>
                </a:lnTo>
                <a:cubicBezTo>
                  <a:pt x="0" y="1383"/>
                  <a:pt x="1383" y="0"/>
                  <a:pt x="3086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5" name="Shape 15"/>
          <p:cNvSpPr/>
          <p:nvPr/>
        </p:nvSpPr>
        <p:spPr>
          <a:xfrm>
            <a:off x="6535287" y="1677947"/>
            <a:ext cx="195988" cy="1714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314"/>
                </a:moveTo>
                <a:cubicBezTo>
                  <a:pt x="0" y="1037"/>
                  <a:pt x="907" y="0"/>
                  <a:pt x="2025" y="0"/>
                </a:cubicBezTo>
                <a:lnTo>
                  <a:pt x="6075" y="0"/>
                </a:lnTo>
                <a:cubicBezTo>
                  <a:pt x="7193" y="0"/>
                  <a:pt x="8100" y="1037"/>
                  <a:pt x="8100" y="2314"/>
                </a:cubicBezTo>
                <a:lnTo>
                  <a:pt x="8100" y="3086"/>
                </a:lnTo>
                <a:lnTo>
                  <a:pt x="13500" y="3086"/>
                </a:lnTo>
                <a:lnTo>
                  <a:pt x="13500" y="2314"/>
                </a:lnTo>
                <a:cubicBezTo>
                  <a:pt x="13500" y="1037"/>
                  <a:pt x="14407" y="0"/>
                  <a:pt x="15525" y="0"/>
                </a:cubicBezTo>
                <a:lnTo>
                  <a:pt x="19575" y="0"/>
                </a:lnTo>
                <a:cubicBezTo>
                  <a:pt x="20693" y="0"/>
                  <a:pt x="21600" y="1037"/>
                  <a:pt x="21600" y="2314"/>
                </a:cubicBezTo>
                <a:lnTo>
                  <a:pt x="21600" y="6943"/>
                </a:lnTo>
                <a:cubicBezTo>
                  <a:pt x="21600" y="8221"/>
                  <a:pt x="20693" y="9257"/>
                  <a:pt x="19575" y="9257"/>
                </a:cubicBezTo>
                <a:lnTo>
                  <a:pt x="15525" y="9257"/>
                </a:lnTo>
                <a:cubicBezTo>
                  <a:pt x="14407" y="9257"/>
                  <a:pt x="13500" y="8221"/>
                  <a:pt x="13500" y="6943"/>
                </a:cubicBezTo>
                <a:lnTo>
                  <a:pt x="13500" y="6171"/>
                </a:lnTo>
                <a:lnTo>
                  <a:pt x="8100" y="6171"/>
                </a:lnTo>
                <a:lnTo>
                  <a:pt x="8100" y="6943"/>
                </a:lnTo>
                <a:cubicBezTo>
                  <a:pt x="8100" y="7295"/>
                  <a:pt x="8028" y="7632"/>
                  <a:pt x="7906" y="7931"/>
                </a:cubicBezTo>
                <a:lnTo>
                  <a:pt x="10800" y="12343"/>
                </a:lnTo>
                <a:lnTo>
                  <a:pt x="14175" y="12343"/>
                </a:lnTo>
                <a:cubicBezTo>
                  <a:pt x="15293" y="12343"/>
                  <a:pt x="16200" y="13379"/>
                  <a:pt x="16200" y="14657"/>
                </a:cubicBezTo>
                <a:lnTo>
                  <a:pt x="16200" y="19286"/>
                </a:lnTo>
                <a:cubicBezTo>
                  <a:pt x="16200" y="20564"/>
                  <a:pt x="15293" y="21600"/>
                  <a:pt x="14175" y="21600"/>
                </a:cubicBezTo>
                <a:lnTo>
                  <a:pt x="10125" y="21600"/>
                </a:lnTo>
                <a:cubicBezTo>
                  <a:pt x="9007" y="21600"/>
                  <a:pt x="8100" y="20564"/>
                  <a:pt x="8100" y="19286"/>
                </a:cubicBezTo>
                <a:lnTo>
                  <a:pt x="8100" y="14657"/>
                </a:lnTo>
                <a:cubicBezTo>
                  <a:pt x="8100" y="14305"/>
                  <a:pt x="8172" y="13968"/>
                  <a:pt x="8294" y="13669"/>
                </a:cubicBezTo>
                <a:lnTo>
                  <a:pt x="5400" y="9257"/>
                </a:lnTo>
                <a:lnTo>
                  <a:pt x="2025" y="9257"/>
                </a:lnTo>
                <a:cubicBezTo>
                  <a:pt x="907" y="9257"/>
                  <a:pt x="0" y="8221"/>
                  <a:pt x="0" y="6943"/>
                </a:cubicBezTo>
                <a:lnTo>
                  <a:pt x="0" y="2314"/>
                </a:ln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Text 16"/>
          <p:cNvSpPr txBox="1"/>
          <p:nvPr/>
        </p:nvSpPr>
        <p:spPr>
          <a:xfrm>
            <a:off x="6992519" y="1630353"/>
            <a:ext cx="203336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z="15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MedKG-RAG知识增强</a:t>
            </a:r>
          </a:p>
        </p:txBody>
      </p:sp>
      <p:sp>
        <p:nvSpPr>
          <p:cNvPr id="187" name="Text 17"/>
          <p:cNvSpPr txBox="1"/>
          <p:nvPr/>
        </p:nvSpPr>
        <p:spPr>
          <a:xfrm>
            <a:off x="6404652" y="2140214"/>
            <a:ext cx="533247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b="1"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 b="0">
                <a:solidFill>
                  <a:srgbClr val="7D8A96"/>
                </a:solidFill>
              </a:rPr>
              <a:t> 构建651种药物知识图谱 + 向量检索系统</a:t>
            </a:r>
          </a:p>
        </p:txBody>
      </p:sp>
      <p:sp>
        <p:nvSpPr>
          <p:cNvPr id="188" name="Text 18"/>
          <p:cNvSpPr txBox="1"/>
          <p:nvPr/>
        </p:nvSpPr>
        <p:spPr>
          <a:xfrm>
            <a:off x="6404652" y="2417850"/>
            <a:ext cx="533247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b="1"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 b="0">
                <a:solidFill>
                  <a:srgbClr val="7D8A96"/>
                </a:solidFill>
              </a:rPr>
              <a:t> 图-向量混合检索策略(全局+局部+向量)</a:t>
            </a:r>
          </a:p>
        </p:txBody>
      </p:sp>
      <p:sp>
        <p:nvSpPr>
          <p:cNvPr id="189" name="Text 19"/>
          <p:cNvSpPr txBox="1"/>
          <p:nvPr/>
        </p:nvSpPr>
        <p:spPr>
          <a:xfrm>
            <a:off x="6404652" y="2695487"/>
            <a:ext cx="533247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b="1"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 b="0">
                <a:solidFill>
                  <a:srgbClr val="7D8A96"/>
                </a:solidFill>
              </a:rPr>
              <a:t> BGE-Reranker重排序优化</a:t>
            </a:r>
          </a:p>
        </p:txBody>
      </p:sp>
      <p:sp>
        <p:nvSpPr>
          <p:cNvPr id="190" name="Text 20"/>
          <p:cNvSpPr txBox="1"/>
          <p:nvPr/>
        </p:nvSpPr>
        <p:spPr>
          <a:xfrm>
            <a:off x="6404652" y="2973123"/>
            <a:ext cx="533247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b="1"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 b="0">
                <a:solidFill>
                  <a:srgbClr val="7D8A96"/>
                </a:solidFill>
              </a:rPr>
              <a:t> 提供药物-疾病-症状关系知识</a:t>
            </a:r>
          </a:p>
        </p:txBody>
      </p:sp>
      <p:sp>
        <p:nvSpPr>
          <p:cNvPr id="191" name="Shape 21"/>
          <p:cNvSpPr/>
          <p:nvPr/>
        </p:nvSpPr>
        <p:spPr>
          <a:xfrm>
            <a:off x="341491" y="3527492"/>
            <a:ext cx="5673963" cy="20251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3" y="0"/>
                </a:moveTo>
                <a:lnTo>
                  <a:pt x="21227" y="0"/>
                </a:lnTo>
                <a:cubicBezTo>
                  <a:pt x="21433" y="0"/>
                  <a:pt x="21600" y="468"/>
                  <a:pt x="21600" y="1045"/>
                </a:cubicBezTo>
                <a:lnTo>
                  <a:pt x="21600" y="20555"/>
                </a:lnTo>
                <a:cubicBezTo>
                  <a:pt x="21600" y="21132"/>
                  <a:pt x="21433" y="21600"/>
                  <a:pt x="21227" y="21600"/>
                </a:cubicBezTo>
                <a:lnTo>
                  <a:pt x="113" y="21600"/>
                </a:lnTo>
                <a:cubicBezTo>
                  <a:pt x="51" y="21600"/>
                  <a:pt x="0" y="21458"/>
                  <a:pt x="0" y="21283"/>
                </a:cubicBezTo>
                <a:lnTo>
                  <a:pt x="0" y="317"/>
                </a:lnTo>
                <a:cubicBezTo>
                  <a:pt x="0" y="142"/>
                  <a:pt x="51" y="0"/>
                  <a:pt x="113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2" name="Shape 22"/>
          <p:cNvSpPr/>
          <p:nvPr/>
        </p:nvSpPr>
        <p:spPr>
          <a:xfrm>
            <a:off x="341491" y="3527492"/>
            <a:ext cx="29696" cy="20251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458"/>
                  <a:pt x="0" y="21283"/>
                </a:cubicBezTo>
                <a:lnTo>
                  <a:pt x="0" y="317"/>
                </a:lnTo>
                <a:cubicBezTo>
                  <a:pt x="0" y="142"/>
                  <a:pt x="9671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3" name="Shape 23"/>
          <p:cNvSpPr/>
          <p:nvPr/>
        </p:nvSpPr>
        <p:spPr>
          <a:xfrm>
            <a:off x="552314" y="3723466"/>
            <a:ext cx="457302" cy="4573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086" y="0"/>
                </a:moveTo>
                <a:lnTo>
                  <a:pt x="18514" y="0"/>
                </a:lnTo>
                <a:cubicBezTo>
                  <a:pt x="20218" y="0"/>
                  <a:pt x="21600" y="1382"/>
                  <a:pt x="21600" y="3086"/>
                </a:cubicBezTo>
                <a:lnTo>
                  <a:pt x="21600" y="18514"/>
                </a:lnTo>
                <a:cubicBezTo>
                  <a:pt x="21600" y="20218"/>
                  <a:pt x="20218" y="21600"/>
                  <a:pt x="18514" y="21600"/>
                </a:cubicBezTo>
                <a:lnTo>
                  <a:pt x="3086" y="21600"/>
                </a:lnTo>
                <a:cubicBezTo>
                  <a:pt x="1382" y="21600"/>
                  <a:pt x="0" y="20218"/>
                  <a:pt x="0" y="18514"/>
                </a:cubicBezTo>
                <a:lnTo>
                  <a:pt x="0" y="3086"/>
                </a:lnTo>
                <a:cubicBezTo>
                  <a:pt x="0" y="1383"/>
                  <a:pt x="1383" y="0"/>
                  <a:pt x="3086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4" name="Shape 24"/>
          <p:cNvSpPr/>
          <p:nvPr/>
        </p:nvSpPr>
        <p:spPr>
          <a:xfrm>
            <a:off x="686010" y="3854077"/>
            <a:ext cx="189863" cy="1959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877" y="2362"/>
                </a:moveTo>
                <a:cubicBezTo>
                  <a:pt x="4877" y="1059"/>
                  <a:pt x="5970" y="0"/>
                  <a:pt x="7316" y="0"/>
                </a:cubicBezTo>
                <a:lnTo>
                  <a:pt x="8361" y="0"/>
                </a:lnTo>
                <a:cubicBezTo>
                  <a:pt x="9132" y="0"/>
                  <a:pt x="9755" y="603"/>
                  <a:pt x="9755" y="1350"/>
                </a:cubicBezTo>
                <a:lnTo>
                  <a:pt x="9755" y="20250"/>
                </a:lnTo>
                <a:cubicBezTo>
                  <a:pt x="9755" y="20997"/>
                  <a:pt x="9132" y="21600"/>
                  <a:pt x="8361" y="21600"/>
                </a:cubicBezTo>
                <a:lnTo>
                  <a:pt x="6968" y="21600"/>
                </a:lnTo>
                <a:cubicBezTo>
                  <a:pt x="5670" y="21600"/>
                  <a:pt x="4577" y="20739"/>
                  <a:pt x="4268" y="19575"/>
                </a:cubicBezTo>
                <a:cubicBezTo>
                  <a:pt x="4237" y="19575"/>
                  <a:pt x="4211" y="19575"/>
                  <a:pt x="4181" y="19575"/>
                </a:cubicBezTo>
                <a:cubicBezTo>
                  <a:pt x="2256" y="19575"/>
                  <a:pt x="697" y="18065"/>
                  <a:pt x="697" y="16200"/>
                </a:cubicBezTo>
                <a:cubicBezTo>
                  <a:pt x="697" y="15441"/>
                  <a:pt x="958" y="14740"/>
                  <a:pt x="1394" y="14175"/>
                </a:cubicBezTo>
                <a:cubicBezTo>
                  <a:pt x="549" y="13559"/>
                  <a:pt x="0" y="12580"/>
                  <a:pt x="0" y="11475"/>
                </a:cubicBezTo>
                <a:cubicBezTo>
                  <a:pt x="0" y="10171"/>
                  <a:pt x="766" y="9037"/>
                  <a:pt x="1881" y="8475"/>
                </a:cubicBezTo>
                <a:cubicBezTo>
                  <a:pt x="1572" y="7969"/>
                  <a:pt x="1394" y="7379"/>
                  <a:pt x="1394" y="6750"/>
                </a:cubicBezTo>
                <a:cubicBezTo>
                  <a:pt x="1394" y="4885"/>
                  <a:pt x="2953" y="3375"/>
                  <a:pt x="4877" y="3375"/>
                </a:cubicBezTo>
                <a:lnTo>
                  <a:pt x="4877" y="2362"/>
                </a:lnTo>
                <a:close/>
                <a:moveTo>
                  <a:pt x="16723" y="2362"/>
                </a:moveTo>
                <a:lnTo>
                  <a:pt x="16723" y="3375"/>
                </a:lnTo>
                <a:cubicBezTo>
                  <a:pt x="18647" y="3375"/>
                  <a:pt x="20206" y="4885"/>
                  <a:pt x="20206" y="6750"/>
                </a:cubicBezTo>
                <a:cubicBezTo>
                  <a:pt x="20206" y="7383"/>
                  <a:pt x="20028" y="7973"/>
                  <a:pt x="19719" y="8475"/>
                </a:cubicBezTo>
                <a:cubicBezTo>
                  <a:pt x="20838" y="9037"/>
                  <a:pt x="21600" y="10167"/>
                  <a:pt x="21600" y="11475"/>
                </a:cubicBezTo>
                <a:cubicBezTo>
                  <a:pt x="21600" y="12580"/>
                  <a:pt x="21051" y="13559"/>
                  <a:pt x="20206" y="14175"/>
                </a:cubicBezTo>
                <a:cubicBezTo>
                  <a:pt x="20642" y="14740"/>
                  <a:pt x="20903" y="15441"/>
                  <a:pt x="20903" y="16200"/>
                </a:cubicBezTo>
                <a:cubicBezTo>
                  <a:pt x="20903" y="18065"/>
                  <a:pt x="19344" y="19575"/>
                  <a:pt x="17419" y="19575"/>
                </a:cubicBezTo>
                <a:cubicBezTo>
                  <a:pt x="17389" y="19575"/>
                  <a:pt x="17363" y="19575"/>
                  <a:pt x="17332" y="19575"/>
                </a:cubicBezTo>
                <a:cubicBezTo>
                  <a:pt x="17023" y="20739"/>
                  <a:pt x="15930" y="21600"/>
                  <a:pt x="14632" y="21600"/>
                </a:cubicBezTo>
                <a:lnTo>
                  <a:pt x="13239" y="21600"/>
                </a:lnTo>
                <a:cubicBezTo>
                  <a:pt x="12468" y="21600"/>
                  <a:pt x="11845" y="20997"/>
                  <a:pt x="11845" y="20250"/>
                </a:cubicBezTo>
                <a:lnTo>
                  <a:pt x="11845" y="1350"/>
                </a:lnTo>
                <a:cubicBezTo>
                  <a:pt x="11845" y="603"/>
                  <a:pt x="12468" y="0"/>
                  <a:pt x="13239" y="0"/>
                </a:cubicBezTo>
                <a:lnTo>
                  <a:pt x="14284" y="0"/>
                </a:lnTo>
                <a:cubicBezTo>
                  <a:pt x="15630" y="0"/>
                  <a:pt x="16723" y="1059"/>
                  <a:pt x="16723" y="2362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5" name="Text 25"/>
          <p:cNvSpPr txBox="1"/>
          <p:nvPr/>
        </p:nvSpPr>
        <p:spPr>
          <a:xfrm>
            <a:off x="1140180" y="3818731"/>
            <a:ext cx="1902705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z="15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CoT蒸馏 + DPO优化</a:t>
            </a:r>
          </a:p>
        </p:txBody>
      </p:sp>
      <p:sp>
        <p:nvSpPr>
          <p:cNvPr id="196" name="Text 26"/>
          <p:cNvSpPr txBox="1"/>
          <p:nvPr/>
        </p:nvSpPr>
        <p:spPr>
          <a:xfrm>
            <a:off x="552313" y="4328591"/>
            <a:ext cx="533247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 b="0">
                <a:solidFill>
                  <a:srgbClr val="7D8A96"/>
                </a:solidFill>
              </a:rPr>
              <a:t> DeepSeek-R1 few-shot蒸馏生成高质量CoT</a:t>
            </a:r>
          </a:p>
        </p:txBody>
      </p:sp>
      <p:sp>
        <p:nvSpPr>
          <p:cNvPr id="197" name="Text 27"/>
          <p:cNvSpPr txBox="1"/>
          <p:nvPr/>
        </p:nvSpPr>
        <p:spPr>
          <a:xfrm>
            <a:off x="552313" y="4606229"/>
            <a:ext cx="533247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 b="0">
                <a:solidFill>
                  <a:srgbClr val="7D8A96"/>
                </a:solidFill>
              </a:rPr>
              <a:t> Prompt引导四阶段推理链(诊断→用药→安全→处方)</a:t>
            </a:r>
          </a:p>
        </p:txBody>
      </p:sp>
      <p:sp>
        <p:nvSpPr>
          <p:cNvPr id="198" name="Text 28"/>
          <p:cNvSpPr txBox="1"/>
          <p:nvPr/>
        </p:nvSpPr>
        <p:spPr>
          <a:xfrm>
            <a:off x="552313" y="4883865"/>
            <a:ext cx="533247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 b="0">
                <a:solidFill>
                  <a:srgbClr val="7D8A96"/>
                </a:solidFill>
              </a:rPr>
              <a:t> DPO对齐优化推理质量</a:t>
            </a:r>
          </a:p>
        </p:txBody>
      </p:sp>
      <p:sp>
        <p:nvSpPr>
          <p:cNvPr id="199" name="Text 29"/>
          <p:cNvSpPr txBox="1"/>
          <p:nvPr/>
        </p:nvSpPr>
        <p:spPr>
          <a:xfrm>
            <a:off x="552313" y="5161501"/>
            <a:ext cx="533247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 b="0">
                <a:solidFill>
                  <a:srgbClr val="7D8A96"/>
                </a:solidFill>
              </a:rPr>
              <a:t> AVG_P 0.6693，F1 0.527逼近SOTA</a:t>
            </a:r>
          </a:p>
        </p:txBody>
      </p:sp>
      <p:sp>
        <p:nvSpPr>
          <p:cNvPr id="200" name="Shape 30"/>
          <p:cNvSpPr/>
          <p:nvPr/>
        </p:nvSpPr>
        <p:spPr>
          <a:xfrm>
            <a:off x="6193830" y="3527492"/>
            <a:ext cx="5673962" cy="20251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3" y="0"/>
                </a:moveTo>
                <a:lnTo>
                  <a:pt x="21227" y="0"/>
                </a:lnTo>
                <a:cubicBezTo>
                  <a:pt x="21433" y="0"/>
                  <a:pt x="21600" y="468"/>
                  <a:pt x="21600" y="1045"/>
                </a:cubicBezTo>
                <a:lnTo>
                  <a:pt x="21600" y="20555"/>
                </a:lnTo>
                <a:cubicBezTo>
                  <a:pt x="21600" y="21132"/>
                  <a:pt x="21433" y="21600"/>
                  <a:pt x="21227" y="21600"/>
                </a:cubicBezTo>
                <a:lnTo>
                  <a:pt x="113" y="21600"/>
                </a:lnTo>
                <a:cubicBezTo>
                  <a:pt x="51" y="21600"/>
                  <a:pt x="0" y="21458"/>
                  <a:pt x="0" y="21283"/>
                </a:cubicBezTo>
                <a:lnTo>
                  <a:pt x="0" y="317"/>
                </a:lnTo>
                <a:cubicBezTo>
                  <a:pt x="0" y="142"/>
                  <a:pt x="51" y="0"/>
                  <a:pt x="113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1" name="Shape 31"/>
          <p:cNvSpPr/>
          <p:nvPr/>
        </p:nvSpPr>
        <p:spPr>
          <a:xfrm>
            <a:off x="6193830" y="3527492"/>
            <a:ext cx="29696" cy="20251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458"/>
                  <a:pt x="0" y="21283"/>
                </a:cubicBezTo>
                <a:lnTo>
                  <a:pt x="0" y="317"/>
                </a:lnTo>
                <a:cubicBezTo>
                  <a:pt x="0" y="142"/>
                  <a:pt x="9671" y="0"/>
                  <a:pt x="21600" y="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2" name="Shape 32"/>
          <p:cNvSpPr/>
          <p:nvPr/>
        </p:nvSpPr>
        <p:spPr>
          <a:xfrm>
            <a:off x="6404652" y="3723466"/>
            <a:ext cx="457303" cy="4573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086" y="0"/>
                </a:moveTo>
                <a:lnTo>
                  <a:pt x="18514" y="0"/>
                </a:lnTo>
                <a:cubicBezTo>
                  <a:pt x="20218" y="0"/>
                  <a:pt x="21600" y="1382"/>
                  <a:pt x="21600" y="3086"/>
                </a:cubicBezTo>
                <a:lnTo>
                  <a:pt x="21600" y="18514"/>
                </a:lnTo>
                <a:cubicBezTo>
                  <a:pt x="21600" y="20218"/>
                  <a:pt x="20218" y="21600"/>
                  <a:pt x="18514" y="21600"/>
                </a:cubicBezTo>
                <a:lnTo>
                  <a:pt x="3086" y="21600"/>
                </a:lnTo>
                <a:cubicBezTo>
                  <a:pt x="1382" y="21600"/>
                  <a:pt x="0" y="20218"/>
                  <a:pt x="0" y="18514"/>
                </a:cubicBezTo>
                <a:lnTo>
                  <a:pt x="0" y="3086"/>
                </a:lnTo>
                <a:cubicBezTo>
                  <a:pt x="0" y="1383"/>
                  <a:pt x="1383" y="0"/>
                  <a:pt x="3086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3" name="Shape 33"/>
          <p:cNvSpPr/>
          <p:nvPr/>
        </p:nvSpPr>
        <p:spPr>
          <a:xfrm>
            <a:off x="6541451" y="3854077"/>
            <a:ext cx="183738" cy="1949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1" h="21516" fill="norm" stroke="1" extrusionOk="0">
                <a:moveTo>
                  <a:pt x="10791" y="0"/>
                </a:moveTo>
                <a:cubicBezTo>
                  <a:pt x="10998" y="0"/>
                  <a:pt x="11205" y="42"/>
                  <a:pt x="11394" y="123"/>
                </a:cubicBezTo>
                <a:lnTo>
                  <a:pt x="19869" y="3499"/>
                </a:lnTo>
                <a:cubicBezTo>
                  <a:pt x="20858" y="3892"/>
                  <a:pt x="21596" y="4808"/>
                  <a:pt x="21591" y="5915"/>
                </a:cubicBezTo>
                <a:cubicBezTo>
                  <a:pt x="21569" y="10107"/>
                  <a:pt x="19734" y="17776"/>
                  <a:pt x="11983" y="21262"/>
                </a:cubicBezTo>
                <a:cubicBezTo>
                  <a:pt x="11232" y="21600"/>
                  <a:pt x="10360" y="21600"/>
                  <a:pt x="9608" y="21262"/>
                </a:cubicBezTo>
                <a:cubicBezTo>
                  <a:pt x="1854" y="17776"/>
                  <a:pt x="23" y="10107"/>
                  <a:pt x="0" y="5915"/>
                </a:cubicBezTo>
                <a:cubicBezTo>
                  <a:pt x="-4" y="4808"/>
                  <a:pt x="734" y="3892"/>
                  <a:pt x="1723" y="3499"/>
                </a:cubicBezTo>
                <a:lnTo>
                  <a:pt x="10193" y="123"/>
                </a:lnTo>
                <a:cubicBezTo>
                  <a:pt x="10382" y="42"/>
                  <a:pt x="10584" y="0"/>
                  <a:pt x="10791" y="0"/>
                </a:cubicBezTo>
                <a:close/>
                <a:moveTo>
                  <a:pt x="10791" y="2823"/>
                </a:moveTo>
                <a:lnTo>
                  <a:pt x="10791" y="18799"/>
                </a:lnTo>
                <a:cubicBezTo>
                  <a:pt x="16999" y="15976"/>
                  <a:pt x="18668" y="9723"/>
                  <a:pt x="18708" y="5979"/>
                </a:cubicBezTo>
                <a:lnTo>
                  <a:pt x="10791" y="2827"/>
                </a:ln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4" name="Text 34"/>
          <p:cNvSpPr txBox="1"/>
          <p:nvPr/>
        </p:nvSpPr>
        <p:spPr>
          <a:xfrm>
            <a:off x="6992519" y="3818731"/>
            <a:ext cx="1665886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z="15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多层安全防护机制</a:t>
            </a:r>
          </a:p>
        </p:txBody>
      </p:sp>
      <p:sp>
        <p:nvSpPr>
          <p:cNvPr id="205" name="Text 35"/>
          <p:cNvSpPr txBox="1"/>
          <p:nvPr/>
        </p:nvSpPr>
        <p:spPr>
          <a:xfrm>
            <a:off x="6404652" y="4328591"/>
            <a:ext cx="533247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b="1"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 b="0">
                <a:solidFill>
                  <a:srgbClr val="7D8A96"/>
                </a:solidFill>
              </a:rPr>
              <a:t> Layer 1: 置信度阈值过滤(概率&lt;0.6拒绝)</a:t>
            </a:r>
          </a:p>
        </p:txBody>
      </p:sp>
      <p:sp>
        <p:nvSpPr>
          <p:cNvPr id="206" name="Text 36"/>
          <p:cNvSpPr txBox="1"/>
          <p:nvPr/>
        </p:nvSpPr>
        <p:spPr>
          <a:xfrm>
            <a:off x="6404652" y="4606229"/>
            <a:ext cx="533247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b="1"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 b="0">
                <a:solidFill>
                  <a:srgbClr val="7D8A96"/>
                </a:solidFill>
              </a:rPr>
              <a:t> Layer 2: 规则引擎硬约束(禁忌症/剂量范围)</a:t>
            </a:r>
          </a:p>
        </p:txBody>
      </p:sp>
      <p:sp>
        <p:nvSpPr>
          <p:cNvPr id="207" name="Text 37"/>
          <p:cNvSpPr txBox="1"/>
          <p:nvPr/>
        </p:nvSpPr>
        <p:spPr>
          <a:xfrm>
            <a:off x="6404652" y="4883865"/>
            <a:ext cx="533247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b="1"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 b="0">
                <a:solidFill>
                  <a:srgbClr val="7D8A96"/>
                </a:solidFill>
              </a:rPr>
              <a:t> Layer 3: DDI药物相互作用检测</a:t>
            </a:r>
          </a:p>
        </p:txBody>
      </p:sp>
      <p:sp>
        <p:nvSpPr>
          <p:cNvPr id="208" name="Text 38"/>
          <p:cNvSpPr txBox="1"/>
          <p:nvPr/>
        </p:nvSpPr>
        <p:spPr>
          <a:xfrm>
            <a:off x="6404652" y="5161501"/>
            <a:ext cx="533247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b="1"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 b="0">
                <a:solidFill>
                  <a:srgbClr val="7D8A96"/>
                </a:solidFill>
              </a:rPr>
              <a:t> 输出显式推理链提升可解释性</a:t>
            </a:r>
          </a:p>
        </p:txBody>
      </p:sp>
      <p:sp>
        <p:nvSpPr>
          <p:cNvPr id="209" name="Shape 39"/>
          <p:cNvSpPr/>
          <p:nvPr/>
        </p:nvSpPr>
        <p:spPr>
          <a:xfrm>
            <a:off x="334068" y="5723292"/>
            <a:ext cx="11529060" cy="7987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4" y="0"/>
                </a:moveTo>
                <a:lnTo>
                  <a:pt x="21416" y="0"/>
                </a:lnTo>
                <a:cubicBezTo>
                  <a:pt x="21518" y="0"/>
                  <a:pt x="21600" y="1186"/>
                  <a:pt x="21600" y="2650"/>
                </a:cubicBezTo>
                <a:lnTo>
                  <a:pt x="21600" y="18950"/>
                </a:lnTo>
                <a:cubicBezTo>
                  <a:pt x="21600" y="20414"/>
                  <a:pt x="21518" y="21600"/>
                  <a:pt x="21416" y="21600"/>
                </a:cubicBezTo>
                <a:lnTo>
                  <a:pt x="184" y="21600"/>
                </a:lnTo>
                <a:cubicBezTo>
                  <a:pt x="82" y="21600"/>
                  <a:pt x="0" y="20414"/>
                  <a:pt x="0" y="18950"/>
                </a:cubicBezTo>
                <a:lnTo>
                  <a:pt x="0" y="2650"/>
                </a:lnTo>
                <a:cubicBezTo>
                  <a:pt x="0" y="1187"/>
                  <a:pt x="82" y="0"/>
                  <a:pt x="184" y="0"/>
                </a:cubicBezTo>
                <a:close/>
              </a:path>
            </a:pathLst>
          </a:custGeom>
          <a:solidFill>
            <a:srgbClr val="5E8B7E">
              <a:alpha val="14902"/>
            </a:srgbClr>
          </a:solidFill>
          <a:ln w="23091">
            <a:solidFill>
              <a:srgbClr val="5E8B7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0" name="Shape 40"/>
          <p:cNvSpPr/>
          <p:nvPr/>
        </p:nvSpPr>
        <p:spPr>
          <a:xfrm>
            <a:off x="533879" y="6015422"/>
            <a:ext cx="233276" cy="2332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32" h="20931" fill="norm" stroke="1" extrusionOk="0">
                <a:moveTo>
                  <a:pt x="5819" y="12366"/>
                </a:moveTo>
                <a:lnTo>
                  <a:pt x="1375" y="12366"/>
                </a:lnTo>
                <a:cubicBezTo>
                  <a:pt x="306" y="12366"/>
                  <a:pt x="-351" y="11202"/>
                  <a:pt x="199" y="10283"/>
                </a:cubicBezTo>
                <a:lnTo>
                  <a:pt x="2470" y="6497"/>
                </a:lnTo>
                <a:cubicBezTo>
                  <a:pt x="2843" y="5874"/>
                  <a:pt x="3513" y="5496"/>
                  <a:pt x="4239" y="5496"/>
                </a:cubicBezTo>
                <a:lnTo>
                  <a:pt x="8317" y="5496"/>
                </a:lnTo>
                <a:cubicBezTo>
                  <a:pt x="11585" y="-38"/>
                  <a:pt x="16458" y="-317"/>
                  <a:pt x="19716" y="160"/>
                </a:cubicBezTo>
                <a:cubicBezTo>
                  <a:pt x="20266" y="241"/>
                  <a:pt x="20695" y="670"/>
                  <a:pt x="20772" y="1216"/>
                </a:cubicBezTo>
                <a:cubicBezTo>
                  <a:pt x="21249" y="4474"/>
                  <a:pt x="20970" y="9347"/>
                  <a:pt x="15436" y="12615"/>
                </a:cubicBezTo>
                <a:lnTo>
                  <a:pt x="15436" y="16693"/>
                </a:lnTo>
                <a:cubicBezTo>
                  <a:pt x="15436" y="17419"/>
                  <a:pt x="15058" y="18089"/>
                  <a:pt x="14435" y="18462"/>
                </a:cubicBezTo>
                <a:lnTo>
                  <a:pt x="10649" y="20733"/>
                </a:lnTo>
                <a:cubicBezTo>
                  <a:pt x="9734" y="21283"/>
                  <a:pt x="8566" y="20622"/>
                  <a:pt x="8566" y="19557"/>
                </a:cubicBezTo>
                <a:lnTo>
                  <a:pt x="8566" y="15113"/>
                </a:lnTo>
                <a:cubicBezTo>
                  <a:pt x="8566" y="13598"/>
                  <a:pt x="7334" y="12366"/>
                  <a:pt x="5819" y="12366"/>
                </a:cubicBezTo>
                <a:lnTo>
                  <a:pt x="5814" y="12366"/>
                </a:lnTo>
                <a:close/>
                <a:moveTo>
                  <a:pt x="17497" y="5496"/>
                </a:moveTo>
                <a:cubicBezTo>
                  <a:pt x="17497" y="4359"/>
                  <a:pt x="16573" y="3435"/>
                  <a:pt x="15436" y="3435"/>
                </a:cubicBezTo>
                <a:cubicBezTo>
                  <a:pt x="14298" y="3435"/>
                  <a:pt x="13375" y="4359"/>
                  <a:pt x="13375" y="5496"/>
                </a:cubicBezTo>
                <a:cubicBezTo>
                  <a:pt x="13375" y="6634"/>
                  <a:pt x="14298" y="7557"/>
                  <a:pt x="15436" y="7557"/>
                </a:cubicBezTo>
                <a:cubicBezTo>
                  <a:pt x="16573" y="7557"/>
                  <a:pt x="17497" y="6634"/>
                  <a:pt x="17497" y="5496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1" name="Text 41"/>
          <p:cNvSpPr txBox="1"/>
          <p:nvPr/>
        </p:nvSpPr>
        <p:spPr>
          <a:xfrm>
            <a:off x="941653" y="5919430"/>
            <a:ext cx="350326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推理性能优化</a:t>
            </a:r>
          </a:p>
        </p:txBody>
      </p:sp>
      <p:sp>
        <p:nvSpPr>
          <p:cNvPr id="212" name="Text 42"/>
          <p:cNvSpPr txBox="1"/>
          <p:nvPr/>
        </p:nvSpPr>
        <p:spPr>
          <a:xfrm>
            <a:off x="941653" y="6112686"/>
            <a:ext cx="351959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vLLM优化 · 首字延迟&lt;300ms · 吞吐提升2-3倍</a:t>
            </a:r>
          </a:p>
        </p:txBody>
      </p:sp>
      <p:sp>
        <p:nvSpPr>
          <p:cNvPr id="213" name="Text 43"/>
          <p:cNvSpPr txBox="1"/>
          <p:nvPr/>
        </p:nvSpPr>
        <p:spPr>
          <a:xfrm>
            <a:off x="9993042" y="5894977"/>
            <a:ext cx="1053429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9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&lt;300ms</a:t>
            </a:r>
          </a:p>
        </p:txBody>
      </p:sp>
      <p:sp>
        <p:nvSpPr>
          <p:cNvPr id="214" name="Text 44"/>
          <p:cNvSpPr txBox="1"/>
          <p:nvPr/>
        </p:nvSpPr>
        <p:spPr>
          <a:xfrm>
            <a:off x="10025706" y="6187082"/>
            <a:ext cx="98810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sz="9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首字延迟</a:t>
            </a:r>
          </a:p>
        </p:txBody>
      </p:sp>
      <p:sp>
        <p:nvSpPr>
          <p:cNvPr id="215" name="Text 45"/>
          <p:cNvSpPr txBox="1"/>
          <p:nvPr/>
        </p:nvSpPr>
        <p:spPr>
          <a:xfrm>
            <a:off x="11118783" y="5894977"/>
            <a:ext cx="62879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9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2-3x</a:t>
            </a:r>
          </a:p>
        </p:txBody>
      </p:sp>
      <p:sp>
        <p:nvSpPr>
          <p:cNvPr id="216" name="Text 46"/>
          <p:cNvSpPr txBox="1"/>
          <p:nvPr/>
        </p:nvSpPr>
        <p:spPr>
          <a:xfrm>
            <a:off x="11151447" y="6187082"/>
            <a:ext cx="56346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sz="9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吞吐提升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 0"/>
          <p:cNvSpPr txBox="1"/>
          <p:nvPr/>
        </p:nvSpPr>
        <p:spPr>
          <a:xfrm>
            <a:off x="381000" y="406399"/>
            <a:ext cx="115062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pc="60" sz="1200">
                <a:solidFill>
                  <a:srgbClr val="5E8B7E"/>
                </a:solidFill>
                <a:latin typeface="Liter"/>
                <a:ea typeface="Liter"/>
                <a:cs typeface="Liter"/>
                <a:sym typeface="Liter"/>
              </a:defRPr>
            </a:lvl1pPr>
          </a:lstStyle>
          <a:p>
            <a:pPr/>
            <a:r>
              <a:t>SYSTEM ARCHITECTURE</a:t>
            </a:r>
          </a:p>
        </p:txBody>
      </p:sp>
      <p:sp>
        <p:nvSpPr>
          <p:cNvPr id="219" name="Text 1"/>
          <p:cNvSpPr txBox="1"/>
          <p:nvPr/>
        </p:nvSpPr>
        <p:spPr>
          <a:xfrm>
            <a:off x="381000" y="596862"/>
            <a:ext cx="116586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80000"/>
              </a:lnSpc>
              <a:defRPr b="1" sz="36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完整系统架构图</a:t>
            </a:r>
          </a:p>
        </p:txBody>
      </p:sp>
      <p:sp>
        <p:nvSpPr>
          <p:cNvPr id="220" name="Shape 2"/>
          <p:cNvSpPr/>
          <p:nvPr/>
        </p:nvSpPr>
        <p:spPr>
          <a:xfrm>
            <a:off x="381000" y="1295278"/>
            <a:ext cx="914400" cy="38101"/>
          </a:xfrm>
          <a:prstGeom prst="rect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1" name="Shape 3"/>
          <p:cNvSpPr/>
          <p:nvPr/>
        </p:nvSpPr>
        <p:spPr>
          <a:xfrm>
            <a:off x="389659" y="1494373"/>
            <a:ext cx="3884468" cy="11984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36" y="0"/>
                </a:moveTo>
                <a:lnTo>
                  <a:pt x="20964" y="0"/>
                </a:lnTo>
                <a:cubicBezTo>
                  <a:pt x="21315" y="0"/>
                  <a:pt x="21600" y="922"/>
                  <a:pt x="21600" y="2060"/>
                </a:cubicBezTo>
                <a:lnTo>
                  <a:pt x="21600" y="19540"/>
                </a:lnTo>
                <a:cubicBezTo>
                  <a:pt x="21600" y="20678"/>
                  <a:pt x="21315" y="21600"/>
                  <a:pt x="20964" y="21600"/>
                </a:cubicBezTo>
                <a:lnTo>
                  <a:pt x="636" y="21600"/>
                </a:lnTo>
                <a:cubicBezTo>
                  <a:pt x="285" y="21600"/>
                  <a:pt x="0" y="20678"/>
                  <a:pt x="0" y="19540"/>
                </a:cubicBezTo>
                <a:lnTo>
                  <a:pt x="0" y="2060"/>
                </a:lnTo>
                <a:cubicBezTo>
                  <a:pt x="0" y="922"/>
                  <a:pt x="285" y="0"/>
                  <a:pt x="636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23091">
            <a:solidFill>
              <a:srgbClr val="4A6C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2" name="Shape 4"/>
          <p:cNvSpPr/>
          <p:nvPr/>
        </p:nvSpPr>
        <p:spPr>
          <a:xfrm>
            <a:off x="512578" y="1617287"/>
            <a:ext cx="381001" cy="381001"/>
          </a:xfrm>
          <a:prstGeom prst="ellipse">
            <a:avLst/>
          </a:pr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3" name="Text 5"/>
          <p:cNvSpPr txBox="1"/>
          <p:nvPr/>
        </p:nvSpPr>
        <p:spPr>
          <a:xfrm>
            <a:off x="469714" y="1706186"/>
            <a:ext cx="46672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3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24" name="Text 6"/>
          <p:cNvSpPr txBox="1"/>
          <p:nvPr/>
        </p:nvSpPr>
        <p:spPr>
          <a:xfrm>
            <a:off x="1007837" y="1674451"/>
            <a:ext cx="66675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5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数据层</a:t>
            </a:r>
          </a:p>
        </p:txBody>
      </p:sp>
      <p:sp>
        <p:nvSpPr>
          <p:cNvPr id="225" name="Shape 7"/>
          <p:cNvSpPr/>
          <p:nvPr/>
        </p:nvSpPr>
        <p:spPr>
          <a:xfrm>
            <a:off x="512578" y="2074464"/>
            <a:ext cx="1162051" cy="4953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08" y="0"/>
                </a:moveTo>
                <a:lnTo>
                  <a:pt x="20892" y="0"/>
                </a:lnTo>
                <a:cubicBezTo>
                  <a:pt x="21283" y="0"/>
                  <a:pt x="21600" y="744"/>
                  <a:pt x="21600" y="1661"/>
                </a:cubicBezTo>
                <a:lnTo>
                  <a:pt x="21600" y="19939"/>
                </a:lnTo>
                <a:cubicBezTo>
                  <a:pt x="21600" y="20856"/>
                  <a:pt x="21283" y="21600"/>
                  <a:pt x="20892" y="21600"/>
                </a:cubicBezTo>
                <a:lnTo>
                  <a:pt x="708" y="21600"/>
                </a:lnTo>
                <a:cubicBezTo>
                  <a:pt x="317" y="21600"/>
                  <a:pt x="0" y="20856"/>
                  <a:pt x="0" y="19939"/>
                </a:cubicBezTo>
                <a:lnTo>
                  <a:pt x="0" y="1661"/>
                </a:lnTo>
                <a:cubicBezTo>
                  <a:pt x="0" y="744"/>
                  <a:pt x="317" y="0"/>
                  <a:pt x="708" y="0"/>
                </a:cubicBezTo>
                <a:close/>
              </a:path>
            </a:pathLst>
          </a:custGeom>
          <a:solidFill>
            <a:srgbClr val="1A1D21">
              <a:alpha val="50195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6" name="Text 8"/>
          <p:cNvSpPr txBox="1"/>
          <p:nvPr/>
        </p:nvSpPr>
        <p:spPr>
          <a:xfrm>
            <a:off x="555412" y="2156985"/>
            <a:ext cx="107632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原始病历</a:t>
            </a:r>
          </a:p>
        </p:txBody>
      </p:sp>
      <p:sp>
        <p:nvSpPr>
          <p:cNvPr id="227" name="Text 9"/>
          <p:cNvSpPr txBox="1"/>
          <p:nvPr/>
        </p:nvSpPr>
        <p:spPr>
          <a:xfrm>
            <a:off x="560175" y="2334716"/>
            <a:ext cx="10668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defRPr sz="9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JSON格式</a:t>
            </a:r>
          </a:p>
        </p:txBody>
      </p:sp>
      <p:sp>
        <p:nvSpPr>
          <p:cNvPr id="228" name="Shape 10"/>
          <p:cNvSpPr/>
          <p:nvPr/>
        </p:nvSpPr>
        <p:spPr>
          <a:xfrm>
            <a:off x="1752044" y="2074464"/>
            <a:ext cx="1162051" cy="4953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08" y="0"/>
                </a:moveTo>
                <a:lnTo>
                  <a:pt x="20892" y="0"/>
                </a:lnTo>
                <a:cubicBezTo>
                  <a:pt x="21283" y="0"/>
                  <a:pt x="21600" y="744"/>
                  <a:pt x="21600" y="1661"/>
                </a:cubicBezTo>
                <a:lnTo>
                  <a:pt x="21600" y="19939"/>
                </a:lnTo>
                <a:cubicBezTo>
                  <a:pt x="21600" y="20856"/>
                  <a:pt x="21283" y="21600"/>
                  <a:pt x="20892" y="21600"/>
                </a:cubicBezTo>
                <a:lnTo>
                  <a:pt x="708" y="21600"/>
                </a:lnTo>
                <a:cubicBezTo>
                  <a:pt x="317" y="21600"/>
                  <a:pt x="0" y="20856"/>
                  <a:pt x="0" y="19939"/>
                </a:cubicBezTo>
                <a:lnTo>
                  <a:pt x="0" y="1661"/>
                </a:lnTo>
                <a:cubicBezTo>
                  <a:pt x="0" y="744"/>
                  <a:pt x="317" y="0"/>
                  <a:pt x="708" y="0"/>
                </a:cubicBezTo>
                <a:close/>
              </a:path>
            </a:pathLst>
          </a:custGeom>
          <a:solidFill>
            <a:srgbClr val="1A1D21">
              <a:alpha val="50195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9" name="Text 11"/>
          <p:cNvSpPr txBox="1"/>
          <p:nvPr/>
        </p:nvSpPr>
        <p:spPr>
          <a:xfrm>
            <a:off x="1794880" y="2156985"/>
            <a:ext cx="107632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候选药物</a:t>
            </a:r>
          </a:p>
        </p:txBody>
      </p:sp>
      <p:sp>
        <p:nvSpPr>
          <p:cNvPr id="230" name="Text 12"/>
          <p:cNvSpPr txBox="1"/>
          <p:nvPr/>
        </p:nvSpPr>
        <p:spPr>
          <a:xfrm>
            <a:off x="1799643" y="2334716"/>
            <a:ext cx="10668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defRPr sz="9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651种</a:t>
            </a:r>
          </a:p>
        </p:txBody>
      </p:sp>
      <p:sp>
        <p:nvSpPr>
          <p:cNvPr id="231" name="Shape 13"/>
          <p:cNvSpPr/>
          <p:nvPr/>
        </p:nvSpPr>
        <p:spPr>
          <a:xfrm>
            <a:off x="2991512" y="2074464"/>
            <a:ext cx="1162051" cy="4953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08" y="0"/>
                </a:moveTo>
                <a:lnTo>
                  <a:pt x="20892" y="0"/>
                </a:lnTo>
                <a:cubicBezTo>
                  <a:pt x="21283" y="0"/>
                  <a:pt x="21600" y="744"/>
                  <a:pt x="21600" y="1661"/>
                </a:cubicBezTo>
                <a:lnTo>
                  <a:pt x="21600" y="19939"/>
                </a:lnTo>
                <a:cubicBezTo>
                  <a:pt x="21600" y="20856"/>
                  <a:pt x="21283" y="21600"/>
                  <a:pt x="20892" y="21600"/>
                </a:cubicBezTo>
                <a:lnTo>
                  <a:pt x="708" y="21600"/>
                </a:lnTo>
                <a:cubicBezTo>
                  <a:pt x="317" y="21600"/>
                  <a:pt x="0" y="20856"/>
                  <a:pt x="0" y="19939"/>
                </a:cubicBezTo>
                <a:lnTo>
                  <a:pt x="0" y="1661"/>
                </a:lnTo>
                <a:cubicBezTo>
                  <a:pt x="0" y="744"/>
                  <a:pt x="317" y="0"/>
                  <a:pt x="708" y="0"/>
                </a:cubicBezTo>
                <a:close/>
              </a:path>
            </a:pathLst>
          </a:custGeom>
          <a:solidFill>
            <a:srgbClr val="1A1D21">
              <a:alpha val="50195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2" name="Text 14"/>
          <p:cNvSpPr txBox="1"/>
          <p:nvPr/>
        </p:nvSpPr>
        <p:spPr>
          <a:xfrm>
            <a:off x="3034347" y="2156985"/>
            <a:ext cx="107632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医学知识库</a:t>
            </a:r>
          </a:p>
        </p:txBody>
      </p:sp>
      <p:sp>
        <p:nvSpPr>
          <p:cNvPr id="233" name="Text 15"/>
          <p:cNvSpPr txBox="1"/>
          <p:nvPr/>
        </p:nvSpPr>
        <p:spPr>
          <a:xfrm>
            <a:off x="3039111" y="2334716"/>
            <a:ext cx="10668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defRPr sz="9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指南/文献</a:t>
            </a:r>
          </a:p>
        </p:txBody>
      </p:sp>
      <p:sp>
        <p:nvSpPr>
          <p:cNvPr id="234" name="Shape 16"/>
          <p:cNvSpPr/>
          <p:nvPr/>
        </p:nvSpPr>
        <p:spPr>
          <a:xfrm>
            <a:off x="2262226" y="2777402"/>
            <a:ext cx="142933" cy="1904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4" h="21469" fill="norm" stroke="1" extrusionOk="0">
                <a:moveTo>
                  <a:pt x="9377" y="21076"/>
                </a:moveTo>
                <a:cubicBezTo>
                  <a:pt x="10068" y="21600"/>
                  <a:pt x="11191" y="21600"/>
                  <a:pt x="11883" y="21076"/>
                </a:cubicBezTo>
                <a:lnTo>
                  <a:pt x="20735" y="14366"/>
                </a:lnTo>
                <a:cubicBezTo>
                  <a:pt x="21427" y="13842"/>
                  <a:pt x="21427" y="12991"/>
                  <a:pt x="20735" y="12467"/>
                </a:cubicBezTo>
                <a:cubicBezTo>
                  <a:pt x="20044" y="11943"/>
                  <a:pt x="18921" y="11943"/>
                  <a:pt x="18229" y="12467"/>
                </a:cubicBezTo>
                <a:lnTo>
                  <a:pt x="12398" y="16887"/>
                </a:lnTo>
                <a:lnTo>
                  <a:pt x="12398" y="1342"/>
                </a:lnTo>
                <a:cubicBezTo>
                  <a:pt x="12398" y="600"/>
                  <a:pt x="11606" y="0"/>
                  <a:pt x="10627" y="0"/>
                </a:cubicBezTo>
                <a:cubicBezTo>
                  <a:pt x="9648" y="0"/>
                  <a:pt x="8856" y="600"/>
                  <a:pt x="8856" y="1342"/>
                </a:cubicBezTo>
                <a:lnTo>
                  <a:pt x="8856" y="16887"/>
                </a:lnTo>
                <a:lnTo>
                  <a:pt x="3025" y="12467"/>
                </a:lnTo>
                <a:cubicBezTo>
                  <a:pt x="2333" y="11943"/>
                  <a:pt x="1210" y="11943"/>
                  <a:pt x="519" y="12467"/>
                </a:cubicBezTo>
                <a:cubicBezTo>
                  <a:pt x="-173" y="12991"/>
                  <a:pt x="-173" y="13842"/>
                  <a:pt x="519" y="14366"/>
                </a:cubicBezTo>
                <a:lnTo>
                  <a:pt x="9371" y="21076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5" name="Shape 17"/>
          <p:cNvSpPr/>
          <p:nvPr/>
        </p:nvSpPr>
        <p:spPr>
          <a:xfrm>
            <a:off x="389659" y="3014647"/>
            <a:ext cx="3884468" cy="11603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36" y="0"/>
                </a:moveTo>
                <a:lnTo>
                  <a:pt x="20964" y="0"/>
                </a:lnTo>
                <a:cubicBezTo>
                  <a:pt x="21315" y="0"/>
                  <a:pt x="21600" y="953"/>
                  <a:pt x="21600" y="2128"/>
                </a:cubicBezTo>
                <a:lnTo>
                  <a:pt x="21600" y="19472"/>
                </a:lnTo>
                <a:cubicBezTo>
                  <a:pt x="21600" y="20647"/>
                  <a:pt x="21315" y="21600"/>
                  <a:pt x="20964" y="21600"/>
                </a:cubicBezTo>
                <a:lnTo>
                  <a:pt x="636" y="21600"/>
                </a:lnTo>
                <a:cubicBezTo>
                  <a:pt x="285" y="21600"/>
                  <a:pt x="0" y="20647"/>
                  <a:pt x="0" y="19472"/>
                </a:cubicBezTo>
                <a:lnTo>
                  <a:pt x="0" y="2128"/>
                </a:lnTo>
                <a:cubicBezTo>
                  <a:pt x="0" y="953"/>
                  <a:pt x="285" y="0"/>
                  <a:pt x="636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23091">
            <a:solidFill>
              <a:srgbClr val="5E8B7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6" name="Shape 18"/>
          <p:cNvSpPr/>
          <p:nvPr/>
        </p:nvSpPr>
        <p:spPr>
          <a:xfrm>
            <a:off x="512578" y="3137567"/>
            <a:ext cx="381001" cy="381001"/>
          </a:xfrm>
          <a:prstGeom prst="ellipse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7" name="Text 19"/>
          <p:cNvSpPr txBox="1"/>
          <p:nvPr/>
        </p:nvSpPr>
        <p:spPr>
          <a:xfrm>
            <a:off x="469714" y="3226467"/>
            <a:ext cx="46672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300">
                <a:solidFill>
                  <a:srgbClr val="1A1D21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38" name="Text 20"/>
          <p:cNvSpPr txBox="1"/>
          <p:nvPr/>
        </p:nvSpPr>
        <p:spPr>
          <a:xfrm>
            <a:off x="1007837" y="3194730"/>
            <a:ext cx="104775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5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数据预处理</a:t>
            </a:r>
          </a:p>
        </p:txBody>
      </p:sp>
      <p:sp>
        <p:nvSpPr>
          <p:cNvPr id="239" name="Text 21"/>
          <p:cNvSpPr txBox="1"/>
          <p:nvPr/>
        </p:nvSpPr>
        <p:spPr>
          <a:xfrm>
            <a:off x="512578" y="3601092"/>
            <a:ext cx="18478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✓</a:t>
            </a:r>
            <a:r>
              <a:rPr>
                <a:solidFill>
                  <a:srgbClr val="7D8A96"/>
                </a:solidFill>
              </a:rPr>
              <a:t> 文本清洗</a:t>
            </a:r>
          </a:p>
        </p:txBody>
      </p:sp>
      <p:sp>
        <p:nvSpPr>
          <p:cNvPr id="240" name="Text 22"/>
          <p:cNvSpPr txBox="1"/>
          <p:nvPr/>
        </p:nvSpPr>
        <p:spPr>
          <a:xfrm>
            <a:off x="2371779" y="3601092"/>
            <a:ext cx="18478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✓</a:t>
            </a:r>
            <a:r>
              <a:rPr>
                <a:solidFill>
                  <a:srgbClr val="7D8A96"/>
                </a:solidFill>
              </a:rPr>
              <a:t> 结构化提取</a:t>
            </a:r>
          </a:p>
        </p:txBody>
      </p:sp>
      <p:sp>
        <p:nvSpPr>
          <p:cNvPr id="241" name="Text 23"/>
          <p:cNvSpPr txBox="1"/>
          <p:nvPr/>
        </p:nvSpPr>
        <p:spPr>
          <a:xfrm>
            <a:off x="512578" y="3867696"/>
            <a:ext cx="18478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✓</a:t>
            </a:r>
            <a:r>
              <a:rPr>
                <a:solidFill>
                  <a:srgbClr val="7D8A96"/>
                </a:solidFill>
              </a:rPr>
              <a:t> 实体识别</a:t>
            </a:r>
          </a:p>
        </p:txBody>
      </p:sp>
      <p:sp>
        <p:nvSpPr>
          <p:cNvPr id="242" name="Text 24"/>
          <p:cNvSpPr txBox="1"/>
          <p:nvPr/>
        </p:nvSpPr>
        <p:spPr>
          <a:xfrm>
            <a:off x="2371779" y="3867696"/>
            <a:ext cx="18478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✓</a:t>
            </a:r>
            <a:r>
              <a:rPr>
                <a:solidFill>
                  <a:srgbClr val="7D8A96"/>
                </a:solidFill>
              </a:rPr>
              <a:t> 数据格式化</a:t>
            </a:r>
          </a:p>
        </p:txBody>
      </p:sp>
      <p:sp>
        <p:nvSpPr>
          <p:cNvPr id="243" name="Shape 25"/>
          <p:cNvSpPr/>
          <p:nvPr/>
        </p:nvSpPr>
        <p:spPr>
          <a:xfrm>
            <a:off x="2262226" y="4259531"/>
            <a:ext cx="142933" cy="1904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4" h="21469" fill="norm" stroke="1" extrusionOk="0">
                <a:moveTo>
                  <a:pt x="9377" y="21076"/>
                </a:moveTo>
                <a:cubicBezTo>
                  <a:pt x="10068" y="21600"/>
                  <a:pt x="11191" y="21600"/>
                  <a:pt x="11883" y="21076"/>
                </a:cubicBezTo>
                <a:lnTo>
                  <a:pt x="20735" y="14366"/>
                </a:lnTo>
                <a:cubicBezTo>
                  <a:pt x="21427" y="13842"/>
                  <a:pt x="21427" y="12991"/>
                  <a:pt x="20735" y="12467"/>
                </a:cubicBezTo>
                <a:cubicBezTo>
                  <a:pt x="20044" y="11943"/>
                  <a:pt x="18921" y="11943"/>
                  <a:pt x="18229" y="12467"/>
                </a:cubicBezTo>
                <a:lnTo>
                  <a:pt x="12398" y="16887"/>
                </a:lnTo>
                <a:lnTo>
                  <a:pt x="12398" y="1342"/>
                </a:lnTo>
                <a:cubicBezTo>
                  <a:pt x="12398" y="600"/>
                  <a:pt x="11606" y="0"/>
                  <a:pt x="10627" y="0"/>
                </a:cubicBezTo>
                <a:cubicBezTo>
                  <a:pt x="9648" y="0"/>
                  <a:pt x="8856" y="600"/>
                  <a:pt x="8856" y="1342"/>
                </a:cubicBezTo>
                <a:lnTo>
                  <a:pt x="8856" y="16887"/>
                </a:lnTo>
                <a:lnTo>
                  <a:pt x="3025" y="12467"/>
                </a:lnTo>
                <a:cubicBezTo>
                  <a:pt x="2333" y="11943"/>
                  <a:pt x="1210" y="11943"/>
                  <a:pt x="519" y="12467"/>
                </a:cubicBezTo>
                <a:cubicBezTo>
                  <a:pt x="-173" y="12991"/>
                  <a:pt x="-173" y="13842"/>
                  <a:pt x="519" y="14366"/>
                </a:cubicBezTo>
                <a:lnTo>
                  <a:pt x="9371" y="21076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4" name="Shape 26"/>
          <p:cNvSpPr/>
          <p:nvPr/>
        </p:nvSpPr>
        <p:spPr>
          <a:xfrm>
            <a:off x="389659" y="4496775"/>
            <a:ext cx="3884468" cy="11603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36" y="0"/>
                </a:moveTo>
                <a:lnTo>
                  <a:pt x="20964" y="0"/>
                </a:lnTo>
                <a:cubicBezTo>
                  <a:pt x="21315" y="0"/>
                  <a:pt x="21600" y="953"/>
                  <a:pt x="21600" y="2128"/>
                </a:cubicBezTo>
                <a:lnTo>
                  <a:pt x="21600" y="19472"/>
                </a:lnTo>
                <a:cubicBezTo>
                  <a:pt x="21600" y="20647"/>
                  <a:pt x="21315" y="21600"/>
                  <a:pt x="20964" y="21600"/>
                </a:cubicBezTo>
                <a:lnTo>
                  <a:pt x="636" y="21600"/>
                </a:lnTo>
                <a:cubicBezTo>
                  <a:pt x="285" y="21600"/>
                  <a:pt x="0" y="20647"/>
                  <a:pt x="0" y="19472"/>
                </a:cubicBezTo>
                <a:lnTo>
                  <a:pt x="0" y="2128"/>
                </a:lnTo>
                <a:cubicBezTo>
                  <a:pt x="0" y="953"/>
                  <a:pt x="285" y="0"/>
                  <a:pt x="636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23091">
            <a:solidFill>
              <a:srgbClr val="4A6C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5" name="Shape 27"/>
          <p:cNvSpPr/>
          <p:nvPr/>
        </p:nvSpPr>
        <p:spPr>
          <a:xfrm>
            <a:off x="512578" y="4619695"/>
            <a:ext cx="381001" cy="381001"/>
          </a:xfrm>
          <a:prstGeom prst="ellipse">
            <a:avLst/>
          </a:pr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6" name="Text 28"/>
          <p:cNvSpPr txBox="1"/>
          <p:nvPr/>
        </p:nvSpPr>
        <p:spPr>
          <a:xfrm>
            <a:off x="469714" y="4708595"/>
            <a:ext cx="46672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3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47" name="Text 29"/>
          <p:cNvSpPr txBox="1"/>
          <p:nvPr/>
        </p:nvSpPr>
        <p:spPr>
          <a:xfrm>
            <a:off x="1007837" y="4676859"/>
            <a:ext cx="123825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5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RAG知识检索</a:t>
            </a:r>
          </a:p>
        </p:txBody>
      </p:sp>
      <p:sp>
        <p:nvSpPr>
          <p:cNvPr id="248" name="Text 30"/>
          <p:cNvSpPr txBox="1"/>
          <p:nvPr/>
        </p:nvSpPr>
        <p:spPr>
          <a:xfrm>
            <a:off x="512578" y="5083216"/>
            <a:ext cx="18478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✓</a:t>
            </a:r>
            <a:r>
              <a:rPr>
                <a:solidFill>
                  <a:srgbClr val="7D8A96"/>
                </a:solidFill>
              </a:rPr>
              <a:t> 知识图谱构建</a:t>
            </a:r>
          </a:p>
        </p:txBody>
      </p:sp>
      <p:sp>
        <p:nvSpPr>
          <p:cNvPr id="249" name="Text 31"/>
          <p:cNvSpPr txBox="1"/>
          <p:nvPr/>
        </p:nvSpPr>
        <p:spPr>
          <a:xfrm>
            <a:off x="2371779" y="5083216"/>
            <a:ext cx="18478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✓</a:t>
            </a:r>
            <a:r>
              <a:rPr>
                <a:solidFill>
                  <a:srgbClr val="7D8A96"/>
                </a:solidFill>
              </a:rPr>
              <a:t> 向量索引</a:t>
            </a:r>
          </a:p>
        </p:txBody>
      </p:sp>
      <p:sp>
        <p:nvSpPr>
          <p:cNvPr id="250" name="Text 32"/>
          <p:cNvSpPr txBox="1"/>
          <p:nvPr/>
        </p:nvSpPr>
        <p:spPr>
          <a:xfrm>
            <a:off x="512578" y="5349823"/>
            <a:ext cx="18478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✓</a:t>
            </a:r>
            <a:r>
              <a:rPr>
                <a:solidFill>
                  <a:srgbClr val="7D8A96"/>
                </a:solidFill>
              </a:rPr>
              <a:t> 混合检索</a:t>
            </a:r>
          </a:p>
        </p:txBody>
      </p:sp>
      <p:sp>
        <p:nvSpPr>
          <p:cNvPr id="251" name="Text 33"/>
          <p:cNvSpPr txBox="1"/>
          <p:nvPr/>
        </p:nvSpPr>
        <p:spPr>
          <a:xfrm>
            <a:off x="2371779" y="5349823"/>
            <a:ext cx="18478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✓</a:t>
            </a:r>
            <a:r>
              <a:rPr>
                <a:solidFill>
                  <a:srgbClr val="7D8A96"/>
                </a:solidFill>
              </a:rPr>
              <a:t> 结果融合</a:t>
            </a:r>
          </a:p>
        </p:txBody>
      </p:sp>
      <p:sp>
        <p:nvSpPr>
          <p:cNvPr id="252" name="Shape 34"/>
          <p:cNvSpPr/>
          <p:nvPr/>
        </p:nvSpPr>
        <p:spPr>
          <a:xfrm>
            <a:off x="4467306" y="3756416"/>
            <a:ext cx="228589" cy="1715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69" h="21254" fill="norm" stroke="1" extrusionOk="0">
                <a:moveTo>
                  <a:pt x="21076" y="11877"/>
                </a:moveTo>
                <a:cubicBezTo>
                  <a:pt x="21600" y="11186"/>
                  <a:pt x="21600" y="10063"/>
                  <a:pt x="21076" y="9371"/>
                </a:cubicBezTo>
                <a:lnTo>
                  <a:pt x="14367" y="519"/>
                </a:lnTo>
                <a:cubicBezTo>
                  <a:pt x="13842" y="-173"/>
                  <a:pt x="12991" y="-173"/>
                  <a:pt x="12467" y="519"/>
                </a:cubicBezTo>
                <a:cubicBezTo>
                  <a:pt x="11943" y="1210"/>
                  <a:pt x="11943" y="2333"/>
                  <a:pt x="12467" y="3025"/>
                </a:cubicBezTo>
                <a:lnTo>
                  <a:pt x="16887" y="8857"/>
                </a:lnTo>
                <a:lnTo>
                  <a:pt x="1342" y="8857"/>
                </a:lnTo>
                <a:cubicBezTo>
                  <a:pt x="600" y="8857"/>
                  <a:pt x="0" y="9648"/>
                  <a:pt x="0" y="10627"/>
                </a:cubicBezTo>
                <a:cubicBezTo>
                  <a:pt x="0" y="11606"/>
                  <a:pt x="600" y="12398"/>
                  <a:pt x="1342" y="12398"/>
                </a:cubicBezTo>
                <a:lnTo>
                  <a:pt x="16887" y="12398"/>
                </a:lnTo>
                <a:lnTo>
                  <a:pt x="12467" y="18229"/>
                </a:lnTo>
                <a:cubicBezTo>
                  <a:pt x="11943" y="18921"/>
                  <a:pt x="11943" y="20044"/>
                  <a:pt x="12467" y="20735"/>
                </a:cubicBezTo>
                <a:cubicBezTo>
                  <a:pt x="12991" y="21427"/>
                  <a:pt x="13842" y="21427"/>
                  <a:pt x="14367" y="20735"/>
                </a:cubicBezTo>
                <a:lnTo>
                  <a:pt x="21076" y="11883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3" name="Shape 35"/>
          <p:cNvSpPr/>
          <p:nvPr/>
        </p:nvSpPr>
        <p:spPr>
          <a:xfrm>
            <a:off x="4885485" y="1494373"/>
            <a:ext cx="3884469" cy="13508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36" y="0"/>
                </a:moveTo>
                <a:lnTo>
                  <a:pt x="20964" y="0"/>
                </a:lnTo>
                <a:cubicBezTo>
                  <a:pt x="21315" y="0"/>
                  <a:pt x="21600" y="818"/>
                  <a:pt x="21600" y="1828"/>
                </a:cubicBezTo>
                <a:lnTo>
                  <a:pt x="21600" y="19772"/>
                </a:lnTo>
                <a:cubicBezTo>
                  <a:pt x="21600" y="20782"/>
                  <a:pt x="21315" y="21600"/>
                  <a:pt x="20964" y="21600"/>
                </a:cubicBezTo>
                <a:lnTo>
                  <a:pt x="636" y="21600"/>
                </a:lnTo>
                <a:cubicBezTo>
                  <a:pt x="285" y="21600"/>
                  <a:pt x="0" y="20782"/>
                  <a:pt x="0" y="19772"/>
                </a:cubicBezTo>
                <a:lnTo>
                  <a:pt x="0" y="1828"/>
                </a:lnTo>
                <a:cubicBezTo>
                  <a:pt x="0" y="818"/>
                  <a:pt x="285" y="0"/>
                  <a:pt x="636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23091">
            <a:solidFill>
              <a:srgbClr val="5E8B7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4" name="Shape 36"/>
          <p:cNvSpPr/>
          <p:nvPr/>
        </p:nvSpPr>
        <p:spPr>
          <a:xfrm>
            <a:off x="5008405" y="1617287"/>
            <a:ext cx="381001" cy="381001"/>
          </a:xfrm>
          <a:prstGeom prst="ellipse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5" name="Text 37"/>
          <p:cNvSpPr txBox="1"/>
          <p:nvPr/>
        </p:nvSpPr>
        <p:spPr>
          <a:xfrm>
            <a:off x="4965541" y="1706186"/>
            <a:ext cx="46672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300">
                <a:solidFill>
                  <a:srgbClr val="1A1D21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56" name="Text 38"/>
          <p:cNvSpPr txBox="1"/>
          <p:nvPr/>
        </p:nvSpPr>
        <p:spPr>
          <a:xfrm>
            <a:off x="5503664" y="1674451"/>
            <a:ext cx="1419226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5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4-bit LoRA微调</a:t>
            </a:r>
          </a:p>
        </p:txBody>
      </p:sp>
      <p:sp>
        <p:nvSpPr>
          <p:cNvPr id="257" name="Text 39"/>
          <p:cNvSpPr txBox="1"/>
          <p:nvPr/>
        </p:nvSpPr>
        <p:spPr>
          <a:xfrm>
            <a:off x="5008405" y="2080814"/>
            <a:ext cx="370522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GLM-4-9B基座 + 4-bit量化</a:t>
            </a:r>
          </a:p>
        </p:txBody>
      </p:sp>
      <p:sp>
        <p:nvSpPr>
          <p:cNvPr id="258" name="Text 40"/>
          <p:cNvSpPr txBox="1"/>
          <p:nvPr/>
        </p:nvSpPr>
        <p:spPr>
          <a:xfrm>
            <a:off x="5008405" y="2309329"/>
            <a:ext cx="370522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LoRA适配器(rank=16, alpha=32)</a:t>
            </a:r>
          </a:p>
        </p:txBody>
      </p:sp>
      <p:sp>
        <p:nvSpPr>
          <p:cNvPr id="259" name="Text 41"/>
          <p:cNvSpPr txBox="1"/>
          <p:nvPr/>
        </p:nvSpPr>
        <p:spPr>
          <a:xfrm>
            <a:off x="5008405" y="2537850"/>
            <a:ext cx="370522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冻结基座，只训练LoRA参数</a:t>
            </a:r>
          </a:p>
        </p:txBody>
      </p:sp>
      <p:sp>
        <p:nvSpPr>
          <p:cNvPr id="260" name="Shape 42"/>
          <p:cNvSpPr/>
          <p:nvPr/>
        </p:nvSpPr>
        <p:spPr>
          <a:xfrm>
            <a:off x="6758054" y="2929682"/>
            <a:ext cx="142932" cy="1904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4" h="21469" fill="norm" stroke="1" extrusionOk="0">
                <a:moveTo>
                  <a:pt x="9377" y="21076"/>
                </a:moveTo>
                <a:cubicBezTo>
                  <a:pt x="10068" y="21600"/>
                  <a:pt x="11191" y="21600"/>
                  <a:pt x="11883" y="21076"/>
                </a:cubicBezTo>
                <a:lnTo>
                  <a:pt x="20735" y="14366"/>
                </a:lnTo>
                <a:cubicBezTo>
                  <a:pt x="21427" y="13842"/>
                  <a:pt x="21427" y="12991"/>
                  <a:pt x="20735" y="12467"/>
                </a:cubicBezTo>
                <a:cubicBezTo>
                  <a:pt x="20044" y="11943"/>
                  <a:pt x="18921" y="11943"/>
                  <a:pt x="18229" y="12467"/>
                </a:cubicBezTo>
                <a:lnTo>
                  <a:pt x="12398" y="16887"/>
                </a:lnTo>
                <a:lnTo>
                  <a:pt x="12398" y="1342"/>
                </a:lnTo>
                <a:cubicBezTo>
                  <a:pt x="12398" y="600"/>
                  <a:pt x="11606" y="0"/>
                  <a:pt x="10627" y="0"/>
                </a:cubicBezTo>
                <a:cubicBezTo>
                  <a:pt x="9648" y="0"/>
                  <a:pt x="8856" y="600"/>
                  <a:pt x="8856" y="1342"/>
                </a:cubicBezTo>
                <a:lnTo>
                  <a:pt x="8856" y="16887"/>
                </a:lnTo>
                <a:lnTo>
                  <a:pt x="3025" y="12467"/>
                </a:lnTo>
                <a:cubicBezTo>
                  <a:pt x="2333" y="11943"/>
                  <a:pt x="1210" y="11943"/>
                  <a:pt x="519" y="12467"/>
                </a:cubicBezTo>
                <a:cubicBezTo>
                  <a:pt x="-173" y="12991"/>
                  <a:pt x="-173" y="13842"/>
                  <a:pt x="519" y="14366"/>
                </a:cubicBezTo>
                <a:lnTo>
                  <a:pt x="9371" y="21076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1" name="Shape 43"/>
          <p:cNvSpPr/>
          <p:nvPr/>
        </p:nvSpPr>
        <p:spPr>
          <a:xfrm>
            <a:off x="4885485" y="3166927"/>
            <a:ext cx="3884469" cy="13508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36" y="0"/>
                </a:moveTo>
                <a:lnTo>
                  <a:pt x="20964" y="0"/>
                </a:lnTo>
                <a:cubicBezTo>
                  <a:pt x="21315" y="0"/>
                  <a:pt x="21600" y="818"/>
                  <a:pt x="21600" y="1828"/>
                </a:cubicBezTo>
                <a:lnTo>
                  <a:pt x="21600" y="19772"/>
                </a:lnTo>
                <a:cubicBezTo>
                  <a:pt x="21600" y="20782"/>
                  <a:pt x="21315" y="21600"/>
                  <a:pt x="20964" y="21600"/>
                </a:cubicBezTo>
                <a:lnTo>
                  <a:pt x="636" y="21600"/>
                </a:lnTo>
                <a:cubicBezTo>
                  <a:pt x="285" y="21600"/>
                  <a:pt x="0" y="20782"/>
                  <a:pt x="0" y="19772"/>
                </a:cubicBezTo>
                <a:lnTo>
                  <a:pt x="0" y="1828"/>
                </a:lnTo>
                <a:cubicBezTo>
                  <a:pt x="0" y="818"/>
                  <a:pt x="285" y="0"/>
                  <a:pt x="636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23091">
            <a:solidFill>
              <a:srgbClr val="4A6C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2" name="Shape 44"/>
          <p:cNvSpPr/>
          <p:nvPr/>
        </p:nvSpPr>
        <p:spPr>
          <a:xfrm>
            <a:off x="5008405" y="3289846"/>
            <a:ext cx="381001" cy="381001"/>
          </a:xfrm>
          <a:prstGeom prst="ellipse">
            <a:avLst/>
          </a:pr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3" name="Text 45"/>
          <p:cNvSpPr txBox="1"/>
          <p:nvPr/>
        </p:nvSpPr>
        <p:spPr>
          <a:xfrm>
            <a:off x="4965541" y="3378746"/>
            <a:ext cx="46672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3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64" name="Text 46"/>
          <p:cNvSpPr txBox="1"/>
          <p:nvPr/>
        </p:nvSpPr>
        <p:spPr>
          <a:xfrm>
            <a:off x="5503664" y="3347010"/>
            <a:ext cx="146685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5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CoT蒸馏 + DPO</a:t>
            </a:r>
          </a:p>
        </p:txBody>
      </p:sp>
      <p:sp>
        <p:nvSpPr>
          <p:cNvPr id="265" name="Text 47"/>
          <p:cNvSpPr txBox="1"/>
          <p:nvPr/>
        </p:nvSpPr>
        <p:spPr>
          <a:xfrm>
            <a:off x="5008405" y="3753368"/>
            <a:ext cx="370522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DeepSeek-R1生成高质量CoT</a:t>
            </a:r>
          </a:p>
        </p:txBody>
      </p:sp>
      <p:sp>
        <p:nvSpPr>
          <p:cNvPr id="266" name="Text 48"/>
          <p:cNvSpPr txBox="1"/>
          <p:nvPr/>
        </p:nvSpPr>
        <p:spPr>
          <a:xfrm>
            <a:off x="5008405" y="3981889"/>
            <a:ext cx="370522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知识蒸馏(Teacher→Student)</a:t>
            </a:r>
          </a:p>
        </p:txBody>
      </p:sp>
      <p:sp>
        <p:nvSpPr>
          <p:cNvPr id="267" name="Text 49"/>
          <p:cNvSpPr txBox="1"/>
          <p:nvPr/>
        </p:nvSpPr>
        <p:spPr>
          <a:xfrm>
            <a:off x="5008405" y="4210405"/>
            <a:ext cx="370522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DPO偏好优化</a:t>
            </a:r>
          </a:p>
        </p:txBody>
      </p:sp>
      <p:sp>
        <p:nvSpPr>
          <p:cNvPr id="268" name="Shape 50"/>
          <p:cNvSpPr/>
          <p:nvPr/>
        </p:nvSpPr>
        <p:spPr>
          <a:xfrm>
            <a:off x="6758054" y="4602240"/>
            <a:ext cx="142932" cy="1904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4" h="21469" fill="norm" stroke="1" extrusionOk="0">
                <a:moveTo>
                  <a:pt x="9377" y="21076"/>
                </a:moveTo>
                <a:cubicBezTo>
                  <a:pt x="10068" y="21600"/>
                  <a:pt x="11191" y="21600"/>
                  <a:pt x="11883" y="21076"/>
                </a:cubicBezTo>
                <a:lnTo>
                  <a:pt x="20735" y="14366"/>
                </a:lnTo>
                <a:cubicBezTo>
                  <a:pt x="21427" y="13842"/>
                  <a:pt x="21427" y="12991"/>
                  <a:pt x="20735" y="12467"/>
                </a:cubicBezTo>
                <a:cubicBezTo>
                  <a:pt x="20044" y="11943"/>
                  <a:pt x="18921" y="11943"/>
                  <a:pt x="18229" y="12467"/>
                </a:cubicBezTo>
                <a:lnTo>
                  <a:pt x="12398" y="16887"/>
                </a:lnTo>
                <a:lnTo>
                  <a:pt x="12398" y="1342"/>
                </a:lnTo>
                <a:cubicBezTo>
                  <a:pt x="12398" y="600"/>
                  <a:pt x="11606" y="0"/>
                  <a:pt x="10627" y="0"/>
                </a:cubicBezTo>
                <a:cubicBezTo>
                  <a:pt x="9648" y="0"/>
                  <a:pt x="8856" y="600"/>
                  <a:pt x="8856" y="1342"/>
                </a:cubicBezTo>
                <a:lnTo>
                  <a:pt x="8856" y="16887"/>
                </a:lnTo>
                <a:lnTo>
                  <a:pt x="3025" y="12467"/>
                </a:lnTo>
                <a:cubicBezTo>
                  <a:pt x="2333" y="11943"/>
                  <a:pt x="1210" y="11943"/>
                  <a:pt x="519" y="12467"/>
                </a:cubicBezTo>
                <a:cubicBezTo>
                  <a:pt x="-173" y="12991"/>
                  <a:pt x="-173" y="13842"/>
                  <a:pt x="519" y="14366"/>
                </a:cubicBezTo>
                <a:lnTo>
                  <a:pt x="9371" y="21076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9" name="Shape 51"/>
          <p:cNvSpPr/>
          <p:nvPr/>
        </p:nvSpPr>
        <p:spPr>
          <a:xfrm>
            <a:off x="4885485" y="4839484"/>
            <a:ext cx="3884469" cy="13508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36" y="0"/>
                </a:moveTo>
                <a:lnTo>
                  <a:pt x="20964" y="0"/>
                </a:lnTo>
                <a:cubicBezTo>
                  <a:pt x="21315" y="0"/>
                  <a:pt x="21600" y="818"/>
                  <a:pt x="21600" y="1828"/>
                </a:cubicBezTo>
                <a:lnTo>
                  <a:pt x="21600" y="19772"/>
                </a:lnTo>
                <a:cubicBezTo>
                  <a:pt x="21600" y="20782"/>
                  <a:pt x="21315" y="21600"/>
                  <a:pt x="20964" y="21600"/>
                </a:cubicBezTo>
                <a:lnTo>
                  <a:pt x="636" y="21600"/>
                </a:lnTo>
                <a:cubicBezTo>
                  <a:pt x="285" y="21600"/>
                  <a:pt x="0" y="20782"/>
                  <a:pt x="0" y="19772"/>
                </a:cubicBezTo>
                <a:lnTo>
                  <a:pt x="0" y="1828"/>
                </a:lnTo>
                <a:cubicBezTo>
                  <a:pt x="0" y="818"/>
                  <a:pt x="285" y="0"/>
                  <a:pt x="636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23091">
            <a:solidFill>
              <a:srgbClr val="5E8B7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0" name="Shape 52"/>
          <p:cNvSpPr/>
          <p:nvPr/>
        </p:nvSpPr>
        <p:spPr>
          <a:xfrm>
            <a:off x="5008405" y="4962404"/>
            <a:ext cx="381001" cy="381001"/>
          </a:xfrm>
          <a:prstGeom prst="ellipse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1" name="Text 53"/>
          <p:cNvSpPr txBox="1"/>
          <p:nvPr/>
        </p:nvSpPr>
        <p:spPr>
          <a:xfrm>
            <a:off x="4965541" y="5051304"/>
            <a:ext cx="46672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300">
                <a:solidFill>
                  <a:srgbClr val="1A1D21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72" name="Text 54"/>
          <p:cNvSpPr txBox="1"/>
          <p:nvPr/>
        </p:nvSpPr>
        <p:spPr>
          <a:xfrm>
            <a:off x="5503664" y="5019568"/>
            <a:ext cx="85725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5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安全防护</a:t>
            </a:r>
          </a:p>
        </p:txBody>
      </p:sp>
      <p:sp>
        <p:nvSpPr>
          <p:cNvPr id="273" name="Text 55"/>
          <p:cNvSpPr txBox="1"/>
          <p:nvPr/>
        </p:nvSpPr>
        <p:spPr>
          <a:xfrm>
            <a:off x="5008405" y="5425926"/>
            <a:ext cx="370522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✓</a:t>
            </a:r>
            <a:r>
              <a:rPr>
                <a:solidFill>
                  <a:srgbClr val="7D8A96"/>
                </a:solidFill>
              </a:rPr>
              <a:t> 置信度过滤(&gt;=0.6)</a:t>
            </a:r>
          </a:p>
        </p:txBody>
      </p:sp>
      <p:sp>
        <p:nvSpPr>
          <p:cNvPr id="274" name="Text 56"/>
          <p:cNvSpPr txBox="1"/>
          <p:nvPr/>
        </p:nvSpPr>
        <p:spPr>
          <a:xfrm>
            <a:off x="5008405" y="5654447"/>
            <a:ext cx="370522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✓</a:t>
            </a:r>
            <a:r>
              <a:rPr>
                <a:solidFill>
                  <a:srgbClr val="7D8A96"/>
                </a:solidFill>
              </a:rPr>
              <a:t> 规则引擎硬约束</a:t>
            </a:r>
          </a:p>
        </p:txBody>
      </p:sp>
      <p:sp>
        <p:nvSpPr>
          <p:cNvPr id="275" name="Text 57"/>
          <p:cNvSpPr txBox="1"/>
          <p:nvPr/>
        </p:nvSpPr>
        <p:spPr>
          <a:xfrm>
            <a:off x="5008405" y="5882963"/>
            <a:ext cx="370522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✓</a:t>
            </a:r>
            <a:r>
              <a:rPr>
                <a:solidFill>
                  <a:srgbClr val="7D8A96"/>
                </a:solidFill>
              </a:rPr>
              <a:t> DDI相互作用检测</a:t>
            </a:r>
          </a:p>
        </p:txBody>
      </p:sp>
      <p:sp>
        <p:nvSpPr>
          <p:cNvPr id="276" name="Shape 58"/>
          <p:cNvSpPr/>
          <p:nvPr/>
        </p:nvSpPr>
        <p:spPr>
          <a:xfrm>
            <a:off x="8963132" y="3756416"/>
            <a:ext cx="228590" cy="1715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69" h="21254" fill="norm" stroke="1" extrusionOk="0">
                <a:moveTo>
                  <a:pt x="21076" y="11877"/>
                </a:moveTo>
                <a:cubicBezTo>
                  <a:pt x="21600" y="11186"/>
                  <a:pt x="21600" y="10063"/>
                  <a:pt x="21076" y="9371"/>
                </a:cubicBezTo>
                <a:lnTo>
                  <a:pt x="14367" y="519"/>
                </a:lnTo>
                <a:cubicBezTo>
                  <a:pt x="13842" y="-173"/>
                  <a:pt x="12991" y="-173"/>
                  <a:pt x="12467" y="519"/>
                </a:cubicBezTo>
                <a:cubicBezTo>
                  <a:pt x="11943" y="1210"/>
                  <a:pt x="11943" y="2333"/>
                  <a:pt x="12467" y="3025"/>
                </a:cubicBezTo>
                <a:lnTo>
                  <a:pt x="16887" y="8857"/>
                </a:lnTo>
                <a:lnTo>
                  <a:pt x="1342" y="8857"/>
                </a:lnTo>
                <a:cubicBezTo>
                  <a:pt x="600" y="8857"/>
                  <a:pt x="0" y="9648"/>
                  <a:pt x="0" y="10627"/>
                </a:cubicBezTo>
                <a:cubicBezTo>
                  <a:pt x="0" y="11606"/>
                  <a:pt x="600" y="12398"/>
                  <a:pt x="1342" y="12398"/>
                </a:cubicBezTo>
                <a:lnTo>
                  <a:pt x="16887" y="12398"/>
                </a:lnTo>
                <a:lnTo>
                  <a:pt x="12467" y="18229"/>
                </a:lnTo>
                <a:cubicBezTo>
                  <a:pt x="11943" y="18921"/>
                  <a:pt x="11943" y="20044"/>
                  <a:pt x="12467" y="20735"/>
                </a:cubicBezTo>
                <a:cubicBezTo>
                  <a:pt x="12991" y="21427"/>
                  <a:pt x="13842" y="21427"/>
                  <a:pt x="14367" y="20735"/>
                </a:cubicBezTo>
                <a:lnTo>
                  <a:pt x="21076" y="11883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7" name="Shape 59"/>
          <p:cNvSpPr/>
          <p:nvPr/>
        </p:nvSpPr>
        <p:spPr>
          <a:xfrm>
            <a:off x="9381312" y="1494373"/>
            <a:ext cx="2417619" cy="46940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21" y="0"/>
                </a:moveTo>
                <a:lnTo>
                  <a:pt x="20579" y="0"/>
                </a:lnTo>
                <a:cubicBezTo>
                  <a:pt x="21143" y="0"/>
                  <a:pt x="21600" y="235"/>
                  <a:pt x="21600" y="526"/>
                </a:cubicBezTo>
                <a:lnTo>
                  <a:pt x="21600" y="21074"/>
                </a:lnTo>
                <a:cubicBezTo>
                  <a:pt x="21600" y="21365"/>
                  <a:pt x="21143" y="21600"/>
                  <a:pt x="20579" y="21600"/>
                </a:cubicBezTo>
                <a:lnTo>
                  <a:pt x="1021" y="21600"/>
                </a:lnTo>
                <a:cubicBezTo>
                  <a:pt x="457" y="21600"/>
                  <a:pt x="0" y="21365"/>
                  <a:pt x="0" y="21074"/>
                </a:cubicBezTo>
                <a:lnTo>
                  <a:pt x="0" y="526"/>
                </a:lnTo>
                <a:cubicBezTo>
                  <a:pt x="0" y="236"/>
                  <a:pt x="458" y="0"/>
                  <a:pt x="1021" y="0"/>
                </a:cubicBezTo>
                <a:close/>
              </a:path>
            </a:pathLst>
          </a:custGeom>
          <a:gradFill>
            <a:gsLst>
              <a:gs pos="0">
                <a:srgbClr val="5E8B7E">
                  <a:alpha val="30000"/>
                </a:srgbClr>
              </a:gs>
              <a:gs pos="100000">
                <a:srgbClr val="4A6C8C">
                  <a:alpha val="30000"/>
                </a:srgbClr>
              </a:gs>
            </a:gsLst>
            <a:lin ang="2700000"/>
          </a:gradFill>
          <a:ln w="23091">
            <a:solidFill>
              <a:srgbClr val="5E8B7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8" name="Shape 60"/>
          <p:cNvSpPr/>
          <p:nvPr/>
        </p:nvSpPr>
        <p:spPr>
          <a:xfrm>
            <a:off x="10363227" y="2680394"/>
            <a:ext cx="485776" cy="4857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906"/>
                </a:moveTo>
                <a:cubicBezTo>
                  <a:pt x="0" y="854"/>
                  <a:pt x="854" y="0"/>
                  <a:pt x="1906" y="0"/>
                </a:cubicBezTo>
                <a:lnTo>
                  <a:pt x="3812" y="0"/>
                </a:lnTo>
                <a:cubicBezTo>
                  <a:pt x="4515" y="0"/>
                  <a:pt x="5082" y="568"/>
                  <a:pt x="5082" y="1271"/>
                </a:cubicBezTo>
                <a:cubicBezTo>
                  <a:pt x="5082" y="1973"/>
                  <a:pt x="4515" y="2541"/>
                  <a:pt x="3812" y="2541"/>
                </a:cubicBezTo>
                <a:lnTo>
                  <a:pt x="2541" y="2541"/>
                </a:lnTo>
                <a:lnTo>
                  <a:pt x="2541" y="7624"/>
                </a:lnTo>
                <a:cubicBezTo>
                  <a:pt x="2541" y="9728"/>
                  <a:pt x="4249" y="11435"/>
                  <a:pt x="6353" y="11435"/>
                </a:cubicBezTo>
                <a:cubicBezTo>
                  <a:pt x="8457" y="11435"/>
                  <a:pt x="10165" y="9728"/>
                  <a:pt x="10165" y="7624"/>
                </a:cubicBezTo>
                <a:lnTo>
                  <a:pt x="10165" y="2541"/>
                </a:lnTo>
                <a:lnTo>
                  <a:pt x="8894" y="2541"/>
                </a:lnTo>
                <a:cubicBezTo>
                  <a:pt x="8191" y="2541"/>
                  <a:pt x="7624" y="1973"/>
                  <a:pt x="7624" y="1271"/>
                </a:cubicBezTo>
                <a:cubicBezTo>
                  <a:pt x="7624" y="568"/>
                  <a:pt x="8191" y="0"/>
                  <a:pt x="8894" y="0"/>
                </a:cubicBezTo>
                <a:lnTo>
                  <a:pt x="10800" y="0"/>
                </a:lnTo>
                <a:cubicBezTo>
                  <a:pt x="11852" y="0"/>
                  <a:pt x="12706" y="854"/>
                  <a:pt x="12706" y="1906"/>
                </a:cubicBezTo>
                <a:lnTo>
                  <a:pt x="12706" y="7624"/>
                </a:lnTo>
                <a:cubicBezTo>
                  <a:pt x="12706" y="10697"/>
                  <a:pt x="10522" y="13262"/>
                  <a:pt x="7624" y="13849"/>
                </a:cubicBezTo>
                <a:lnTo>
                  <a:pt x="7624" y="14612"/>
                </a:lnTo>
                <a:cubicBezTo>
                  <a:pt x="7624" y="17070"/>
                  <a:pt x="9613" y="19059"/>
                  <a:pt x="12071" y="19059"/>
                </a:cubicBezTo>
                <a:cubicBezTo>
                  <a:pt x="14528" y="19059"/>
                  <a:pt x="16518" y="17070"/>
                  <a:pt x="16518" y="14612"/>
                </a:cubicBezTo>
                <a:lnTo>
                  <a:pt x="16518" y="11217"/>
                </a:lnTo>
                <a:cubicBezTo>
                  <a:pt x="15037" y="10693"/>
                  <a:pt x="13976" y="9283"/>
                  <a:pt x="13976" y="7624"/>
                </a:cubicBezTo>
                <a:cubicBezTo>
                  <a:pt x="13976" y="5519"/>
                  <a:pt x="15684" y="3812"/>
                  <a:pt x="17788" y="3812"/>
                </a:cubicBezTo>
                <a:cubicBezTo>
                  <a:pt x="19893" y="3812"/>
                  <a:pt x="21600" y="5519"/>
                  <a:pt x="21600" y="7624"/>
                </a:cubicBezTo>
                <a:cubicBezTo>
                  <a:pt x="21600" y="9283"/>
                  <a:pt x="20540" y="10697"/>
                  <a:pt x="19059" y="11217"/>
                </a:cubicBezTo>
                <a:lnTo>
                  <a:pt x="19059" y="14612"/>
                </a:lnTo>
                <a:cubicBezTo>
                  <a:pt x="19059" y="18471"/>
                  <a:pt x="15930" y="21600"/>
                  <a:pt x="12071" y="21600"/>
                </a:cubicBezTo>
                <a:cubicBezTo>
                  <a:pt x="8211" y="21600"/>
                  <a:pt x="5082" y="18471"/>
                  <a:pt x="5082" y="14612"/>
                </a:cubicBezTo>
                <a:lnTo>
                  <a:pt x="5082" y="13849"/>
                </a:lnTo>
                <a:cubicBezTo>
                  <a:pt x="2184" y="13262"/>
                  <a:pt x="0" y="10697"/>
                  <a:pt x="0" y="7624"/>
                </a:cubicBezTo>
                <a:lnTo>
                  <a:pt x="0" y="1906"/>
                </a:lnTo>
                <a:close/>
                <a:moveTo>
                  <a:pt x="17788" y="8894"/>
                </a:moveTo>
                <a:cubicBezTo>
                  <a:pt x="18489" y="8894"/>
                  <a:pt x="19059" y="8325"/>
                  <a:pt x="19059" y="7624"/>
                </a:cubicBezTo>
                <a:cubicBezTo>
                  <a:pt x="19059" y="6922"/>
                  <a:pt x="18489" y="6353"/>
                  <a:pt x="17788" y="6353"/>
                </a:cubicBezTo>
                <a:cubicBezTo>
                  <a:pt x="17087" y="6353"/>
                  <a:pt x="16518" y="6922"/>
                  <a:pt x="16518" y="7624"/>
                </a:cubicBezTo>
                <a:cubicBezTo>
                  <a:pt x="16518" y="8325"/>
                  <a:pt x="17087" y="8894"/>
                  <a:pt x="17788" y="8894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9" name="Text 61"/>
          <p:cNvSpPr txBox="1"/>
          <p:nvPr/>
        </p:nvSpPr>
        <p:spPr>
          <a:xfrm>
            <a:off x="9523321" y="3245479"/>
            <a:ext cx="21336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defRPr b="1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推理阶段</a:t>
            </a:r>
          </a:p>
        </p:txBody>
      </p:sp>
      <p:sp>
        <p:nvSpPr>
          <p:cNvPr id="280" name="Text 62"/>
          <p:cNvSpPr txBox="1"/>
          <p:nvPr/>
        </p:nvSpPr>
        <p:spPr>
          <a:xfrm>
            <a:off x="9542371" y="3658160"/>
            <a:ext cx="20955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2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Inference</a:t>
            </a:r>
          </a:p>
        </p:txBody>
      </p:sp>
      <p:sp>
        <p:nvSpPr>
          <p:cNvPr id="281" name="Shape 63"/>
          <p:cNvSpPr/>
          <p:nvPr/>
        </p:nvSpPr>
        <p:spPr>
          <a:xfrm>
            <a:off x="9599521" y="4042242"/>
            <a:ext cx="133351" cy="1333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16761" y="21600"/>
                  <a:pt x="21600" y="16761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9" y="0"/>
                  <a:pt x="0" y="4839"/>
                  <a:pt x="0" y="10800"/>
                </a:cubicBezTo>
                <a:cubicBezTo>
                  <a:pt x="0" y="16761"/>
                  <a:pt x="4839" y="21600"/>
                  <a:pt x="10800" y="21600"/>
                </a:cubicBezTo>
                <a:close/>
                <a:moveTo>
                  <a:pt x="14361" y="8973"/>
                </a:moveTo>
                <a:lnTo>
                  <a:pt x="10986" y="14373"/>
                </a:lnTo>
                <a:cubicBezTo>
                  <a:pt x="10808" y="14656"/>
                  <a:pt x="10505" y="14833"/>
                  <a:pt x="10171" y="14850"/>
                </a:cubicBezTo>
                <a:cubicBezTo>
                  <a:pt x="9838" y="14867"/>
                  <a:pt x="9517" y="14715"/>
                  <a:pt x="9319" y="14445"/>
                </a:cubicBezTo>
                <a:lnTo>
                  <a:pt x="7294" y="11745"/>
                </a:lnTo>
                <a:cubicBezTo>
                  <a:pt x="6957" y="11298"/>
                  <a:pt x="7050" y="10665"/>
                  <a:pt x="7497" y="10328"/>
                </a:cubicBezTo>
                <a:cubicBezTo>
                  <a:pt x="7944" y="9990"/>
                  <a:pt x="8577" y="10083"/>
                  <a:pt x="8914" y="10530"/>
                </a:cubicBezTo>
                <a:lnTo>
                  <a:pt x="10053" y="12049"/>
                </a:lnTo>
                <a:lnTo>
                  <a:pt x="12644" y="7902"/>
                </a:lnTo>
                <a:cubicBezTo>
                  <a:pt x="12939" y="7429"/>
                  <a:pt x="13563" y="7282"/>
                  <a:pt x="14040" y="7581"/>
                </a:cubicBezTo>
                <a:cubicBezTo>
                  <a:pt x="14517" y="7881"/>
                  <a:pt x="14660" y="8501"/>
                  <a:pt x="14361" y="8978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2" name="Text 64"/>
          <p:cNvSpPr txBox="1"/>
          <p:nvPr/>
        </p:nvSpPr>
        <p:spPr>
          <a:xfrm>
            <a:off x="9751921" y="4020044"/>
            <a:ext cx="191452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四阶段CoT推理</a:t>
            </a:r>
          </a:p>
        </p:txBody>
      </p:sp>
      <p:sp>
        <p:nvSpPr>
          <p:cNvPr id="283" name="Shape 65"/>
          <p:cNvSpPr/>
          <p:nvPr/>
        </p:nvSpPr>
        <p:spPr>
          <a:xfrm>
            <a:off x="9599521" y="4308843"/>
            <a:ext cx="133351" cy="1333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16761" y="21600"/>
                  <a:pt x="21600" y="16761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9" y="0"/>
                  <a:pt x="0" y="4839"/>
                  <a:pt x="0" y="10800"/>
                </a:cubicBezTo>
                <a:cubicBezTo>
                  <a:pt x="0" y="16761"/>
                  <a:pt x="4839" y="21600"/>
                  <a:pt x="10800" y="21600"/>
                </a:cubicBezTo>
                <a:close/>
                <a:moveTo>
                  <a:pt x="14361" y="8973"/>
                </a:moveTo>
                <a:lnTo>
                  <a:pt x="10986" y="14373"/>
                </a:lnTo>
                <a:cubicBezTo>
                  <a:pt x="10808" y="14656"/>
                  <a:pt x="10505" y="14833"/>
                  <a:pt x="10171" y="14850"/>
                </a:cubicBezTo>
                <a:cubicBezTo>
                  <a:pt x="9838" y="14867"/>
                  <a:pt x="9517" y="14715"/>
                  <a:pt x="9319" y="14445"/>
                </a:cubicBezTo>
                <a:lnTo>
                  <a:pt x="7294" y="11745"/>
                </a:lnTo>
                <a:cubicBezTo>
                  <a:pt x="6957" y="11298"/>
                  <a:pt x="7050" y="10665"/>
                  <a:pt x="7497" y="10328"/>
                </a:cubicBezTo>
                <a:cubicBezTo>
                  <a:pt x="7944" y="9990"/>
                  <a:pt x="8577" y="10083"/>
                  <a:pt x="8914" y="10530"/>
                </a:cubicBezTo>
                <a:lnTo>
                  <a:pt x="10053" y="12049"/>
                </a:lnTo>
                <a:lnTo>
                  <a:pt x="12644" y="7902"/>
                </a:lnTo>
                <a:cubicBezTo>
                  <a:pt x="12939" y="7429"/>
                  <a:pt x="13563" y="7282"/>
                  <a:pt x="14040" y="7581"/>
                </a:cubicBezTo>
                <a:cubicBezTo>
                  <a:pt x="14517" y="7881"/>
                  <a:pt x="14660" y="8501"/>
                  <a:pt x="14361" y="8978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4" name="Text 66"/>
          <p:cNvSpPr txBox="1"/>
          <p:nvPr/>
        </p:nvSpPr>
        <p:spPr>
          <a:xfrm>
            <a:off x="9751921" y="4286646"/>
            <a:ext cx="191452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诊断→用药→安全→处方</a:t>
            </a:r>
          </a:p>
        </p:txBody>
      </p:sp>
      <p:sp>
        <p:nvSpPr>
          <p:cNvPr id="285" name="Shape 67"/>
          <p:cNvSpPr/>
          <p:nvPr/>
        </p:nvSpPr>
        <p:spPr>
          <a:xfrm>
            <a:off x="9599521" y="4575450"/>
            <a:ext cx="133351" cy="1333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16761" y="21600"/>
                  <a:pt x="21600" y="16761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9" y="0"/>
                  <a:pt x="0" y="4839"/>
                  <a:pt x="0" y="10800"/>
                </a:cubicBezTo>
                <a:cubicBezTo>
                  <a:pt x="0" y="16761"/>
                  <a:pt x="4839" y="21600"/>
                  <a:pt x="10800" y="21600"/>
                </a:cubicBezTo>
                <a:close/>
                <a:moveTo>
                  <a:pt x="14361" y="8973"/>
                </a:moveTo>
                <a:lnTo>
                  <a:pt x="10986" y="14373"/>
                </a:lnTo>
                <a:cubicBezTo>
                  <a:pt x="10808" y="14656"/>
                  <a:pt x="10505" y="14833"/>
                  <a:pt x="10171" y="14850"/>
                </a:cubicBezTo>
                <a:cubicBezTo>
                  <a:pt x="9838" y="14867"/>
                  <a:pt x="9517" y="14715"/>
                  <a:pt x="9319" y="14445"/>
                </a:cubicBezTo>
                <a:lnTo>
                  <a:pt x="7294" y="11745"/>
                </a:lnTo>
                <a:cubicBezTo>
                  <a:pt x="6957" y="11298"/>
                  <a:pt x="7050" y="10665"/>
                  <a:pt x="7497" y="10328"/>
                </a:cubicBezTo>
                <a:cubicBezTo>
                  <a:pt x="7944" y="9990"/>
                  <a:pt x="8577" y="10083"/>
                  <a:pt x="8914" y="10530"/>
                </a:cubicBezTo>
                <a:lnTo>
                  <a:pt x="10053" y="12049"/>
                </a:lnTo>
                <a:lnTo>
                  <a:pt x="12644" y="7902"/>
                </a:lnTo>
                <a:cubicBezTo>
                  <a:pt x="12939" y="7429"/>
                  <a:pt x="13563" y="7282"/>
                  <a:pt x="14040" y="7581"/>
                </a:cubicBezTo>
                <a:cubicBezTo>
                  <a:pt x="14517" y="7881"/>
                  <a:pt x="14660" y="8501"/>
                  <a:pt x="14361" y="8978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6" name="Text 68"/>
          <p:cNvSpPr txBox="1"/>
          <p:nvPr/>
        </p:nvSpPr>
        <p:spPr>
          <a:xfrm>
            <a:off x="9751921" y="4553253"/>
            <a:ext cx="191452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显式推理链输出</a:t>
            </a:r>
          </a:p>
        </p:txBody>
      </p:sp>
      <p:sp>
        <p:nvSpPr>
          <p:cNvPr id="287" name="Shape 69"/>
          <p:cNvSpPr/>
          <p:nvPr/>
        </p:nvSpPr>
        <p:spPr>
          <a:xfrm>
            <a:off x="9599521" y="4842057"/>
            <a:ext cx="133351" cy="1333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16761" y="21600"/>
                  <a:pt x="21600" y="16761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9" y="0"/>
                  <a:pt x="0" y="4839"/>
                  <a:pt x="0" y="10800"/>
                </a:cubicBezTo>
                <a:cubicBezTo>
                  <a:pt x="0" y="16761"/>
                  <a:pt x="4839" y="21600"/>
                  <a:pt x="10800" y="21600"/>
                </a:cubicBezTo>
                <a:close/>
                <a:moveTo>
                  <a:pt x="14361" y="8973"/>
                </a:moveTo>
                <a:lnTo>
                  <a:pt x="10986" y="14373"/>
                </a:lnTo>
                <a:cubicBezTo>
                  <a:pt x="10808" y="14656"/>
                  <a:pt x="10505" y="14833"/>
                  <a:pt x="10171" y="14850"/>
                </a:cubicBezTo>
                <a:cubicBezTo>
                  <a:pt x="9838" y="14867"/>
                  <a:pt x="9517" y="14715"/>
                  <a:pt x="9319" y="14445"/>
                </a:cubicBezTo>
                <a:lnTo>
                  <a:pt x="7294" y="11745"/>
                </a:lnTo>
                <a:cubicBezTo>
                  <a:pt x="6957" y="11298"/>
                  <a:pt x="7050" y="10665"/>
                  <a:pt x="7497" y="10328"/>
                </a:cubicBezTo>
                <a:cubicBezTo>
                  <a:pt x="7944" y="9990"/>
                  <a:pt x="8577" y="10083"/>
                  <a:pt x="8914" y="10530"/>
                </a:cubicBezTo>
                <a:lnTo>
                  <a:pt x="10053" y="12049"/>
                </a:lnTo>
                <a:lnTo>
                  <a:pt x="12644" y="7902"/>
                </a:lnTo>
                <a:cubicBezTo>
                  <a:pt x="12939" y="7429"/>
                  <a:pt x="13563" y="7282"/>
                  <a:pt x="14040" y="7581"/>
                </a:cubicBezTo>
                <a:cubicBezTo>
                  <a:pt x="14517" y="7881"/>
                  <a:pt x="14660" y="8501"/>
                  <a:pt x="14361" y="8978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8" name="Text 70"/>
          <p:cNvSpPr txBox="1"/>
          <p:nvPr/>
        </p:nvSpPr>
        <p:spPr>
          <a:xfrm>
            <a:off x="9751921" y="4819856"/>
            <a:ext cx="191452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首字延迟&lt;300ms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Text 0"/>
          <p:cNvSpPr txBox="1"/>
          <p:nvPr/>
        </p:nvSpPr>
        <p:spPr>
          <a:xfrm>
            <a:off x="381000" y="406399"/>
            <a:ext cx="115062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pc="60" sz="1200">
                <a:solidFill>
                  <a:srgbClr val="5E8B7E"/>
                </a:solidFill>
                <a:latin typeface="Liter"/>
                <a:ea typeface="Liter"/>
                <a:cs typeface="Liter"/>
                <a:sym typeface="Liter"/>
              </a:defRPr>
            </a:lvl1pPr>
          </a:lstStyle>
          <a:p>
            <a:pPr/>
            <a:r>
              <a:t>DATA LAYER</a:t>
            </a:r>
          </a:p>
        </p:txBody>
      </p:sp>
      <p:sp>
        <p:nvSpPr>
          <p:cNvPr id="291" name="Text 1"/>
          <p:cNvSpPr txBox="1"/>
          <p:nvPr/>
        </p:nvSpPr>
        <p:spPr>
          <a:xfrm>
            <a:off x="381000" y="596857"/>
            <a:ext cx="116586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80000"/>
              </a:lnSpc>
              <a:defRPr b="1" sz="36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数据层设计</a:t>
            </a:r>
          </a:p>
        </p:txBody>
      </p:sp>
      <p:sp>
        <p:nvSpPr>
          <p:cNvPr id="292" name="Shape 2"/>
          <p:cNvSpPr/>
          <p:nvPr/>
        </p:nvSpPr>
        <p:spPr>
          <a:xfrm>
            <a:off x="381000" y="1295278"/>
            <a:ext cx="914400" cy="38101"/>
          </a:xfrm>
          <a:prstGeom prst="rect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3" name="Shape 3"/>
          <p:cNvSpPr/>
          <p:nvPr/>
        </p:nvSpPr>
        <p:spPr>
          <a:xfrm>
            <a:off x="398318" y="1485709"/>
            <a:ext cx="3665393" cy="2209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4" y="0"/>
                </a:moveTo>
                <a:lnTo>
                  <a:pt x="20926" y="0"/>
                </a:lnTo>
                <a:cubicBezTo>
                  <a:pt x="21298" y="0"/>
                  <a:pt x="21600" y="501"/>
                  <a:pt x="21600" y="1117"/>
                </a:cubicBezTo>
                <a:lnTo>
                  <a:pt x="21600" y="20483"/>
                </a:lnTo>
                <a:cubicBezTo>
                  <a:pt x="21600" y="21100"/>
                  <a:pt x="21298" y="21600"/>
                  <a:pt x="20926" y="21600"/>
                </a:cubicBezTo>
                <a:lnTo>
                  <a:pt x="204" y="21600"/>
                </a:lnTo>
                <a:cubicBezTo>
                  <a:pt x="91" y="21600"/>
                  <a:pt x="0" y="21448"/>
                  <a:pt x="0" y="21261"/>
                </a:cubicBezTo>
                <a:lnTo>
                  <a:pt x="0" y="339"/>
                </a:lnTo>
                <a:cubicBezTo>
                  <a:pt x="0" y="152"/>
                  <a:pt x="91" y="0"/>
                  <a:pt x="204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4" name="Shape 4"/>
          <p:cNvSpPr/>
          <p:nvPr/>
        </p:nvSpPr>
        <p:spPr>
          <a:xfrm>
            <a:off x="398318" y="1485709"/>
            <a:ext cx="34637" cy="2209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448"/>
                  <a:pt x="0" y="21261"/>
                </a:cubicBezTo>
                <a:lnTo>
                  <a:pt x="0" y="339"/>
                </a:lnTo>
                <a:cubicBezTo>
                  <a:pt x="0" y="152"/>
                  <a:pt x="9671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5" name="Shape 5"/>
          <p:cNvSpPr/>
          <p:nvPr/>
        </p:nvSpPr>
        <p:spPr>
          <a:xfrm>
            <a:off x="606136" y="1676208"/>
            <a:ext cx="533401" cy="533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086" y="0"/>
                </a:moveTo>
                <a:lnTo>
                  <a:pt x="18514" y="0"/>
                </a:lnTo>
                <a:cubicBezTo>
                  <a:pt x="20218" y="0"/>
                  <a:pt x="21600" y="1382"/>
                  <a:pt x="21600" y="3086"/>
                </a:cubicBezTo>
                <a:lnTo>
                  <a:pt x="21600" y="18514"/>
                </a:lnTo>
                <a:cubicBezTo>
                  <a:pt x="21600" y="20218"/>
                  <a:pt x="20218" y="21600"/>
                  <a:pt x="18514" y="21600"/>
                </a:cubicBezTo>
                <a:lnTo>
                  <a:pt x="3086" y="21600"/>
                </a:lnTo>
                <a:cubicBezTo>
                  <a:pt x="1382" y="21600"/>
                  <a:pt x="0" y="20218"/>
                  <a:pt x="0" y="18514"/>
                </a:cubicBezTo>
                <a:lnTo>
                  <a:pt x="0" y="3086"/>
                </a:lnTo>
                <a:cubicBezTo>
                  <a:pt x="0" y="1383"/>
                  <a:pt x="1383" y="0"/>
                  <a:pt x="3086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6" name="Shape 6"/>
          <p:cNvSpPr/>
          <p:nvPr/>
        </p:nvSpPr>
        <p:spPr>
          <a:xfrm>
            <a:off x="787083" y="1828557"/>
            <a:ext cx="171451" cy="228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700"/>
                </a:moveTo>
                <a:cubicBezTo>
                  <a:pt x="0" y="1211"/>
                  <a:pt x="1614" y="0"/>
                  <a:pt x="3600" y="0"/>
                </a:cubicBezTo>
                <a:lnTo>
                  <a:pt x="12009" y="0"/>
                </a:lnTo>
                <a:cubicBezTo>
                  <a:pt x="12966" y="0"/>
                  <a:pt x="13882" y="283"/>
                  <a:pt x="14557" y="789"/>
                </a:cubicBezTo>
                <a:lnTo>
                  <a:pt x="20548" y="5286"/>
                </a:lnTo>
                <a:cubicBezTo>
                  <a:pt x="21223" y="5792"/>
                  <a:pt x="21600" y="6480"/>
                  <a:pt x="21600" y="7197"/>
                </a:cubicBezTo>
                <a:lnTo>
                  <a:pt x="21600" y="18900"/>
                </a:lnTo>
                <a:cubicBezTo>
                  <a:pt x="21600" y="20389"/>
                  <a:pt x="19986" y="21600"/>
                  <a:pt x="18000" y="21600"/>
                </a:cubicBezTo>
                <a:lnTo>
                  <a:pt x="3600" y="21600"/>
                </a:lnTo>
                <a:cubicBezTo>
                  <a:pt x="1614" y="21600"/>
                  <a:pt x="0" y="20389"/>
                  <a:pt x="0" y="18900"/>
                </a:cubicBezTo>
                <a:lnTo>
                  <a:pt x="0" y="2700"/>
                </a:lnTo>
                <a:close/>
                <a:moveTo>
                  <a:pt x="11700" y="2468"/>
                </a:moveTo>
                <a:lnTo>
                  <a:pt x="11700" y="6413"/>
                </a:lnTo>
                <a:cubicBezTo>
                  <a:pt x="11700" y="6974"/>
                  <a:pt x="12302" y="7425"/>
                  <a:pt x="13050" y="7425"/>
                </a:cubicBezTo>
                <a:lnTo>
                  <a:pt x="18309" y="7425"/>
                </a:lnTo>
                <a:lnTo>
                  <a:pt x="11700" y="2468"/>
                </a:lnTo>
                <a:close/>
                <a:moveTo>
                  <a:pt x="9000" y="11813"/>
                </a:moveTo>
                <a:lnTo>
                  <a:pt x="9000" y="13500"/>
                </a:lnTo>
                <a:lnTo>
                  <a:pt x="6750" y="13500"/>
                </a:lnTo>
                <a:cubicBezTo>
                  <a:pt x="6255" y="13500"/>
                  <a:pt x="5850" y="13804"/>
                  <a:pt x="5850" y="14175"/>
                </a:cubicBezTo>
                <a:lnTo>
                  <a:pt x="5850" y="15525"/>
                </a:lnTo>
                <a:cubicBezTo>
                  <a:pt x="5850" y="15896"/>
                  <a:pt x="6255" y="16200"/>
                  <a:pt x="6750" y="16200"/>
                </a:cubicBezTo>
                <a:lnTo>
                  <a:pt x="9000" y="16200"/>
                </a:lnTo>
                <a:lnTo>
                  <a:pt x="9000" y="17887"/>
                </a:lnTo>
                <a:cubicBezTo>
                  <a:pt x="9000" y="18259"/>
                  <a:pt x="9405" y="18562"/>
                  <a:pt x="9900" y="18562"/>
                </a:cubicBezTo>
                <a:lnTo>
                  <a:pt x="11700" y="18562"/>
                </a:lnTo>
                <a:cubicBezTo>
                  <a:pt x="12195" y="18562"/>
                  <a:pt x="12600" y="18259"/>
                  <a:pt x="12600" y="17887"/>
                </a:cubicBezTo>
                <a:lnTo>
                  <a:pt x="12600" y="16200"/>
                </a:lnTo>
                <a:lnTo>
                  <a:pt x="14850" y="16200"/>
                </a:lnTo>
                <a:cubicBezTo>
                  <a:pt x="15345" y="16200"/>
                  <a:pt x="15750" y="15896"/>
                  <a:pt x="15750" y="15525"/>
                </a:cubicBezTo>
                <a:lnTo>
                  <a:pt x="15750" y="14175"/>
                </a:lnTo>
                <a:cubicBezTo>
                  <a:pt x="15750" y="13804"/>
                  <a:pt x="15345" y="13500"/>
                  <a:pt x="14850" y="13500"/>
                </a:cubicBezTo>
                <a:lnTo>
                  <a:pt x="12600" y="13500"/>
                </a:lnTo>
                <a:lnTo>
                  <a:pt x="12600" y="11813"/>
                </a:lnTo>
                <a:cubicBezTo>
                  <a:pt x="12600" y="11441"/>
                  <a:pt x="12195" y="11138"/>
                  <a:pt x="11700" y="11138"/>
                </a:cubicBezTo>
                <a:lnTo>
                  <a:pt x="9900" y="11138"/>
                </a:lnTo>
                <a:cubicBezTo>
                  <a:pt x="9405" y="11138"/>
                  <a:pt x="9000" y="11441"/>
                  <a:pt x="9000" y="11813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7" name="Text 7"/>
          <p:cNvSpPr txBox="1"/>
          <p:nvPr/>
        </p:nvSpPr>
        <p:spPr>
          <a:xfrm>
            <a:off x="1253741" y="1809550"/>
            <a:ext cx="123825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5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原始病历数据</a:t>
            </a:r>
          </a:p>
        </p:txBody>
      </p:sp>
      <p:sp>
        <p:nvSpPr>
          <p:cNvPr id="298" name="Text 8"/>
          <p:cNvSpPr txBox="1"/>
          <p:nvPr/>
        </p:nvSpPr>
        <p:spPr>
          <a:xfrm>
            <a:off x="606136" y="2368251"/>
            <a:ext cx="334327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2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格式:</a:t>
            </a:r>
            <a:r>
              <a:rPr b="0">
                <a:solidFill>
                  <a:srgbClr val="7D8A96"/>
                </a:solidFill>
              </a:rPr>
              <a:t> JSON结构化数据</a:t>
            </a:r>
          </a:p>
        </p:txBody>
      </p:sp>
      <p:sp>
        <p:nvSpPr>
          <p:cNvPr id="299" name="Text 9"/>
          <p:cNvSpPr txBox="1"/>
          <p:nvPr/>
        </p:nvSpPr>
        <p:spPr>
          <a:xfrm>
            <a:off x="606136" y="2673009"/>
            <a:ext cx="334327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2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内容:</a:t>
            </a:r>
            <a:r>
              <a:rPr b="0">
                <a:solidFill>
                  <a:srgbClr val="7D8A96"/>
                </a:solidFill>
              </a:rPr>
              <a:t> 主诉、现病史、既往史、诊断、检查结果</a:t>
            </a:r>
          </a:p>
        </p:txBody>
      </p:sp>
      <p:sp>
        <p:nvSpPr>
          <p:cNvPr id="300" name="Text 10"/>
          <p:cNvSpPr txBox="1"/>
          <p:nvPr/>
        </p:nvSpPr>
        <p:spPr>
          <a:xfrm>
            <a:off x="606136" y="2977773"/>
            <a:ext cx="334327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2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来源:</a:t>
            </a:r>
            <a:r>
              <a:rPr b="0">
                <a:solidFill>
                  <a:srgbClr val="7D8A96"/>
                </a:solidFill>
              </a:rPr>
              <a:t> 医院电子病历系统</a:t>
            </a:r>
          </a:p>
        </p:txBody>
      </p:sp>
      <p:sp>
        <p:nvSpPr>
          <p:cNvPr id="301" name="Text 11"/>
          <p:cNvSpPr txBox="1"/>
          <p:nvPr/>
        </p:nvSpPr>
        <p:spPr>
          <a:xfrm>
            <a:off x="606136" y="3282531"/>
            <a:ext cx="334327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2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特点:</a:t>
            </a:r>
            <a:r>
              <a:rPr b="0">
                <a:solidFill>
                  <a:srgbClr val="7D8A96"/>
                </a:solidFill>
              </a:rPr>
              <a:t> 非结构化文本，需预处理提取关键信息</a:t>
            </a:r>
          </a:p>
        </p:txBody>
      </p:sp>
      <p:sp>
        <p:nvSpPr>
          <p:cNvPr id="302" name="Shape 12"/>
          <p:cNvSpPr/>
          <p:nvPr/>
        </p:nvSpPr>
        <p:spPr>
          <a:xfrm>
            <a:off x="4271772" y="1485709"/>
            <a:ext cx="3665394" cy="2209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4" y="0"/>
                </a:moveTo>
                <a:lnTo>
                  <a:pt x="20926" y="0"/>
                </a:lnTo>
                <a:cubicBezTo>
                  <a:pt x="21298" y="0"/>
                  <a:pt x="21600" y="501"/>
                  <a:pt x="21600" y="1117"/>
                </a:cubicBezTo>
                <a:lnTo>
                  <a:pt x="21600" y="20483"/>
                </a:lnTo>
                <a:cubicBezTo>
                  <a:pt x="21600" y="21100"/>
                  <a:pt x="21298" y="21600"/>
                  <a:pt x="20926" y="21600"/>
                </a:cubicBezTo>
                <a:lnTo>
                  <a:pt x="204" y="21600"/>
                </a:lnTo>
                <a:cubicBezTo>
                  <a:pt x="91" y="21600"/>
                  <a:pt x="0" y="21448"/>
                  <a:pt x="0" y="21261"/>
                </a:cubicBezTo>
                <a:lnTo>
                  <a:pt x="0" y="339"/>
                </a:lnTo>
                <a:cubicBezTo>
                  <a:pt x="0" y="152"/>
                  <a:pt x="91" y="0"/>
                  <a:pt x="204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3" name="Shape 13"/>
          <p:cNvSpPr/>
          <p:nvPr/>
        </p:nvSpPr>
        <p:spPr>
          <a:xfrm>
            <a:off x="4271772" y="1485709"/>
            <a:ext cx="34637" cy="2209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448"/>
                  <a:pt x="0" y="21261"/>
                </a:cubicBezTo>
                <a:lnTo>
                  <a:pt x="0" y="339"/>
                </a:lnTo>
                <a:cubicBezTo>
                  <a:pt x="0" y="152"/>
                  <a:pt x="9671" y="0"/>
                  <a:pt x="21600" y="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4" name="Shape 14"/>
          <p:cNvSpPr/>
          <p:nvPr/>
        </p:nvSpPr>
        <p:spPr>
          <a:xfrm>
            <a:off x="4479590" y="1676208"/>
            <a:ext cx="533401" cy="533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086" y="0"/>
                </a:moveTo>
                <a:lnTo>
                  <a:pt x="18514" y="0"/>
                </a:lnTo>
                <a:cubicBezTo>
                  <a:pt x="20218" y="0"/>
                  <a:pt x="21600" y="1382"/>
                  <a:pt x="21600" y="3086"/>
                </a:cubicBezTo>
                <a:lnTo>
                  <a:pt x="21600" y="18514"/>
                </a:lnTo>
                <a:cubicBezTo>
                  <a:pt x="21600" y="20218"/>
                  <a:pt x="20218" y="21600"/>
                  <a:pt x="18514" y="21600"/>
                </a:cubicBezTo>
                <a:lnTo>
                  <a:pt x="3086" y="21600"/>
                </a:lnTo>
                <a:cubicBezTo>
                  <a:pt x="1382" y="21600"/>
                  <a:pt x="0" y="20218"/>
                  <a:pt x="0" y="18514"/>
                </a:cubicBezTo>
                <a:lnTo>
                  <a:pt x="0" y="3086"/>
                </a:lnTo>
                <a:cubicBezTo>
                  <a:pt x="0" y="1383"/>
                  <a:pt x="1383" y="0"/>
                  <a:pt x="3086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5" name="Shape 15"/>
          <p:cNvSpPr/>
          <p:nvPr/>
        </p:nvSpPr>
        <p:spPr>
          <a:xfrm>
            <a:off x="4631964" y="1828557"/>
            <a:ext cx="228601" cy="228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700" y="4725"/>
                </a:moveTo>
                <a:cubicBezTo>
                  <a:pt x="2700" y="3607"/>
                  <a:pt x="3607" y="2700"/>
                  <a:pt x="4725" y="2700"/>
                </a:cubicBezTo>
                <a:cubicBezTo>
                  <a:pt x="5843" y="2700"/>
                  <a:pt x="6750" y="3607"/>
                  <a:pt x="6750" y="4725"/>
                </a:cubicBezTo>
                <a:lnTo>
                  <a:pt x="6750" y="9450"/>
                </a:lnTo>
                <a:lnTo>
                  <a:pt x="2700" y="9450"/>
                </a:lnTo>
                <a:lnTo>
                  <a:pt x="2700" y="4725"/>
                </a:lnTo>
                <a:close/>
                <a:moveTo>
                  <a:pt x="7425" y="15525"/>
                </a:moveTo>
                <a:cubicBezTo>
                  <a:pt x="7425" y="13470"/>
                  <a:pt x="8189" y="11593"/>
                  <a:pt x="9450" y="10167"/>
                </a:cubicBezTo>
                <a:lnTo>
                  <a:pt x="9450" y="4725"/>
                </a:lnTo>
                <a:cubicBezTo>
                  <a:pt x="9450" y="2114"/>
                  <a:pt x="7336" y="0"/>
                  <a:pt x="4725" y="0"/>
                </a:cubicBezTo>
                <a:cubicBezTo>
                  <a:pt x="2114" y="0"/>
                  <a:pt x="0" y="2114"/>
                  <a:pt x="0" y="4725"/>
                </a:cubicBezTo>
                <a:lnTo>
                  <a:pt x="0" y="16875"/>
                </a:lnTo>
                <a:cubicBezTo>
                  <a:pt x="0" y="19486"/>
                  <a:pt x="2114" y="21600"/>
                  <a:pt x="4725" y="21600"/>
                </a:cubicBezTo>
                <a:cubicBezTo>
                  <a:pt x="6299" y="21600"/>
                  <a:pt x="7691" y="20832"/>
                  <a:pt x="8551" y="19647"/>
                </a:cubicBezTo>
                <a:cubicBezTo>
                  <a:pt x="7834" y="18440"/>
                  <a:pt x="7425" y="17031"/>
                  <a:pt x="7425" y="15525"/>
                </a:cubicBezTo>
                <a:close/>
                <a:moveTo>
                  <a:pt x="10155" y="18368"/>
                </a:moveTo>
                <a:cubicBezTo>
                  <a:pt x="10349" y="18735"/>
                  <a:pt x="10842" y="18778"/>
                  <a:pt x="11138" y="18482"/>
                </a:cubicBezTo>
                <a:lnTo>
                  <a:pt x="18482" y="11138"/>
                </a:lnTo>
                <a:cubicBezTo>
                  <a:pt x="18778" y="10842"/>
                  <a:pt x="18735" y="10349"/>
                  <a:pt x="18368" y="10155"/>
                </a:cubicBezTo>
                <a:cubicBezTo>
                  <a:pt x="17520" y="9703"/>
                  <a:pt x="16554" y="9450"/>
                  <a:pt x="15525" y="9450"/>
                </a:cubicBezTo>
                <a:cubicBezTo>
                  <a:pt x="12171" y="9450"/>
                  <a:pt x="9450" y="12171"/>
                  <a:pt x="9450" y="15525"/>
                </a:cubicBezTo>
                <a:cubicBezTo>
                  <a:pt x="9450" y="16550"/>
                  <a:pt x="9703" y="17520"/>
                  <a:pt x="10155" y="18368"/>
                </a:cubicBezTo>
                <a:close/>
                <a:moveTo>
                  <a:pt x="12568" y="19913"/>
                </a:moveTo>
                <a:cubicBezTo>
                  <a:pt x="12272" y="20208"/>
                  <a:pt x="12315" y="20701"/>
                  <a:pt x="12682" y="20895"/>
                </a:cubicBezTo>
                <a:cubicBezTo>
                  <a:pt x="13530" y="21347"/>
                  <a:pt x="14496" y="21600"/>
                  <a:pt x="15525" y="21600"/>
                </a:cubicBezTo>
                <a:cubicBezTo>
                  <a:pt x="18879" y="21600"/>
                  <a:pt x="21600" y="18879"/>
                  <a:pt x="21600" y="15525"/>
                </a:cubicBezTo>
                <a:cubicBezTo>
                  <a:pt x="21600" y="14500"/>
                  <a:pt x="21347" y="13530"/>
                  <a:pt x="20895" y="12682"/>
                </a:cubicBezTo>
                <a:cubicBezTo>
                  <a:pt x="20701" y="12315"/>
                  <a:pt x="20208" y="12272"/>
                  <a:pt x="19913" y="12568"/>
                </a:cubicBezTo>
                <a:lnTo>
                  <a:pt x="12568" y="19913"/>
                </a:ln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6" name="Text 16"/>
          <p:cNvSpPr txBox="1"/>
          <p:nvPr/>
        </p:nvSpPr>
        <p:spPr>
          <a:xfrm>
            <a:off x="5127195" y="1809550"/>
            <a:ext cx="123825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5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候选药物列表</a:t>
            </a:r>
          </a:p>
        </p:txBody>
      </p:sp>
      <p:sp>
        <p:nvSpPr>
          <p:cNvPr id="307" name="Text 17"/>
          <p:cNvSpPr txBox="1"/>
          <p:nvPr/>
        </p:nvSpPr>
        <p:spPr>
          <a:xfrm>
            <a:off x="4479590" y="2368251"/>
            <a:ext cx="334327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2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数量:</a:t>
            </a:r>
            <a:r>
              <a:rPr b="0">
                <a:solidFill>
                  <a:srgbClr val="7D8A96"/>
                </a:solidFill>
              </a:rPr>
              <a:t> 651种药物</a:t>
            </a:r>
          </a:p>
        </p:txBody>
      </p:sp>
      <p:sp>
        <p:nvSpPr>
          <p:cNvPr id="308" name="Text 18"/>
          <p:cNvSpPr txBox="1"/>
          <p:nvPr/>
        </p:nvSpPr>
        <p:spPr>
          <a:xfrm>
            <a:off x="4479590" y="2673009"/>
            <a:ext cx="334327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2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类型:</a:t>
            </a:r>
            <a:r>
              <a:rPr b="0">
                <a:solidFill>
                  <a:srgbClr val="7D8A96"/>
                </a:solidFill>
              </a:rPr>
              <a:t> 化学药 + 中成药</a:t>
            </a:r>
          </a:p>
        </p:txBody>
      </p:sp>
      <p:sp>
        <p:nvSpPr>
          <p:cNvPr id="309" name="Text 19"/>
          <p:cNvSpPr txBox="1"/>
          <p:nvPr/>
        </p:nvSpPr>
        <p:spPr>
          <a:xfrm>
            <a:off x="4479590" y="2977773"/>
            <a:ext cx="334327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2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覆盖:</a:t>
            </a:r>
            <a:r>
              <a:rPr b="0">
                <a:solidFill>
                  <a:srgbClr val="7D8A96"/>
                </a:solidFill>
              </a:rPr>
              <a:t> 代谢疾病常用药物</a:t>
            </a:r>
          </a:p>
        </p:txBody>
      </p:sp>
      <p:sp>
        <p:nvSpPr>
          <p:cNvPr id="310" name="Text 20"/>
          <p:cNvSpPr txBox="1"/>
          <p:nvPr/>
        </p:nvSpPr>
        <p:spPr>
          <a:xfrm>
            <a:off x="4479590" y="3282531"/>
            <a:ext cx="334327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2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约束:</a:t>
            </a:r>
            <a:r>
              <a:rPr b="0">
                <a:solidFill>
                  <a:srgbClr val="7D8A96"/>
                </a:solidFill>
              </a:rPr>
              <a:t> 仅可从列表中选择药物</a:t>
            </a:r>
          </a:p>
        </p:txBody>
      </p:sp>
      <p:sp>
        <p:nvSpPr>
          <p:cNvPr id="311" name="Shape 21"/>
          <p:cNvSpPr/>
          <p:nvPr/>
        </p:nvSpPr>
        <p:spPr>
          <a:xfrm>
            <a:off x="8145295" y="1485709"/>
            <a:ext cx="3665394" cy="2209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4" y="0"/>
                </a:moveTo>
                <a:lnTo>
                  <a:pt x="20926" y="0"/>
                </a:lnTo>
                <a:cubicBezTo>
                  <a:pt x="21298" y="0"/>
                  <a:pt x="21600" y="501"/>
                  <a:pt x="21600" y="1117"/>
                </a:cubicBezTo>
                <a:lnTo>
                  <a:pt x="21600" y="20483"/>
                </a:lnTo>
                <a:cubicBezTo>
                  <a:pt x="21600" y="21100"/>
                  <a:pt x="21298" y="21600"/>
                  <a:pt x="20926" y="21600"/>
                </a:cubicBezTo>
                <a:lnTo>
                  <a:pt x="204" y="21600"/>
                </a:lnTo>
                <a:cubicBezTo>
                  <a:pt x="91" y="21600"/>
                  <a:pt x="0" y="21448"/>
                  <a:pt x="0" y="21261"/>
                </a:cubicBezTo>
                <a:lnTo>
                  <a:pt x="0" y="339"/>
                </a:lnTo>
                <a:cubicBezTo>
                  <a:pt x="0" y="152"/>
                  <a:pt x="91" y="0"/>
                  <a:pt x="204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2" name="Shape 22"/>
          <p:cNvSpPr/>
          <p:nvPr/>
        </p:nvSpPr>
        <p:spPr>
          <a:xfrm>
            <a:off x="8145295" y="1485709"/>
            <a:ext cx="34637" cy="2209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448"/>
                  <a:pt x="0" y="21261"/>
                </a:cubicBezTo>
                <a:lnTo>
                  <a:pt x="0" y="339"/>
                </a:lnTo>
                <a:cubicBezTo>
                  <a:pt x="0" y="152"/>
                  <a:pt x="9671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3" name="Shape 23"/>
          <p:cNvSpPr/>
          <p:nvPr/>
        </p:nvSpPr>
        <p:spPr>
          <a:xfrm>
            <a:off x="8353112" y="1676208"/>
            <a:ext cx="533401" cy="533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086" y="0"/>
                </a:moveTo>
                <a:lnTo>
                  <a:pt x="18514" y="0"/>
                </a:lnTo>
                <a:cubicBezTo>
                  <a:pt x="20218" y="0"/>
                  <a:pt x="21600" y="1382"/>
                  <a:pt x="21600" y="3086"/>
                </a:cubicBezTo>
                <a:lnTo>
                  <a:pt x="21600" y="18514"/>
                </a:lnTo>
                <a:cubicBezTo>
                  <a:pt x="21600" y="20218"/>
                  <a:pt x="20218" y="21600"/>
                  <a:pt x="18514" y="21600"/>
                </a:cubicBezTo>
                <a:lnTo>
                  <a:pt x="3086" y="21600"/>
                </a:lnTo>
                <a:cubicBezTo>
                  <a:pt x="1382" y="21600"/>
                  <a:pt x="0" y="20218"/>
                  <a:pt x="0" y="18514"/>
                </a:cubicBezTo>
                <a:lnTo>
                  <a:pt x="0" y="3086"/>
                </a:lnTo>
                <a:cubicBezTo>
                  <a:pt x="0" y="1383"/>
                  <a:pt x="1383" y="0"/>
                  <a:pt x="3086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4" name="Shape 24"/>
          <p:cNvSpPr/>
          <p:nvPr/>
        </p:nvSpPr>
        <p:spPr>
          <a:xfrm>
            <a:off x="8519773" y="1828557"/>
            <a:ext cx="200026" cy="228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629" y="21600"/>
                </a:moveTo>
                <a:lnTo>
                  <a:pt x="20057" y="21600"/>
                </a:lnTo>
                <a:cubicBezTo>
                  <a:pt x="20911" y="21600"/>
                  <a:pt x="21600" y="20997"/>
                  <a:pt x="21600" y="20250"/>
                </a:cubicBezTo>
                <a:cubicBezTo>
                  <a:pt x="21600" y="19503"/>
                  <a:pt x="20911" y="18900"/>
                  <a:pt x="20057" y="18900"/>
                </a:cubicBezTo>
                <a:lnTo>
                  <a:pt x="20057" y="16086"/>
                </a:lnTo>
                <a:cubicBezTo>
                  <a:pt x="20954" y="15808"/>
                  <a:pt x="21600" y="15057"/>
                  <a:pt x="21600" y="14175"/>
                </a:cubicBezTo>
                <a:lnTo>
                  <a:pt x="21600" y="2025"/>
                </a:lnTo>
                <a:cubicBezTo>
                  <a:pt x="21600" y="907"/>
                  <a:pt x="20563" y="0"/>
                  <a:pt x="19286" y="0"/>
                </a:cubicBezTo>
                <a:lnTo>
                  <a:pt x="4629" y="0"/>
                </a:lnTo>
                <a:cubicBezTo>
                  <a:pt x="2073" y="0"/>
                  <a:pt x="0" y="1814"/>
                  <a:pt x="0" y="4050"/>
                </a:cubicBezTo>
                <a:lnTo>
                  <a:pt x="0" y="17550"/>
                </a:lnTo>
                <a:cubicBezTo>
                  <a:pt x="0" y="19786"/>
                  <a:pt x="2073" y="21600"/>
                  <a:pt x="4629" y="21600"/>
                </a:cubicBezTo>
                <a:close/>
                <a:moveTo>
                  <a:pt x="3086" y="17550"/>
                </a:moveTo>
                <a:cubicBezTo>
                  <a:pt x="3086" y="16803"/>
                  <a:pt x="3775" y="16200"/>
                  <a:pt x="4629" y="16200"/>
                </a:cubicBezTo>
                <a:lnTo>
                  <a:pt x="16971" y="16200"/>
                </a:lnTo>
                <a:lnTo>
                  <a:pt x="16971" y="18900"/>
                </a:lnTo>
                <a:lnTo>
                  <a:pt x="4629" y="18900"/>
                </a:lnTo>
                <a:cubicBezTo>
                  <a:pt x="3775" y="18900"/>
                  <a:pt x="3086" y="18297"/>
                  <a:pt x="3086" y="17550"/>
                </a:cubicBezTo>
                <a:close/>
                <a:moveTo>
                  <a:pt x="9257" y="5062"/>
                </a:moveTo>
                <a:cubicBezTo>
                  <a:pt x="9257" y="4691"/>
                  <a:pt x="9604" y="4387"/>
                  <a:pt x="10029" y="4387"/>
                </a:cubicBezTo>
                <a:lnTo>
                  <a:pt x="11571" y="4387"/>
                </a:lnTo>
                <a:cubicBezTo>
                  <a:pt x="11996" y="4387"/>
                  <a:pt x="12343" y="4691"/>
                  <a:pt x="12343" y="5062"/>
                </a:cubicBezTo>
                <a:lnTo>
                  <a:pt x="12343" y="6750"/>
                </a:lnTo>
                <a:lnTo>
                  <a:pt x="14271" y="6750"/>
                </a:lnTo>
                <a:cubicBezTo>
                  <a:pt x="14696" y="6750"/>
                  <a:pt x="15043" y="7054"/>
                  <a:pt x="15043" y="7425"/>
                </a:cubicBezTo>
                <a:lnTo>
                  <a:pt x="15043" y="8775"/>
                </a:lnTo>
                <a:cubicBezTo>
                  <a:pt x="15043" y="9146"/>
                  <a:pt x="14696" y="9450"/>
                  <a:pt x="14271" y="9450"/>
                </a:cubicBezTo>
                <a:lnTo>
                  <a:pt x="12343" y="9450"/>
                </a:lnTo>
                <a:lnTo>
                  <a:pt x="12343" y="11138"/>
                </a:lnTo>
                <a:cubicBezTo>
                  <a:pt x="12343" y="11509"/>
                  <a:pt x="11996" y="11813"/>
                  <a:pt x="11571" y="11813"/>
                </a:cubicBezTo>
                <a:lnTo>
                  <a:pt x="10029" y="11813"/>
                </a:lnTo>
                <a:cubicBezTo>
                  <a:pt x="9604" y="11813"/>
                  <a:pt x="9257" y="11509"/>
                  <a:pt x="9257" y="11138"/>
                </a:cubicBezTo>
                <a:lnTo>
                  <a:pt x="9257" y="9450"/>
                </a:lnTo>
                <a:lnTo>
                  <a:pt x="7329" y="9450"/>
                </a:lnTo>
                <a:cubicBezTo>
                  <a:pt x="6904" y="9450"/>
                  <a:pt x="6557" y="9146"/>
                  <a:pt x="6557" y="8775"/>
                </a:cubicBezTo>
                <a:lnTo>
                  <a:pt x="6557" y="7425"/>
                </a:lnTo>
                <a:cubicBezTo>
                  <a:pt x="6557" y="7054"/>
                  <a:pt x="6904" y="6750"/>
                  <a:pt x="7329" y="6750"/>
                </a:cubicBezTo>
                <a:lnTo>
                  <a:pt x="9257" y="6750"/>
                </a:lnTo>
                <a:lnTo>
                  <a:pt x="9257" y="5062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5" name="Text 25"/>
          <p:cNvSpPr txBox="1"/>
          <p:nvPr/>
        </p:nvSpPr>
        <p:spPr>
          <a:xfrm>
            <a:off x="9000718" y="1809550"/>
            <a:ext cx="104775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5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医学知识库</a:t>
            </a:r>
          </a:p>
        </p:txBody>
      </p:sp>
      <p:sp>
        <p:nvSpPr>
          <p:cNvPr id="316" name="Text 26"/>
          <p:cNvSpPr txBox="1"/>
          <p:nvPr/>
        </p:nvSpPr>
        <p:spPr>
          <a:xfrm>
            <a:off x="8353112" y="2368251"/>
            <a:ext cx="334327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2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指南:</a:t>
            </a:r>
            <a:r>
              <a:rPr b="0">
                <a:solidFill>
                  <a:srgbClr val="7D8A96"/>
                </a:solidFill>
              </a:rPr>
              <a:t> 临床诊疗指南、专家共识</a:t>
            </a:r>
          </a:p>
        </p:txBody>
      </p:sp>
      <p:sp>
        <p:nvSpPr>
          <p:cNvPr id="317" name="Text 27"/>
          <p:cNvSpPr txBox="1"/>
          <p:nvPr/>
        </p:nvSpPr>
        <p:spPr>
          <a:xfrm>
            <a:off x="8353112" y="2673009"/>
            <a:ext cx="334327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2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文献:</a:t>
            </a:r>
            <a:r>
              <a:rPr b="0">
                <a:solidFill>
                  <a:srgbClr val="7D8A96"/>
                </a:solidFill>
              </a:rPr>
              <a:t> 医学研究论文、Meta分析</a:t>
            </a:r>
          </a:p>
        </p:txBody>
      </p:sp>
      <p:sp>
        <p:nvSpPr>
          <p:cNvPr id="318" name="Text 28"/>
          <p:cNvSpPr txBox="1"/>
          <p:nvPr/>
        </p:nvSpPr>
        <p:spPr>
          <a:xfrm>
            <a:off x="8353112" y="2977773"/>
            <a:ext cx="334327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2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说明书:</a:t>
            </a:r>
            <a:r>
              <a:rPr b="0">
                <a:solidFill>
                  <a:srgbClr val="7D8A96"/>
                </a:solidFill>
              </a:rPr>
              <a:t> 药品说明书、用药手册</a:t>
            </a:r>
          </a:p>
        </p:txBody>
      </p:sp>
      <p:sp>
        <p:nvSpPr>
          <p:cNvPr id="319" name="Text 29"/>
          <p:cNvSpPr txBox="1"/>
          <p:nvPr/>
        </p:nvSpPr>
        <p:spPr>
          <a:xfrm>
            <a:off x="8353112" y="3282531"/>
            <a:ext cx="334327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2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用途:</a:t>
            </a:r>
            <a:r>
              <a:rPr b="0">
                <a:solidFill>
                  <a:srgbClr val="7D8A96"/>
                </a:solidFill>
              </a:rPr>
              <a:t> 支持RAG知识检索</a:t>
            </a:r>
          </a:p>
        </p:txBody>
      </p:sp>
      <p:sp>
        <p:nvSpPr>
          <p:cNvPr id="320" name="Shape 30"/>
          <p:cNvSpPr/>
          <p:nvPr/>
        </p:nvSpPr>
        <p:spPr>
          <a:xfrm>
            <a:off x="389658" y="3856270"/>
            <a:ext cx="11409220" cy="19032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" y="0"/>
                </a:moveTo>
                <a:lnTo>
                  <a:pt x="21384" y="0"/>
                </a:lnTo>
                <a:cubicBezTo>
                  <a:pt x="21503" y="0"/>
                  <a:pt x="21600" y="581"/>
                  <a:pt x="21600" y="1297"/>
                </a:cubicBezTo>
                <a:lnTo>
                  <a:pt x="21600" y="20303"/>
                </a:lnTo>
                <a:cubicBezTo>
                  <a:pt x="21600" y="21019"/>
                  <a:pt x="21503" y="21600"/>
                  <a:pt x="21384" y="21600"/>
                </a:cubicBezTo>
                <a:lnTo>
                  <a:pt x="216" y="21600"/>
                </a:lnTo>
                <a:cubicBezTo>
                  <a:pt x="97" y="21600"/>
                  <a:pt x="0" y="21019"/>
                  <a:pt x="0" y="20303"/>
                </a:cubicBezTo>
                <a:lnTo>
                  <a:pt x="0" y="1297"/>
                </a:lnTo>
                <a:cubicBezTo>
                  <a:pt x="0" y="581"/>
                  <a:pt x="97" y="0"/>
                  <a:pt x="216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23091">
            <a:solidFill>
              <a:srgbClr val="4A6C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1" name="Shape 31"/>
          <p:cNvSpPr/>
          <p:nvPr/>
        </p:nvSpPr>
        <p:spPr>
          <a:xfrm>
            <a:off x="624536" y="4093517"/>
            <a:ext cx="166689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8682"/>
                </a:moveTo>
                <a:cubicBezTo>
                  <a:pt x="20886" y="9096"/>
                  <a:pt x="20067" y="9429"/>
                  <a:pt x="19213" y="9695"/>
                </a:cubicBezTo>
                <a:cubicBezTo>
                  <a:pt x="16947" y="10403"/>
                  <a:pt x="13972" y="10800"/>
                  <a:pt x="10800" y="10800"/>
                </a:cubicBezTo>
                <a:cubicBezTo>
                  <a:pt x="7628" y="10800"/>
                  <a:pt x="4648" y="10399"/>
                  <a:pt x="2387" y="9695"/>
                </a:cubicBezTo>
                <a:cubicBezTo>
                  <a:pt x="1538" y="9429"/>
                  <a:pt x="714" y="9096"/>
                  <a:pt x="0" y="8682"/>
                </a:cubicBezTo>
                <a:lnTo>
                  <a:pt x="0" y="12150"/>
                </a:lnTo>
                <a:cubicBezTo>
                  <a:pt x="0" y="14015"/>
                  <a:pt x="4836" y="15525"/>
                  <a:pt x="10800" y="15525"/>
                </a:cubicBezTo>
                <a:cubicBezTo>
                  <a:pt x="16764" y="15525"/>
                  <a:pt x="21600" y="14015"/>
                  <a:pt x="21600" y="12150"/>
                </a:cubicBezTo>
                <a:lnTo>
                  <a:pt x="21600" y="8682"/>
                </a:lnTo>
                <a:close/>
                <a:moveTo>
                  <a:pt x="21600" y="5400"/>
                </a:moveTo>
                <a:lnTo>
                  <a:pt x="21600" y="3375"/>
                </a:lnTo>
                <a:cubicBezTo>
                  <a:pt x="21600" y="1510"/>
                  <a:pt x="16764" y="0"/>
                  <a:pt x="10800" y="0"/>
                </a:cubicBezTo>
                <a:cubicBezTo>
                  <a:pt x="4836" y="0"/>
                  <a:pt x="0" y="1510"/>
                  <a:pt x="0" y="3375"/>
                </a:cubicBezTo>
                <a:lnTo>
                  <a:pt x="0" y="5400"/>
                </a:lnTo>
                <a:cubicBezTo>
                  <a:pt x="0" y="7265"/>
                  <a:pt x="4836" y="8775"/>
                  <a:pt x="10800" y="8775"/>
                </a:cubicBezTo>
                <a:cubicBezTo>
                  <a:pt x="16764" y="8775"/>
                  <a:pt x="21600" y="7265"/>
                  <a:pt x="21600" y="5400"/>
                </a:cubicBezTo>
                <a:close/>
                <a:moveTo>
                  <a:pt x="19213" y="16445"/>
                </a:moveTo>
                <a:cubicBezTo>
                  <a:pt x="16952" y="17149"/>
                  <a:pt x="13977" y="17550"/>
                  <a:pt x="10800" y="17550"/>
                </a:cubicBezTo>
                <a:cubicBezTo>
                  <a:pt x="7623" y="17550"/>
                  <a:pt x="4648" y="17149"/>
                  <a:pt x="2387" y="16445"/>
                </a:cubicBezTo>
                <a:cubicBezTo>
                  <a:pt x="1538" y="16179"/>
                  <a:pt x="714" y="15846"/>
                  <a:pt x="0" y="15432"/>
                </a:cubicBezTo>
                <a:lnTo>
                  <a:pt x="0" y="18225"/>
                </a:lnTo>
                <a:cubicBezTo>
                  <a:pt x="0" y="20090"/>
                  <a:pt x="4836" y="21600"/>
                  <a:pt x="10800" y="21600"/>
                </a:cubicBezTo>
                <a:cubicBezTo>
                  <a:pt x="16764" y="21600"/>
                  <a:pt x="21600" y="20090"/>
                  <a:pt x="21600" y="18225"/>
                </a:cubicBezTo>
                <a:lnTo>
                  <a:pt x="21600" y="15432"/>
                </a:lnTo>
                <a:cubicBezTo>
                  <a:pt x="20886" y="15846"/>
                  <a:pt x="20067" y="16179"/>
                  <a:pt x="19213" y="16445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2" name="Text 32"/>
          <p:cNvSpPr txBox="1"/>
          <p:nvPr/>
        </p:nvSpPr>
        <p:spPr>
          <a:xfrm>
            <a:off x="826943" y="4055431"/>
            <a:ext cx="10868026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5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数据流向与处理流程</a:t>
            </a:r>
          </a:p>
        </p:txBody>
      </p:sp>
      <p:sp>
        <p:nvSpPr>
          <p:cNvPr id="323" name="Shape 33"/>
          <p:cNvSpPr/>
          <p:nvPr/>
        </p:nvSpPr>
        <p:spPr>
          <a:xfrm>
            <a:off x="588817" y="4474452"/>
            <a:ext cx="2371726" cy="10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94" y="0"/>
                </a:moveTo>
                <a:lnTo>
                  <a:pt x="20906" y="0"/>
                </a:lnTo>
                <a:cubicBezTo>
                  <a:pt x="21289" y="0"/>
                  <a:pt x="21600" y="730"/>
                  <a:pt x="21600" y="1630"/>
                </a:cubicBezTo>
                <a:lnTo>
                  <a:pt x="21600" y="19970"/>
                </a:lnTo>
                <a:cubicBezTo>
                  <a:pt x="21600" y="20870"/>
                  <a:pt x="21289" y="21600"/>
                  <a:pt x="20906" y="21600"/>
                </a:cubicBezTo>
                <a:lnTo>
                  <a:pt x="694" y="21600"/>
                </a:lnTo>
                <a:cubicBezTo>
                  <a:pt x="311" y="21600"/>
                  <a:pt x="0" y="20870"/>
                  <a:pt x="0" y="19970"/>
                </a:cubicBezTo>
                <a:lnTo>
                  <a:pt x="0" y="1630"/>
                </a:lnTo>
                <a:cubicBezTo>
                  <a:pt x="0" y="730"/>
                  <a:pt x="311" y="0"/>
                  <a:pt x="694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4" name="Shape 34"/>
          <p:cNvSpPr/>
          <p:nvPr/>
        </p:nvSpPr>
        <p:spPr>
          <a:xfrm>
            <a:off x="1667971" y="4588710"/>
            <a:ext cx="214314" cy="285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700"/>
                </a:moveTo>
                <a:cubicBezTo>
                  <a:pt x="0" y="1211"/>
                  <a:pt x="1614" y="0"/>
                  <a:pt x="3600" y="0"/>
                </a:cubicBezTo>
                <a:lnTo>
                  <a:pt x="12009" y="0"/>
                </a:lnTo>
                <a:cubicBezTo>
                  <a:pt x="12966" y="0"/>
                  <a:pt x="13882" y="283"/>
                  <a:pt x="14557" y="789"/>
                </a:cubicBezTo>
                <a:lnTo>
                  <a:pt x="20548" y="5286"/>
                </a:lnTo>
                <a:cubicBezTo>
                  <a:pt x="21223" y="5792"/>
                  <a:pt x="21600" y="6480"/>
                  <a:pt x="21600" y="7197"/>
                </a:cubicBezTo>
                <a:lnTo>
                  <a:pt x="21600" y="18900"/>
                </a:lnTo>
                <a:cubicBezTo>
                  <a:pt x="21600" y="20389"/>
                  <a:pt x="19986" y="21600"/>
                  <a:pt x="18000" y="21600"/>
                </a:cubicBezTo>
                <a:lnTo>
                  <a:pt x="3600" y="21600"/>
                </a:lnTo>
                <a:cubicBezTo>
                  <a:pt x="1614" y="21600"/>
                  <a:pt x="0" y="20389"/>
                  <a:pt x="0" y="18900"/>
                </a:cubicBezTo>
                <a:lnTo>
                  <a:pt x="0" y="14850"/>
                </a:lnTo>
                <a:lnTo>
                  <a:pt x="3392" y="14850"/>
                </a:lnTo>
                <a:lnTo>
                  <a:pt x="6137" y="17495"/>
                </a:lnTo>
                <a:cubicBezTo>
                  <a:pt x="6424" y="17774"/>
                  <a:pt x="6885" y="17917"/>
                  <a:pt x="7352" y="17879"/>
                </a:cubicBezTo>
                <a:cubicBezTo>
                  <a:pt x="7819" y="17841"/>
                  <a:pt x="8224" y="17622"/>
                  <a:pt x="8426" y="17305"/>
                </a:cubicBezTo>
                <a:lnTo>
                  <a:pt x="10839" y="13458"/>
                </a:lnTo>
                <a:lnTo>
                  <a:pt x="11396" y="14293"/>
                </a:lnTo>
                <a:cubicBezTo>
                  <a:pt x="11627" y="14635"/>
                  <a:pt x="12094" y="14854"/>
                  <a:pt x="12606" y="14854"/>
                </a:cubicBezTo>
                <a:lnTo>
                  <a:pt x="16656" y="14854"/>
                </a:lnTo>
                <a:cubicBezTo>
                  <a:pt x="17404" y="14854"/>
                  <a:pt x="18006" y="14403"/>
                  <a:pt x="18006" y="13842"/>
                </a:cubicBezTo>
                <a:cubicBezTo>
                  <a:pt x="18006" y="13281"/>
                  <a:pt x="17404" y="12829"/>
                  <a:pt x="16656" y="12829"/>
                </a:cubicBezTo>
                <a:lnTo>
                  <a:pt x="13438" y="12829"/>
                </a:lnTo>
                <a:lnTo>
                  <a:pt x="12009" y="10690"/>
                </a:lnTo>
                <a:cubicBezTo>
                  <a:pt x="11779" y="10344"/>
                  <a:pt x="11301" y="10125"/>
                  <a:pt x="10783" y="10129"/>
                </a:cubicBezTo>
                <a:cubicBezTo>
                  <a:pt x="10266" y="10133"/>
                  <a:pt x="9799" y="10361"/>
                  <a:pt x="9579" y="10711"/>
                </a:cubicBezTo>
                <a:lnTo>
                  <a:pt x="6919" y="14955"/>
                </a:lnTo>
                <a:lnTo>
                  <a:pt x="5119" y="13222"/>
                </a:lnTo>
                <a:cubicBezTo>
                  <a:pt x="4860" y="12968"/>
                  <a:pt x="4466" y="12825"/>
                  <a:pt x="4050" y="12825"/>
                </a:cubicBezTo>
                <a:lnTo>
                  <a:pt x="0" y="12825"/>
                </a:lnTo>
                <a:lnTo>
                  <a:pt x="0" y="2700"/>
                </a:lnTo>
                <a:close/>
                <a:moveTo>
                  <a:pt x="11700" y="2468"/>
                </a:moveTo>
                <a:lnTo>
                  <a:pt x="11700" y="6412"/>
                </a:lnTo>
                <a:cubicBezTo>
                  <a:pt x="11700" y="6974"/>
                  <a:pt x="12302" y="7425"/>
                  <a:pt x="13050" y="7425"/>
                </a:cubicBezTo>
                <a:lnTo>
                  <a:pt x="18309" y="7425"/>
                </a:lnTo>
                <a:lnTo>
                  <a:pt x="11700" y="2468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5" name="Text 35"/>
          <p:cNvSpPr txBox="1"/>
          <p:nvPr/>
        </p:nvSpPr>
        <p:spPr>
          <a:xfrm>
            <a:off x="664978" y="4956983"/>
            <a:ext cx="221932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原始病历</a:t>
            </a:r>
          </a:p>
        </p:txBody>
      </p:sp>
      <p:sp>
        <p:nvSpPr>
          <p:cNvPr id="326" name="Text 36"/>
          <p:cNvSpPr txBox="1"/>
          <p:nvPr/>
        </p:nvSpPr>
        <p:spPr>
          <a:xfrm>
            <a:off x="669739" y="5185569"/>
            <a:ext cx="22098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JSON格式</a:t>
            </a:r>
          </a:p>
        </p:txBody>
      </p:sp>
      <p:sp>
        <p:nvSpPr>
          <p:cNvPr id="327" name="Shape 37"/>
          <p:cNvSpPr/>
          <p:nvPr/>
        </p:nvSpPr>
        <p:spPr>
          <a:xfrm>
            <a:off x="3099508" y="4918494"/>
            <a:ext cx="228589" cy="1715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69" h="21254" fill="norm" stroke="1" extrusionOk="0">
                <a:moveTo>
                  <a:pt x="21076" y="11877"/>
                </a:moveTo>
                <a:cubicBezTo>
                  <a:pt x="21600" y="11186"/>
                  <a:pt x="21600" y="10063"/>
                  <a:pt x="21076" y="9371"/>
                </a:cubicBezTo>
                <a:lnTo>
                  <a:pt x="14367" y="519"/>
                </a:lnTo>
                <a:cubicBezTo>
                  <a:pt x="13842" y="-173"/>
                  <a:pt x="12991" y="-173"/>
                  <a:pt x="12467" y="519"/>
                </a:cubicBezTo>
                <a:cubicBezTo>
                  <a:pt x="11943" y="1210"/>
                  <a:pt x="11943" y="2333"/>
                  <a:pt x="12467" y="3025"/>
                </a:cubicBezTo>
                <a:lnTo>
                  <a:pt x="16887" y="8857"/>
                </a:lnTo>
                <a:lnTo>
                  <a:pt x="1342" y="8857"/>
                </a:lnTo>
                <a:cubicBezTo>
                  <a:pt x="600" y="8857"/>
                  <a:pt x="0" y="9648"/>
                  <a:pt x="0" y="10627"/>
                </a:cubicBezTo>
                <a:cubicBezTo>
                  <a:pt x="0" y="11606"/>
                  <a:pt x="600" y="12398"/>
                  <a:pt x="1342" y="12398"/>
                </a:cubicBezTo>
                <a:lnTo>
                  <a:pt x="16887" y="12398"/>
                </a:lnTo>
                <a:lnTo>
                  <a:pt x="12467" y="18229"/>
                </a:lnTo>
                <a:cubicBezTo>
                  <a:pt x="11943" y="18921"/>
                  <a:pt x="11943" y="20044"/>
                  <a:pt x="12467" y="20735"/>
                </a:cubicBezTo>
                <a:cubicBezTo>
                  <a:pt x="12991" y="21427"/>
                  <a:pt x="13842" y="21427"/>
                  <a:pt x="14367" y="20735"/>
                </a:cubicBezTo>
                <a:lnTo>
                  <a:pt x="21076" y="11883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8" name="Shape 38"/>
          <p:cNvSpPr/>
          <p:nvPr/>
        </p:nvSpPr>
        <p:spPr>
          <a:xfrm>
            <a:off x="3470942" y="4474452"/>
            <a:ext cx="2371726" cy="10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94" y="0"/>
                </a:moveTo>
                <a:lnTo>
                  <a:pt x="20906" y="0"/>
                </a:lnTo>
                <a:cubicBezTo>
                  <a:pt x="21289" y="0"/>
                  <a:pt x="21600" y="730"/>
                  <a:pt x="21600" y="1630"/>
                </a:cubicBezTo>
                <a:lnTo>
                  <a:pt x="21600" y="19970"/>
                </a:lnTo>
                <a:cubicBezTo>
                  <a:pt x="21600" y="20870"/>
                  <a:pt x="21289" y="21600"/>
                  <a:pt x="20906" y="21600"/>
                </a:cubicBezTo>
                <a:lnTo>
                  <a:pt x="694" y="21600"/>
                </a:lnTo>
                <a:cubicBezTo>
                  <a:pt x="311" y="21600"/>
                  <a:pt x="0" y="20870"/>
                  <a:pt x="0" y="19970"/>
                </a:cubicBezTo>
                <a:lnTo>
                  <a:pt x="0" y="1630"/>
                </a:lnTo>
                <a:cubicBezTo>
                  <a:pt x="0" y="730"/>
                  <a:pt x="311" y="0"/>
                  <a:pt x="694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9" name="Shape 39"/>
          <p:cNvSpPr/>
          <p:nvPr/>
        </p:nvSpPr>
        <p:spPr>
          <a:xfrm>
            <a:off x="4488712" y="4562824"/>
            <a:ext cx="337545" cy="3375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34" h="21434" fill="norm" stroke="1" extrusionOk="0">
                <a:moveTo>
                  <a:pt x="14101" y="9104"/>
                </a:moveTo>
                <a:cubicBezTo>
                  <a:pt x="14533" y="8987"/>
                  <a:pt x="14987" y="9192"/>
                  <a:pt x="15181" y="9593"/>
                </a:cubicBezTo>
                <a:lnTo>
                  <a:pt x="15841" y="10925"/>
                </a:lnTo>
                <a:cubicBezTo>
                  <a:pt x="16206" y="10975"/>
                  <a:pt x="16564" y="11074"/>
                  <a:pt x="16900" y="11212"/>
                </a:cubicBezTo>
                <a:lnTo>
                  <a:pt x="18141" y="10387"/>
                </a:lnTo>
                <a:cubicBezTo>
                  <a:pt x="18513" y="10139"/>
                  <a:pt x="19005" y="10188"/>
                  <a:pt x="19321" y="10504"/>
                </a:cubicBezTo>
                <a:lnTo>
                  <a:pt x="20001" y="11184"/>
                </a:lnTo>
                <a:cubicBezTo>
                  <a:pt x="20317" y="11499"/>
                  <a:pt x="20366" y="11996"/>
                  <a:pt x="20118" y="12364"/>
                </a:cubicBezTo>
                <a:lnTo>
                  <a:pt x="19292" y="13601"/>
                </a:lnTo>
                <a:cubicBezTo>
                  <a:pt x="19360" y="13768"/>
                  <a:pt x="19420" y="13941"/>
                  <a:pt x="19470" y="14122"/>
                </a:cubicBezTo>
                <a:cubicBezTo>
                  <a:pt x="19519" y="14303"/>
                  <a:pt x="19551" y="14480"/>
                  <a:pt x="19576" y="14661"/>
                </a:cubicBezTo>
                <a:lnTo>
                  <a:pt x="20912" y="15320"/>
                </a:lnTo>
                <a:cubicBezTo>
                  <a:pt x="21312" y="15518"/>
                  <a:pt x="21518" y="15972"/>
                  <a:pt x="21401" y="16401"/>
                </a:cubicBezTo>
                <a:lnTo>
                  <a:pt x="21153" y="17329"/>
                </a:lnTo>
                <a:cubicBezTo>
                  <a:pt x="21036" y="17758"/>
                  <a:pt x="20636" y="18049"/>
                  <a:pt x="20189" y="18020"/>
                </a:cubicBezTo>
                <a:lnTo>
                  <a:pt x="18701" y="17924"/>
                </a:lnTo>
                <a:cubicBezTo>
                  <a:pt x="18477" y="18212"/>
                  <a:pt x="18219" y="18477"/>
                  <a:pt x="17924" y="18704"/>
                </a:cubicBezTo>
                <a:lnTo>
                  <a:pt x="18020" y="20189"/>
                </a:lnTo>
                <a:cubicBezTo>
                  <a:pt x="18049" y="20636"/>
                  <a:pt x="17758" y="21040"/>
                  <a:pt x="17329" y="21153"/>
                </a:cubicBezTo>
                <a:lnTo>
                  <a:pt x="16401" y="21401"/>
                </a:lnTo>
                <a:cubicBezTo>
                  <a:pt x="15968" y="21518"/>
                  <a:pt x="15518" y="21312"/>
                  <a:pt x="15320" y="20912"/>
                </a:cubicBezTo>
                <a:lnTo>
                  <a:pt x="14661" y="19579"/>
                </a:lnTo>
                <a:cubicBezTo>
                  <a:pt x="14296" y="19530"/>
                  <a:pt x="13938" y="19431"/>
                  <a:pt x="13601" y="19292"/>
                </a:cubicBezTo>
                <a:lnTo>
                  <a:pt x="12361" y="20118"/>
                </a:lnTo>
                <a:cubicBezTo>
                  <a:pt x="11988" y="20366"/>
                  <a:pt x="11496" y="20317"/>
                  <a:pt x="11180" y="20001"/>
                </a:cubicBezTo>
                <a:lnTo>
                  <a:pt x="10500" y="19321"/>
                </a:lnTo>
                <a:cubicBezTo>
                  <a:pt x="10185" y="19005"/>
                  <a:pt x="10135" y="18513"/>
                  <a:pt x="10383" y="18141"/>
                </a:cubicBezTo>
                <a:lnTo>
                  <a:pt x="11209" y="16900"/>
                </a:lnTo>
                <a:cubicBezTo>
                  <a:pt x="11141" y="16734"/>
                  <a:pt x="11081" y="16560"/>
                  <a:pt x="11032" y="16379"/>
                </a:cubicBezTo>
                <a:cubicBezTo>
                  <a:pt x="10982" y="16199"/>
                  <a:pt x="10950" y="16018"/>
                  <a:pt x="10925" y="15841"/>
                </a:cubicBezTo>
                <a:lnTo>
                  <a:pt x="9589" y="15181"/>
                </a:lnTo>
                <a:cubicBezTo>
                  <a:pt x="9189" y="14983"/>
                  <a:pt x="8987" y="14529"/>
                  <a:pt x="9100" y="14101"/>
                </a:cubicBezTo>
                <a:lnTo>
                  <a:pt x="9348" y="13172"/>
                </a:lnTo>
                <a:cubicBezTo>
                  <a:pt x="9465" y="12743"/>
                  <a:pt x="9866" y="12453"/>
                  <a:pt x="10312" y="12481"/>
                </a:cubicBezTo>
                <a:lnTo>
                  <a:pt x="11797" y="12577"/>
                </a:lnTo>
                <a:cubicBezTo>
                  <a:pt x="12020" y="12290"/>
                  <a:pt x="12279" y="12024"/>
                  <a:pt x="12573" y="11797"/>
                </a:cubicBezTo>
                <a:lnTo>
                  <a:pt x="12478" y="10316"/>
                </a:lnTo>
                <a:cubicBezTo>
                  <a:pt x="12449" y="9869"/>
                  <a:pt x="12740" y="9465"/>
                  <a:pt x="13169" y="9352"/>
                </a:cubicBezTo>
                <a:lnTo>
                  <a:pt x="14097" y="9104"/>
                </a:lnTo>
                <a:close/>
                <a:moveTo>
                  <a:pt x="15252" y="13693"/>
                </a:moveTo>
                <a:cubicBezTo>
                  <a:pt x="14392" y="13694"/>
                  <a:pt x="13694" y="14394"/>
                  <a:pt x="13695" y="15254"/>
                </a:cubicBezTo>
                <a:cubicBezTo>
                  <a:pt x="13696" y="16115"/>
                  <a:pt x="14395" y="16813"/>
                  <a:pt x="15256" y="16812"/>
                </a:cubicBezTo>
                <a:cubicBezTo>
                  <a:pt x="16117" y="16811"/>
                  <a:pt x="16814" y="16111"/>
                  <a:pt x="16813" y="15251"/>
                </a:cubicBezTo>
                <a:cubicBezTo>
                  <a:pt x="16813" y="14390"/>
                  <a:pt x="16113" y="13692"/>
                  <a:pt x="15252" y="13693"/>
                </a:cubicBezTo>
                <a:close/>
                <a:moveTo>
                  <a:pt x="7332" y="31"/>
                </a:moveTo>
                <a:lnTo>
                  <a:pt x="8260" y="279"/>
                </a:lnTo>
                <a:cubicBezTo>
                  <a:pt x="8689" y="396"/>
                  <a:pt x="8980" y="800"/>
                  <a:pt x="8951" y="1243"/>
                </a:cubicBezTo>
                <a:lnTo>
                  <a:pt x="8856" y="2725"/>
                </a:lnTo>
                <a:cubicBezTo>
                  <a:pt x="9150" y="2952"/>
                  <a:pt x="9409" y="3214"/>
                  <a:pt x="9632" y="3504"/>
                </a:cubicBezTo>
                <a:lnTo>
                  <a:pt x="11120" y="3409"/>
                </a:lnTo>
                <a:cubicBezTo>
                  <a:pt x="11563" y="3380"/>
                  <a:pt x="11967" y="3671"/>
                  <a:pt x="12084" y="4100"/>
                </a:cubicBezTo>
                <a:lnTo>
                  <a:pt x="12332" y="5028"/>
                </a:lnTo>
                <a:cubicBezTo>
                  <a:pt x="12446" y="5457"/>
                  <a:pt x="12244" y="5911"/>
                  <a:pt x="11843" y="6109"/>
                </a:cubicBezTo>
                <a:lnTo>
                  <a:pt x="10507" y="6768"/>
                </a:lnTo>
                <a:cubicBezTo>
                  <a:pt x="10482" y="6949"/>
                  <a:pt x="10447" y="7130"/>
                  <a:pt x="10401" y="7307"/>
                </a:cubicBezTo>
                <a:cubicBezTo>
                  <a:pt x="10355" y="7484"/>
                  <a:pt x="10291" y="7661"/>
                  <a:pt x="10224" y="7828"/>
                </a:cubicBezTo>
                <a:lnTo>
                  <a:pt x="11049" y="9068"/>
                </a:lnTo>
                <a:cubicBezTo>
                  <a:pt x="11297" y="9440"/>
                  <a:pt x="11248" y="9933"/>
                  <a:pt x="10932" y="10248"/>
                </a:cubicBezTo>
                <a:lnTo>
                  <a:pt x="10252" y="10929"/>
                </a:lnTo>
                <a:cubicBezTo>
                  <a:pt x="9937" y="11244"/>
                  <a:pt x="9444" y="11294"/>
                  <a:pt x="9072" y="11046"/>
                </a:cubicBezTo>
                <a:lnTo>
                  <a:pt x="7831" y="10220"/>
                </a:lnTo>
                <a:cubicBezTo>
                  <a:pt x="7495" y="10358"/>
                  <a:pt x="7137" y="10458"/>
                  <a:pt x="6772" y="10507"/>
                </a:cubicBezTo>
                <a:lnTo>
                  <a:pt x="6113" y="11840"/>
                </a:lnTo>
                <a:cubicBezTo>
                  <a:pt x="5914" y="12240"/>
                  <a:pt x="5461" y="12442"/>
                  <a:pt x="5032" y="12329"/>
                </a:cubicBezTo>
                <a:lnTo>
                  <a:pt x="4103" y="12081"/>
                </a:lnTo>
                <a:cubicBezTo>
                  <a:pt x="3671" y="11964"/>
                  <a:pt x="3384" y="11560"/>
                  <a:pt x="3412" y="11117"/>
                </a:cubicBezTo>
                <a:lnTo>
                  <a:pt x="3508" y="9632"/>
                </a:lnTo>
                <a:cubicBezTo>
                  <a:pt x="3214" y="9405"/>
                  <a:pt x="2955" y="9143"/>
                  <a:pt x="2732" y="8852"/>
                </a:cubicBezTo>
                <a:lnTo>
                  <a:pt x="1243" y="8948"/>
                </a:lnTo>
                <a:cubicBezTo>
                  <a:pt x="800" y="8976"/>
                  <a:pt x="396" y="8686"/>
                  <a:pt x="279" y="8257"/>
                </a:cubicBezTo>
                <a:lnTo>
                  <a:pt x="31" y="7328"/>
                </a:lnTo>
                <a:cubicBezTo>
                  <a:pt x="-82" y="6899"/>
                  <a:pt x="120" y="6446"/>
                  <a:pt x="520" y="6247"/>
                </a:cubicBezTo>
                <a:lnTo>
                  <a:pt x="1857" y="5588"/>
                </a:lnTo>
                <a:cubicBezTo>
                  <a:pt x="1881" y="5408"/>
                  <a:pt x="1917" y="5230"/>
                  <a:pt x="1963" y="5050"/>
                </a:cubicBezTo>
                <a:cubicBezTo>
                  <a:pt x="2012" y="4869"/>
                  <a:pt x="2069" y="4695"/>
                  <a:pt x="2140" y="4529"/>
                </a:cubicBezTo>
                <a:lnTo>
                  <a:pt x="1314" y="3292"/>
                </a:lnTo>
                <a:cubicBezTo>
                  <a:pt x="1066" y="2920"/>
                  <a:pt x="1116" y="2427"/>
                  <a:pt x="1431" y="2112"/>
                </a:cubicBezTo>
                <a:lnTo>
                  <a:pt x="2112" y="1431"/>
                </a:lnTo>
                <a:cubicBezTo>
                  <a:pt x="2427" y="1116"/>
                  <a:pt x="2920" y="1066"/>
                  <a:pt x="3292" y="1314"/>
                </a:cubicBezTo>
                <a:lnTo>
                  <a:pt x="4532" y="2140"/>
                </a:lnTo>
                <a:cubicBezTo>
                  <a:pt x="4869" y="2002"/>
                  <a:pt x="5227" y="1903"/>
                  <a:pt x="5592" y="1853"/>
                </a:cubicBezTo>
                <a:lnTo>
                  <a:pt x="6251" y="520"/>
                </a:lnTo>
                <a:cubicBezTo>
                  <a:pt x="6449" y="120"/>
                  <a:pt x="6899" y="-82"/>
                  <a:pt x="7332" y="31"/>
                </a:cubicBezTo>
                <a:close/>
                <a:moveTo>
                  <a:pt x="6180" y="4621"/>
                </a:moveTo>
                <a:cubicBezTo>
                  <a:pt x="5319" y="4621"/>
                  <a:pt x="4621" y="5319"/>
                  <a:pt x="4621" y="6180"/>
                </a:cubicBezTo>
                <a:cubicBezTo>
                  <a:pt x="4621" y="7041"/>
                  <a:pt x="5319" y="7739"/>
                  <a:pt x="6180" y="7739"/>
                </a:cubicBezTo>
                <a:cubicBezTo>
                  <a:pt x="7041" y="7739"/>
                  <a:pt x="7739" y="7041"/>
                  <a:pt x="7739" y="6180"/>
                </a:cubicBezTo>
                <a:cubicBezTo>
                  <a:pt x="7739" y="5319"/>
                  <a:pt x="7041" y="4621"/>
                  <a:pt x="6180" y="4621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0" name="Text 40"/>
          <p:cNvSpPr txBox="1"/>
          <p:nvPr/>
        </p:nvSpPr>
        <p:spPr>
          <a:xfrm>
            <a:off x="3547102" y="4956983"/>
            <a:ext cx="221932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数据预处理</a:t>
            </a:r>
          </a:p>
        </p:txBody>
      </p:sp>
      <p:sp>
        <p:nvSpPr>
          <p:cNvPr id="331" name="Text 41"/>
          <p:cNvSpPr txBox="1"/>
          <p:nvPr/>
        </p:nvSpPr>
        <p:spPr>
          <a:xfrm>
            <a:off x="3551863" y="5185569"/>
            <a:ext cx="22098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清洗/提取/识别</a:t>
            </a:r>
          </a:p>
        </p:txBody>
      </p:sp>
      <p:sp>
        <p:nvSpPr>
          <p:cNvPr id="332" name="Shape 42"/>
          <p:cNvSpPr/>
          <p:nvPr/>
        </p:nvSpPr>
        <p:spPr>
          <a:xfrm>
            <a:off x="5981700" y="4918494"/>
            <a:ext cx="228589" cy="1715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69" h="21254" fill="norm" stroke="1" extrusionOk="0">
                <a:moveTo>
                  <a:pt x="21076" y="11877"/>
                </a:moveTo>
                <a:cubicBezTo>
                  <a:pt x="21600" y="11186"/>
                  <a:pt x="21600" y="10063"/>
                  <a:pt x="21076" y="9371"/>
                </a:cubicBezTo>
                <a:lnTo>
                  <a:pt x="14367" y="519"/>
                </a:lnTo>
                <a:cubicBezTo>
                  <a:pt x="13842" y="-173"/>
                  <a:pt x="12991" y="-173"/>
                  <a:pt x="12467" y="519"/>
                </a:cubicBezTo>
                <a:cubicBezTo>
                  <a:pt x="11943" y="1210"/>
                  <a:pt x="11943" y="2333"/>
                  <a:pt x="12467" y="3025"/>
                </a:cubicBezTo>
                <a:lnTo>
                  <a:pt x="16887" y="8857"/>
                </a:lnTo>
                <a:lnTo>
                  <a:pt x="1342" y="8857"/>
                </a:lnTo>
                <a:cubicBezTo>
                  <a:pt x="600" y="8857"/>
                  <a:pt x="0" y="9648"/>
                  <a:pt x="0" y="10627"/>
                </a:cubicBezTo>
                <a:cubicBezTo>
                  <a:pt x="0" y="11606"/>
                  <a:pt x="600" y="12398"/>
                  <a:pt x="1342" y="12398"/>
                </a:cubicBezTo>
                <a:lnTo>
                  <a:pt x="16887" y="12398"/>
                </a:lnTo>
                <a:lnTo>
                  <a:pt x="12467" y="18229"/>
                </a:lnTo>
                <a:cubicBezTo>
                  <a:pt x="11943" y="18921"/>
                  <a:pt x="11943" y="20044"/>
                  <a:pt x="12467" y="20735"/>
                </a:cubicBezTo>
                <a:cubicBezTo>
                  <a:pt x="12991" y="21427"/>
                  <a:pt x="13842" y="21427"/>
                  <a:pt x="14367" y="20735"/>
                </a:cubicBezTo>
                <a:lnTo>
                  <a:pt x="21076" y="11883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3" name="Shape 43"/>
          <p:cNvSpPr/>
          <p:nvPr/>
        </p:nvSpPr>
        <p:spPr>
          <a:xfrm>
            <a:off x="6353133" y="4474452"/>
            <a:ext cx="2371726" cy="10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94" y="0"/>
                </a:moveTo>
                <a:lnTo>
                  <a:pt x="20906" y="0"/>
                </a:lnTo>
                <a:cubicBezTo>
                  <a:pt x="21289" y="0"/>
                  <a:pt x="21600" y="730"/>
                  <a:pt x="21600" y="1630"/>
                </a:cubicBezTo>
                <a:lnTo>
                  <a:pt x="21600" y="19970"/>
                </a:lnTo>
                <a:cubicBezTo>
                  <a:pt x="21600" y="20870"/>
                  <a:pt x="21289" y="21600"/>
                  <a:pt x="20906" y="21600"/>
                </a:cubicBezTo>
                <a:lnTo>
                  <a:pt x="694" y="21600"/>
                </a:lnTo>
                <a:cubicBezTo>
                  <a:pt x="311" y="21600"/>
                  <a:pt x="0" y="20870"/>
                  <a:pt x="0" y="19970"/>
                </a:cubicBezTo>
                <a:lnTo>
                  <a:pt x="0" y="1630"/>
                </a:lnTo>
                <a:cubicBezTo>
                  <a:pt x="0" y="730"/>
                  <a:pt x="311" y="0"/>
                  <a:pt x="694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4" name="Shape 44"/>
          <p:cNvSpPr/>
          <p:nvPr/>
        </p:nvSpPr>
        <p:spPr>
          <a:xfrm>
            <a:off x="7396567" y="4606569"/>
            <a:ext cx="285751" cy="2500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314"/>
                </a:moveTo>
                <a:cubicBezTo>
                  <a:pt x="0" y="1037"/>
                  <a:pt x="907" y="0"/>
                  <a:pt x="2025" y="0"/>
                </a:cubicBezTo>
                <a:lnTo>
                  <a:pt x="6075" y="0"/>
                </a:lnTo>
                <a:cubicBezTo>
                  <a:pt x="7193" y="0"/>
                  <a:pt x="8100" y="1037"/>
                  <a:pt x="8100" y="2314"/>
                </a:cubicBezTo>
                <a:lnTo>
                  <a:pt x="8100" y="3086"/>
                </a:lnTo>
                <a:lnTo>
                  <a:pt x="13500" y="3086"/>
                </a:lnTo>
                <a:lnTo>
                  <a:pt x="13500" y="2314"/>
                </a:lnTo>
                <a:cubicBezTo>
                  <a:pt x="13500" y="1037"/>
                  <a:pt x="14407" y="0"/>
                  <a:pt x="15525" y="0"/>
                </a:cubicBezTo>
                <a:lnTo>
                  <a:pt x="19575" y="0"/>
                </a:lnTo>
                <a:cubicBezTo>
                  <a:pt x="20693" y="0"/>
                  <a:pt x="21600" y="1037"/>
                  <a:pt x="21600" y="2314"/>
                </a:cubicBezTo>
                <a:lnTo>
                  <a:pt x="21600" y="6943"/>
                </a:lnTo>
                <a:cubicBezTo>
                  <a:pt x="21600" y="8221"/>
                  <a:pt x="20693" y="9257"/>
                  <a:pt x="19575" y="9257"/>
                </a:cubicBezTo>
                <a:lnTo>
                  <a:pt x="15525" y="9257"/>
                </a:lnTo>
                <a:cubicBezTo>
                  <a:pt x="14407" y="9257"/>
                  <a:pt x="13500" y="8221"/>
                  <a:pt x="13500" y="6943"/>
                </a:cubicBezTo>
                <a:lnTo>
                  <a:pt x="13500" y="6171"/>
                </a:lnTo>
                <a:lnTo>
                  <a:pt x="8100" y="6171"/>
                </a:lnTo>
                <a:lnTo>
                  <a:pt x="8100" y="6943"/>
                </a:lnTo>
                <a:cubicBezTo>
                  <a:pt x="8100" y="7295"/>
                  <a:pt x="8028" y="7632"/>
                  <a:pt x="7906" y="7931"/>
                </a:cubicBezTo>
                <a:lnTo>
                  <a:pt x="10800" y="12343"/>
                </a:lnTo>
                <a:lnTo>
                  <a:pt x="14175" y="12343"/>
                </a:lnTo>
                <a:cubicBezTo>
                  <a:pt x="15293" y="12343"/>
                  <a:pt x="16200" y="13379"/>
                  <a:pt x="16200" y="14657"/>
                </a:cubicBezTo>
                <a:lnTo>
                  <a:pt x="16200" y="19286"/>
                </a:lnTo>
                <a:cubicBezTo>
                  <a:pt x="16200" y="20563"/>
                  <a:pt x="15293" y="21600"/>
                  <a:pt x="14175" y="21600"/>
                </a:cubicBezTo>
                <a:lnTo>
                  <a:pt x="10125" y="21600"/>
                </a:lnTo>
                <a:cubicBezTo>
                  <a:pt x="9007" y="21600"/>
                  <a:pt x="8100" y="20563"/>
                  <a:pt x="8100" y="19286"/>
                </a:cubicBezTo>
                <a:lnTo>
                  <a:pt x="8100" y="14657"/>
                </a:lnTo>
                <a:cubicBezTo>
                  <a:pt x="8100" y="14305"/>
                  <a:pt x="8172" y="13968"/>
                  <a:pt x="8294" y="13669"/>
                </a:cubicBezTo>
                <a:lnTo>
                  <a:pt x="5400" y="9257"/>
                </a:lnTo>
                <a:lnTo>
                  <a:pt x="2025" y="9257"/>
                </a:lnTo>
                <a:cubicBezTo>
                  <a:pt x="907" y="9257"/>
                  <a:pt x="0" y="8221"/>
                  <a:pt x="0" y="6943"/>
                </a:cubicBezTo>
                <a:lnTo>
                  <a:pt x="0" y="2314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5" name="Text 45"/>
          <p:cNvSpPr txBox="1"/>
          <p:nvPr/>
        </p:nvSpPr>
        <p:spPr>
          <a:xfrm>
            <a:off x="6429293" y="4956983"/>
            <a:ext cx="221932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结构化数据</a:t>
            </a:r>
          </a:p>
        </p:txBody>
      </p:sp>
      <p:sp>
        <p:nvSpPr>
          <p:cNvPr id="336" name="Text 46"/>
          <p:cNvSpPr txBox="1"/>
          <p:nvPr/>
        </p:nvSpPr>
        <p:spPr>
          <a:xfrm>
            <a:off x="6434056" y="5185569"/>
            <a:ext cx="22098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模型输入格式</a:t>
            </a:r>
          </a:p>
        </p:txBody>
      </p:sp>
      <p:sp>
        <p:nvSpPr>
          <p:cNvPr id="337" name="Shape 47"/>
          <p:cNvSpPr/>
          <p:nvPr/>
        </p:nvSpPr>
        <p:spPr>
          <a:xfrm>
            <a:off x="8863824" y="4918494"/>
            <a:ext cx="228589" cy="1715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69" h="21254" fill="norm" stroke="1" extrusionOk="0">
                <a:moveTo>
                  <a:pt x="21076" y="11877"/>
                </a:moveTo>
                <a:cubicBezTo>
                  <a:pt x="21600" y="11186"/>
                  <a:pt x="21600" y="10063"/>
                  <a:pt x="21076" y="9371"/>
                </a:cubicBezTo>
                <a:lnTo>
                  <a:pt x="14367" y="519"/>
                </a:lnTo>
                <a:cubicBezTo>
                  <a:pt x="13842" y="-173"/>
                  <a:pt x="12991" y="-173"/>
                  <a:pt x="12467" y="519"/>
                </a:cubicBezTo>
                <a:cubicBezTo>
                  <a:pt x="11943" y="1210"/>
                  <a:pt x="11943" y="2333"/>
                  <a:pt x="12467" y="3025"/>
                </a:cubicBezTo>
                <a:lnTo>
                  <a:pt x="16887" y="8857"/>
                </a:lnTo>
                <a:lnTo>
                  <a:pt x="1342" y="8857"/>
                </a:lnTo>
                <a:cubicBezTo>
                  <a:pt x="600" y="8857"/>
                  <a:pt x="0" y="9648"/>
                  <a:pt x="0" y="10627"/>
                </a:cubicBezTo>
                <a:cubicBezTo>
                  <a:pt x="0" y="11606"/>
                  <a:pt x="600" y="12398"/>
                  <a:pt x="1342" y="12398"/>
                </a:cubicBezTo>
                <a:lnTo>
                  <a:pt x="16887" y="12398"/>
                </a:lnTo>
                <a:lnTo>
                  <a:pt x="12467" y="18229"/>
                </a:lnTo>
                <a:cubicBezTo>
                  <a:pt x="11943" y="18921"/>
                  <a:pt x="11943" y="20044"/>
                  <a:pt x="12467" y="20735"/>
                </a:cubicBezTo>
                <a:cubicBezTo>
                  <a:pt x="12991" y="21427"/>
                  <a:pt x="13842" y="21427"/>
                  <a:pt x="14367" y="20735"/>
                </a:cubicBezTo>
                <a:lnTo>
                  <a:pt x="21076" y="11883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8" name="Shape 48"/>
          <p:cNvSpPr/>
          <p:nvPr/>
        </p:nvSpPr>
        <p:spPr>
          <a:xfrm>
            <a:off x="9235257" y="4474452"/>
            <a:ext cx="2371726" cy="1009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94" y="0"/>
                </a:moveTo>
                <a:lnTo>
                  <a:pt x="20906" y="0"/>
                </a:lnTo>
                <a:cubicBezTo>
                  <a:pt x="21289" y="0"/>
                  <a:pt x="21600" y="730"/>
                  <a:pt x="21600" y="1630"/>
                </a:cubicBezTo>
                <a:lnTo>
                  <a:pt x="21600" y="19970"/>
                </a:lnTo>
                <a:cubicBezTo>
                  <a:pt x="21600" y="20870"/>
                  <a:pt x="21289" y="21600"/>
                  <a:pt x="20906" y="21600"/>
                </a:cubicBezTo>
                <a:lnTo>
                  <a:pt x="694" y="21600"/>
                </a:lnTo>
                <a:cubicBezTo>
                  <a:pt x="311" y="21600"/>
                  <a:pt x="0" y="20870"/>
                  <a:pt x="0" y="19970"/>
                </a:cubicBezTo>
                <a:lnTo>
                  <a:pt x="0" y="1630"/>
                </a:lnTo>
                <a:cubicBezTo>
                  <a:pt x="0" y="730"/>
                  <a:pt x="311" y="0"/>
                  <a:pt x="694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9" name="Shape 49"/>
          <p:cNvSpPr/>
          <p:nvPr/>
        </p:nvSpPr>
        <p:spPr>
          <a:xfrm>
            <a:off x="10283156" y="4588710"/>
            <a:ext cx="276821" cy="285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877" y="2363"/>
                </a:moveTo>
                <a:cubicBezTo>
                  <a:pt x="4877" y="1059"/>
                  <a:pt x="5970" y="0"/>
                  <a:pt x="7316" y="0"/>
                </a:cubicBezTo>
                <a:lnTo>
                  <a:pt x="8361" y="0"/>
                </a:lnTo>
                <a:cubicBezTo>
                  <a:pt x="9132" y="0"/>
                  <a:pt x="9755" y="603"/>
                  <a:pt x="9755" y="1350"/>
                </a:cubicBezTo>
                <a:lnTo>
                  <a:pt x="9755" y="20250"/>
                </a:lnTo>
                <a:cubicBezTo>
                  <a:pt x="9755" y="20997"/>
                  <a:pt x="9132" y="21600"/>
                  <a:pt x="8361" y="21600"/>
                </a:cubicBezTo>
                <a:lnTo>
                  <a:pt x="6968" y="21600"/>
                </a:lnTo>
                <a:cubicBezTo>
                  <a:pt x="5670" y="21600"/>
                  <a:pt x="4577" y="20739"/>
                  <a:pt x="4268" y="19575"/>
                </a:cubicBezTo>
                <a:cubicBezTo>
                  <a:pt x="4237" y="19575"/>
                  <a:pt x="4211" y="19575"/>
                  <a:pt x="4181" y="19575"/>
                </a:cubicBezTo>
                <a:cubicBezTo>
                  <a:pt x="2256" y="19575"/>
                  <a:pt x="697" y="18065"/>
                  <a:pt x="697" y="16200"/>
                </a:cubicBezTo>
                <a:cubicBezTo>
                  <a:pt x="697" y="15441"/>
                  <a:pt x="958" y="14740"/>
                  <a:pt x="1394" y="14175"/>
                </a:cubicBezTo>
                <a:cubicBezTo>
                  <a:pt x="549" y="13559"/>
                  <a:pt x="0" y="12580"/>
                  <a:pt x="0" y="11475"/>
                </a:cubicBezTo>
                <a:cubicBezTo>
                  <a:pt x="0" y="10171"/>
                  <a:pt x="766" y="9037"/>
                  <a:pt x="1881" y="8475"/>
                </a:cubicBezTo>
                <a:cubicBezTo>
                  <a:pt x="1572" y="7969"/>
                  <a:pt x="1394" y="7379"/>
                  <a:pt x="1394" y="6750"/>
                </a:cubicBezTo>
                <a:cubicBezTo>
                  <a:pt x="1394" y="4885"/>
                  <a:pt x="2953" y="3375"/>
                  <a:pt x="4877" y="3375"/>
                </a:cubicBezTo>
                <a:lnTo>
                  <a:pt x="4877" y="2363"/>
                </a:lnTo>
                <a:close/>
                <a:moveTo>
                  <a:pt x="16723" y="2363"/>
                </a:moveTo>
                <a:lnTo>
                  <a:pt x="16723" y="3375"/>
                </a:lnTo>
                <a:cubicBezTo>
                  <a:pt x="18647" y="3375"/>
                  <a:pt x="20206" y="4885"/>
                  <a:pt x="20206" y="6750"/>
                </a:cubicBezTo>
                <a:cubicBezTo>
                  <a:pt x="20206" y="7383"/>
                  <a:pt x="20028" y="7973"/>
                  <a:pt x="19719" y="8475"/>
                </a:cubicBezTo>
                <a:cubicBezTo>
                  <a:pt x="20838" y="9037"/>
                  <a:pt x="21600" y="10167"/>
                  <a:pt x="21600" y="11475"/>
                </a:cubicBezTo>
                <a:cubicBezTo>
                  <a:pt x="21600" y="12580"/>
                  <a:pt x="21051" y="13559"/>
                  <a:pt x="20206" y="14175"/>
                </a:cubicBezTo>
                <a:cubicBezTo>
                  <a:pt x="20642" y="14740"/>
                  <a:pt x="20903" y="15441"/>
                  <a:pt x="20903" y="16200"/>
                </a:cubicBezTo>
                <a:cubicBezTo>
                  <a:pt x="20903" y="18065"/>
                  <a:pt x="19344" y="19575"/>
                  <a:pt x="17419" y="19575"/>
                </a:cubicBezTo>
                <a:cubicBezTo>
                  <a:pt x="17389" y="19575"/>
                  <a:pt x="17363" y="19575"/>
                  <a:pt x="17332" y="19575"/>
                </a:cubicBezTo>
                <a:cubicBezTo>
                  <a:pt x="17023" y="20739"/>
                  <a:pt x="15930" y="21600"/>
                  <a:pt x="14632" y="21600"/>
                </a:cubicBezTo>
                <a:lnTo>
                  <a:pt x="13239" y="21600"/>
                </a:lnTo>
                <a:cubicBezTo>
                  <a:pt x="12468" y="21600"/>
                  <a:pt x="11845" y="20997"/>
                  <a:pt x="11845" y="20250"/>
                </a:cubicBezTo>
                <a:lnTo>
                  <a:pt x="11845" y="1350"/>
                </a:lnTo>
                <a:cubicBezTo>
                  <a:pt x="11845" y="603"/>
                  <a:pt x="12468" y="0"/>
                  <a:pt x="13239" y="0"/>
                </a:cubicBezTo>
                <a:lnTo>
                  <a:pt x="14284" y="0"/>
                </a:lnTo>
                <a:cubicBezTo>
                  <a:pt x="15630" y="0"/>
                  <a:pt x="16723" y="1059"/>
                  <a:pt x="16723" y="2363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0" name="Text 50"/>
          <p:cNvSpPr txBox="1"/>
          <p:nvPr/>
        </p:nvSpPr>
        <p:spPr>
          <a:xfrm>
            <a:off x="9311417" y="4956983"/>
            <a:ext cx="221932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模型训练</a:t>
            </a:r>
          </a:p>
        </p:txBody>
      </p:sp>
      <p:sp>
        <p:nvSpPr>
          <p:cNvPr id="341" name="Text 51"/>
          <p:cNvSpPr txBox="1"/>
          <p:nvPr/>
        </p:nvSpPr>
        <p:spPr>
          <a:xfrm>
            <a:off x="9316180" y="5198269"/>
            <a:ext cx="22098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SFT + CoT + DPO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Text 0"/>
          <p:cNvSpPr txBox="1"/>
          <p:nvPr/>
        </p:nvSpPr>
        <p:spPr>
          <a:xfrm>
            <a:off x="317500" y="336549"/>
            <a:ext cx="116205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pc="50" sz="1000">
                <a:solidFill>
                  <a:srgbClr val="5E8B7E"/>
                </a:solidFill>
                <a:latin typeface="Liter"/>
                <a:ea typeface="Liter"/>
                <a:cs typeface="Liter"/>
                <a:sym typeface="Liter"/>
              </a:defRPr>
            </a:lvl1pPr>
          </a:lstStyle>
          <a:p>
            <a:pPr/>
            <a:r>
              <a:t>MODULE 1: DATA PREPROCESSING</a:t>
            </a:r>
          </a:p>
        </p:txBody>
      </p:sp>
      <p:sp>
        <p:nvSpPr>
          <p:cNvPr id="344" name="Text 1"/>
          <p:cNvSpPr txBox="1"/>
          <p:nvPr/>
        </p:nvSpPr>
        <p:spPr>
          <a:xfrm>
            <a:off x="317500" y="495265"/>
            <a:ext cx="117475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80000"/>
              </a:lnSpc>
              <a:defRPr b="1" sz="3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模块1: 数据预处理流程</a:t>
            </a:r>
          </a:p>
        </p:txBody>
      </p:sp>
      <p:sp>
        <p:nvSpPr>
          <p:cNvPr id="345" name="Shape 2"/>
          <p:cNvSpPr/>
          <p:nvPr/>
        </p:nvSpPr>
        <p:spPr>
          <a:xfrm>
            <a:off x="317500" y="1079399"/>
            <a:ext cx="762000" cy="31751"/>
          </a:xfrm>
          <a:prstGeom prst="rect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6" name="Shape 3"/>
          <p:cNvSpPr/>
          <p:nvPr/>
        </p:nvSpPr>
        <p:spPr>
          <a:xfrm>
            <a:off x="331931" y="1174613"/>
            <a:ext cx="7602683" cy="1206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2" y="0"/>
                </a:moveTo>
                <a:lnTo>
                  <a:pt x="21329" y="0"/>
                </a:lnTo>
                <a:cubicBezTo>
                  <a:pt x="21479" y="0"/>
                  <a:pt x="21600" y="763"/>
                  <a:pt x="21600" y="1705"/>
                </a:cubicBezTo>
                <a:lnTo>
                  <a:pt x="21600" y="19895"/>
                </a:lnTo>
                <a:cubicBezTo>
                  <a:pt x="21600" y="20837"/>
                  <a:pt x="21479" y="21600"/>
                  <a:pt x="21329" y="21600"/>
                </a:cubicBezTo>
                <a:lnTo>
                  <a:pt x="82" y="21600"/>
                </a:lnTo>
                <a:cubicBezTo>
                  <a:pt x="37" y="21600"/>
                  <a:pt x="0" y="21369"/>
                  <a:pt x="0" y="21083"/>
                </a:cubicBezTo>
                <a:lnTo>
                  <a:pt x="0" y="517"/>
                </a:lnTo>
                <a:cubicBezTo>
                  <a:pt x="0" y="231"/>
                  <a:pt x="37" y="0"/>
                  <a:pt x="82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7" name="Shape 4"/>
          <p:cNvSpPr/>
          <p:nvPr/>
        </p:nvSpPr>
        <p:spPr>
          <a:xfrm>
            <a:off x="331931" y="1174613"/>
            <a:ext cx="28865" cy="1206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369"/>
                  <a:pt x="0" y="21083"/>
                </a:cubicBezTo>
                <a:lnTo>
                  <a:pt x="0" y="517"/>
                </a:lnTo>
                <a:cubicBezTo>
                  <a:pt x="0" y="231"/>
                  <a:pt x="9671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8" name="Shape 5"/>
          <p:cNvSpPr/>
          <p:nvPr/>
        </p:nvSpPr>
        <p:spPr>
          <a:xfrm>
            <a:off x="441580" y="1269828"/>
            <a:ext cx="317501" cy="317501"/>
          </a:xfrm>
          <a:prstGeom prst="ellipse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9" name="Text 6"/>
          <p:cNvSpPr txBox="1"/>
          <p:nvPr/>
        </p:nvSpPr>
        <p:spPr>
          <a:xfrm>
            <a:off x="405861" y="1346028"/>
            <a:ext cx="38893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100">
                <a:solidFill>
                  <a:srgbClr val="1A1D21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50" name="Text 7"/>
          <p:cNvSpPr txBox="1"/>
          <p:nvPr/>
        </p:nvSpPr>
        <p:spPr>
          <a:xfrm>
            <a:off x="854296" y="1320640"/>
            <a:ext cx="71437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文本清洗</a:t>
            </a:r>
          </a:p>
        </p:txBody>
      </p:sp>
      <p:sp>
        <p:nvSpPr>
          <p:cNvPr id="351" name="Text 8"/>
          <p:cNvSpPr txBox="1"/>
          <p:nvPr/>
        </p:nvSpPr>
        <p:spPr>
          <a:xfrm>
            <a:off x="441580" y="1657160"/>
            <a:ext cx="746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去除特殊字符、HTML标签</a:t>
            </a:r>
          </a:p>
        </p:txBody>
      </p:sp>
      <p:sp>
        <p:nvSpPr>
          <p:cNvPr id="352" name="Text 9"/>
          <p:cNvSpPr txBox="1"/>
          <p:nvPr/>
        </p:nvSpPr>
        <p:spPr>
          <a:xfrm>
            <a:off x="441580" y="1879387"/>
            <a:ext cx="746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统一标点符号、空格处理</a:t>
            </a:r>
          </a:p>
        </p:txBody>
      </p:sp>
      <p:sp>
        <p:nvSpPr>
          <p:cNvPr id="353" name="Text 10"/>
          <p:cNvSpPr txBox="1"/>
          <p:nvPr/>
        </p:nvSpPr>
        <p:spPr>
          <a:xfrm>
            <a:off x="441580" y="2101613"/>
            <a:ext cx="746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去除重复内容、冗余信息</a:t>
            </a:r>
          </a:p>
        </p:txBody>
      </p:sp>
      <p:sp>
        <p:nvSpPr>
          <p:cNvPr id="354" name="Shape 11"/>
          <p:cNvSpPr/>
          <p:nvPr/>
        </p:nvSpPr>
        <p:spPr>
          <a:xfrm>
            <a:off x="4067946" y="2412705"/>
            <a:ext cx="119110" cy="1587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4" h="21469" fill="norm" stroke="1" extrusionOk="0">
                <a:moveTo>
                  <a:pt x="9377" y="21076"/>
                </a:moveTo>
                <a:cubicBezTo>
                  <a:pt x="10068" y="21600"/>
                  <a:pt x="11191" y="21600"/>
                  <a:pt x="11883" y="21076"/>
                </a:cubicBezTo>
                <a:lnTo>
                  <a:pt x="20735" y="14366"/>
                </a:lnTo>
                <a:cubicBezTo>
                  <a:pt x="21427" y="13842"/>
                  <a:pt x="21427" y="12991"/>
                  <a:pt x="20735" y="12467"/>
                </a:cubicBezTo>
                <a:cubicBezTo>
                  <a:pt x="20044" y="11943"/>
                  <a:pt x="18921" y="11943"/>
                  <a:pt x="18229" y="12467"/>
                </a:cubicBezTo>
                <a:lnTo>
                  <a:pt x="12397" y="16887"/>
                </a:lnTo>
                <a:lnTo>
                  <a:pt x="12397" y="1342"/>
                </a:lnTo>
                <a:cubicBezTo>
                  <a:pt x="12397" y="600"/>
                  <a:pt x="11606" y="0"/>
                  <a:pt x="10627" y="0"/>
                </a:cubicBezTo>
                <a:cubicBezTo>
                  <a:pt x="9648" y="0"/>
                  <a:pt x="8856" y="600"/>
                  <a:pt x="8856" y="1342"/>
                </a:cubicBezTo>
                <a:lnTo>
                  <a:pt x="8856" y="16887"/>
                </a:lnTo>
                <a:lnTo>
                  <a:pt x="3025" y="12467"/>
                </a:lnTo>
                <a:cubicBezTo>
                  <a:pt x="2333" y="11943"/>
                  <a:pt x="1210" y="11943"/>
                  <a:pt x="519" y="12467"/>
                </a:cubicBezTo>
                <a:cubicBezTo>
                  <a:pt x="-173" y="12991"/>
                  <a:pt x="-173" y="13842"/>
                  <a:pt x="519" y="14366"/>
                </a:cubicBezTo>
                <a:lnTo>
                  <a:pt x="9371" y="21076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5" name="Shape 12"/>
          <p:cNvSpPr/>
          <p:nvPr/>
        </p:nvSpPr>
        <p:spPr>
          <a:xfrm>
            <a:off x="331931" y="2603198"/>
            <a:ext cx="7602683" cy="1651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2" y="0"/>
                </a:moveTo>
                <a:lnTo>
                  <a:pt x="21329" y="0"/>
                </a:lnTo>
                <a:cubicBezTo>
                  <a:pt x="21479" y="0"/>
                  <a:pt x="21600" y="558"/>
                  <a:pt x="21600" y="1246"/>
                </a:cubicBezTo>
                <a:lnTo>
                  <a:pt x="21600" y="20354"/>
                </a:lnTo>
                <a:cubicBezTo>
                  <a:pt x="21600" y="21042"/>
                  <a:pt x="21479" y="21600"/>
                  <a:pt x="21329" y="21600"/>
                </a:cubicBezTo>
                <a:lnTo>
                  <a:pt x="82" y="21600"/>
                </a:lnTo>
                <a:cubicBezTo>
                  <a:pt x="37" y="21600"/>
                  <a:pt x="0" y="21431"/>
                  <a:pt x="0" y="21222"/>
                </a:cubicBezTo>
                <a:lnTo>
                  <a:pt x="0" y="378"/>
                </a:lnTo>
                <a:cubicBezTo>
                  <a:pt x="0" y="169"/>
                  <a:pt x="37" y="0"/>
                  <a:pt x="82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6" name="Shape 13"/>
          <p:cNvSpPr/>
          <p:nvPr/>
        </p:nvSpPr>
        <p:spPr>
          <a:xfrm>
            <a:off x="331931" y="2603198"/>
            <a:ext cx="28865" cy="1651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431"/>
                  <a:pt x="0" y="21222"/>
                </a:cubicBezTo>
                <a:lnTo>
                  <a:pt x="0" y="378"/>
                </a:lnTo>
                <a:cubicBezTo>
                  <a:pt x="0" y="169"/>
                  <a:pt x="9671" y="0"/>
                  <a:pt x="21600" y="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7" name="Shape 14"/>
          <p:cNvSpPr/>
          <p:nvPr/>
        </p:nvSpPr>
        <p:spPr>
          <a:xfrm>
            <a:off x="441580" y="2698413"/>
            <a:ext cx="317501" cy="317501"/>
          </a:xfrm>
          <a:prstGeom prst="ellipse">
            <a:avLst/>
          </a:pr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8" name="Text 15"/>
          <p:cNvSpPr txBox="1"/>
          <p:nvPr/>
        </p:nvSpPr>
        <p:spPr>
          <a:xfrm>
            <a:off x="405861" y="2774613"/>
            <a:ext cx="38893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1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59" name="Text 16"/>
          <p:cNvSpPr txBox="1"/>
          <p:nvPr/>
        </p:nvSpPr>
        <p:spPr>
          <a:xfrm>
            <a:off x="854296" y="2749224"/>
            <a:ext cx="87312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结构化提取</a:t>
            </a:r>
          </a:p>
        </p:txBody>
      </p:sp>
      <p:sp>
        <p:nvSpPr>
          <p:cNvPr id="360" name="Text 17"/>
          <p:cNvSpPr txBox="1"/>
          <p:nvPr/>
        </p:nvSpPr>
        <p:spPr>
          <a:xfrm>
            <a:off x="441580" y="3085739"/>
            <a:ext cx="746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提取主诉(Chief Complaint)</a:t>
            </a:r>
          </a:p>
        </p:txBody>
      </p:sp>
      <p:sp>
        <p:nvSpPr>
          <p:cNvPr id="361" name="Text 18"/>
          <p:cNvSpPr txBox="1"/>
          <p:nvPr/>
        </p:nvSpPr>
        <p:spPr>
          <a:xfrm>
            <a:off x="441580" y="3307965"/>
            <a:ext cx="746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提取现病史(History of Present Illness)</a:t>
            </a:r>
          </a:p>
        </p:txBody>
      </p:sp>
      <p:sp>
        <p:nvSpPr>
          <p:cNvPr id="362" name="Text 19"/>
          <p:cNvSpPr txBox="1"/>
          <p:nvPr/>
        </p:nvSpPr>
        <p:spPr>
          <a:xfrm>
            <a:off x="441580" y="3530193"/>
            <a:ext cx="746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提取既往史(Past Medical History)</a:t>
            </a:r>
          </a:p>
        </p:txBody>
      </p:sp>
      <p:sp>
        <p:nvSpPr>
          <p:cNvPr id="363" name="Text 20"/>
          <p:cNvSpPr txBox="1"/>
          <p:nvPr/>
        </p:nvSpPr>
        <p:spPr>
          <a:xfrm>
            <a:off x="441580" y="3752424"/>
            <a:ext cx="746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提取诊断(Diagnosis)</a:t>
            </a:r>
          </a:p>
        </p:txBody>
      </p:sp>
      <p:sp>
        <p:nvSpPr>
          <p:cNvPr id="364" name="Text 21"/>
          <p:cNvSpPr txBox="1"/>
          <p:nvPr/>
        </p:nvSpPr>
        <p:spPr>
          <a:xfrm>
            <a:off x="441580" y="3974650"/>
            <a:ext cx="746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提取检查结果(Laboratory Results)</a:t>
            </a:r>
          </a:p>
        </p:txBody>
      </p:sp>
      <p:sp>
        <p:nvSpPr>
          <p:cNvPr id="365" name="Shape 22"/>
          <p:cNvSpPr/>
          <p:nvPr/>
        </p:nvSpPr>
        <p:spPr>
          <a:xfrm>
            <a:off x="4067946" y="4285741"/>
            <a:ext cx="119110" cy="1587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4" h="21469" fill="norm" stroke="1" extrusionOk="0">
                <a:moveTo>
                  <a:pt x="9377" y="21076"/>
                </a:moveTo>
                <a:cubicBezTo>
                  <a:pt x="10068" y="21600"/>
                  <a:pt x="11191" y="21600"/>
                  <a:pt x="11883" y="21076"/>
                </a:cubicBezTo>
                <a:lnTo>
                  <a:pt x="20735" y="14366"/>
                </a:lnTo>
                <a:cubicBezTo>
                  <a:pt x="21427" y="13842"/>
                  <a:pt x="21427" y="12991"/>
                  <a:pt x="20735" y="12467"/>
                </a:cubicBezTo>
                <a:cubicBezTo>
                  <a:pt x="20044" y="11943"/>
                  <a:pt x="18921" y="11943"/>
                  <a:pt x="18229" y="12467"/>
                </a:cubicBezTo>
                <a:lnTo>
                  <a:pt x="12397" y="16887"/>
                </a:lnTo>
                <a:lnTo>
                  <a:pt x="12397" y="1342"/>
                </a:lnTo>
                <a:cubicBezTo>
                  <a:pt x="12397" y="600"/>
                  <a:pt x="11606" y="0"/>
                  <a:pt x="10627" y="0"/>
                </a:cubicBezTo>
                <a:cubicBezTo>
                  <a:pt x="9648" y="0"/>
                  <a:pt x="8856" y="600"/>
                  <a:pt x="8856" y="1342"/>
                </a:cubicBezTo>
                <a:lnTo>
                  <a:pt x="8856" y="16887"/>
                </a:lnTo>
                <a:lnTo>
                  <a:pt x="3025" y="12467"/>
                </a:lnTo>
                <a:cubicBezTo>
                  <a:pt x="2333" y="11943"/>
                  <a:pt x="1210" y="11943"/>
                  <a:pt x="519" y="12467"/>
                </a:cubicBezTo>
                <a:cubicBezTo>
                  <a:pt x="-173" y="12991"/>
                  <a:pt x="-173" y="13842"/>
                  <a:pt x="519" y="14366"/>
                </a:cubicBezTo>
                <a:lnTo>
                  <a:pt x="9371" y="21076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6" name="Shape 23"/>
          <p:cNvSpPr/>
          <p:nvPr/>
        </p:nvSpPr>
        <p:spPr>
          <a:xfrm>
            <a:off x="331931" y="4476231"/>
            <a:ext cx="7602683" cy="1016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2" y="0"/>
                </a:moveTo>
                <a:lnTo>
                  <a:pt x="21329" y="0"/>
                </a:lnTo>
                <a:cubicBezTo>
                  <a:pt x="21479" y="0"/>
                  <a:pt x="21600" y="907"/>
                  <a:pt x="21600" y="2025"/>
                </a:cubicBezTo>
                <a:lnTo>
                  <a:pt x="21600" y="19575"/>
                </a:lnTo>
                <a:cubicBezTo>
                  <a:pt x="21600" y="20693"/>
                  <a:pt x="21479" y="21600"/>
                  <a:pt x="21329" y="21600"/>
                </a:cubicBezTo>
                <a:lnTo>
                  <a:pt x="82" y="21600"/>
                </a:lnTo>
                <a:cubicBezTo>
                  <a:pt x="37" y="21600"/>
                  <a:pt x="0" y="21325"/>
                  <a:pt x="0" y="20986"/>
                </a:cubicBezTo>
                <a:lnTo>
                  <a:pt x="0" y="614"/>
                </a:lnTo>
                <a:cubicBezTo>
                  <a:pt x="0" y="275"/>
                  <a:pt x="37" y="0"/>
                  <a:pt x="82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7" name="Shape 24"/>
          <p:cNvSpPr/>
          <p:nvPr/>
        </p:nvSpPr>
        <p:spPr>
          <a:xfrm>
            <a:off x="331931" y="4476231"/>
            <a:ext cx="28865" cy="1016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325"/>
                  <a:pt x="0" y="20986"/>
                </a:cubicBezTo>
                <a:lnTo>
                  <a:pt x="0" y="614"/>
                </a:lnTo>
                <a:cubicBezTo>
                  <a:pt x="0" y="275"/>
                  <a:pt x="9671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8" name="Shape 25"/>
          <p:cNvSpPr/>
          <p:nvPr/>
        </p:nvSpPr>
        <p:spPr>
          <a:xfrm>
            <a:off x="441580" y="4571450"/>
            <a:ext cx="317501" cy="317501"/>
          </a:xfrm>
          <a:prstGeom prst="ellipse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9" name="Text 26"/>
          <p:cNvSpPr txBox="1"/>
          <p:nvPr/>
        </p:nvSpPr>
        <p:spPr>
          <a:xfrm>
            <a:off x="405861" y="4647650"/>
            <a:ext cx="38893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100">
                <a:solidFill>
                  <a:srgbClr val="1A1D21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70" name="Text 27"/>
          <p:cNvSpPr txBox="1"/>
          <p:nvPr/>
        </p:nvSpPr>
        <p:spPr>
          <a:xfrm>
            <a:off x="854296" y="4622257"/>
            <a:ext cx="103187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医学实体识别</a:t>
            </a:r>
          </a:p>
        </p:txBody>
      </p:sp>
      <p:sp>
        <p:nvSpPr>
          <p:cNvPr id="371" name="Text 28"/>
          <p:cNvSpPr txBox="1"/>
          <p:nvPr/>
        </p:nvSpPr>
        <p:spPr>
          <a:xfrm>
            <a:off x="441580" y="4958776"/>
            <a:ext cx="373062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症状实体</a:t>
            </a:r>
          </a:p>
        </p:txBody>
      </p:sp>
      <p:sp>
        <p:nvSpPr>
          <p:cNvPr id="372" name="Text 29"/>
          <p:cNvSpPr txBox="1"/>
          <p:nvPr/>
        </p:nvSpPr>
        <p:spPr>
          <a:xfrm>
            <a:off x="4173670" y="4958776"/>
            <a:ext cx="373062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疾病实体</a:t>
            </a:r>
          </a:p>
        </p:txBody>
      </p:sp>
      <p:sp>
        <p:nvSpPr>
          <p:cNvPr id="373" name="Text 30"/>
          <p:cNvSpPr txBox="1"/>
          <p:nvPr/>
        </p:nvSpPr>
        <p:spPr>
          <a:xfrm>
            <a:off x="441580" y="5212741"/>
            <a:ext cx="373062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药物实体</a:t>
            </a:r>
          </a:p>
        </p:txBody>
      </p:sp>
      <p:sp>
        <p:nvSpPr>
          <p:cNvPr id="374" name="Text 31"/>
          <p:cNvSpPr txBox="1"/>
          <p:nvPr/>
        </p:nvSpPr>
        <p:spPr>
          <a:xfrm>
            <a:off x="4173670" y="5212741"/>
            <a:ext cx="373062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检查实体</a:t>
            </a:r>
          </a:p>
        </p:txBody>
      </p:sp>
      <p:sp>
        <p:nvSpPr>
          <p:cNvPr id="375" name="Shape 32"/>
          <p:cNvSpPr/>
          <p:nvPr/>
        </p:nvSpPr>
        <p:spPr>
          <a:xfrm>
            <a:off x="4067946" y="5523832"/>
            <a:ext cx="119110" cy="1587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4" h="21469" fill="norm" stroke="1" extrusionOk="0">
                <a:moveTo>
                  <a:pt x="9377" y="21076"/>
                </a:moveTo>
                <a:cubicBezTo>
                  <a:pt x="10068" y="21600"/>
                  <a:pt x="11191" y="21600"/>
                  <a:pt x="11883" y="21076"/>
                </a:cubicBezTo>
                <a:lnTo>
                  <a:pt x="20735" y="14366"/>
                </a:lnTo>
                <a:cubicBezTo>
                  <a:pt x="21427" y="13842"/>
                  <a:pt x="21427" y="12991"/>
                  <a:pt x="20735" y="12467"/>
                </a:cubicBezTo>
                <a:cubicBezTo>
                  <a:pt x="20044" y="11943"/>
                  <a:pt x="18921" y="11943"/>
                  <a:pt x="18229" y="12467"/>
                </a:cubicBezTo>
                <a:lnTo>
                  <a:pt x="12397" y="16887"/>
                </a:lnTo>
                <a:lnTo>
                  <a:pt x="12397" y="1342"/>
                </a:lnTo>
                <a:cubicBezTo>
                  <a:pt x="12397" y="600"/>
                  <a:pt x="11606" y="0"/>
                  <a:pt x="10627" y="0"/>
                </a:cubicBezTo>
                <a:cubicBezTo>
                  <a:pt x="9648" y="0"/>
                  <a:pt x="8856" y="600"/>
                  <a:pt x="8856" y="1342"/>
                </a:cubicBezTo>
                <a:lnTo>
                  <a:pt x="8856" y="16887"/>
                </a:lnTo>
                <a:lnTo>
                  <a:pt x="3025" y="12467"/>
                </a:lnTo>
                <a:cubicBezTo>
                  <a:pt x="2333" y="11943"/>
                  <a:pt x="1210" y="11943"/>
                  <a:pt x="519" y="12467"/>
                </a:cubicBezTo>
                <a:cubicBezTo>
                  <a:pt x="-173" y="12991"/>
                  <a:pt x="-173" y="13842"/>
                  <a:pt x="519" y="14366"/>
                </a:cubicBezTo>
                <a:lnTo>
                  <a:pt x="9371" y="21076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6" name="Shape 33"/>
          <p:cNvSpPr/>
          <p:nvPr/>
        </p:nvSpPr>
        <p:spPr>
          <a:xfrm>
            <a:off x="331931" y="5714326"/>
            <a:ext cx="7602683" cy="1142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2" y="0"/>
                </a:moveTo>
                <a:lnTo>
                  <a:pt x="21329" y="0"/>
                </a:lnTo>
                <a:cubicBezTo>
                  <a:pt x="21479" y="0"/>
                  <a:pt x="21600" y="763"/>
                  <a:pt x="21600" y="1705"/>
                </a:cubicBezTo>
                <a:lnTo>
                  <a:pt x="21600" y="19895"/>
                </a:lnTo>
                <a:cubicBezTo>
                  <a:pt x="21600" y="20837"/>
                  <a:pt x="21479" y="21600"/>
                  <a:pt x="21329" y="21600"/>
                </a:cubicBezTo>
                <a:lnTo>
                  <a:pt x="82" y="21600"/>
                </a:lnTo>
                <a:cubicBezTo>
                  <a:pt x="37" y="21600"/>
                  <a:pt x="0" y="21369"/>
                  <a:pt x="0" y="21083"/>
                </a:cubicBezTo>
                <a:lnTo>
                  <a:pt x="0" y="517"/>
                </a:lnTo>
                <a:cubicBezTo>
                  <a:pt x="0" y="231"/>
                  <a:pt x="37" y="0"/>
                  <a:pt x="82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7" name="Shape 34"/>
          <p:cNvSpPr/>
          <p:nvPr/>
        </p:nvSpPr>
        <p:spPr>
          <a:xfrm>
            <a:off x="331931" y="5714326"/>
            <a:ext cx="28865" cy="1142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369"/>
                  <a:pt x="0" y="21083"/>
                </a:cubicBezTo>
                <a:lnTo>
                  <a:pt x="0" y="517"/>
                </a:lnTo>
                <a:cubicBezTo>
                  <a:pt x="0" y="231"/>
                  <a:pt x="9671" y="0"/>
                  <a:pt x="21600" y="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8" name="Shape 35"/>
          <p:cNvSpPr/>
          <p:nvPr/>
        </p:nvSpPr>
        <p:spPr>
          <a:xfrm>
            <a:off x="441580" y="5809541"/>
            <a:ext cx="317501" cy="317501"/>
          </a:xfrm>
          <a:prstGeom prst="ellipse">
            <a:avLst/>
          </a:pr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9" name="Text 36"/>
          <p:cNvSpPr txBox="1"/>
          <p:nvPr/>
        </p:nvSpPr>
        <p:spPr>
          <a:xfrm>
            <a:off x="405861" y="5885741"/>
            <a:ext cx="38893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1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80" name="Text 37"/>
          <p:cNvSpPr txBox="1"/>
          <p:nvPr/>
        </p:nvSpPr>
        <p:spPr>
          <a:xfrm>
            <a:off x="854296" y="5860351"/>
            <a:ext cx="87312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数据格式化</a:t>
            </a:r>
          </a:p>
        </p:txBody>
      </p:sp>
      <p:sp>
        <p:nvSpPr>
          <p:cNvPr id="381" name="Text 38"/>
          <p:cNvSpPr txBox="1"/>
          <p:nvPr/>
        </p:nvSpPr>
        <p:spPr>
          <a:xfrm>
            <a:off x="441580" y="6196867"/>
            <a:ext cx="746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转换为模型输入格式(JSON/Alpaca)</a:t>
            </a:r>
          </a:p>
        </p:txBody>
      </p:sp>
      <p:sp>
        <p:nvSpPr>
          <p:cNvPr id="382" name="Text 39"/>
          <p:cNvSpPr txBox="1"/>
          <p:nvPr/>
        </p:nvSpPr>
        <p:spPr>
          <a:xfrm>
            <a:off x="441580" y="6419093"/>
            <a:ext cx="746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添加instruction、input、output字段</a:t>
            </a:r>
          </a:p>
        </p:txBody>
      </p:sp>
      <p:sp>
        <p:nvSpPr>
          <p:cNvPr id="383" name="Text 40"/>
          <p:cNvSpPr txBox="1"/>
          <p:nvPr/>
        </p:nvSpPr>
        <p:spPr>
          <a:xfrm>
            <a:off x="441580" y="6641320"/>
            <a:ext cx="746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构建训练样本对</a:t>
            </a:r>
          </a:p>
        </p:txBody>
      </p:sp>
      <p:sp>
        <p:nvSpPr>
          <p:cNvPr id="384" name="Shape 41"/>
          <p:cNvSpPr/>
          <p:nvPr/>
        </p:nvSpPr>
        <p:spPr>
          <a:xfrm>
            <a:off x="8071670" y="1181829"/>
            <a:ext cx="3792683" cy="5673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2" y="0"/>
                </a:moveTo>
                <a:lnTo>
                  <a:pt x="21058" y="0"/>
                </a:lnTo>
                <a:cubicBezTo>
                  <a:pt x="21357" y="0"/>
                  <a:pt x="21600" y="161"/>
                  <a:pt x="21600" y="359"/>
                </a:cubicBezTo>
                <a:lnTo>
                  <a:pt x="21600" y="21241"/>
                </a:lnTo>
                <a:cubicBezTo>
                  <a:pt x="21600" y="21439"/>
                  <a:pt x="21357" y="21600"/>
                  <a:pt x="21058" y="21600"/>
                </a:cubicBezTo>
                <a:lnTo>
                  <a:pt x="542" y="21600"/>
                </a:lnTo>
                <a:cubicBezTo>
                  <a:pt x="243" y="21600"/>
                  <a:pt x="0" y="21439"/>
                  <a:pt x="0" y="21241"/>
                </a:cubicBezTo>
                <a:lnTo>
                  <a:pt x="0" y="359"/>
                </a:lnTo>
                <a:cubicBezTo>
                  <a:pt x="0" y="161"/>
                  <a:pt x="243" y="0"/>
                  <a:pt x="542" y="0"/>
                </a:cubicBezTo>
                <a:close/>
              </a:path>
            </a:pathLst>
          </a:custGeom>
          <a:solidFill>
            <a:srgbClr val="5E8B7E">
              <a:alpha val="14902"/>
            </a:srgbClr>
          </a:solidFill>
          <a:ln w="23091">
            <a:solidFill>
              <a:srgbClr val="5E8B7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5" name="Shape 42"/>
          <p:cNvSpPr/>
          <p:nvPr/>
        </p:nvSpPr>
        <p:spPr>
          <a:xfrm>
            <a:off x="8225684" y="1347738"/>
            <a:ext cx="158751" cy="158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16761" y="21600"/>
                  <a:pt x="21600" y="16761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9" y="0"/>
                  <a:pt x="0" y="4839"/>
                  <a:pt x="0" y="10800"/>
                </a:cubicBezTo>
                <a:cubicBezTo>
                  <a:pt x="0" y="16761"/>
                  <a:pt x="4839" y="21600"/>
                  <a:pt x="10800" y="21600"/>
                </a:cubicBezTo>
                <a:close/>
                <a:moveTo>
                  <a:pt x="9450" y="6750"/>
                </a:moveTo>
                <a:cubicBezTo>
                  <a:pt x="9450" y="6005"/>
                  <a:pt x="10055" y="5400"/>
                  <a:pt x="10800" y="5400"/>
                </a:cubicBezTo>
                <a:cubicBezTo>
                  <a:pt x="11545" y="5400"/>
                  <a:pt x="12150" y="6005"/>
                  <a:pt x="12150" y="6750"/>
                </a:cubicBezTo>
                <a:cubicBezTo>
                  <a:pt x="12150" y="7495"/>
                  <a:pt x="11545" y="8100"/>
                  <a:pt x="10800" y="8100"/>
                </a:cubicBezTo>
                <a:cubicBezTo>
                  <a:pt x="10055" y="8100"/>
                  <a:pt x="9450" y="7495"/>
                  <a:pt x="9450" y="6750"/>
                </a:cubicBezTo>
                <a:close/>
                <a:moveTo>
                  <a:pt x="9113" y="9450"/>
                </a:moveTo>
                <a:lnTo>
                  <a:pt x="11137" y="9450"/>
                </a:lnTo>
                <a:cubicBezTo>
                  <a:pt x="11699" y="9450"/>
                  <a:pt x="12150" y="9901"/>
                  <a:pt x="12150" y="10463"/>
                </a:cubicBezTo>
                <a:lnTo>
                  <a:pt x="12150" y="14175"/>
                </a:lnTo>
                <a:lnTo>
                  <a:pt x="12487" y="14175"/>
                </a:lnTo>
                <a:cubicBezTo>
                  <a:pt x="13049" y="14175"/>
                  <a:pt x="13500" y="14626"/>
                  <a:pt x="13500" y="15187"/>
                </a:cubicBezTo>
                <a:cubicBezTo>
                  <a:pt x="13500" y="15749"/>
                  <a:pt x="13049" y="16200"/>
                  <a:pt x="12487" y="16200"/>
                </a:cubicBezTo>
                <a:lnTo>
                  <a:pt x="9113" y="16200"/>
                </a:lnTo>
                <a:cubicBezTo>
                  <a:pt x="8551" y="16200"/>
                  <a:pt x="8100" y="15749"/>
                  <a:pt x="8100" y="15187"/>
                </a:cubicBezTo>
                <a:cubicBezTo>
                  <a:pt x="8100" y="14626"/>
                  <a:pt x="8551" y="14175"/>
                  <a:pt x="9113" y="14175"/>
                </a:cubicBezTo>
                <a:lnTo>
                  <a:pt x="10125" y="14175"/>
                </a:lnTo>
                <a:lnTo>
                  <a:pt x="10125" y="11475"/>
                </a:lnTo>
                <a:lnTo>
                  <a:pt x="9113" y="11475"/>
                </a:lnTo>
                <a:cubicBezTo>
                  <a:pt x="8551" y="11475"/>
                  <a:pt x="8100" y="11024"/>
                  <a:pt x="8100" y="10463"/>
                </a:cubicBezTo>
                <a:cubicBezTo>
                  <a:pt x="8100" y="9901"/>
                  <a:pt x="8551" y="9450"/>
                  <a:pt x="9113" y="945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6" name="Text 43"/>
          <p:cNvSpPr txBox="1"/>
          <p:nvPr/>
        </p:nvSpPr>
        <p:spPr>
          <a:xfrm>
            <a:off x="8404279" y="1319175"/>
            <a:ext cx="3405189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输入输出示例</a:t>
            </a:r>
          </a:p>
        </p:txBody>
      </p:sp>
      <p:sp>
        <p:nvSpPr>
          <p:cNvPr id="387" name="Shape 44"/>
          <p:cNvSpPr/>
          <p:nvPr/>
        </p:nvSpPr>
        <p:spPr>
          <a:xfrm>
            <a:off x="8205840" y="1633447"/>
            <a:ext cx="3524251" cy="1158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9" y="0"/>
                </a:moveTo>
                <a:lnTo>
                  <a:pt x="21211" y="0"/>
                </a:lnTo>
                <a:cubicBezTo>
                  <a:pt x="21426" y="0"/>
                  <a:pt x="21600" y="530"/>
                  <a:pt x="21600" y="1183"/>
                </a:cubicBezTo>
                <a:lnTo>
                  <a:pt x="21600" y="20417"/>
                </a:lnTo>
                <a:cubicBezTo>
                  <a:pt x="21600" y="21070"/>
                  <a:pt x="21426" y="21600"/>
                  <a:pt x="21211" y="21600"/>
                </a:cubicBezTo>
                <a:lnTo>
                  <a:pt x="389" y="21600"/>
                </a:lnTo>
                <a:cubicBezTo>
                  <a:pt x="174" y="21600"/>
                  <a:pt x="0" y="21070"/>
                  <a:pt x="0" y="20417"/>
                </a:cubicBezTo>
                <a:lnTo>
                  <a:pt x="0" y="1183"/>
                </a:lnTo>
                <a:cubicBezTo>
                  <a:pt x="0" y="530"/>
                  <a:pt x="174" y="0"/>
                  <a:pt x="389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8" name="Text 45"/>
          <p:cNvSpPr txBox="1"/>
          <p:nvPr/>
        </p:nvSpPr>
        <p:spPr>
          <a:xfrm>
            <a:off x="8301056" y="1738186"/>
            <a:ext cx="338931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8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输入: 原始病历文本</a:t>
            </a:r>
          </a:p>
        </p:txBody>
      </p:sp>
      <p:sp>
        <p:nvSpPr>
          <p:cNvPr id="389" name="Shape 46"/>
          <p:cNvSpPr/>
          <p:nvPr/>
        </p:nvSpPr>
        <p:spPr>
          <a:xfrm>
            <a:off x="8301056" y="1950834"/>
            <a:ext cx="3333751" cy="7461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6" y="0"/>
                </a:moveTo>
                <a:lnTo>
                  <a:pt x="21394" y="0"/>
                </a:lnTo>
                <a:cubicBezTo>
                  <a:pt x="21508" y="0"/>
                  <a:pt x="21600" y="411"/>
                  <a:pt x="21600" y="919"/>
                </a:cubicBezTo>
                <a:lnTo>
                  <a:pt x="21600" y="20681"/>
                </a:lnTo>
                <a:cubicBezTo>
                  <a:pt x="21600" y="21189"/>
                  <a:pt x="21508" y="21600"/>
                  <a:pt x="21394" y="21600"/>
                </a:cubicBezTo>
                <a:lnTo>
                  <a:pt x="206" y="21600"/>
                </a:lnTo>
                <a:cubicBezTo>
                  <a:pt x="92" y="21600"/>
                  <a:pt x="0" y="21189"/>
                  <a:pt x="0" y="20681"/>
                </a:cubicBezTo>
                <a:lnTo>
                  <a:pt x="0" y="919"/>
                </a:lnTo>
                <a:cubicBezTo>
                  <a:pt x="0" y="411"/>
                  <a:pt x="92" y="0"/>
                  <a:pt x="206" y="0"/>
                </a:cubicBezTo>
                <a:close/>
              </a:path>
            </a:pathLst>
          </a:custGeom>
          <a:solidFill>
            <a:srgbClr val="0D0E1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0" name="Text 47"/>
          <p:cNvSpPr txBox="1"/>
          <p:nvPr/>
        </p:nvSpPr>
        <p:spPr>
          <a:xfrm>
            <a:off x="8301056" y="2001316"/>
            <a:ext cx="3381376" cy="721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00" tIns="63500" rIns="63500" bIns="63500" anchor="ctr">
            <a:spAutoFit/>
          </a:bodyPr>
          <a:lstStyle/>
          <a:p>
            <a:pPr>
              <a:lnSpc>
                <a:spcPct val="140000"/>
              </a:lnSpc>
              <a:defRPr sz="7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主诉: 发现血糖升高10年...</a:t>
            </a:r>
            <a:endParaRPr sz="1600"/>
          </a:p>
          <a:p>
            <a:pPr>
              <a:lnSpc>
                <a:spcPct val="140000"/>
              </a:lnSpc>
              <a:defRPr sz="7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现病史: 患者10年前体检发现...</a:t>
            </a:r>
            <a:endParaRPr sz="1600"/>
          </a:p>
          <a:p>
            <a:pPr>
              <a:lnSpc>
                <a:spcPct val="140000"/>
              </a:lnSpc>
              <a:defRPr sz="7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既往史: 高血压病史5年...</a:t>
            </a:r>
            <a:endParaRPr sz="1600"/>
          </a:p>
          <a:p>
            <a:pPr>
              <a:lnSpc>
                <a:spcPct val="140000"/>
              </a:lnSpc>
              <a:defRPr sz="7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诊断: 2型糖尿病伴糖尿病肾病...</a:t>
            </a:r>
          </a:p>
        </p:txBody>
      </p:sp>
      <p:sp>
        <p:nvSpPr>
          <p:cNvPr id="391" name="Shape 48"/>
          <p:cNvSpPr/>
          <p:nvPr/>
        </p:nvSpPr>
        <p:spPr>
          <a:xfrm>
            <a:off x="9897988" y="2887435"/>
            <a:ext cx="142933" cy="1904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4" h="21469" fill="norm" stroke="1" extrusionOk="0">
                <a:moveTo>
                  <a:pt x="9377" y="21076"/>
                </a:moveTo>
                <a:cubicBezTo>
                  <a:pt x="10068" y="21600"/>
                  <a:pt x="11191" y="21600"/>
                  <a:pt x="11883" y="21076"/>
                </a:cubicBezTo>
                <a:lnTo>
                  <a:pt x="20735" y="14366"/>
                </a:lnTo>
                <a:cubicBezTo>
                  <a:pt x="21427" y="13842"/>
                  <a:pt x="21427" y="12991"/>
                  <a:pt x="20735" y="12467"/>
                </a:cubicBezTo>
                <a:cubicBezTo>
                  <a:pt x="20044" y="11943"/>
                  <a:pt x="18921" y="11943"/>
                  <a:pt x="18229" y="12467"/>
                </a:cubicBezTo>
                <a:lnTo>
                  <a:pt x="12398" y="16887"/>
                </a:lnTo>
                <a:lnTo>
                  <a:pt x="12398" y="1342"/>
                </a:lnTo>
                <a:cubicBezTo>
                  <a:pt x="12398" y="600"/>
                  <a:pt x="11606" y="0"/>
                  <a:pt x="10627" y="0"/>
                </a:cubicBezTo>
                <a:cubicBezTo>
                  <a:pt x="9648" y="0"/>
                  <a:pt x="8856" y="600"/>
                  <a:pt x="8856" y="1342"/>
                </a:cubicBezTo>
                <a:lnTo>
                  <a:pt x="8856" y="16887"/>
                </a:lnTo>
                <a:lnTo>
                  <a:pt x="3025" y="12467"/>
                </a:lnTo>
                <a:cubicBezTo>
                  <a:pt x="2333" y="11943"/>
                  <a:pt x="1210" y="11943"/>
                  <a:pt x="519" y="12467"/>
                </a:cubicBezTo>
                <a:cubicBezTo>
                  <a:pt x="-173" y="12991"/>
                  <a:pt x="-173" y="13842"/>
                  <a:pt x="519" y="14366"/>
                </a:cubicBezTo>
                <a:lnTo>
                  <a:pt x="9371" y="21076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2" name="Shape 49"/>
          <p:cNvSpPr/>
          <p:nvPr/>
        </p:nvSpPr>
        <p:spPr>
          <a:xfrm>
            <a:off x="8205840" y="3173140"/>
            <a:ext cx="3524251" cy="36036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9" y="0"/>
                </a:moveTo>
                <a:lnTo>
                  <a:pt x="21211" y="0"/>
                </a:lnTo>
                <a:cubicBezTo>
                  <a:pt x="21426" y="0"/>
                  <a:pt x="21600" y="170"/>
                  <a:pt x="21600" y="381"/>
                </a:cubicBezTo>
                <a:lnTo>
                  <a:pt x="21600" y="21219"/>
                </a:lnTo>
                <a:cubicBezTo>
                  <a:pt x="21600" y="21430"/>
                  <a:pt x="21426" y="21600"/>
                  <a:pt x="21211" y="21600"/>
                </a:cubicBezTo>
                <a:lnTo>
                  <a:pt x="389" y="21600"/>
                </a:lnTo>
                <a:cubicBezTo>
                  <a:pt x="174" y="21600"/>
                  <a:pt x="0" y="21430"/>
                  <a:pt x="0" y="21219"/>
                </a:cubicBezTo>
                <a:lnTo>
                  <a:pt x="0" y="381"/>
                </a:lnTo>
                <a:cubicBezTo>
                  <a:pt x="0" y="171"/>
                  <a:pt x="174" y="0"/>
                  <a:pt x="389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3" name="Text 50"/>
          <p:cNvSpPr txBox="1"/>
          <p:nvPr/>
        </p:nvSpPr>
        <p:spPr>
          <a:xfrm>
            <a:off x="8301056" y="3277880"/>
            <a:ext cx="338931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8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输出: 结构化JSON</a:t>
            </a:r>
          </a:p>
        </p:txBody>
      </p:sp>
      <p:sp>
        <p:nvSpPr>
          <p:cNvPr id="394" name="Shape 51"/>
          <p:cNvSpPr/>
          <p:nvPr/>
        </p:nvSpPr>
        <p:spPr>
          <a:xfrm>
            <a:off x="8301056" y="3490526"/>
            <a:ext cx="3333751" cy="10556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6" y="0"/>
                </a:moveTo>
                <a:lnTo>
                  <a:pt x="21394" y="0"/>
                </a:lnTo>
                <a:cubicBezTo>
                  <a:pt x="21508" y="0"/>
                  <a:pt x="21600" y="291"/>
                  <a:pt x="21600" y="650"/>
                </a:cubicBezTo>
                <a:lnTo>
                  <a:pt x="21600" y="20950"/>
                </a:lnTo>
                <a:cubicBezTo>
                  <a:pt x="21600" y="21309"/>
                  <a:pt x="21508" y="21600"/>
                  <a:pt x="21394" y="21600"/>
                </a:cubicBezTo>
                <a:lnTo>
                  <a:pt x="206" y="21600"/>
                </a:lnTo>
                <a:cubicBezTo>
                  <a:pt x="92" y="21600"/>
                  <a:pt x="0" y="21309"/>
                  <a:pt x="0" y="20950"/>
                </a:cubicBezTo>
                <a:lnTo>
                  <a:pt x="0" y="650"/>
                </a:lnTo>
                <a:cubicBezTo>
                  <a:pt x="0" y="291"/>
                  <a:pt x="92" y="0"/>
                  <a:pt x="206" y="0"/>
                </a:cubicBezTo>
                <a:close/>
              </a:path>
            </a:pathLst>
          </a:custGeom>
          <a:solidFill>
            <a:srgbClr val="0D0E1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5" name="Text 52"/>
          <p:cNvSpPr txBox="1"/>
          <p:nvPr/>
        </p:nvSpPr>
        <p:spPr>
          <a:xfrm>
            <a:off x="8301056" y="3548470"/>
            <a:ext cx="3381376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00" tIns="63500" rIns="63500" bIns="63500" anchor="ctr">
            <a:spAutoFit/>
          </a:bodyPr>
          <a:lstStyle/>
          <a:p>
            <a:pPr>
              <a:lnSpc>
                <a:spcPct val="140000"/>
              </a:lnSpc>
              <a:defRPr sz="7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{</a:t>
            </a:r>
            <a:endParaRPr sz="1600"/>
          </a:p>
          <a:p>
            <a:pPr>
              <a:lnSpc>
                <a:spcPct val="140000"/>
              </a:lnSpc>
              <a:defRPr sz="7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"patient_id": "1-1",</a:t>
            </a:r>
            <a:endParaRPr sz="1600"/>
          </a:p>
          <a:p>
            <a:pPr>
              <a:lnSpc>
                <a:spcPct val="140000"/>
              </a:lnSpc>
              <a:defRPr sz="7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"chief_complaint": "...",</a:t>
            </a:r>
            <a:endParaRPr sz="1600"/>
          </a:p>
          <a:p>
            <a:pPr>
              <a:lnSpc>
                <a:spcPct val="140000"/>
              </a:lnSpc>
              <a:defRPr sz="7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"diagnosis": [...],</a:t>
            </a:r>
            <a:endParaRPr sz="1600"/>
          </a:p>
          <a:p>
            <a:pPr>
              <a:lnSpc>
                <a:spcPct val="140000"/>
              </a:lnSpc>
              <a:defRPr sz="7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"extracted_entities": {...}</a:t>
            </a:r>
            <a:endParaRPr sz="1600"/>
          </a:p>
          <a:p>
            <a:pPr>
              <a:lnSpc>
                <a:spcPct val="140000"/>
              </a:lnSpc>
              <a:defRPr sz="7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Text 0"/>
          <p:cNvSpPr txBox="1"/>
          <p:nvPr/>
        </p:nvSpPr>
        <p:spPr>
          <a:xfrm>
            <a:off x="329290" y="351878"/>
            <a:ext cx="1159927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pc="52" sz="1000">
                <a:solidFill>
                  <a:srgbClr val="5E8B7E"/>
                </a:solidFill>
                <a:latin typeface="Liter"/>
                <a:ea typeface="Liter"/>
                <a:cs typeface="Liter"/>
                <a:sym typeface="Liter"/>
              </a:defRPr>
            </a:lvl1pPr>
          </a:lstStyle>
          <a:p>
            <a:pPr/>
            <a:r>
              <a:t>DATA PREPROCESSING DEMO</a:t>
            </a:r>
          </a:p>
        </p:txBody>
      </p:sp>
      <p:sp>
        <p:nvSpPr>
          <p:cNvPr id="398" name="Text 1"/>
          <p:cNvSpPr txBox="1"/>
          <p:nvPr/>
        </p:nvSpPr>
        <p:spPr>
          <a:xfrm>
            <a:off x="329290" y="554133"/>
            <a:ext cx="116816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90000"/>
              </a:lnSpc>
              <a:defRPr b="1" sz="23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数据预处理Demo</a:t>
            </a:r>
          </a:p>
        </p:txBody>
      </p:sp>
      <p:sp>
        <p:nvSpPr>
          <p:cNvPr id="399" name="Shape 2"/>
          <p:cNvSpPr/>
          <p:nvPr/>
        </p:nvSpPr>
        <p:spPr>
          <a:xfrm>
            <a:off x="329290" y="1020734"/>
            <a:ext cx="790300" cy="32930"/>
          </a:xfrm>
          <a:prstGeom prst="rect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0" name="Shape 3"/>
          <p:cNvSpPr/>
          <p:nvPr/>
        </p:nvSpPr>
        <p:spPr>
          <a:xfrm>
            <a:off x="344259" y="1119484"/>
            <a:ext cx="5687006" cy="43960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4" y="0"/>
                </a:moveTo>
                <a:lnTo>
                  <a:pt x="21225" y="0"/>
                </a:lnTo>
                <a:cubicBezTo>
                  <a:pt x="21432" y="0"/>
                  <a:pt x="21600" y="217"/>
                  <a:pt x="21600" y="485"/>
                </a:cubicBezTo>
                <a:lnTo>
                  <a:pt x="21600" y="21115"/>
                </a:lnTo>
                <a:cubicBezTo>
                  <a:pt x="21600" y="21383"/>
                  <a:pt x="21432" y="21600"/>
                  <a:pt x="21225" y="21600"/>
                </a:cubicBezTo>
                <a:lnTo>
                  <a:pt x="114" y="21600"/>
                </a:lnTo>
                <a:cubicBezTo>
                  <a:pt x="51" y="21600"/>
                  <a:pt x="0" y="21534"/>
                  <a:pt x="0" y="21453"/>
                </a:cubicBezTo>
                <a:lnTo>
                  <a:pt x="0" y="147"/>
                </a:lnTo>
                <a:cubicBezTo>
                  <a:pt x="0" y="66"/>
                  <a:pt x="51" y="0"/>
                  <a:pt x="114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1" name="Shape 4"/>
          <p:cNvSpPr/>
          <p:nvPr/>
        </p:nvSpPr>
        <p:spPr>
          <a:xfrm>
            <a:off x="344259" y="1119484"/>
            <a:ext cx="29937" cy="43960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534"/>
                  <a:pt x="0" y="21453"/>
                </a:cubicBezTo>
                <a:lnTo>
                  <a:pt x="0" y="147"/>
                </a:lnTo>
                <a:cubicBezTo>
                  <a:pt x="0" y="66"/>
                  <a:pt x="9671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2" name="Shape 5"/>
          <p:cNvSpPr/>
          <p:nvPr/>
        </p:nvSpPr>
        <p:spPr>
          <a:xfrm>
            <a:off x="532057" y="1284069"/>
            <a:ext cx="123485" cy="1646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600" y="0"/>
                </a:moveTo>
                <a:cubicBezTo>
                  <a:pt x="1614" y="0"/>
                  <a:pt x="0" y="1211"/>
                  <a:pt x="0" y="2700"/>
                </a:cubicBezTo>
                <a:lnTo>
                  <a:pt x="0" y="12822"/>
                </a:lnTo>
                <a:lnTo>
                  <a:pt x="10243" y="12822"/>
                </a:lnTo>
                <a:lnTo>
                  <a:pt x="8499" y="11515"/>
                </a:lnTo>
                <a:cubicBezTo>
                  <a:pt x="7971" y="11118"/>
                  <a:pt x="7971" y="10477"/>
                  <a:pt x="8499" y="10085"/>
                </a:cubicBezTo>
                <a:cubicBezTo>
                  <a:pt x="9028" y="9693"/>
                  <a:pt x="9883" y="9689"/>
                  <a:pt x="10406" y="10085"/>
                </a:cubicBezTo>
                <a:lnTo>
                  <a:pt x="14456" y="13122"/>
                </a:lnTo>
                <a:cubicBezTo>
                  <a:pt x="14985" y="13518"/>
                  <a:pt x="14985" y="14160"/>
                  <a:pt x="14456" y="14552"/>
                </a:cubicBezTo>
                <a:lnTo>
                  <a:pt x="10406" y="17589"/>
                </a:lnTo>
                <a:cubicBezTo>
                  <a:pt x="9877" y="17985"/>
                  <a:pt x="9022" y="17985"/>
                  <a:pt x="8499" y="17589"/>
                </a:cubicBezTo>
                <a:cubicBezTo>
                  <a:pt x="7976" y="17192"/>
                  <a:pt x="7971" y="16551"/>
                  <a:pt x="8499" y="16159"/>
                </a:cubicBezTo>
                <a:lnTo>
                  <a:pt x="10243" y="14851"/>
                </a:lnTo>
                <a:lnTo>
                  <a:pt x="0" y="14851"/>
                </a:lnTo>
                <a:lnTo>
                  <a:pt x="0" y="18900"/>
                </a:lnTo>
                <a:cubicBezTo>
                  <a:pt x="0" y="20389"/>
                  <a:pt x="1614" y="21600"/>
                  <a:pt x="3600" y="21600"/>
                </a:cubicBezTo>
                <a:lnTo>
                  <a:pt x="18000" y="21600"/>
                </a:lnTo>
                <a:cubicBezTo>
                  <a:pt x="19986" y="21600"/>
                  <a:pt x="21600" y="20389"/>
                  <a:pt x="21600" y="18900"/>
                </a:cubicBezTo>
                <a:lnTo>
                  <a:pt x="21600" y="7196"/>
                </a:lnTo>
                <a:cubicBezTo>
                  <a:pt x="21600" y="6479"/>
                  <a:pt x="21223" y="5791"/>
                  <a:pt x="20548" y="5285"/>
                </a:cubicBezTo>
                <a:lnTo>
                  <a:pt x="14552" y="789"/>
                </a:lnTo>
                <a:cubicBezTo>
                  <a:pt x="13877" y="283"/>
                  <a:pt x="12966" y="0"/>
                  <a:pt x="12009" y="0"/>
                </a:cubicBezTo>
                <a:lnTo>
                  <a:pt x="3600" y="0"/>
                </a:lnTo>
                <a:close/>
                <a:moveTo>
                  <a:pt x="18309" y="7424"/>
                </a:moveTo>
                <a:lnTo>
                  <a:pt x="13050" y="7424"/>
                </a:lnTo>
                <a:cubicBezTo>
                  <a:pt x="12302" y="7424"/>
                  <a:pt x="11700" y="6972"/>
                  <a:pt x="11700" y="6411"/>
                </a:cubicBezTo>
                <a:lnTo>
                  <a:pt x="11700" y="2467"/>
                </a:lnTo>
                <a:lnTo>
                  <a:pt x="18309" y="7424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3" name="Text 6"/>
          <p:cNvSpPr txBox="1"/>
          <p:nvPr/>
        </p:nvSpPr>
        <p:spPr>
          <a:xfrm>
            <a:off x="696703" y="1258454"/>
            <a:ext cx="52851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输入: 原始病历</a:t>
            </a:r>
          </a:p>
        </p:txBody>
      </p:sp>
      <p:sp>
        <p:nvSpPr>
          <p:cNvPr id="404" name="Shape 7"/>
          <p:cNvSpPr/>
          <p:nvPr/>
        </p:nvSpPr>
        <p:spPr>
          <a:xfrm>
            <a:off x="490895" y="1547470"/>
            <a:ext cx="5408607" cy="38362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63" y="0"/>
                </a:moveTo>
                <a:lnTo>
                  <a:pt x="21337" y="0"/>
                </a:lnTo>
                <a:cubicBezTo>
                  <a:pt x="21482" y="0"/>
                  <a:pt x="21600" y="166"/>
                  <a:pt x="21600" y="371"/>
                </a:cubicBezTo>
                <a:lnTo>
                  <a:pt x="21600" y="21229"/>
                </a:lnTo>
                <a:cubicBezTo>
                  <a:pt x="21600" y="21434"/>
                  <a:pt x="21482" y="21600"/>
                  <a:pt x="21337" y="21600"/>
                </a:cubicBezTo>
                <a:lnTo>
                  <a:pt x="263" y="21600"/>
                </a:lnTo>
                <a:cubicBezTo>
                  <a:pt x="118" y="21600"/>
                  <a:pt x="0" y="21434"/>
                  <a:pt x="0" y="21229"/>
                </a:cubicBezTo>
                <a:lnTo>
                  <a:pt x="0" y="371"/>
                </a:lnTo>
                <a:cubicBezTo>
                  <a:pt x="0" y="166"/>
                  <a:pt x="118" y="0"/>
                  <a:pt x="263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5" name="Text 8"/>
          <p:cNvSpPr txBox="1"/>
          <p:nvPr/>
        </p:nvSpPr>
        <p:spPr>
          <a:xfrm>
            <a:off x="589647" y="1656109"/>
            <a:ext cx="527689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病历ID: 1-1</a:t>
            </a:r>
          </a:p>
        </p:txBody>
      </p:sp>
      <p:sp>
        <p:nvSpPr>
          <p:cNvPr id="406" name="Shape 9"/>
          <p:cNvSpPr/>
          <p:nvPr/>
        </p:nvSpPr>
        <p:spPr>
          <a:xfrm>
            <a:off x="589648" y="1909619"/>
            <a:ext cx="5211031" cy="33752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7" y="0"/>
                </a:moveTo>
                <a:lnTo>
                  <a:pt x="21463" y="0"/>
                </a:lnTo>
                <a:cubicBezTo>
                  <a:pt x="21539" y="0"/>
                  <a:pt x="21600" y="94"/>
                  <a:pt x="21600" y="211"/>
                </a:cubicBezTo>
                <a:lnTo>
                  <a:pt x="21600" y="21389"/>
                </a:lnTo>
                <a:cubicBezTo>
                  <a:pt x="21600" y="21506"/>
                  <a:pt x="21539" y="21600"/>
                  <a:pt x="21463" y="21600"/>
                </a:cubicBezTo>
                <a:lnTo>
                  <a:pt x="137" y="21600"/>
                </a:lnTo>
                <a:cubicBezTo>
                  <a:pt x="61" y="21600"/>
                  <a:pt x="0" y="21506"/>
                  <a:pt x="0" y="21389"/>
                </a:cubicBezTo>
                <a:lnTo>
                  <a:pt x="0" y="211"/>
                </a:lnTo>
                <a:cubicBezTo>
                  <a:pt x="0" y="94"/>
                  <a:pt x="61" y="0"/>
                  <a:pt x="137" y="0"/>
                </a:cubicBezTo>
                <a:close/>
              </a:path>
            </a:pathLst>
          </a:custGeom>
          <a:solidFill>
            <a:srgbClr val="0D0E1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7" name="Text 10"/>
          <p:cNvSpPr txBox="1"/>
          <p:nvPr/>
        </p:nvSpPr>
        <p:spPr>
          <a:xfrm>
            <a:off x="688401" y="2010028"/>
            <a:ext cx="507931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主诉:</a:t>
            </a:r>
            <a:r>
              <a:rPr b="0">
                <a:solidFill>
                  <a:srgbClr val="7D8A96"/>
                </a:solidFill>
              </a:rPr>
              <a:t> 发现血糖升高10年，双下肢水肿1个月</a:t>
            </a:r>
          </a:p>
        </p:txBody>
      </p:sp>
      <p:sp>
        <p:nvSpPr>
          <p:cNvPr id="408" name="Text 11"/>
          <p:cNvSpPr txBox="1"/>
          <p:nvPr/>
        </p:nvSpPr>
        <p:spPr>
          <a:xfrm>
            <a:off x="688401" y="2224019"/>
            <a:ext cx="507931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现病史:</a:t>
            </a:r>
            <a:r>
              <a:rPr b="0">
                <a:solidFill>
                  <a:srgbClr val="7D8A96"/>
                </a:solidFill>
              </a:rPr>
              <a:t> 患者10年前体检发现血糖升高，空腹血糖8.5mmol/L...</a:t>
            </a:r>
          </a:p>
        </p:txBody>
      </p:sp>
      <p:sp>
        <p:nvSpPr>
          <p:cNvPr id="409" name="Text 12"/>
          <p:cNvSpPr txBox="1"/>
          <p:nvPr/>
        </p:nvSpPr>
        <p:spPr>
          <a:xfrm>
            <a:off x="688401" y="2438010"/>
            <a:ext cx="507931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既往史:</a:t>
            </a:r>
            <a:r>
              <a:rPr b="0">
                <a:solidFill>
                  <a:srgbClr val="7D8A96"/>
                </a:solidFill>
              </a:rPr>
              <a:t> 高血压病史5年，血压最高160/100mmHg...</a:t>
            </a:r>
          </a:p>
        </p:txBody>
      </p:sp>
      <p:sp>
        <p:nvSpPr>
          <p:cNvPr id="410" name="Text 13"/>
          <p:cNvSpPr txBox="1"/>
          <p:nvPr/>
        </p:nvSpPr>
        <p:spPr>
          <a:xfrm>
            <a:off x="688401" y="2652005"/>
            <a:ext cx="507931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入院情况:</a:t>
            </a:r>
            <a:r>
              <a:rPr b="0">
                <a:solidFill>
                  <a:srgbClr val="7D8A96"/>
                </a:solidFill>
              </a:rPr>
              <a:t> T:36.5℃，P:80次/分，BP:150/90mmHg...</a:t>
            </a:r>
          </a:p>
        </p:txBody>
      </p:sp>
      <p:sp>
        <p:nvSpPr>
          <p:cNvPr id="411" name="Text 14"/>
          <p:cNvSpPr txBox="1"/>
          <p:nvPr/>
        </p:nvSpPr>
        <p:spPr>
          <a:xfrm>
            <a:off x="688401" y="2865995"/>
            <a:ext cx="507931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诊疗过程:</a:t>
            </a:r>
            <a:r>
              <a:rPr b="0">
                <a:solidFill>
                  <a:srgbClr val="7D8A96"/>
                </a:solidFill>
              </a:rPr>
              <a:t> 空腹血糖9.2mmol/L，餐后2小时血糖14.5mmol/L...</a:t>
            </a:r>
          </a:p>
        </p:txBody>
      </p:sp>
      <p:sp>
        <p:nvSpPr>
          <p:cNvPr id="412" name="Shape 15"/>
          <p:cNvSpPr/>
          <p:nvPr/>
        </p:nvSpPr>
        <p:spPr>
          <a:xfrm>
            <a:off x="6176310" y="1119484"/>
            <a:ext cx="5687007" cy="43960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4" y="0"/>
                </a:moveTo>
                <a:lnTo>
                  <a:pt x="21225" y="0"/>
                </a:lnTo>
                <a:cubicBezTo>
                  <a:pt x="21432" y="0"/>
                  <a:pt x="21600" y="217"/>
                  <a:pt x="21600" y="485"/>
                </a:cubicBezTo>
                <a:lnTo>
                  <a:pt x="21600" y="21115"/>
                </a:lnTo>
                <a:cubicBezTo>
                  <a:pt x="21600" y="21383"/>
                  <a:pt x="21432" y="21600"/>
                  <a:pt x="21225" y="21600"/>
                </a:cubicBezTo>
                <a:lnTo>
                  <a:pt x="114" y="21600"/>
                </a:lnTo>
                <a:cubicBezTo>
                  <a:pt x="51" y="21600"/>
                  <a:pt x="0" y="21534"/>
                  <a:pt x="0" y="21453"/>
                </a:cubicBezTo>
                <a:lnTo>
                  <a:pt x="0" y="147"/>
                </a:lnTo>
                <a:cubicBezTo>
                  <a:pt x="0" y="66"/>
                  <a:pt x="51" y="0"/>
                  <a:pt x="114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3" name="Shape 16"/>
          <p:cNvSpPr/>
          <p:nvPr/>
        </p:nvSpPr>
        <p:spPr>
          <a:xfrm>
            <a:off x="6176310" y="1119484"/>
            <a:ext cx="29937" cy="43960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534"/>
                  <a:pt x="0" y="21453"/>
                </a:cubicBezTo>
                <a:lnTo>
                  <a:pt x="0" y="147"/>
                </a:lnTo>
                <a:cubicBezTo>
                  <a:pt x="0" y="66"/>
                  <a:pt x="9671" y="0"/>
                  <a:pt x="21600" y="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4" name="Shape 17"/>
          <p:cNvSpPr/>
          <p:nvPr/>
        </p:nvSpPr>
        <p:spPr>
          <a:xfrm>
            <a:off x="6343689" y="1284069"/>
            <a:ext cx="174954" cy="1646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7" h="21600" fill="norm" stroke="1" extrusionOk="0">
                <a:moveTo>
                  <a:pt x="2530" y="0"/>
                </a:moveTo>
                <a:cubicBezTo>
                  <a:pt x="1135" y="0"/>
                  <a:pt x="0" y="1211"/>
                  <a:pt x="0" y="2700"/>
                </a:cubicBezTo>
                <a:lnTo>
                  <a:pt x="0" y="18900"/>
                </a:lnTo>
                <a:cubicBezTo>
                  <a:pt x="0" y="20389"/>
                  <a:pt x="1135" y="21600"/>
                  <a:pt x="2530" y="21600"/>
                </a:cubicBezTo>
                <a:lnTo>
                  <a:pt x="12650" y="21600"/>
                </a:lnTo>
                <a:cubicBezTo>
                  <a:pt x="14046" y="21600"/>
                  <a:pt x="15180" y="20389"/>
                  <a:pt x="15180" y="18900"/>
                </a:cubicBezTo>
                <a:lnTo>
                  <a:pt x="15180" y="14850"/>
                </a:lnTo>
                <a:lnTo>
                  <a:pt x="18267" y="14850"/>
                </a:lnTo>
                <a:lnTo>
                  <a:pt x="17042" y="16158"/>
                </a:lnTo>
                <a:cubicBezTo>
                  <a:pt x="16670" y="16554"/>
                  <a:pt x="16670" y="17196"/>
                  <a:pt x="17042" y="17588"/>
                </a:cubicBezTo>
                <a:cubicBezTo>
                  <a:pt x="17414" y="17980"/>
                  <a:pt x="18014" y="17985"/>
                  <a:pt x="18382" y="17588"/>
                </a:cubicBezTo>
                <a:lnTo>
                  <a:pt x="21228" y="14550"/>
                </a:lnTo>
                <a:cubicBezTo>
                  <a:pt x="21600" y="14154"/>
                  <a:pt x="21600" y="13513"/>
                  <a:pt x="21228" y="13120"/>
                </a:cubicBezTo>
                <a:lnTo>
                  <a:pt x="18382" y="10083"/>
                </a:lnTo>
                <a:cubicBezTo>
                  <a:pt x="18011" y="9686"/>
                  <a:pt x="17410" y="9686"/>
                  <a:pt x="17042" y="10083"/>
                </a:cubicBezTo>
                <a:cubicBezTo>
                  <a:pt x="16674" y="10479"/>
                  <a:pt x="16670" y="11121"/>
                  <a:pt x="17042" y="11513"/>
                </a:cubicBezTo>
                <a:lnTo>
                  <a:pt x="18267" y="12821"/>
                </a:lnTo>
                <a:lnTo>
                  <a:pt x="15180" y="12821"/>
                </a:lnTo>
                <a:lnTo>
                  <a:pt x="15180" y="7189"/>
                </a:lnTo>
                <a:cubicBezTo>
                  <a:pt x="15180" y="6471"/>
                  <a:pt x="14915" y="5784"/>
                  <a:pt x="14441" y="5278"/>
                </a:cubicBezTo>
                <a:lnTo>
                  <a:pt x="10227" y="789"/>
                </a:lnTo>
                <a:cubicBezTo>
                  <a:pt x="9752" y="283"/>
                  <a:pt x="9112" y="0"/>
                  <a:pt x="8440" y="0"/>
                </a:cubicBezTo>
                <a:lnTo>
                  <a:pt x="2530" y="0"/>
                </a:lnTo>
                <a:close/>
                <a:moveTo>
                  <a:pt x="12867" y="7425"/>
                </a:moveTo>
                <a:lnTo>
                  <a:pt x="9171" y="7425"/>
                </a:lnTo>
                <a:cubicBezTo>
                  <a:pt x="8646" y="7425"/>
                  <a:pt x="8223" y="6974"/>
                  <a:pt x="8223" y="6412"/>
                </a:cubicBezTo>
                <a:lnTo>
                  <a:pt x="8223" y="2468"/>
                </a:lnTo>
                <a:lnTo>
                  <a:pt x="12867" y="7425"/>
                </a:lnTo>
                <a:close/>
                <a:moveTo>
                  <a:pt x="7590" y="13837"/>
                </a:moveTo>
                <a:cubicBezTo>
                  <a:pt x="7590" y="13276"/>
                  <a:pt x="8013" y="12825"/>
                  <a:pt x="8539" y="12825"/>
                </a:cubicBezTo>
                <a:lnTo>
                  <a:pt x="12650" y="12825"/>
                </a:lnTo>
                <a:lnTo>
                  <a:pt x="12650" y="14850"/>
                </a:lnTo>
                <a:lnTo>
                  <a:pt x="8539" y="14850"/>
                </a:lnTo>
                <a:cubicBezTo>
                  <a:pt x="8013" y="14850"/>
                  <a:pt x="7590" y="14399"/>
                  <a:pt x="7590" y="13837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5" name="Text 18"/>
          <p:cNvSpPr txBox="1"/>
          <p:nvPr/>
        </p:nvSpPr>
        <p:spPr>
          <a:xfrm>
            <a:off x="6528755" y="1258454"/>
            <a:ext cx="528512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输出: 结构化数据</a:t>
            </a:r>
          </a:p>
        </p:txBody>
      </p:sp>
      <p:sp>
        <p:nvSpPr>
          <p:cNvPr id="416" name="Shape 19"/>
          <p:cNvSpPr/>
          <p:nvPr/>
        </p:nvSpPr>
        <p:spPr>
          <a:xfrm>
            <a:off x="6322948" y="1547470"/>
            <a:ext cx="5408607" cy="38362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63" y="0"/>
                </a:moveTo>
                <a:lnTo>
                  <a:pt x="21337" y="0"/>
                </a:lnTo>
                <a:cubicBezTo>
                  <a:pt x="21482" y="0"/>
                  <a:pt x="21600" y="166"/>
                  <a:pt x="21600" y="371"/>
                </a:cubicBezTo>
                <a:lnTo>
                  <a:pt x="21600" y="21229"/>
                </a:lnTo>
                <a:cubicBezTo>
                  <a:pt x="21600" y="21434"/>
                  <a:pt x="21482" y="21600"/>
                  <a:pt x="21337" y="21600"/>
                </a:cubicBezTo>
                <a:lnTo>
                  <a:pt x="263" y="21600"/>
                </a:lnTo>
                <a:cubicBezTo>
                  <a:pt x="118" y="21600"/>
                  <a:pt x="0" y="21434"/>
                  <a:pt x="0" y="21229"/>
                </a:cubicBezTo>
                <a:lnTo>
                  <a:pt x="0" y="371"/>
                </a:lnTo>
                <a:cubicBezTo>
                  <a:pt x="0" y="166"/>
                  <a:pt x="118" y="0"/>
                  <a:pt x="263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7" name="Shape 20"/>
          <p:cNvSpPr/>
          <p:nvPr/>
        </p:nvSpPr>
        <p:spPr>
          <a:xfrm>
            <a:off x="6421701" y="1646222"/>
            <a:ext cx="5211031" cy="36386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6" y="0"/>
                </a:moveTo>
                <a:lnTo>
                  <a:pt x="21464" y="0"/>
                </a:lnTo>
                <a:cubicBezTo>
                  <a:pt x="21539" y="0"/>
                  <a:pt x="21600" y="88"/>
                  <a:pt x="21600" y="195"/>
                </a:cubicBezTo>
                <a:lnTo>
                  <a:pt x="21600" y="21405"/>
                </a:lnTo>
                <a:cubicBezTo>
                  <a:pt x="21600" y="21512"/>
                  <a:pt x="21539" y="21600"/>
                  <a:pt x="21464" y="21600"/>
                </a:cubicBezTo>
                <a:lnTo>
                  <a:pt x="136" y="21600"/>
                </a:lnTo>
                <a:cubicBezTo>
                  <a:pt x="61" y="21600"/>
                  <a:pt x="0" y="21512"/>
                  <a:pt x="0" y="21405"/>
                </a:cubicBezTo>
                <a:lnTo>
                  <a:pt x="0" y="195"/>
                </a:lnTo>
                <a:cubicBezTo>
                  <a:pt x="0" y="88"/>
                  <a:pt x="61" y="0"/>
                  <a:pt x="136" y="0"/>
                </a:cubicBezTo>
                <a:close/>
              </a:path>
            </a:pathLst>
          </a:custGeom>
          <a:solidFill>
            <a:srgbClr val="0D0E1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8" name="Text 21"/>
          <p:cNvSpPr txBox="1"/>
          <p:nvPr/>
        </p:nvSpPr>
        <p:spPr>
          <a:xfrm>
            <a:off x="6520453" y="1759327"/>
            <a:ext cx="5079315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{</a:t>
            </a:r>
          </a:p>
        </p:txBody>
      </p:sp>
      <p:sp>
        <p:nvSpPr>
          <p:cNvPr id="419" name="Text 22"/>
          <p:cNvSpPr txBox="1"/>
          <p:nvPr/>
        </p:nvSpPr>
        <p:spPr>
          <a:xfrm>
            <a:off x="6652122" y="1940405"/>
            <a:ext cx="494759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"patient_id": </a:t>
            </a:r>
            <a:r>
              <a:rPr>
                <a:solidFill>
                  <a:srgbClr val="E0E2E5"/>
                </a:solidFill>
              </a:rPr>
              <a:t>"1-1"</a:t>
            </a:r>
            <a:r>
              <a:t> ,</a:t>
            </a:r>
          </a:p>
        </p:txBody>
      </p:sp>
      <p:sp>
        <p:nvSpPr>
          <p:cNvPr id="420" name="Text 23"/>
          <p:cNvSpPr txBox="1"/>
          <p:nvPr/>
        </p:nvSpPr>
        <p:spPr>
          <a:xfrm>
            <a:off x="6652122" y="2108780"/>
            <a:ext cx="494759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"chief_complaint": </a:t>
            </a:r>
            <a:r>
              <a:rPr>
                <a:solidFill>
                  <a:srgbClr val="E0E2E5"/>
                </a:solidFill>
              </a:rPr>
              <a:t>"发现血糖升高10年..."</a:t>
            </a:r>
            <a:r>
              <a:t> ,</a:t>
            </a:r>
          </a:p>
        </p:txBody>
      </p:sp>
      <p:sp>
        <p:nvSpPr>
          <p:cNvPr id="421" name="Text 24"/>
          <p:cNvSpPr txBox="1"/>
          <p:nvPr/>
        </p:nvSpPr>
        <p:spPr>
          <a:xfrm>
            <a:off x="6652122" y="2289854"/>
            <a:ext cx="494759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"diagnosis": [ </a:t>
            </a:r>
            <a:r>
              <a:rPr>
                <a:solidFill>
                  <a:srgbClr val="E0E2E5"/>
                </a:solidFill>
              </a:rPr>
              <a:t>"2型糖尿病伴糖尿病肾病"</a:t>
            </a:r>
            <a:r>
              <a:t> ,</a:t>
            </a:r>
          </a:p>
        </p:txBody>
      </p:sp>
      <p:sp>
        <p:nvSpPr>
          <p:cNvPr id="422" name="Text 25"/>
          <p:cNvSpPr txBox="1"/>
          <p:nvPr/>
        </p:nvSpPr>
        <p:spPr>
          <a:xfrm>
            <a:off x="6783851" y="2470927"/>
            <a:ext cx="481588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"高血压病2级极高危",</a:t>
            </a:r>
          </a:p>
        </p:txBody>
      </p:sp>
      <p:sp>
        <p:nvSpPr>
          <p:cNvPr id="423" name="Text 26"/>
          <p:cNvSpPr txBox="1"/>
          <p:nvPr/>
        </p:nvSpPr>
        <p:spPr>
          <a:xfrm>
            <a:off x="6783851" y="2652005"/>
            <a:ext cx="481588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"高脂血症"],</a:t>
            </a:r>
          </a:p>
        </p:txBody>
      </p:sp>
      <p:sp>
        <p:nvSpPr>
          <p:cNvPr id="424" name="Text 27"/>
          <p:cNvSpPr txBox="1"/>
          <p:nvPr/>
        </p:nvSpPr>
        <p:spPr>
          <a:xfrm>
            <a:off x="6652122" y="2845779"/>
            <a:ext cx="494759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"laboratory_results": {</a:t>
            </a:r>
          </a:p>
        </p:txBody>
      </p:sp>
      <p:sp>
        <p:nvSpPr>
          <p:cNvPr id="425" name="Text 28"/>
          <p:cNvSpPr txBox="1"/>
          <p:nvPr/>
        </p:nvSpPr>
        <p:spPr>
          <a:xfrm>
            <a:off x="6783851" y="3026852"/>
            <a:ext cx="481588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"fasting_glucose": </a:t>
            </a:r>
            <a:r>
              <a:rPr>
                <a:solidFill>
                  <a:srgbClr val="E0E2E5"/>
                </a:solidFill>
              </a:rPr>
              <a:t>"9.2mmol/L"</a:t>
            </a:r>
            <a:r>
              <a:t> ,</a:t>
            </a:r>
          </a:p>
        </p:txBody>
      </p:sp>
      <p:sp>
        <p:nvSpPr>
          <p:cNvPr id="426" name="Text 29"/>
          <p:cNvSpPr txBox="1"/>
          <p:nvPr/>
        </p:nvSpPr>
        <p:spPr>
          <a:xfrm>
            <a:off x="6783851" y="3207927"/>
            <a:ext cx="481588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"hba1c": </a:t>
            </a:r>
            <a:r>
              <a:rPr>
                <a:solidFill>
                  <a:srgbClr val="E0E2E5"/>
                </a:solidFill>
              </a:rPr>
              <a:t>"8.5%"</a:t>
            </a:r>
            <a:r>
              <a:t> ,</a:t>
            </a:r>
          </a:p>
        </p:txBody>
      </p:sp>
      <p:sp>
        <p:nvSpPr>
          <p:cNvPr id="427" name="Text 30"/>
          <p:cNvSpPr txBox="1"/>
          <p:nvPr/>
        </p:nvSpPr>
        <p:spPr>
          <a:xfrm>
            <a:off x="6783851" y="3389004"/>
            <a:ext cx="481588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"ldl_c": </a:t>
            </a:r>
            <a:r>
              <a:rPr>
                <a:solidFill>
                  <a:srgbClr val="E0E2E5"/>
                </a:solidFill>
              </a:rPr>
              <a:t>"4.2mmol/L"</a:t>
            </a:r>
          </a:p>
        </p:txBody>
      </p:sp>
      <p:sp>
        <p:nvSpPr>
          <p:cNvPr id="428" name="Text 31"/>
          <p:cNvSpPr txBox="1"/>
          <p:nvPr/>
        </p:nvSpPr>
        <p:spPr>
          <a:xfrm>
            <a:off x="6652122" y="3570078"/>
            <a:ext cx="494759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},</a:t>
            </a:r>
          </a:p>
        </p:txBody>
      </p:sp>
      <p:sp>
        <p:nvSpPr>
          <p:cNvPr id="429" name="Text 32"/>
          <p:cNvSpPr txBox="1"/>
          <p:nvPr/>
        </p:nvSpPr>
        <p:spPr>
          <a:xfrm>
            <a:off x="6652122" y="3751152"/>
            <a:ext cx="494759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"extracted_entities": {</a:t>
            </a:r>
          </a:p>
        </p:txBody>
      </p:sp>
      <p:sp>
        <p:nvSpPr>
          <p:cNvPr id="430" name="Text 33"/>
          <p:cNvSpPr txBox="1"/>
          <p:nvPr/>
        </p:nvSpPr>
        <p:spPr>
          <a:xfrm>
            <a:off x="6783851" y="3919527"/>
            <a:ext cx="481588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"symptoms": [ </a:t>
            </a:r>
            <a:r>
              <a:rPr>
                <a:solidFill>
                  <a:srgbClr val="E0E2E5"/>
                </a:solidFill>
              </a:rPr>
              <a:t>"双下肢水肿"</a:t>
            </a:r>
            <a:r>
              <a:t> ,</a:t>
            </a:r>
          </a:p>
        </p:txBody>
      </p:sp>
      <p:sp>
        <p:nvSpPr>
          <p:cNvPr id="431" name="Text 34"/>
          <p:cNvSpPr txBox="1"/>
          <p:nvPr/>
        </p:nvSpPr>
        <p:spPr>
          <a:xfrm>
            <a:off x="6783851" y="4100605"/>
            <a:ext cx="481588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"乏力", "纳差"],</a:t>
            </a:r>
          </a:p>
        </p:txBody>
      </p:sp>
      <p:sp>
        <p:nvSpPr>
          <p:cNvPr id="432" name="Text 35"/>
          <p:cNvSpPr txBox="1"/>
          <p:nvPr/>
        </p:nvSpPr>
        <p:spPr>
          <a:xfrm>
            <a:off x="6783851" y="4281678"/>
            <a:ext cx="481588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"diseases": [ </a:t>
            </a:r>
            <a:r>
              <a:rPr>
                <a:solidFill>
                  <a:srgbClr val="E0E2E5"/>
                </a:solidFill>
              </a:rPr>
              <a:t>"2型糖尿病"</a:t>
            </a:r>
            <a:r>
              <a:t> ,</a:t>
            </a:r>
          </a:p>
        </p:txBody>
      </p:sp>
      <p:sp>
        <p:nvSpPr>
          <p:cNvPr id="433" name="Text 36"/>
          <p:cNvSpPr txBox="1"/>
          <p:nvPr/>
        </p:nvSpPr>
        <p:spPr>
          <a:xfrm>
            <a:off x="6783851" y="4462752"/>
            <a:ext cx="481588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"糖尿病肾病", "高血压病"],</a:t>
            </a:r>
          </a:p>
        </p:txBody>
      </p:sp>
      <p:sp>
        <p:nvSpPr>
          <p:cNvPr id="434" name="Text 37"/>
          <p:cNvSpPr txBox="1"/>
          <p:nvPr/>
        </p:nvSpPr>
        <p:spPr>
          <a:xfrm>
            <a:off x="6783851" y="4643830"/>
            <a:ext cx="481588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"drugs": [ </a:t>
            </a:r>
            <a:r>
              <a:rPr>
                <a:solidFill>
                  <a:srgbClr val="E0E2E5"/>
                </a:solidFill>
              </a:rPr>
              <a:t>"二甲双胍"</a:t>
            </a:r>
            <a:r>
              <a:t> ]</a:t>
            </a:r>
          </a:p>
        </p:txBody>
      </p:sp>
      <p:sp>
        <p:nvSpPr>
          <p:cNvPr id="435" name="Text 38"/>
          <p:cNvSpPr txBox="1"/>
          <p:nvPr/>
        </p:nvSpPr>
        <p:spPr>
          <a:xfrm>
            <a:off x="6652122" y="4837603"/>
            <a:ext cx="494759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}</a:t>
            </a:r>
          </a:p>
        </p:txBody>
      </p:sp>
      <p:sp>
        <p:nvSpPr>
          <p:cNvPr id="436" name="Text 39"/>
          <p:cNvSpPr txBox="1"/>
          <p:nvPr/>
        </p:nvSpPr>
        <p:spPr>
          <a:xfrm>
            <a:off x="6520453" y="5018677"/>
            <a:ext cx="5079315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}</a:t>
            </a:r>
          </a:p>
        </p:txBody>
      </p:sp>
      <p:sp>
        <p:nvSpPr>
          <p:cNvPr id="437" name="Shape 40"/>
          <p:cNvSpPr/>
          <p:nvPr/>
        </p:nvSpPr>
        <p:spPr>
          <a:xfrm>
            <a:off x="336775" y="5587889"/>
            <a:ext cx="2772780" cy="9369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70" y="0"/>
                </a:moveTo>
                <a:lnTo>
                  <a:pt x="20830" y="0"/>
                </a:lnTo>
                <a:cubicBezTo>
                  <a:pt x="21255" y="0"/>
                  <a:pt x="21600" y="1020"/>
                  <a:pt x="21600" y="2277"/>
                </a:cubicBezTo>
                <a:lnTo>
                  <a:pt x="21600" y="19323"/>
                </a:lnTo>
                <a:cubicBezTo>
                  <a:pt x="21600" y="20580"/>
                  <a:pt x="21255" y="21600"/>
                  <a:pt x="20830" y="21600"/>
                </a:cubicBezTo>
                <a:lnTo>
                  <a:pt x="770" y="21600"/>
                </a:lnTo>
                <a:cubicBezTo>
                  <a:pt x="345" y="21600"/>
                  <a:pt x="0" y="20580"/>
                  <a:pt x="0" y="19323"/>
                </a:cubicBezTo>
                <a:lnTo>
                  <a:pt x="0" y="2277"/>
                </a:lnTo>
                <a:cubicBezTo>
                  <a:pt x="0" y="1020"/>
                  <a:pt x="345" y="0"/>
                  <a:pt x="770" y="0"/>
                </a:cubicBezTo>
                <a:close/>
              </a:path>
            </a:pathLst>
          </a:custGeom>
          <a:solidFill>
            <a:srgbClr val="5E8B7E">
              <a:alpha val="14902"/>
            </a:srgbClr>
          </a:solidFill>
          <a:ln w="23091">
            <a:solidFill>
              <a:srgbClr val="5E8B7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8" name="Shape 41"/>
          <p:cNvSpPr/>
          <p:nvPr/>
        </p:nvSpPr>
        <p:spPr>
          <a:xfrm>
            <a:off x="1622681" y="5694126"/>
            <a:ext cx="197576" cy="1975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16761" y="21600"/>
                  <a:pt x="21600" y="16761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9" y="0"/>
                  <a:pt x="0" y="4839"/>
                  <a:pt x="0" y="10800"/>
                </a:cubicBezTo>
                <a:cubicBezTo>
                  <a:pt x="0" y="16761"/>
                  <a:pt x="4839" y="21600"/>
                  <a:pt x="10800" y="21600"/>
                </a:cubicBezTo>
                <a:close/>
                <a:moveTo>
                  <a:pt x="14361" y="8973"/>
                </a:moveTo>
                <a:lnTo>
                  <a:pt x="10986" y="14373"/>
                </a:lnTo>
                <a:cubicBezTo>
                  <a:pt x="10808" y="14656"/>
                  <a:pt x="10505" y="14833"/>
                  <a:pt x="10171" y="14850"/>
                </a:cubicBezTo>
                <a:cubicBezTo>
                  <a:pt x="9838" y="14867"/>
                  <a:pt x="9517" y="14715"/>
                  <a:pt x="9319" y="14445"/>
                </a:cubicBezTo>
                <a:lnTo>
                  <a:pt x="7294" y="11745"/>
                </a:lnTo>
                <a:cubicBezTo>
                  <a:pt x="6957" y="11298"/>
                  <a:pt x="7050" y="10665"/>
                  <a:pt x="7497" y="10327"/>
                </a:cubicBezTo>
                <a:cubicBezTo>
                  <a:pt x="7944" y="9990"/>
                  <a:pt x="8577" y="10083"/>
                  <a:pt x="8914" y="10530"/>
                </a:cubicBezTo>
                <a:lnTo>
                  <a:pt x="10053" y="12049"/>
                </a:lnTo>
                <a:lnTo>
                  <a:pt x="12644" y="7902"/>
                </a:lnTo>
                <a:cubicBezTo>
                  <a:pt x="12939" y="7429"/>
                  <a:pt x="13563" y="7282"/>
                  <a:pt x="14040" y="7581"/>
                </a:cubicBezTo>
                <a:cubicBezTo>
                  <a:pt x="14517" y="7881"/>
                  <a:pt x="14660" y="8501"/>
                  <a:pt x="14361" y="8977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9" name="Text 42"/>
          <p:cNvSpPr txBox="1"/>
          <p:nvPr/>
        </p:nvSpPr>
        <p:spPr>
          <a:xfrm>
            <a:off x="410082" y="5967414"/>
            <a:ext cx="262609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文本清洗</a:t>
            </a:r>
          </a:p>
        </p:txBody>
      </p:sp>
      <p:sp>
        <p:nvSpPr>
          <p:cNvPr id="440" name="Text 43"/>
          <p:cNvSpPr txBox="1"/>
          <p:nvPr/>
        </p:nvSpPr>
        <p:spPr>
          <a:xfrm>
            <a:off x="405966" y="6201657"/>
            <a:ext cx="263432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1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完成</a:t>
            </a:r>
          </a:p>
        </p:txBody>
      </p:sp>
      <p:sp>
        <p:nvSpPr>
          <p:cNvPr id="441" name="Shape 44"/>
          <p:cNvSpPr/>
          <p:nvPr/>
        </p:nvSpPr>
        <p:spPr>
          <a:xfrm>
            <a:off x="3252801" y="5587889"/>
            <a:ext cx="2772781" cy="9369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70" y="0"/>
                </a:moveTo>
                <a:lnTo>
                  <a:pt x="20830" y="0"/>
                </a:lnTo>
                <a:cubicBezTo>
                  <a:pt x="21255" y="0"/>
                  <a:pt x="21600" y="1020"/>
                  <a:pt x="21600" y="2277"/>
                </a:cubicBezTo>
                <a:lnTo>
                  <a:pt x="21600" y="19323"/>
                </a:lnTo>
                <a:cubicBezTo>
                  <a:pt x="21600" y="20580"/>
                  <a:pt x="21255" y="21600"/>
                  <a:pt x="20830" y="21600"/>
                </a:cubicBezTo>
                <a:lnTo>
                  <a:pt x="770" y="21600"/>
                </a:lnTo>
                <a:cubicBezTo>
                  <a:pt x="345" y="21600"/>
                  <a:pt x="0" y="20580"/>
                  <a:pt x="0" y="19323"/>
                </a:cubicBezTo>
                <a:lnTo>
                  <a:pt x="0" y="2277"/>
                </a:lnTo>
                <a:cubicBezTo>
                  <a:pt x="0" y="1020"/>
                  <a:pt x="345" y="0"/>
                  <a:pt x="770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23091">
            <a:solidFill>
              <a:srgbClr val="4A6C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2" name="Shape 45"/>
          <p:cNvSpPr/>
          <p:nvPr/>
        </p:nvSpPr>
        <p:spPr>
          <a:xfrm>
            <a:off x="4538707" y="5694126"/>
            <a:ext cx="197576" cy="1975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16761" y="21600"/>
                  <a:pt x="21600" y="16761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9" y="0"/>
                  <a:pt x="0" y="4839"/>
                  <a:pt x="0" y="10800"/>
                </a:cubicBezTo>
                <a:cubicBezTo>
                  <a:pt x="0" y="16761"/>
                  <a:pt x="4839" y="21600"/>
                  <a:pt x="10800" y="21600"/>
                </a:cubicBezTo>
                <a:close/>
                <a:moveTo>
                  <a:pt x="14361" y="8973"/>
                </a:moveTo>
                <a:lnTo>
                  <a:pt x="10986" y="14373"/>
                </a:lnTo>
                <a:cubicBezTo>
                  <a:pt x="10808" y="14656"/>
                  <a:pt x="10505" y="14833"/>
                  <a:pt x="10171" y="14850"/>
                </a:cubicBezTo>
                <a:cubicBezTo>
                  <a:pt x="9838" y="14867"/>
                  <a:pt x="9517" y="14715"/>
                  <a:pt x="9319" y="14445"/>
                </a:cubicBezTo>
                <a:lnTo>
                  <a:pt x="7294" y="11745"/>
                </a:lnTo>
                <a:cubicBezTo>
                  <a:pt x="6957" y="11298"/>
                  <a:pt x="7050" y="10665"/>
                  <a:pt x="7497" y="10327"/>
                </a:cubicBezTo>
                <a:cubicBezTo>
                  <a:pt x="7944" y="9990"/>
                  <a:pt x="8577" y="10083"/>
                  <a:pt x="8914" y="10530"/>
                </a:cubicBezTo>
                <a:lnTo>
                  <a:pt x="10053" y="12049"/>
                </a:lnTo>
                <a:lnTo>
                  <a:pt x="12644" y="7902"/>
                </a:lnTo>
                <a:cubicBezTo>
                  <a:pt x="12939" y="7429"/>
                  <a:pt x="13563" y="7282"/>
                  <a:pt x="14040" y="7581"/>
                </a:cubicBezTo>
                <a:cubicBezTo>
                  <a:pt x="14517" y="7881"/>
                  <a:pt x="14660" y="8501"/>
                  <a:pt x="14361" y="8977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3" name="Text 46"/>
          <p:cNvSpPr txBox="1"/>
          <p:nvPr/>
        </p:nvSpPr>
        <p:spPr>
          <a:xfrm>
            <a:off x="3326107" y="5967414"/>
            <a:ext cx="262609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结构化提取</a:t>
            </a:r>
          </a:p>
        </p:txBody>
      </p:sp>
      <p:sp>
        <p:nvSpPr>
          <p:cNvPr id="444" name="Text 47"/>
          <p:cNvSpPr txBox="1"/>
          <p:nvPr/>
        </p:nvSpPr>
        <p:spPr>
          <a:xfrm>
            <a:off x="3321992" y="6201657"/>
            <a:ext cx="263432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1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5个字段</a:t>
            </a:r>
          </a:p>
        </p:txBody>
      </p:sp>
      <p:sp>
        <p:nvSpPr>
          <p:cNvPr id="445" name="Shape 48"/>
          <p:cNvSpPr/>
          <p:nvPr/>
        </p:nvSpPr>
        <p:spPr>
          <a:xfrm>
            <a:off x="6168828" y="5587889"/>
            <a:ext cx="2772781" cy="9369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70" y="0"/>
                </a:moveTo>
                <a:lnTo>
                  <a:pt x="20830" y="0"/>
                </a:lnTo>
                <a:cubicBezTo>
                  <a:pt x="21255" y="0"/>
                  <a:pt x="21600" y="1020"/>
                  <a:pt x="21600" y="2277"/>
                </a:cubicBezTo>
                <a:lnTo>
                  <a:pt x="21600" y="19323"/>
                </a:lnTo>
                <a:cubicBezTo>
                  <a:pt x="21600" y="20580"/>
                  <a:pt x="21255" y="21600"/>
                  <a:pt x="20830" y="21600"/>
                </a:cubicBezTo>
                <a:lnTo>
                  <a:pt x="770" y="21600"/>
                </a:lnTo>
                <a:cubicBezTo>
                  <a:pt x="345" y="21600"/>
                  <a:pt x="0" y="20580"/>
                  <a:pt x="0" y="19323"/>
                </a:cubicBezTo>
                <a:lnTo>
                  <a:pt x="0" y="2277"/>
                </a:lnTo>
                <a:cubicBezTo>
                  <a:pt x="0" y="1020"/>
                  <a:pt x="345" y="0"/>
                  <a:pt x="770" y="0"/>
                </a:cubicBezTo>
                <a:close/>
              </a:path>
            </a:pathLst>
          </a:custGeom>
          <a:solidFill>
            <a:srgbClr val="5E8B7E">
              <a:alpha val="14902"/>
            </a:srgbClr>
          </a:solidFill>
          <a:ln w="23091">
            <a:solidFill>
              <a:srgbClr val="5E8B7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6" name="Shape 49"/>
          <p:cNvSpPr/>
          <p:nvPr/>
        </p:nvSpPr>
        <p:spPr>
          <a:xfrm>
            <a:off x="7454734" y="5694126"/>
            <a:ext cx="197576" cy="1975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16761" y="21600"/>
                  <a:pt x="21600" y="16761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9" y="0"/>
                  <a:pt x="0" y="4839"/>
                  <a:pt x="0" y="10800"/>
                </a:cubicBezTo>
                <a:cubicBezTo>
                  <a:pt x="0" y="16761"/>
                  <a:pt x="4839" y="21600"/>
                  <a:pt x="10800" y="21600"/>
                </a:cubicBezTo>
                <a:close/>
                <a:moveTo>
                  <a:pt x="14361" y="8973"/>
                </a:moveTo>
                <a:lnTo>
                  <a:pt x="10986" y="14373"/>
                </a:lnTo>
                <a:cubicBezTo>
                  <a:pt x="10808" y="14656"/>
                  <a:pt x="10505" y="14833"/>
                  <a:pt x="10171" y="14850"/>
                </a:cubicBezTo>
                <a:cubicBezTo>
                  <a:pt x="9838" y="14867"/>
                  <a:pt x="9517" y="14715"/>
                  <a:pt x="9319" y="14445"/>
                </a:cubicBezTo>
                <a:lnTo>
                  <a:pt x="7294" y="11745"/>
                </a:lnTo>
                <a:cubicBezTo>
                  <a:pt x="6957" y="11298"/>
                  <a:pt x="7050" y="10665"/>
                  <a:pt x="7497" y="10327"/>
                </a:cubicBezTo>
                <a:cubicBezTo>
                  <a:pt x="7944" y="9990"/>
                  <a:pt x="8577" y="10083"/>
                  <a:pt x="8914" y="10530"/>
                </a:cubicBezTo>
                <a:lnTo>
                  <a:pt x="10053" y="12049"/>
                </a:lnTo>
                <a:lnTo>
                  <a:pt x="12644" y="7902"/>
                </a:lnTo>
                <a:cubicBezTo>
                  <a:pt x="12939" y="7429"/>
                  <a:pt x="13563" y="7282"/>
                  <a:pt x="14040" y="7581"/>
                </a:cubicBezTo>
                <a:cubicBezTo>
                  <a:pt x="14517" y="7881"/>
                  <a:pt x="14660" y="8501"/>
                  <a:pt x="14361" y="8977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7" name="Text 50"/>
          <p:cNvSpPr txBox="1"/>
          <p:nvPr/>
        </p:nvSpPr>
        <p:spPr>
          <a:xfrm>
            <a:off x="6242134" y="5967414"/>
            <a:ext cx="262609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实体识别</a:t>
            </a:r>
          </a:p>
        </p:txBody>
      </p:sp>
      <p:sp>
        <p:nvSpPr>
          <p:cNvPr id="448" name="Text 51"/>
          <p:cNvSpPr txBox="1"/>
          <p:nvPr/>
        </p:nvSpPr>
        <p:spPr>
          <a:xfrm>
            <a:off x="6238018" y="6201657"/>
            <a:ext cx="263432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1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12个实体</a:t>
            </a:r>
          </a:p>
        </p:txBody>
      </p:sp>
      <p:sp>
        <p:nvSpPr>
          <p:cNvPr id="449" name="Shape 52"/>
          <p:cNvSpPr/>
          <p:nvPr/>
        </p:nvSpPr>
        <p:spPr>
          <a:xfrm>
            <a:off x="9084853" y="5587889"/>
            <a:ext cx="2772781" cy="9369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70" y="0"/>
                </a:moveTo>
                <a:lnTo>
                  <a:pt x="20830" y="0"/>
                </a:lnTo>
                <a:cubicBezTo>
                  <a:pt x="21255" y="0"/>
                  <a:pt x="21600" y="1020"/>
                  <a:pt x="21600" y="2277"/>
                </a:cubicBezTo>
                <a:lnTo>
                  <a:pt x="21600" y="19323"/>
                </a:lnTo>
                <a:cubicBezTo>
                  <a:pt x="21600" y="20580"/>
                  <a:pt x="21255" y="21600"/>
                  <a:pt x="20830" y="21600"/>
                </a:cubicBezTo>
                <a:lnTo>
                  <a:pt x="770" y="21600"/>
                </a:lnTo>
                <a:cubicBezTo>
                  <a:pt x="345" y="21600"/>
                  <a:pt x="0" y="20580"/>
                  <a:pt x="0" y="19323"/>
                </a:cubicBezTo>
                <a:lnTo>
                  <a:pt x="0" y="2277"/>
                </a:lnTo>
                <a:cubicBezTo>
                  <a:pt x="0" y="1020"/>
                  <a:pt x="345" y="0"/>
                  <a:pt x="770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23091">
            <a:solidFill>
              <a:srgbClr val="4A6C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0" name="Shape 53"/>
          <p:cNvSpPr/>
          <p:nvPr/>
        </p:nvSpPr>
        <p:spPr>
          <a:xfrm>
            <a:off x="10370760" y="5694126"/>
            <a:ext cx="197576" cy="1975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16761" y="21600"/>
                  <a:pt x="21600" y="16761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9" y="0"/>
                  <a:pt x="0" y="4839"/>
                  <a:pt x="0" y="10800"/>
                </a:cubicBezTo>
                <a:cubicBezTo>
                  <a:pt x="0" y="16761"/>
                  <a:pt x="4839" y="21600"/>
                  <a:pt x="10800" y="21600"/>
                </a:cubicBezTo>
                <a:close/>
                <a:moveTo>
                  <a:pt x="14361" y="8973"/>
                </a:moveTo>
                <a:lnTo>
                  <a:pt x="10986" y="14373"/>
                </a:lnTo>
                <a:cubicBezTo>
                  <a:pt x="10808" y="14656"/>
                  <a:pt x="10505" y="14833"/>
                  <a:pt x="10171" y="14850"/>
                </a:cubicBezTo>
                <a:cubicBezTo>
                  <a:pt x="9838" y="14867"/>
                  <a:pt x="9517" y="14715"/>
                  <a:pt x="9319" y="14445"/>
                </a:cubicBezTo>
                <a:lnTo>
                  <a:pt x="7294" y="11745"/>
                </a:lnTo>
                <a:cubicBezTo>
                  <a:pt x="6957" y="11298"/>
                  <a:pt x="7050" y="10665"/>
                  <a:pt x="7497" y="10327"/>
                </a:cubicBezTo>
                <a:cubicBezTo>
                  <a:pt x="7944" y="9990"/>
                  <a:pt x="8577" y="10083"/>
                  <a:pt x="8914" y="10530"/>
                </a:cubicBezTo>
                <a:lnTo>
                  <a:pt x="10053" y="12049"/>
                </a:lnTo>
                <a:lnTo>
                  <a:pt x="12644" y="7902"/>
                </a:lnTo>
                <a:cubicBezTo>
                  <a:pt x="12939" y="7429"/>
                  <a:pt x="13563" y="7282"/>
                  <a:pt x="14040" y="7581"/>
                </a:cubicBezTo>
                <a:cubicBezTo>
                  <a:pt x="14517" y="7881"/>
                  <a:pt x="14660" y="8501"/>
                  <a:pt x="14361" y="8977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1" name="Text 54"/>
          <p:cNvSpPr txBox="1"/>
          <p:nvPr/>
        </p:nvSpPr>
        <p:spPr>
          <a:xfrm>
            <a:off x="9158160" y="5967414"/>
            <a:ext cx="262609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数据格式化</a:t>
            </a:r>
          </a:p>
        </p:txBody>
      </p:sp>
      <p:sp>
        <p:nvSpPr>
          <p:cNvPr id="452" name="Text 55"/>
          <p:cNvSpPr txBox="1"/>
          <p:nvPr/>
        </p:nvSpPr>
        <p:spPr>
          <a:xfrm>
            <a:off x="9154044" y="6220707"/>
            <a:ext cx="263432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1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JSON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Text 0"/>
          <p:cNvSpPr txBox="1"/>
          <p:nvPr/>
        </p:nvSpPr>
        <p:spPr>
          <a:xfrm>
            <a:off x="317500" y="336549"/>
            <a:ext cx="116205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pc="50" sz="1000">
                <a:solidFill>
                  <a:srgbClr val="5E8B7E"/>
                </a:solidFill>
                <a:latin typeface="Liter"/>
                <a:ea typeface="Liter"/>
                <a:cs typeface="Liter"/>
                <a:sym typeface="Liter"/>
              </a:defRPr>
            </a:lvl1pPr>
          </a:lstStyle>
          <a:p>
            <a:pPr/>
            <a:r>
              <a:t>MODULE 2: RAG RETRIEVAL</a:t>
            </a:r>
          </a:p>
        </p:txBody>
      </p:sp>
      <p:sp>
        <p:nvSpPr>
          <p:cNvPr id="455" name="Text 1"/>
          <p:cNvSpPr txBox="1"/>
          <p:nvPr/>
        </p:nvSpPr>
        <p:spPr>
          <a:xfrm>
            <a:off x="317500" y="495268"/>
            <a:ext cx="117475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80000"/>
              </a:lnSpc>
              <a:defRPr b="1" sz="3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模块2: RAG知识检索架构</a:t>
            </a:r>
          </a:p>
        </p:txBody>
      </p:sp>
      <p:sp>
        <p:nvSpPr>
          <p:cNvPr id="456" name="Shape 2"/>
          <p:cNvSpPr/>
          <p:nvPr/>
        </p:nvSpPr>
        <p:spPr>
          <a:xfrm>
            <a:off x="317500" y="1079399"/>
            <a:ext cx="762000" cy="31751"/>
          </a:xfrm>
          <a:prstGeom prst="rect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7" name="Shape 3"/>
          <p:cNvSpPr/>
          <p:nvPr/>
        </p:nvSpPr>
        <p:spPr>
          <a:xfrm>
            <a:off x="331931" y="1238094"/>
            <a:ext cx="7443933" cy="1428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4" y="0"/>
                </a:moveTo>
                <a:lnTo>
                  <a:pt x="21324" y="0"/>
                </a:lnTo>
                <a:cubicBezTo>
                  <a:pt x="21476" y="0"/>
                  <a:pt x="21600" y="645"/>
                  <a:pt x="21600" y="1440"/>
                </a:cubicBezTo>
                <a:lnTo>
                  <a:pt x="21600" y="20160"/>
                </a:lnTo>
                <a:cubicBezTo>
                  <a:pt x="21600" y="20955"/>
                  <a:pt x="21476" y="21600"/>
                  <a:pt x="21324" y="21600"/>
                </a:cubicBezTo>
                <a:lnTo>
                  <a:pt x="84" y="21600"/>
                </a:lnTo>
                <a:cubicBezTo>
                  <a:pt x="37" y="21600"/>
                  <a:pt x="0" y="21405"/>
                  <a:pt x="0" y="21164"/>
                </a:cubicBezTo>
                <a:lnTo>
                  <a:pt x="0" y="436"/>
                </a:lnTo>
                <a:cubicBezTo>
                  <a:pt x="0" y="195"/>
                  <a:pt x="37" y="0"/>
                  <a:pt x="84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8" name="Shape 4"/>
          <p:cNvSpPr/>
          <p:nvPr/>
        </p:nvSpPr>
        <p:spPr>
          <a:xfrm>
            <a:off x="331931" y="1238094"/>
            <a:ext cx="28865" cy="1428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405"/>
                  <a:pt x="0" y="21164"/>
                </a:cubicBezTo>
                <a:lnTo>
                  <a:pt x="0" y="436"/>
                </a:lnTo>
                <a:cubicBezTo>
                  <a:pt x="0" y="195"/>
                  <a:pt x="9671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9" name="Shape 5"/>
          <p:cNvSpPr/>
          <p:nvPr/>
        </p:nvSpPr>
        <p:spPr>
          <a:xfrm>
            <a:off x="441580" y="1333309"/>
            <a:ext cx="317501" cy="317501"/>
          </a:xfrm>
          <a:prstGeom prst="ellipse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0" name="Text 6"/>
          <p:cNvSpPr txBox="1"/>
          <p:nvPr/>
        </p:nvSpPr>
        <p:spPr>
          <a:xfrm>
            <a:off x="405861" y="1409509"/>
            <a:ext cx="38893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100">
                <a:solidFill>
                  <a:srgbClr val="1A1D21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61" name="Text 7"/>
          <p:cNvSpPr txBox="1"/>
          <p:nvPr/>
        </p:nvSpPr>
        <p:spPr>
          <a:xfrm>
            <a:off x="854296" y="1384122"/>
            <a:ext cx="103187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知识图谱构建</a:t>
            </a:r>
          </a:p>
        </p:txBody>
      </p:sp>
      <p:sp>
        <p:nvSpPr>
          <p:cNvPr id="462" name="Text 8"/>
          <p:cNvSpPr txBox="1"/>
          <p:nvPr/>
        </p:nvSpPr>
        <p:spPr>
          <a:xfrm>
            <a:off x="441580" y="1720637"/>
            <a:ext cx="73025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实体定义: 药物、疾病、症状、检查</a:t>
            </a:r>
          </a:p>
        </p:txBody>
      </p:sp>
      <p:sp>
        <p:nvSpPr>
          <p:cNvPr id="463" name="Text 9"/>
          <p:cNvSpPr txBox="1"/>
          <p:nvPr/>
        </p:nvSpPr>
        <p:spPr>
          <a:xfrm>
            <a:off x="441580" y="1942863"/>
            <a:ext cx="73025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关系定义: 治疗、禁忌、相互作用</a:t>
            </a:r>
          </a:p>
        </p:txBody>
      </p:sp>
      <p:sp>
        <p:nvSpPr>
          <p:cNvPr id="464" name="Text 10"/>
          <p:cNvSpPr txBox="1"/>
          <p:nvPr/>
        </p:nvSpPr>
        <p:spPr>
          <a:xfrm>
            <a:off x="441580" y="2165089"/>
            <a:ext cx="73025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图数据库存储(Neo4j)</a:t>
            </a:r>
          </a:p>
        </p:txBody>
      </p:sp>
      <p:sp>
        <p:nvSpPr>
          <p:cNvPr id="465" name="Text 11"/>
          <p:cNvSpPr txBox="1"/>
          <p:nvPr/>
        </p:nvSpPr>
        <p:spPr>
          <a:xfrm>
            <a:off x="441580" y="2387320"/>
            <a:ext cx="73025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图嵌入学习(TransE/GAT)</a:t>
            </a:r>
          </a:p>
        </p:txBody>
      </p:sp>
      <p:sp>
        <p:nvSpPr>
          <p:cNvPr id="466" name="Shape 12"/>
          <p:cNvSpPr/>
          <p:nvPr/>
        </p:nvSpPr>
        <p:spPr>
          <a:xfrm>
            <a:off x="3988571" y="2730150"/>
            <a:ext cx="119110" cy="1587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4" h="21469" fill="norm" stroke="1" extrusionOk="0">
                <a:moveTo>
                  <a:pt x="9377" y="21076"/>
                </a:moveTo>
                <a:cubicBezTo>
                  <a:pt x="10068" y="21600"/>
                  <a:pt x="11191" y="21600"/>
                  <a:pt x="11883" y="21076"/>
                </a:cubicBezTo>
                <a:lnTo>
                  <a:pt x="20735" y="14366"/>
                </a:lnTo>
                <a:cubicBezTo>
                  <a:pt x="21427" y="13842"/>
                  <a:pt x="21427" y="12991"/>
                  <a:pt x="20735" y="12467"/>
                </a:cubicBezTo>
                <a:cubicBezTo>
                  <a:pt x="20044" y="11943"/>
                  <a:pt x="18921" y="11943"/>
                  <a:pt x="18229" y="12467"/>
                </a:cubicBezTo>
                <a:lnTo>
                  <a:pt x="12397" y="16887"/>
                </a:lnTo>
                <a:lnTo>
                  <a:pt x="12397" y="1342"/>
                </a:lnTo>
                <a:cubicBezTo>
                  <a:pt x="12397" y="600"/>
                  <a:pt x="11606" y="0"/>
                  <a:pt x="10627" y="0"/>
                </a:cubicBezTo>
                <a:cubicBezTo>
                  <a:pt x="9648" y="0"/>
                  <a:pt x="8856" y="600"/>
                  <a:pt x="8856" y="1342"/>
                </a:cubicBezTo>
                <a:lnTo>
                  <a:pt x="8856" y="16887"/>
                </a:lnTo>
                <a:lnTo>
                  <a:pt x="3025" y="12467"/>
                </a:lnTo>
                <a:cubicBezTo>
                  <a:pt x="2333" y="11943"/>
                  <a:pt x="1210" y="11943"/>
                  <a:pt x="519" y="12467"/>
                </a:cubicBezTo>
                <a:cubicBezTo>
                  <a:pt x="-173" y="12991"/>
                  <a:pt x="-173" y="13842"/>
                  <a:pt x="519" y="14366"/>
                </a:cubicBezTo>
                <a:lnTo>
                  <a:pt x="9371" y="21076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7" name="Shape 13"/>
          <p:cNvSpPr/>
          <p:nvPr/>
        </p:nvSpPr>
        <p:spPr>
          <a:xfrm>
            <a:off x="331931" y="2952377"/>
            <a:ext cx="7443933" cy="1206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4" y="0"/>
                </a:moveTo>
                <a:lnTo>
                  <a:pt x="21324" y="0"/>
                </a:lnTo>
                <a:cubicBezTo>
                  <a:pt x="21476" y="0"/>
                  <a:pt x="21600" y="763"/>
                  <a:pt x="21600" y="1705"/>
                </a:cubicBezTo>
                <a:lnTo>
                  <a:pt x="21600" y="19895"/>
                </a:lnTo>
                <a:cubicBezTo>
                  <a:pt x="21600" y="20837"/>
                  <a:pt x="21476" y="21600"/>
                  <a:pt x="21324" y="21600"/>
                </a:cubicBezTo>
                <a:lnTo>
                  <a:pt x="84" y="21600"/>
                </a:lnTo>
                <a:cubicBezTo>
                  <a:pt x="37" y="21600"/>
                  <a:pt x="0" y="21369"/>
                  <a:pt x="0" y="21083"/>
                </a:cubicBezTo>
                <a:lnTo>
                  <a:pt x="0" y="517"/>
                </a:lnTo>
                <a:cubicBezTo>
                  <a:pt x="0" y="231"/>
                  <a:pt x="37" y="0"/>
                  <a:pt x="84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8" name="Shape 14"/>
          <p:cNvSpPr/>
          <p:nvPr/>
        </p:nvSpPr>
        <p:spPr>
          <a:xfrm>
            <a:off x="331931" y="2952377"/>
            <a:ext cx="28865" cy="1206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369"/>
                  <a:pt x="0" y="21083"/>
                </a:cubicBezTo>
                <a:lnTo>
                  <a:pt x="0" y="517"/>
                </a:lnTo>
                <a:cubicBezTo>
                  <a:pt x="0" y="231"/>
                  <a:pt x="9671" y="0"/>
                  <a:pt x="21600" y="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9" name="Shape 15"/>
          <p:cNvSpPr/>
          <p:nvPr/>
        </p:nvSpPr>
        <p:spPr>
          <a:xfrm>
            <a:off x="441580" y="3047596"/>
            <a:ext cx="317501" cy="317501"/>
          </a:xfrm>
          <a:prstGeom prst="ellipse">
            <a:avLst/>
          </a:pr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0" name="Text 16"/>
          <p:cNvSpPr txBox="1"/>
          <p:nvPr/>
        </p:nvSpPr>
        <p:spPr>
          <a:xfrm>
            <a:off x="405861" y="3123796"/>
            <a:ext cx="38893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1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71" name="Text 17"/>
          <p:cNvSpPr txBox="1"/>
          <p:nvPr/>
        </p:nvSpPr>
        <p:spPr>
          <a:xfrm>
            <a:off x="854296" y="3098405"/>
            <a:ext cx="103187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向量索引构建</a:t>
            </a:r>
          </a:p>
        </p:txBody>
      </p:sp>
      <p:sp>
        <p:nvSpPr>
          <p:cNvPr id="472" name="Text 18"/>
          <p:cNvSpPr txBox="1"/>
          <p:nvPr/>
        </p:nvSpPr>
        <p:spPr>
          <a:xfrm>
            <a:off x="441580" y="3434924"/>
            <a:ext cx="73025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文本分块(Chunking)</a:t>
            </a:r>
          </a:p>
        </p:txBody>
      </p:sp>
      <p:sp>
        <p:nvSpPr>
          <p:cNvPr id="473" name="Text 19"/>
          <p:cNvSpPr txBox="1"/>
          <p:nvPr/>
        </p:nvSpPr>
        <p:spPr>
          <a:xfrm>
            <a:off x="441580" y="3657150"/>
            <a:ext cx="73025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Embedding生成(BGE-M3/M3E)</a:t>
            </a:r>
          </a:p>
        </p:txBody>
      </p:sp>
      <p:sp>
        <p:nvSpPr>
          <p:cNvPr id="474" name="Text 20"/>
          <p:cNvSpPr txBox="1"/>
          <p:nvPr/>
        </p:nvSpPr>
        <p:spPr>
          <a:xfrm>
            <a:off x="441580" y="3879377"/>
            <a:ext cx="73025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向量数据库(FAISS/Milvus)</a:t>
            </a:r>
          </a:p>
        </p:txBody>
      </p:sp>
      <p:sp>
        <p:nvSpPr>
          <p:cNvPr id="475" name="Shape 21"/>
          <p:cNvSpPr/>
          <p:nvPr/>
        </p:nvSpPr>
        <p:spPr>
          <a:xfrm>
            <a:off x="3988571" y="4222210"/>
            <a:ext cx="119110" cy="1587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4" h="21469" fill="norm" stroke="1" extrusionOk="0">
                <a:moveTo>
                  <a:pt x="9377" y="21076"/>
                </a:moveTo>
                <a:cubicBezTo>
                  <a:pt x="10068" y="21600"/>
                  <a:pt x="11191" y="21600"/>
                  <a:pt x="11883" y="21076"/>
                </a:cubicBezTo>
                <a:lnTo>
                  <a:pt x="20735" y="14366"/>
                </a:lnTo>
                <a:cubicBezTo>
                  <a:pt x="21427" y="13842"/>
                  <a:pt x="21427" y="12991"/>
                  <a:pt x="20735" y="12467"/>
                </a:cubicBezTo>
                <a:cubicBezTo>
                  <a:pt x="20044" y="11943"/>
                  <a:pt x="18921" y="11943"/>
                  <a:pt x="18229" y="12467"/>
                </a:cubicBezTo>
                <a:lnTo>
                  <a:pt x="12397" y="16887"/>
                </a:lnTo>
                <a:lnTo>
                  <a:pt x="12397" y="1342"/>
                </a:lnTo>
                <a:cubicBezTo>
                  <a:pt x="12397" y="600"/>
                  <a:pt x="11606" y="0"/>
                  <a:pt x="10627" y="0"/>
                </a:cubicBezTo>
                <a:cubicBezTo>
                  <a:pt x="9648" y="0"/>
                  <a:pt x="8856" y="600"/>
                  <a:pt x="8856" y="1342"/>
                </a:cubicBezTo>
                <a:lnTo>
                  <a:pt x="8856" y="16887"/>
                </a:lnTo>
                <a:lnTo>
                  <a:pt x="3025" y="12467"/>
                </a:lnTo>
                <a:cubicBezTo>
                  <a:pt x="2333" y="11943"/>
                  <a:pt x="1210" y="11943"/>
                  <a:pt x="519" y="12467"/>
                </a:cubicBezTo>
                <a:cubicBezTo>
                  <a:pt x="-173" y="12991"/>
                  <a:pt x="-173" y="13842"/>
                  <a:pt x="519" y="14366"/>
                </a:cubicBezTo>
                <a:lnTo>
                  <a:pt x="9371" y="21076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6" name="Shape 22"/>
          <p:cNvSpPr/>
          <p:nvPr/>
        </p:nvSpPr>
        <p:spPr>
          <a:xfrm>
            <a:off x="331931" y="4444438"/>
            <a:ext cx="7443933" cy="1206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4" y="0"/>
                </a:moveTo>
                <a:lnTo>
                  <a:pt x="21324" y="0"/>
                </a:lnTo>
                <a:cubicBezTo>
                  <a:pt x="21476" y="0"/>
                  <a:pt x="21600" y="763"/>
                  <a:pt x="21600" y="1705"/>
                </a:cubicBezTo>
                <a:lnTo>
                  <a:pt x="21600" y="19895"/>
                </a:lnTo>
                <a:cubicBezTo>
                  <a:pt x="21600" y="20837"/>
                  <a:pt x="21476" y="21600"/>
                  <a:pt x="21324" y="21600"/>
                </a:cubicBezTo>
                <a:lnTo>
                  <a:pt x="84" y="21600"/>
                </a:lnTo>
                <a:cubicBezTo>
                  <a:pt x="37" y="21600"/>
                  <a:pt x="0" y="21369"/>
                  <a:pt x="0" y="21083"/>
                </a:cubicBezTo>
                <a:lnTo>
                  <a:pt x="0" y="517"/>
                </a:lnTo>
                <a:cubicBezTo>
                  <a:pt x="0" y="231"/>
                  <a:pt x="37" y="0"/>
                  <a:pt x="84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7" name="Shape 23"/>
          <p:cNvSpPr/>
          <p:nvPr/>
        </p:nvSpPr>
        <p:spPr>
          <a:xfrm>
            <a:off x="331931" y="4444438"/>
            <a:ext cx="28865" cy="1206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369"/>
                  <a:pt x="0" y="21083"/>
                </a:cubicBezTo>
                <a:lnTo>
                  <a:pt x="0" y="517"/>
                </a:lnTo>
                <a:cubicBezTo>
                  <a:pt x="0" y="231"/>
                  <a:pt x="9671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8" name="Shape 24"/>
          <p:cNvSpPr/>
          <p:nvPr/>
        </p:nvSpPr>
        <p:spPr>
          <a:xfrm>
            <a:off x="441580" y="4539653"/>
            <a:ext cx="317501" cy="317501"/>
          </a:xfrm>
          <a:prstGeom prst="ellipse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9" name="Text 25"/>
          <p:cNvSpPr txBox="1"/>
          <p:nvPr/>
        </p:nvSpPr>
        <p:spPr>
          <a:xfrm>
            <a:off x="405861" y="4615853"/>
            <a:ext cx="38893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100">
                <a:solidFill>
                  <a:srgbClr val="1A1D21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80" name="Text 26"/>
          <p:cNvSpPr txBox="1"/>
          <p:nvPr/>
        </p:nvSpPr>
        <p:spPr>
          <a:xfrm>
            <a:off x="854296" y="4590465"/>
            <a:ext cx="1262063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图-向量混合检索</a:t>
            </a:r>
          </a:p>
        </p:txBody>
      </p:sp>
      <p:sp>
        <p:nvSpPr>
          <p:cNvPr id="481" name="Text 27"/>
          <p:cNvSpPr txBox="1"/>
          <p:nvPr/>
        </p:nvSpPr>
        <p:spPr>
          <a:xfrm>
            <a:off x="441580" y="4926979"/>
            <a:ext cx="73025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全局检索: 基于社区发现的语义检索</a:t>
            </a:r>
          </a:p>
        </p:txBody>
      </p:sp>
      <p:sp>
        <p:nvSpPr>
          <p:cNvPr id="482" name="Text 28"/>
          <p:cNvSpPr txBox="1"/>
          <p:nvPr/>
        </p:nvSpPr>
        <p:spPr>
          <a:xfrm>
            <a:off x="441580" y="5149207"/>
            <a:ext cx="73025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局部检索: 基于实体邻居的检索</a:t>
            </a:r>
          </a:p>
        </p:txBody>
      </p:sp>
      <p:sp>
        <p:nvSpPr>
          <p:cNvPr id="483" name="Text 29"/>
          <p:cNvSpPr txBox="1"/>
          <p:nvPr/>
        </p:nvSpPr>
        <p:spPr>
          <a:xfrm>
            <a:off x="441580" y="5371436"/>
            <a:ext cx="73025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向量检索: 基于语义相似度的检索</a:t>
            </a:r>
          </a:p>
        </p:txBody>
      </p:sp>
      <p:sp>
        <p:nvSpPr>
          <p:cNvPr id="484" name="Shape 30"/>
          <p:cNvSpPr/>
          <p:nvPr/>
        </p:nvSpPr>
        <p:spPr>
          <a:xfrm>
            <a:off x="3988571" y="5714267"/>
            <a:ext cx="119110" cy="1587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4" h="21469" fill="norm" stroke="1" extrusionOk="0">
                <a:moveTo>
                  <a:pt x="9377" y="21076"/>
                </a:moveTo>
                <a:cubicBezTo>
                  <a:pt x="10068" y="21600"/>
                  <a:pt x="11191" y="21600"/>
                  <a:pt x="11883" y="21076"/>
                </a:cubicBezTo>
                <a:lnTo>
                  <a:pt x="20735" y="14366"/>
                </a:lnTo>
                <a:cubicBezTo>
                  <a:pt x="21427" y="13842"/>
                  <a:pt x="21427" y="12991"/>
                  <a:pt x="20735" y="12467"/>
                </a:cubicBezTo>
                <a:cubicBezTo>
                  <a:pt x="20044" y="11943"/>
                  <a:pt x="18921" y="11943"/>
                  <a:pt x="18229" y="12467"/>
                </a:cubicBezTo>
                <a:lnTo>
                  <a:pt x="12397" y="16887"/>
                </a:lnTo>
                <a:lnTo>
                  <a:pt x="12397" y="1342"/>
                </a:lnTo>
                <a:cubicBezTo>
                  <a:pt x="12397" y="600"/>
                  <a:pt x="11606" y="0"/>
                  <a:pt x="10627" y="0"/>
                </a:cubicBezTo>
                <a:cubicBezTo>
                  <a:pt x="9648" y="0"/>
                  <a:pt x="8856" y="600"/>
                  <a:pt x="8856" y="1342"/>
                </a:cubicBezTo>
                <a:lnTo>
                  <a:pt x="8856" y="16887"/>
                </a:lnTo>
                <a:lnTo>
                  <a:pt x="3025" y="12467"/>
                </a:lnTo>
                <a:cubicBezTo>
                  <a:pt x="2333" y="11943"/>
                  <a:pt x="1210" y="11943"/>
                  <a:pt x="519" y="12467"/>
                </a:cubicBezTo>
                <a:cubicBezTo>
                  <a:pt x="-173" y="12991"/>
                  <a:pt x="-173" y="13842"/>
                  <a:pt x="519" y="14366"/>
                </a:cubicBezTo>
                <a:lnTo>
                  <a:pt x="9371" y="21076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5" name="Shape 31"/>
          <p:cNvSpPr/>
          <p:nvPr/>
        </p:nvSpPr>
        <p:spPr>
          <a:xfrm>
            <a:off x="331931" y="5936493"/>
            <a:ext cx="7443933" cy="9008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4" y="0"/>
                </a:moveTo>
                <a:lnTo>
                  <a:pt x="21324" y="0"/>
                </a:lnTo>
                <a:cubicBezTo>
                  <a:pt x="21476" y="0"/>
                  <a:pt x="21600" y="763"/>
                  <a:pt x="21600" y="1705"/>
                </a:cubicBezTo>
                <a:lnTo>
                  <a:pt x="21600" y="19895"/>
                </a:lnTo>
                <a:cubicBezTo>
                  <a:pt x="21600" y="20837"/>
                  <a:pt x="21476" y="21600"/>
                  <a:pt x="21324" y="21600"/>
                </a:cubicBezTo>
                <a:lnTo>
                  <a:pt x="84" y="21600"/>
                </a:lnTo>
                <a:cubicBezTo>
                  <a:pt x="37" y="21600"/>
                  <a:pt x="0" y="21369"/>
                  <a:pt x="0" y="21083"/>
                </a:cubicBezTo>
                <a:lnTo>
                  <a:pt x="0" y="517"/>
                </a:lnTo>
                <a:cubicBezTo>
                  <a:pt x="0" y="231"/>
                  <a:pt x="37" y="0"/>
                  <a:pt x="84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6" name="Shape 32"/>
          <p:cNvSpPr/>
          <p:nvPr/>
        </p:nvSpPr>
        <p:spPr>
          <a:xfrm>
            <a:off x="331931" y="5936493"/>
            <a:ext cx="28865" cy="1206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369"/>
                  <a:pt x="0" y="21083"/>
                </a:cubicBezTo>
                <a:lnTo>
                  <a:pt x="0" y="517"/>
                </a:lnTo>
                <a:cubicBezTo>
                  <a:pt x="0" y="231"/>
                  <a:pt x="9671" y="0"/>
                  <a:pt x="21600" y="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7" name="Shape 33"/>
          <p:cNvSpPr/>
          <p:nvPr/>
        </p:nvSpPr>
        <p:spPr>
          <a:xfrm>
            <a:off x="441580" y="6031712"/>
            <a:ext cx="317501" cy="317501"/>
          </a:xfrm>
          <a:prstGeom prst="ellipse">
            <a:avLst/>
          </a:pr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8" name="Text 34"/>
          <p:cNvSpPr txBox="1"/>
          <p:nvPr/>
        </p:nvSpPr>
        <p:spPr>
          <a:xfrm>
            <a:off x="405861" y="6107912"/>
            <a:ext cx="38893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1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89" name="Text 35"/>
          <p:cNvSpPr txBox="1"/>
          <p:nvPr/>
        </p:nvSpPr>
        <p:spPr>
          <a:xfrm>
            <a:off x="854296" y="6082520"/>
            <a:ext cx="134937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结果融合与重排序</a:t>
            </a:r>
          </a:p>
        </p:txBody>
      </p:sp>
      <p:sp>
        <p:nvSpPr>
          <p:cNvPr id="490" name="Text 36"/>
          <p:cNvSpPr txBox="1"/>
          <p:nvPr/>
        </p:nvSpPr>
        <p:spPr>
          <a:xfrm>
            <a:off x="441580" y="6419039"/>
            <a:ext cx="73025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多路结果融合(加权融合)</a:t>
            </a:r>
          </a:p>
        </p:txBody>
      </p:sp>
      <p:sp>
        <p:nvSpPr>
          <p:cNvPr id="491" name="Text 37"/>
          <p:cNvSpPr txBox="1"/>
          <p:nvPr/>
        </p:nvSpPr>
        <p:spPr>
          <a:xfrm>
            <a:off x="441580" y="6641266"/>
            <a:ext cx="73025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Cross-Encoder重排序(BGE-Reranker)</a:t>
            </a:r>
          </a:p>
        </p:txBody>
      </p:sp>
      <p:sp>
        <p:nvSpPr>
          <p:cNvPr id="492" name="Shape 38"/>
          <p:cNvSpPr/>
          <p:nvPr/>
        </p:nvSpPr>
        <p:spPr>
          <a:xfrm>
            <a:off x="7912920" y="1245311"/>
            <a:ext cx="3951433" cy="5580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21" y="0"/>
                </a:moveTo>
                <a:lnTo>
                  <a:pt x="21079" y="0"/>
                </a:lnTo>
                <a:cubicBezTo>
                  <a:pt x="21367" y="0"/>
                  <a:pt x="21600" y="156"/>
                  <a:pt x="21600" y="349"/>
                </a:cubicBezTo>
                <a:lnTo>
                  <a:pt x="21600" y="21251"/>
                </a:lnTo>
                <a:cubicBezTo>
                  <a:pt x="21600" y="21444"/>
                  <a:pt x="21367" y="21600"/>
                  <a:pt x="21079" y="21600"/>
                </a:cubicBezTo>
                <a:lnTo>
                  <a:pt x="521" y="21600"/>
                </a:lnTo>
                <a:cubicBezTo>
                  <a:pt x="233" y="21600"/>
                  <a:pt x="0" y="21444"/>
                  <a:pt x="0" y="21251"/>
                </a:cubicBezTo>
                <a:lnTo>
                  <a:pt x="0" y="349"/>
                </a:lnTo>
                <a:cubicBezTo>
                  <a:pt x="0" y="156"/>
                  <a:pt x="233" y="0"/>
                  <a:pt x="521" y="0"/>
                </a:cubicBezTo>
                <a:close/>
              </a:path>
            </a:pathLst>
          </a:custGeom>
          <a:solidFill>
            <a:srgbClr val="5E8B7E">
              <a:alpha val="14902"/>
            </a:srgbClr>
          </a:solidFill>
          <a:ln w="23091">
            <a:solidFill>
              <a:srgbClr val="5E8B7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3" name="Shape 39"/>
          <p:cNvSpPr/>
          <p:nvPr/>
        </p:nvSpPr>
        <p:spPr>
          <a:xfrm>
            <a:off x="8098729" y="1452934"/>
            <a:ext cx="158751" cy="1389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314"/>
                </a:moveTo>
                <a:cubicBezTo>
                  <a:pt x="0" y="1037"/>
                  <a:pt x="907" y="0"/>
                  <a:pt x="2025" y="0"/>
                </a:cubicBezTo>
                <a:lnTo>
                  <a:pt x="6075" y="0"/>
                </a:lnTo>
                <a:cubicBezTo>
                  <a:pt x="7193" y="0"/>
                  <a:pt x="8100" y="1037"/>
                  <a:pt x="8100" y="2314"/>
                </a:cubicBezTo>
                <a:lnTo>
                  <a:pt x="8100" y="3086"/>
                </a:lnTo>
                <a:lnTo>
                  <a:pt x="13500" y="3086"/>
                </a:lnTo>
                <a:lnTo>
                  <a:pt x="13500" y="2314"/>
                </a:lnTo>
                <a:cubicBezTo>
                  <a:pt x="13500" y="1037"/>
                  <a:pt x="14407" y="0"/>
                  <a:pt x="15525" y="0"/>
                </a:cubicBezTo>
                <a:lnTo>
                  <a:pt x="19575" y="0"/>
                </a:lnTo>
                <a:cubicBezTo>
                  <a:pt x="20693" y="0"/>
                  <a:pt x="21600" y="1037"/>
                  <a:pt x="21600" y="2314"/>
                </a:cubicBezTo>
                <a:lnTo>
                  <a:pt x="21600" y="6943"/>
                </a:lnTo>
                <a:cubicBezTo>
                  <a:pt x="21600" y="8221"/>
                  <a:pt x="20693" y="9257"/>
                  <a:pt x="19575" y="9257"/>
                </a:cubicBezTo>
                <a:lnTo>
                  <a:pt x="15525" y="9257"/>
                </a:lnTo>
                <a:cubicBezTo>
                  <a:pt x="14407" y="9257"/>
                  <a:pt x="13500" y="8221"/>
                  <a:pt x="13500" y="6943"/>
                </a:cubicBezTo>
                <a:lnTo>
                  <a:pt x="13500" y="6171"/>
                </a:lnTo>
                <a:lnTo>
                  <a:pt x="8100" y="6171"/>
                </a:lnTo>
                <a:lnTo>
                  <a:pt x="8100" y="6943"/>
                </a:lnTo>
                <a:cubicBezTo>
                  <a:pt x="8100" y="7295"/>
                  <a:pt x="8028" y="7632"/>
                  <a:pt x="7906" y="7931"/>
                </a:cubicBezTo>
                <a:lnTo>
                  <a:pt x="10800" y="12343"/>
                </a:lnTo>
                <a:lnTo>
                  <a:pt x="14175" y="12343"/>
                </a:lnTo>
                <a:cubicBezTo>
                  <a:pt x="15293" y="12343"/>
                  <a:pt x="16200" y="13379"/>
                  <a:pt x="16200" y="14657"/>
                </a:cubicBezTo>
                <a:lnTo>
                  <a:pt x="16200" y="19286"/>
                </a:lnTo>
                <a:cubicBezTo>
                  <a:pt x="16200" y="20563"/>
                  <a:pt x="15293" y="21600"/>
                  <a:pt x="14175" y="21600"/>
                </a:cubicBezTo>
                <a:lnTo>
                  <a:pt x="10125" y="21600"/>
                </a:lnTo>
                <a:cubicBezTo>
                  <a:pt x="9007" y="21600"/>
                  <a:pt x="8100" y="20563"/>
                  <a:pt x="8100" y="19286"/>
                </a:cubicBezTo>
                <a:lnTo>
                  <a:pt x="8100" y="14657"/>
                </a:lnTo>
                <a:cubicBezTo>
                  <a:pt x="8100" y="14305"/>
                  <a:pt x="8172" y="13968"/>
                  <a:pt x="8294" y="13669"/>
                </a:cubicBezTo>
                <a:lnTo>
                  <a:pt x="5400" y="9257"/>
                </a:lnTo>
                <a:lnTo>
                  <a:pt x="2025" y="9257"/>
                </a:lnTo>
                <a:cubicBezTo>
                  <a:pt x="907" y="9257"/>
                  <a:pt x="0" y="8221"/>
                  <a:pt x="0" y="6943"/>
                </a:cubicBezTo>
                <a:lnTo>
                  <a:pt x="0" y="2314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4" name="Text 40"/>
          <p:cNvSpPr txBox="1"/>
          <p:nvPr/>
        </p:nvSpPr>
        <p:spPr>
          <a:xfrm>
            <a:off x="8277324" y="1414449"/>
            <a:ext cx="3500439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RAG检索流程图</a:t>
            </a:r>
          </a:p>
        </p:txBody>
      </p:sp>
      <p:sp>
        <p:nvSpPr>
          <p:cNvPr id="495" name="Shape 41"/>
          <p:cNvSpPr/>
          <p:nvPr/>
        </p:nvSpPr>
        <p:spPr>
          <a:xfrm>
            <a:off x="8078885" y="2379277"/>
            <a:ext cx="3619501" cy="571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79" y="0"/>
                </a:moveTo>
                <a:lnTo>
                  <a:pt x="21221" y="0"/>
                </a:lnTo>
                <a:cubicBezTo>
                  <a:pt x="21430" y="0"/>
                  <a:pt x="21600" y="1075"/>
                  <a:pt x="21600" y="2400"/>
                </a:cubicBezTo>
                <a:lnTo>
                  <a:pt x="21600" y="19200"/>
                </a:lnTo>
                <a:cubicBezTo>
                  <a:pt x="21600" y="20525"/>
                  <a:pt x="21430" y="21600"/>
                  <a:pt x="21221" y="21600"/>
                </a:cubicBezTo>
                <a:lnTo>
                  <a:pt x="379" y="21600"/>
                </a:lnTo>
                <a:cubicBezTo>
                  <a:pt x="170" y="21600"/>
                  <a:pt x="0" y="20525"/>
                  <a:pt x="0" y="19200"/>
                </a:cubicBezTo>
                <a:lnTo>
                  <a:pt x="0" y="2400"/>
                </a:lnTo>
                <a:cubicBezTo>
                  <a:pt x="0" y="1075"/>
                  <a:pt x="170" y="0"/>
                  <a:pt x="379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6" name="Text 42"/>
          <p:cNvSpPr txBox="1"/>
          <p:nvPr/>
        </p:nvSpPr>
        <p:spPr>
          <a:xfrm>
            <a:off x="8142353" y="2480841"/>
            <a:ext cx="34925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医学知识库</a:t>
            </a:r>
          </a:p>
        </p:txBody>
      </p:sp>
      <p:sp>
        <p:nvSpPr>
          <p:cNvPr id="497" name="Text 43"/>
          <p:cNvSpPr txBox="1"/>
          <p:nvPr/>
        </p:nvSpPr>
        <p:spPr>
          <a:xfrm>
            <a:off x="8146322" y="2706247"/>
            <a:ext cx="348456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指南/文献/药品说明书</a:t>
            </a:r>
          </a:p>
        </p:txBody>
      </p:sp>
      <p:sp>
        <p:nvSpPr>
          <p:cNvPr id="498" name="Shape 44"/>
          <p:cNvSpPr/>
          <p:nvPr/>
        </p:nvSpPr>
        <p:spPr>
          <a:xfrm>
            <a:off x="9512968" y="3049457"/>
            <a:ext cx="119110" cy="1587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4" h="21469" fill="norm" stroke="1" extrusionOk="0">
                <a:moveTo>
                  <a:pt x="9377" y="21076"/>
                </a:moveTo>
                <a:cubicBezTo>
                  <a:pt x="10068" y="21600"/>
                  <a:pt x="11191" y="21600"/>
                  <a:pt x="11883" y="21076"/>
                </a:cubicBezTo>
                <a:lnTo>
                  <a:pt x="20735" y="14366"/>
                </a:lnTo>
                <a:cubicBezTo>
                  <a:pt x="21427" y="13842"/>
                  <a:pt x="21427" y="12991"/>
                  <a:pt x="20735" y="12467"/>
                </a:cubicBezTo>
                <a:cubicBezTo>
                  <a:pt x="20044" y="11943"/>
                  <a:pt x="18921" y="11943"/>
                  <a:pt x="18229" y="12467"/>
                </a:cubicBezTo>
                <a:lnTo>
                  <a:pt x="12397" y="16887"/>
                </a:lnTo>
                <a:lnTo>
                  <a:pt x="12397" y="1342"/>
                </a:lnTo>
                <a:cubicBezTo>
                  <a:pt x="12397" y="600"/>
                  <a:pt x="11606" y="0"/>
                  <a:pt x="10627" y="0"/>
                </a:cubicBezTo>
                <a:cubicBezTo>
                  <a:pt x="9648" y="0"/>
                  <a:pt x="8856" y="600"/>
                  <a:pt x="8856" y="1342"/>
                </a:cubicBezTo>
                <a:lnTo>
                  <a:pt x="8856" y="16887"/>
                </a:lnTo>
                <a:lnTo>
                  <a:pt x="3025" y="12467"/>
                </a:lnTo>
                <a:cubicBezTo>
                  <a:pt x="2333" y="11943"/>
                  <a:pt x="1210" y="11943"/>
                  <a:pt x="519" y="12467"/>
                </a:cubicBezTo>
                <a:cubicBezTo>
                  <a:pt x="-173" y="12991"/>
                  <a:pt x="-173" y="13842"/>
                  <a:pt x="519" y="14366"/>
                </a:cubicBezTo>
                <a:lnTo>
                  <a:pt x="9371" y="21076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9" name="Text 45"/>
          <p:cNvSpPr txBox="1"/>
          <p:nvPr/>
        </p:nvSpPr>
        <p:spPr>
          <a:xfrm>
            <a:off x="9358221" y="3239946"/>
            <a:ext cx="42862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defRPr sz="7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知识图谱</a:t>
            </a:r>
          </a:p>
        </p:txBody>
      </p:sp>
      <p:sp>
        <p:nvSpPr>
          <p:cNvPr id="500" name="Shape 46"/>
          <p:cNvSpPr/>
          <p:nvPr/>
        </p:nvSpPr>
        <p:spPr>
          <a:xfrm>
            <a:off x="10147968" y="3049457"/>
            <a:ext cx="119110" cy="1587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4" h="21469" fill="norm" stroke="1" extrusionOk="0">
                <a:moveTo>
                  <a:pt x="9377" y="21076"/>
                </a:moveTo>
                <a:cubicBezTo>
                  <a:pt x="10068" y="21600"/>
                  <a:pt x="11191" y="21600"/>
                  <a:pt x="11883" y="21076"/>
                </a:cubicBezTo>
                <a:lnTo>
                  <a:pt x="20735" y="14366"/>
                </a:lnTo>
                <a:cubicBezTo>
                  <a:pt x="21427" y="13842"/>
                  <a:pt x="21427" y="12991"/>
                  <a:pt x="20735" y="12467"/>
                </a:cubicBezTo>
                <a:cubicBezTo>
                  <a:pt x="20044" y="11943"/>
                  <a:pt x="18921" y="11943"/>
                  <a:pt x="18229" y="12467"/>
                </a:cubicBezTo>
                <a:lnTo>
                  <a:pt x="12397" y="16887"/>
                </a:lnTo>
                <a:lnTo>
                  <a:pt x="12397" y="1342"/>
                </a:lnTo>
                <a:cubicBezTo>
                  <a:pt x="12397" y="600"/>
                  <a:pt x="11606" y="0"/>
                  <a:pt x="10627" y="0"/>
                </a:cubicBezTo>
                <a:cubicBezTo>
                  <a:pt x="9648" y="0"/>
                  <a:pt x="8856" y="600"/>
                  <a:pt x="8856" y="1342"/>
                </a:cubicBezTo>
                <a:lnTo>
                  <a:pt x="8856" y="16887"/>
                </a:lnTo>
                <a:lnTo>
                  <a:pt x="3025" y="12467"/>
                </a:lnTo>
                <a:cubicBezTo>
                  <a:pt x="2333" y="11943"/>
                  <a:pt x="1210" y="11943"/>
                  <a:pt x="519" y="12467"/>
                </a:cubicBezTo>
                <a:cubicBezTo>
                  <a:pt x="-173" y="12991"/>
                  <a:pt x="-173" y="13842"/>
                  <a:pt x="519" y="14366"/>
                </a:cubicBezTo>
                <a:lnTo>
                  <a:pt x="9371" y="21076"/>
                </a:ln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1" name="Text 47"/>
          <p:cNvSpPr txBox="1"/>
          <p:nvPr/>
        </p:nvSpPr>
        <p:spPr>
          <a:xfrm>
            <a:off x="9993221" y="3239946"/>
            <a:ext cx="42862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defRPr sz="7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向量索引</a:t>
            </a:r>
          </a:p>
        </p:txBody>
      </p:sp>
      <p:sp>
        <p:nvSpPr>
          <p:cNvPr id="502" name="Shape 48"/>
          <p:cNvSpPr/>
          <p:nvPr/>
        </p:nvSpPr>
        <p:spPr>
          <a:xfrm>
            <a:off x="8078885" y="3462172"/>
            <a:ext cx="1746251" cy="730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85" y="0"/>
                </a:moveTo>
                <a:lnTo>
                  <a:pt x="20815" y="0"/>
                </a:lnTo>
                <a:cubicBezTo>
                  <a:pt x="21248" y="0"/>
                  <a:pt x="21600" y="841"/>
                  <a:pt x="21600" y="1878"/>
                </a:cubicBezTo>
                <a:lnTo>
                  <a:pt x="21600" y="19722"/>
                </a:lnTo>
                <a:cubicBezTo>
                  <a:pt x="21600" y="20759"/>
                  <a:pt x="21248" y="21600"/>
                  <a:pt x="20815" y="21600"/>
                </a:cubicBezTo>
                <a:lnTo>
                  <a:pt x="785" y="21600"/>
                </a:lnTo>
                <a:cubicBezTo>
                  <a:pt x="352" y="21600"/>
                  <a:pt x="0" y="20759"/>
                  <a:pt x="0" y="19722"/>
                </a:cubicBezTo>
                <a:lnTo>
                  <a:pt x="0" y="1878"/>
                </a:lnTo>
                <a:cubicBezTo>
                  <a:pt x="0" y="842"/>
                  <a:pt x="352" y="0"/>
                  <a:pt x="785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3" name="Shape 49"/>
          <p:cNvSpPr/>
          <p:nvPr/>
        </p:nvSpPr>
        <p:spPr>
          <a:xfrm>
            <a:off x="8857494" y="3557387"/>
            <a:ext cx="178595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828" y="6661"/>
                </a:moveTo>
                <a:cubicBezTo>
                  <a:pt x="20416" y="6311"/>
                  <a:pt x="21600" y="4974"/>
                  <a:pt x="21600" y="3375"/>
                </a:cubicBezTo>
                <a:cubicBezTo>
                  <a:pt x="21600" y="1510"/>
                  <a:pt x="19989" y="0"/>
                  <a:pt x="18000" y="0"/>
                </a:cubicBezTo>
                <a:cubicBezTo>
                  <a:pt x="16047" y="0"/>
                  <a:pt x="14458" y="1455"/>
                  <a:pt x="14400" y="3269"/>
                </a:cubicBezTo>
                <a:lnTo>
                  <a:pt x="6129" y="6375"/>
                </a:lnTo>
                <a:cubicBezTo>
                  <a:pt x="5476" y="5771"/>
                  <a:pt x="4585" y="5400"/>
                  <a:pt x="3600" y="5400"/>
                </a:cubicBezTo>
                <a:cubicBezTo>
                  <a:pt x="1611" y="5400"/>
                  <a:pt x="0" y="6910"/>
                  <a:pt x="0" y="8775"/>
                </a:cubicBezTo>
                <a:cubicBezTo>
                  <a:pt x="0" y="10640"/>
                  <a:pt x="1611" y="12150"/>
                  <a:pt x="3600" y="12150"/>
                </a:cubicBezTo>
                <a:cubicBezTo>
                  <a:pt x="4149" y="12150"/>
                  <a:pt x="4671" y="12036"/>
                  <a:pt x="5134" y="11829"/>
                </a:cubicBezTo>
                <a:lnTo>
                  <a:pt x="11687" y="17204"/>
                </a:lnTo>
                <a:cubicBezTo>
                  <a:pt x="11579" y="17525"/>
                  <a:pt x="11520" y="17871"/>
                  <a:pt x="11520" y="18225"/>
                </a:cubicBezTo>
                <a:cubicBezTo>
                  <a:pt x="11520" y="20090"/>
                  <a:pt x="13131" y="21600"/>
                  <a:pt x="15120" y="21600"/>
                </a:cubicBezTo>
                <a:cubicBezTo>
                  <a:pt x="17109" y="21600"/>
                  <a:pt x="18720" y="20090"/>
                  <a:pt x="18720" y="18225"/>
                </a:cubicBezTo>
                <a:cubicBezTo>
                  <a:pt x="18720" y="17056"/>
                  <a:pt x="18090" y="16027"/>
                  <a:pt x="17127" y="15424"/>
                </a:cubicBezTo>
                <a:lnTo>
                  <a:pt x="18828" y="6661"/>
                </a:lnTo>
                <a:close/>
                <a:moveTo>
                  <a:pt x="7034" y="9796"/>
                </a:moveTo>
                <a:cubicBezTo>
                  <a:pt x="7132" y="9505"/>
                  <a:pt x="7191" y="9197"/>
                  <a:pt x="7200" y="8880"/>
                </a:cubicBezTo>
                <a:lnTo>
                  <a:pt x="15471" y="5780"/>
                </a:lnTo>
                <a:cubicBezTo>
                  <a:pt x="15633" y="5927"/>
                  <a:pt x="15804" y="6062"/>
                  <a:pt x="15993" y="6180"/>
                </a:cubicBezTo>
                <a:lnTo>
                  <a:pt x="14292" y="14939"/>
                </a:lnTo>
                <a:cubicBezTo>
                  <a:pt x="14044" y="14993"/>
                  <a:pt x="13806" y="15069"/>
                  <a:pt x="13581" y="15171"/>
                </a:cubicBezTo>
                <a:lnTo>
                  <a:pt x="7034" y="9796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4" name="Text 50"/>
          <p:cNvSpPr txBox="1"/>
          <p:nvPr/>
        </p:nvSpPr>
        <p:spPr>
          <a:xfrm>
            <a:off x="8146322" y="3820878"/>
            <a:ext cx="161131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b="1" sz="8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图检索</a:t>
            </a:r>
          </a:p>
        </p:txBody>
      </p:sp>
      <p:sp>
        <p:nvSpPr>
          <p:cNvPr id="505" name="Text 51"/>
          <p:cNvSpPr txBox="1"/>
          <p:nvPr/>
        </p:nvSpPr>
        <p:spPr>
          <a:xfrm>
            <a:off x="8150290" y="3970047"/>
            <a:ext cx="160337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defRPr sz="7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Neo4j</a:t>
            </a:r>
          </a:p>
        </p:txBody>
      </p:sp>
      <p:sp>
        <p:nvSpPr>
          <p:cNvPr id="506" name="Shape 52"/>
          <p:cNvSpPr/>
          <p:nvPr/>
        </p:nvSpPr>
        <p:spPr>
          <a:xfrm>
            <a:off x="9953556" y="3462172"/>
            <a:ext cx="1746251" cy="730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85" y="0"/>
                </a:moveTo>
                <a:lnTo>
                  <a:pt x="20815" y="0"/>
                </a:lnTo>
                <a:cubicBezTo>
                  <a:pt x="21248" y="0"/>
                  <a:pt x="21600" y="841"/>
                  <a:pt x="21600" y="1878"/>
                </a:cubicBezTo>
                <a:lnTo>
                  <a:pt x="21600" y="19722"/>
                </a:lnTo>
                <a:cubicBezTo>
                  <a:pt x="21600" y="20759"/>
                  <a:pt x="21248" y="21600"/>
                  <a:pt x="20815" y="21600"/>
                </a:cubicBezTo>
                <a:lnTo>
                  <a:pt x="785" y="21600"/>
                </a:lnTo>
                <a:cubicBezTo>
                  <a:pt x="352" y="21600"/>
                  <a:pt x="0" y="20759"/>
                  <a:pt x="0" y="19722"/>
                </a:cubicBezTo>
                <a:lnTo>
                  <a:pt x="0" y="1878"/>
                </a:lnTo>
                <a:cubicBezTo>
                  <a:pt x="0" y="842"/>
                  <a:pt x="352" y="0"/>
                  <a:pt x="785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7" name="Shape 53"/>
          <p:cNvSpPr/>
          <p:nvPr/>
        </p:nvSpPr>
        <p:spPr>
          <a:xfrm>
            <a:off x="10732164" y="3557387"/>
            <a:ext cx="190539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6" h="21600" fill="norm" stroke="1" extrusionOk="0">
                <a:moveTo>
                  <a:pt x="2779" y="9640"/>
                </a:moveTo>
                <a:cubicBezTo>
                  <a:pt x="3340" y="5716"/>
                  <a:pt x="6718" y="2700"/>
                  <a:pt x="10796" y="2700"/>
                </a:cubicBezTo>
                <a:cubicBezTo>
                  <a:pt x="13031" y="2700"/>
                  <a:pt x="15055" y="3607"/>
                  <a:pt x="16523" y="5071"/>
                </a:cubicBezTo>
                <a:cubicBezTo>
                  <a:pt x="16531" y="5079"/>
                  <a:pt x="16540" y="5088"/>
                  <a:pt x="16548" y="5096"/>
                </a:cubicBezTo>
                <a:lnTo>
                  <a:pt x="16869" y="5400"/>
                </a:lnTo>
                <a:lnTo>
                  <a:pt x="14849" y="5400"/>
                </a:lnTo>
                <a:cubicBezTo>
                  <a:pt x="14102" y="5400"/>
                  <a:pt x="13499" y="6003"/>
                  <a:pt x="13499" y="6750"/>
                </a:cubicBezTo>
                <a:cubicBezTo>
                  <a:pt x="13499" y="7497"/>
                  <a:pt x="14102" y="8100"/>
                  <a:pt x="14849" y="8100"/>
                </a:cubicBezTo>
                <a:lnTo>
                  <a:pt x="20247" y="8100"/>
                </a:lnTo>
                <a:cubicBezTo>
                  <a:pt x="20993" y="8100"/>
                  <a:pt x="21596" y="7497"/>
                  <a:pt x="21596" y="6750"/>
                </a:cubicBezTo>
                <a:lnTo>
                  <a:pt x="21596" y="1350"/>
                </a:lnTo>
                <a:cubicBezTo>
                  <a:pt x="21596" y="603"/>
                  <a:pt x="20993" y="0"/>
                  <a:pt x="20247" y="0"/>
                </a:cubicBezTo>
                <a:cubicBezTo>
                  <a:pt x="19500" y="0"/>
                  <a:pt x="18897" y="603"/>
                  <a:pt x="18897" y="1350"/>
                </a:cubicBezTo>
                <a:lnTo>
                  <a:pt x="18897" y="3603"/>
                </a:lnTo>
                <a:lnTo>
                  <a:pt x="18421" y="3151"/>
                </a:lnTo>
                <a:cubicBezTo>
                  <a:pt x="16468" y="1207"/>
                  <a:pt x="13769" y="0"/>
                  <a:pt x="10796" y="0"/>
                </a:cubicBezTo>
                <a:cubicBezTo>
                  <a:pt x="5356" y="0"/>
                  <a:pt x="856" y="4025"/>
                  <a:pt x="110" y="9260"/>
                </a:cubicBezTo>
                <a:cubicBezTo>
                  <a:pt x="4" y="9998"/>
                  <a:pt x="515" y="10682"/>
                  <a:pt x="1253" y="10787"/>
                </a:cubicBezTo>
                <a:cubicBezTo>
                  <a:pt x="1991" y="10893"/>
                  <a:pt x="2674" y="10378"/>
                  <a:pt x="2779" y="9644"/>
                </a:cubicBezTo>
                <a:close/>
                <a:moveTo>
                  <a:pt x="21482" y="12340"/>
                </a:moveTo>
                <a:cubicBezTo>
                  <a:pt x="21588" y="11602"/>
                  <a:pt x="21073" y="10918"/>
                  <a:pt x="20339" y="10813"/>
                </a:cubicBezTo>
                <a:cubicBezTo>
                  <a:pt x="19605" y="10707"/>
                  <a:pt x="18918" y="11222"/>
                  <a:pt x="18813" y="11956"/>
                </a:cubicBezTo>
                <a:cubicBezTo>
                  <a:pt x="18252" y="15879"/>
                  <a:pt x="14874" y="18896"/>
                  <a:pt x="10796" y="18896"/>
                </a:cubicBezTo>
                <a:cubicBezTo>
                  <a:pt x="8561" y="18896"/>
                  <a:pt x="6537" y="17989"/>
                  <a:pt x="5069" y="16525"/>
                </a:cubicBezTo>
                <a:cubicBezTo>
                  <a:pt x="5061" y="16516"/>
                  <a:pt x="5052" y="16508"/>
                  <a:pt x="5044" y="16500"/>
                </a:cubicBezTo>
                <a:lnTo>
                  <a:pt x="4723" y="16196"/>
                </a:lnTo>
                <a:lnTo>
                  <a:pt x="6743" y="16196"/>
                </a:lnTo>
                <a:cubicBezTo>
                  <a:pt x="7490" y="16196"/>
                  <a:pt x="8093" y="15592"/>
                  <a:pt x="8093" y="14846"/>
                </a:cubicBezTo>
                <a:cubicBezTo>
                  <a:pt x="8093" y="14099"/>
                  <a:pt x="7490" y="13496"/>
                  <a:pt x="6743" y="13496"/>
                </a:cubicBezTo>
                <a:lnTo>
                  <a:pt x="1350" y="13500"/>
                </a:lnTo>
                <a:cubicBezTo>
                  <a:pt x="991" y="13500"/>
                  <a:pt x="645" y="13643"/>
                  <a:pt x="392" y="13901"/>
                </a:cubicBezTo>
                <a:cubicBezTo>
                  <a:pt x="139" y="14158"/>
                  <a:pt x="-4" y="14500"/>
                  <a:pt x="0" y="14863"/>
                </a:cubicBezTo>
                <a:lnTo>
                  <a:pt x="42" y="20220"/>
                </a:lnTo>
                <a:cubicBezTo>
                  <a:pt x="47" y="20967"/>
                  <a:pt x="658" y="21566"/>
                  <a:pt x="1404" y="21558"/>
                </a:cubicBezTo>
                <a:cubicBezTo>
                  <a:pt x="2151" y="21549"/>
                  <a:pt x="2750" y="20942"/>
                  <a:pt x="2741" y="20195"/>
                </a:cubicBezTo>
                <a:lnTo>
                  <a:pt x="2724" y="18022"/>
                </a:lnTo>
                <a:lnTo>
                  <a:pt x="3176" y="18449"/>
                </a:lnTo>
                <a:cubicBezTo>
                  <a:pt x="5128" y="20393"/>
                  <a:pt x="7823" y="21600"/>
                  <a:pt x="10796" y="21600"/>
                </a:cubicBezTo>
                <a:cubicBezTo>
                  <a:pt x="16236" y="21600"/>
                  <a:pt x="20736" y="17575"/>
                  <a:pt x="21482" y="1234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8" name="Text 54"/>
          <p:cNvSpPr txBox="1"/>
          <p:nvPr/>
        </p:nvSpPr>
        <p:spPr>
          <a:xfrm>
            <a:off x="10020992" y="3820878"/>
            <a:ext cx="161131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b="1" sz="8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向量检索</a:t>
            </a:r>
          </a:p>
        </p:txBody>
      </p:sp>
      <p:sp>
        <p:nvSpPr>
          <p:cNvPr id="509" name="Text 55"/>
          <p:cNvSpPr txBox="1"/>
          <p:nvPr/>
        </p:nvSpPr>
        <p:spPr>
          <a:xfrm>
            <a:off x="10024960" y="3970047"/>
            <a:ext cx="160337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defRPr sz="7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FAISS</a:t>
            </a:r>
          </a:p>
        </p:txBody>
      </p:sp>
      <p:sp>
        <p:nvSpPr>
          <p:cNvPr id="510" name="Shape 56"/>
          <p:cNvSpPr/>
          <p:nvPr/>
        </p:nvSpPr>
        <p:spPr>
          <a:xfrm>
            <a:off x="9830524" y="4287489"/>
            <a:ext cx="119110" cy="1587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4" h="21469" fill="norm" stroke="1" extrusionOk="0">
                <a:moveTo>
                  <a:pt x="9377" y="21076"/>
                </a:moveTo>
                <a:cubicBezTo>
                  <a:pt x="10068" y="21600"/>
                  <a:pt x="11191" y="21600"/>
                  <a:pt x="11883" y="21076"/>
                </a:cubicBezTo>
                <a:lnTo>
                  <a:pt x="20735" y="14366"/>
                </a:lnTo>
                <a:cubicBezTo>
                  <a:pt x="21427" y="13842"/>
                  <a:pt x="21427" y="12991"/>
                  <a:pt x="20735" y="12467"/>
                </a:cubicBezTo>
                <a:cubicBezTo>
                  <a:pt x="20044" y="11943"/>
                  <a:pt x="18921" y="11943"/>
                  <a:pt x="18229" y="12467"/>
                </a:cubicBezTo>
                <a:lnTo>
                  <a:pt x="12397" y="16887"/>
                </a:lnTo>
                <a:lnTo>
                  <a:pt x="12397" y="1342"/>
                </a:lnTo>
                <a:cubicBezTo>
                  <a:pt x="12397" y="600"/>
                  <a:pt x="11606" y="0"/>
                  <a:pt x="10627" y="0"/>
                </a:cubicBezTo>
                <a:cubicBezTo>
                  <a:pt x="9648" y="0"/>
                  <a:pt x="8856" y="600"/>
                  <a:pt x="8856" y="1342"/>
                </a:cubicBezTo>
                <a:lnTo>
                  <a:pt x="8856" y="16887"/>
                </a:lnTo>
                <a:lnTo>
                  <a:pt x="3025" y="12467"/>
                </a:lnTo>
                <a:cubicBezTo>
                  <a:pt x="2333" y="11943"/>
                  <a:pt x="1210" y="11943"/>
                  <a:pt x="519" y="12467"/>
                </a:cubicBezTo>
                <a:cubicBezTo>
                  <a:pt x="-173" y="12991"/>
                  <a:pt x="-173" y="13842"/>
                  <a:pt x="519" y="14366"/>
                </a:cubicBezTo>
                <a:lnTo>
                  <a:pt x="9371" y="21076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1" name="Shape 57"/>
          <p:cNvSpPr/>
          <p:nvPr/>
        </p:nvSpPr>
        <p:spPr>
          <a:xfrm>
            <a:off x="8078885" y="4541458"/>
            <a:ext cx="3619501" cy="730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79" y="0"/>
                </a:moveTo>
                <a:lnTo>
                  <a:pt x="21221" y="0"/>
                </a:lnTo>
                <a:cubicBezTo>
                  <a:pt x="21430" y="0"/>
                  <a:pt x="21600" y="841"/>
                  <a:pt x="21600" y="1878"/>
                </a:cubicBezTo>
                <a:lnTo>
                  <a:pt x="21600" y="19722"/>
                </a:lnTo>
                <a:cubicBezTo>
                  <a:pt x="21600" y="20759"/>
                  <a:pt x="21430" y="21600"/>
                  <a:pt x="21221" y="21600"/>
                </a:cubicBezTo>
                <a:lnTo>
                  <a:pt x="379" y="21600"/>
                </a:lnTo>
                <a:cubicBezTo>
                  <a:pt x="170" y="21600"/>
                  <a:pt x="0" y="20759"/>
                  <a:pt x="0" y="19722"/>
                </a:cubicBezTo>
                <a:lnTo>
                  <a:pt x="0" y="1878"/>
                </a:lnTo>
                <a:cubicBezTo>
                  <a:pt x="0" y="842"/>
                  <a:pt x="170" y="0"/>
                  <a:pt x="37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2" name="Shape 58"/>
          <p:cNvSpPr/>
          <p:nvPr/>
        </p:nvSpPr>
        <p:spPr>
          <a:xfrm>
            <a:off x="9806736" y="4636673"/>
            <a:ext cx="166689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57" y="2363"/>
                </a:moveTo>
                <a:cubicBezTo>
                  <a:pt x="4496" y="2363"/>
                  <a:pt x="5014" y="2816"/>
                  <a:pt x="5014" y="3375"/>
                </a:cubicBezTo>
                <a:cubicBezTo>
                  <a:pt x="5014" y="3934"/>
                  <a:pt x="4496" y="4387"/>
                  <a:pt x="3857" y="4387"/>
                </a:cubicBezTo>
                <a:cubicBezTo>
                  <a:pt x="3218" y="4387"/>
                  <a:pt x="2700" y="3934"/>
                  <a:pt x="2700" y="3375"/>
                </a:cubicBezTo>
                <a:cubicBezTo>
                  <a:pt x="2700" y="2816"/>
                  <a:pt x="3218" y="2363"/>
                  <a:pt x="3857" y="2363"/>
                </a:cubicBezTo>
                <a:close/>
                <a:moveTo>
                  <a:pt x="5419" y="6463"/>
                </a:moveTo>
                <a:cubicBezTo>
                  <a:pt x="6769" y="5940"/>
                  <a:pt x="7714" y="4754"/>
                  <a:pt x="7714" y="3375"/>
                </a:cubicBezTo>
                <a:cubicBezTo>
                  <a:pt x="7714" y="1510"/>
                  <a:pt x="5988" y="0"/>
                  <a:pt x="3857" y="0"/>
                </a:cubicBezTo>
                <a:cubicBezTo>
                  <a:pt x="1726" y="0"/>
                  <a:pt x="0" y="1510"/>
                  <a:pt x="0" y="3375"/>
                </a:cubicBezTo>
                <a:cubicBezTo>
                  <a:pt x="0" y="4759"/>
                  <a:pt x="950" y="5948"/>
                  <a:pt x="2314" y="6467"/>
                </a:cubicBezTo>
                <a:lnTo>
                  <a:pt x="2314" y="15128"/>
                </a:lnTo>
                <a:cubicBezTo>
                  <a:pt x="950" y="15652"/>
                  <a:pt x="0" y="16841"/>
                  <a:pt x="0" y="18225"/>
                </a:cubicBezTo>
                <a:cubicBezTo>
                  <a:pt x="0" y="20090"/>
                  <a:pt x="1726" y="21600"/>
                  <a:pt x="3857" y="21600"/>
                </a:cubicBezTo>
                <a:cubicBezTo>
                  <a:pt x="5988" y="21600"/>
                  <a:pt x="7714" y="20090"/>
                  <a:pt x="7714" y="18225"/>
                </a:cubicBezTo>
                <a:cubicBezTo>
                  <a:pt x="7714" y="16841"/>
                  <a:pt x="6764" y="15652"/>
                  <a:pt x="5400" y="15133"/>
                </a:cubicBezTo>
                <a:lnTo>
                  <a:pt x="5400" y="11479"/>
                </a:lnTo>
                <a:cubicBezTo>
                  <a:pt x="6687" y="12327"/>
                  <a:pt x="8293" y="12829"/>
                  <a:pt x="10029" y="12829"/>
                </a:cubicBezTo>
                <a:lnTo>
                  <a:pt x="14209" y="12829"/>
                </a:lnTo>
                <a:cubicBezTo>
                  <a:pt x="14802" y="14023"/>
                  <a:pt x="16161" y="14854"/>
                  <a:pt x="17743" y="14854"/>
                </a:cubicBezTo>
                <a:cubicBezTo>
                  <a:pt x="19874" y="14854"/>
                  <a:pt x="21600" y="13344"/>
                  <a:pt x="21600" y="11479"/>
                </a:cubicBezTo>
                <a:cubicBezTo>
                  <a:pt x="21600" y="9615"/>
                  <a:pt x="19874" y="8104"/>
                  <a:pt x="17743" y="8104"/>
                </a:cubicBezTo>
                <a:cubicBezTo>
                  <a:pt x="16161" y="8104"/>
                  <a:pt x="14802" y="8935"/>
                  <a:pt x="14209" y="10129"/>
                </a:cubicBezTo>
                <a:lnTo>
                  <a:pt x="10029" y="10125"/>
                </a:lnTo>
                <a:cubicBezTo>
                  <a:pt x="7623" y="10125"/>
                  <a:pt x="5641" y="8518"/>
                  <a:pt x="5419" y="6463"/>
                </a:cubicBezTo>
                <a:close/>
                <a:moveTo>
                  <a:pt x="3857" y="17213"/>
                </a:moveTo>
                <a:cubicBezTo>
                  <a:pt x="4496" y="17213"/>
                  <a:pt x="5014" y="17666"/>
                  <a:pt x="5014" y="18225"/>
                </a:cubicBezTo>
                <a:cubicBezTo>
                  <a:pt x="5014" y="18784"/>
                  <a:pt x="4496" y="19237"/>
                  <a:pt x="3857" y="19237"/>
                </a:cubicBezTo>
                <a:cubicBezTo>
                  <a:pt x="3218" y="19237"/>
                  <a:pt x="2700" y="18784"/>
                  <a:pt x="2700" y="18225"/>
                </a:cubicBezTo>
                <a:cubicBezTo>
                  <a:pt x="2700" y="17666"/>
                  <a:pt x="3218" y="17213"/>
                  <a:pt x="3857" y="17213"/>
                </a:cubicBezTo>
                <a:close/>
                <a:moveTo>
                  <a:pt x="16586" y="11475"/>
                </a:moveTo>
                <a:cubicBezTo>
                  <a:pt x="16586" y="10916"/>
                  <a:pt x="17104" y="10462"/>
                  <a:pt x="17743" y="10462"/>
                </a:cubicBezTo>
                <a:cubicBezTo>
                  <a:pt x="18381" y="10462"/>
                  <a:pt x="18900" y="10916"/>
                  <a:pt x="18900" y="11475"/>
                </a:cubicBezTo>
                <a:cubicBezTo>
                  <a:pt x="18900" y="12034"/>
                  <a:pt x="18381" y="12488"/>
                  <a:pt x="17743" y="12488"/>
                </a:cubicBezTo>
                <a:cubicBezTo>
                  <a:pt x="17104" y="12488"/>
                  <a:pt x="16586" y="12034"/>
                  <a:pt x="16586" y="11475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3" name="Text 59"/>
          <p:cNvSpPr txBox="1"/>
          <p:nvPr/>
        </p:nvSpPr>
        <p:spPr>
          <a:xfrm>
            <a:off x="8146322" y="4900164"/>
            <a:ext cx="348456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b="1" sz="8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结果融合</a:t>
            </a:r>
          </a:p>
        </p:txBody>
      </p:sp>
      <p:sp>
        <p:nvSpPr>
          <p:cNvPr id="514" name="Text 60"/>
          <p:cNvSpPr txBox="1"/>
          <p:nvPr/>
        </p:nvSpPr>
        <p:spPr>
          <a:xfrm>
            <a:off x="8150290" y="5049330"/>
            <a:ext cx="347662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defRPr sz="7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加权融合 + BGE-Reranker</a:t>
            </a:r>
          </a:p>
        </p:txBody>
      </p:sp>
      <p:sp>
        <p:nvSpPr>
          <p:cNvPr id="515" name="Shape 61"/>
          <p:cNvSpPr/>
          <p:nvPr/>
        </p:nvSpPr>
        <p:spPr>
          <a:xfrm>
            <a:off x="9830524" y="5366777"/>
            <a:ext cx="119110" cy="1587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4" h="21469" fill="norm" stroke="1" extrusionOk="0">
                <a:moveTo>
                  <a:pt x="9377" y="21076"/>
                </a:moveTo>
                <a:cubicBezTo>
                  <a:pt x="10068" y="21600"/>
                  <a:pt x="11191" y="21600"/>
                  <a:pt x="11883" y="21076"/>
                </a:cubicBezTo>
                <a:lnTo>
                  <a:pt x="20735" y="14366"/>
                </a:lnTo>
                <a:cubicBezTo>
                  <a:pt x="21427" y="13842"/>
                  <a:pt x="21427" y="12991"/>
                  <a:pt x="20735" y="12467"/>
                </a:cubicBezTo>
                <a:cubicBezTo>
                  <a:pt x="20044" y="11943"/>
                  <a:pt x="18921" y="11943"/>
                  <a:pt x="18229" y="12467"/>
                </a:cubicBezTo>
                <a:lnTo>
                  <a:pt x="12397" y="16887"/>
                </a:lnTo>
                <a:lnTo>
                  <a:pt x="12397" y="1342"/>
                </a:lnTo>
                <a:cubicBezTo>
                  <a:pt x="12397" y="600"/>
                  <a:pt x="11606" y="0"/>
                  <a:pt x="10627" y="0"/>
                </a:cubicBezTo>
                <a:cubicBezTo>
                  <a:pt x="9648" y="0"/>
                  <a:pt x="8856" y="600"/>
                  <a:pt x="8856" y="1342"/>
                </a:cubicBezTo>
                <a:lnTo>
                  <a:pt x="8856" y="16887"/>
                </a:lnTo>
                <a:lnTo>
                  <a:pt x="3025" y="12467"/>
                </a:lnTo>
                <a:cubicBezTo>
                  <a:pt x="2333" y="11943"/>
                  <a:pt x="1210" y="11943"/>
                  <a:pt x="519" y="12467"/>
                </a:cubicBezTo>
                <a:cubicBezTo>
                  <a:pt x="-173" y="12991"/>
                  <a:pt x="-173" y="13842"/>
                  <a:pt x="519" y="14366"/>
                </a:cubicBezTo>
                <a:lnTo>
                  <a:pt x="9371" y="21076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6" name="Shape 62"/>
          <p:cNvSpPr/>
          <p:nvPr/>
        </p:nvSpPr>
        <p:spPr>
          <a:xfrm>
            <a:off x="8078885" y="5620742"/>
            <a:ext cx="3619501" cy="730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79" y="0"/>
                </a:moveTo>
                <a:lnTo>
                  <a:pt x="21221" y="0"/>
                </a:lnTo>
                <a:cubicBezTo>
                  <a:pt x="21430" y="0"/>
                  <a:pt x="21600" y="841"/>
                  <a:pt x="21600" y="1878"/>
                </a:cubicBezTo>
                <a:lnTo>
                  <a:pt x="21600" y="19722"/>
                </a:lnTo>
                <a:cubicBezTo>
                  <a:pt x="21600" y="20759"/>
                  <a:pt x="21430" y="21600"/>
                  <a:pt x="21221" y="21600"/>
                </a:cubicBezTo>
                <a:lnTo>
                  <a:pt x="379" y="21600"/>
                </a:lnTo>
                <a:cubicBezTo>
                  <a:pt x="170" y="21600"/>
                  <a:pt x="0" y="20759"/>
                  <a:pt x="0" y="19722"/>
                </a:cubicBezTo>
                <a:lnTo>
                  <a:pt x="0" y="1878"/>
                </a:lnTo>
                <a:cubicBezTo>
                  <a:pt x="0" y="842"/>
                  <a:pt x="170" y="0"/>
                  <a:pt x="379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7" name="Shape 63"/>
          <p:cNvSpPr/>
          <p:nvPr/>
        </p:nvSpPr>
        <p:spPr>
          <a:xfrm>
            <a:off x="9818641" y="5715956"/>
            <a:ext cx="142876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700"/>
                </a:moveTo>
                <a:cubicBezTo>
                  <a:pt x="0" y="1211"/>
                  <a:pt x="1614" y="0"/>
                  <a:pt x="3600" y="0"/>
                </a:cubicBezTo>
                <a:lnTo>
                  <a:pt x="12009" y="0"/>
                </a:lnTo>
                <a:cubicBezTo>
                  <a:pt x="12966" y="0"/>
                  <a:pt x="13883" y="283"/>
                  <a:pt x="14558" y="789"/>
                </a:cubicBezTo>
                <a:lnTo>
                  <a:pt x="20548" y="5286"/>
                </a:lnTo>
                <a:cubicBezTo>
                  <a:pt x="21223" y="5792"/>
                  <a:pt x="21600" y="6480"/>
                  <a:pt x="21600" y="7197"/>
                </a:cubicBezTo>
                <a:lnTo>
                  <a:pt x="21600" y="18900"/>
                </a:lnTo>
                <a:cubicBezTo>
                  <a:pt x="21600" y="20389"/>
                  <a:pt x="19986" y="21600"/>
                  <a:pt x="18000" y="21600"/>
                </a:cubicBezTo>
                <a:lnTo>
                  <a:pt x="3600" y="21600"/>
                </a:lnTo>
                <a:cubicBezTo>
                  <a:pt x="1614" y="21600"/>
                  <a:pt x="0" y="20389"/>
                  <a:pt x="0" y="18900"/>
                </a:cubicBezTo>
                <a:lnTo>
                  <a:pt x="0" y="2700"/>
                </a:lnTo>
                <a:close/>
                <a:moveTo>
                  <a:pt x="11700" y="2468"/>
                </a:moveTo>
                <a:lnTo>
                  <a:pt x="11700" y="6413"/>
                </a:lnTo>
                <a:cubicBezTo>
                  <a:pt x="11700" y="6974"/>
                  <a:pt x="12302" y="7425"/>
                  <a:pt x="13050" y="7425"/>
                </a:cubicBezTo>
                <a:lnTo>
                  <a:pt x="18309" y="7425"/>
                </a:lnTo>
                <a:lnTo>
                  <a:pt x="11700" y="2468"/>
                </a:lnTo>
                <a:close/>
                <a:moveTo>
                  <a:pt x="9000" y="11813"/>
                </a:moveTo>
                <a:lnTo>
                  <a:pt x="9000" y="13500"/>
                </a:lnTo>
                <a:lnTo>
                  <a:pt x="6750" y="13500"/>
                </a:lnTo>
                <a:cubicBezTo>
                  <a:pt x="6255" y="13500"/>
                  <a:pt x="5850" y="13804"/>
                  <a:pt x="5850" y="14175"/>
                </a:cubicBezTo>
                <a:lnTo>
                  <a:pt x="5850" y="15525"/>
                </a:lnTo>
                <a:cubicBezTo>
                  <a:pt x="5850" y="15896"/>
                  <a:pt x="6255" y="16200"/>
                  <a:pt x="6750" y="16200"/>
                </a:cubicBezTo>
                <a:lnTo>
                  <a:pt x="9000" y="16200"/>
                </a:lnTo>
                <a:lnTo>
                  <a:pt x="9000" y="17888"/>
                </a:lnTo>
                <a:cubicBezTo>
                  <a:pt x="9000" y="18259"/>
                  <a:pt x="9405" y="18563"/>
                  <a:pt x="9900" y="18563"/>
                </a:cubicBezTo>
                <a:lnTo>
                  <a:pt x="11700" y="18563"/>
                </a:lnTo>
                <a:cubicBezTo>
                  <a:pt x="12195" y="18563"/>
                  <a:pt x="12600" y="18259"/>
                  <a:pt x="12600" y="17888"/>
                </a:cubicBezTo>
                <a:lnTo>
                  <a:pt x="12600" y="16200"/>
                </a:lnTo>
                <a:lnTo>
                  <a:pt x="14850" y="16200"/>
                </a:lnTo>
                <a:cubicBezTo>
                  <a:pt x="15345" y="16200"/>
                  <a:pt x="15750" y="15896"/>
                  <a:pt x="15750" y="15525"/>
                </a:cubicBezTo>
                <a:lnTo>
                  <a:pt x="15750" y="14175"/>
                </a:lnTo>
                <a:cubicBezTo>
                  <a:pt x="15750" y="13804"/>
                  <a:pt x="15345" y="13500"/>
                  <a:pt x="14850" y="13500"/>
                </a:cubicBezTo>
                <a:lnTo>
                  <a:pt x="12600" y="13500"/>
                </a:lnTo>
                <a:lnTo>
                  <a:pt x="12600" y="11813"/>
                </a:lnTo>
                <a:cubicBezTo>
                  <a:pt x="12600" y="11441"/>
                  <a:pt x="12195" y="11138"/>
                  <a:pt x="11700" y="11138"/>
                </a:cubicBezTo>
                <a:lnTo>
                  <a:pt x="9900" y="11138"/>
                </a:lnTo>
                <a:cubicBezTo>
                  <a:pt x="9405" y="11138"/>
                  <a:pt x="9000" y="11441"/>
                  <a:pt x="9000" y="11813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8" name="Text 64"/>
          <p:cNvSpPr txBox="1"/>
          <p:nvPr/>
        </p:nvSpPr>
        <p:spPr>
          <a:xfrm>
            <a:off x="8146322" y="5979450"/>
            <a:ext cx="348456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b="1" sz="8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相关知识片段</a:t>
            </a:r>
          </a:p>
        </p:txBody>
      </p:sp>
      <p:sp>
        <p:nvSpPr>
          <p:cNvPr id="519" name="Text 65"/>
          <p:cNvSpPr txBox="1"/>
          <p:nvPr/>
        </p:nvSpPr>
        <p:spPr>
          <a:xfrm>
            <a:off x="8150290" y="6128622"/>
            <a:ext cx="347662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defRPr sz="7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药物-疾病-症状关系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Text 0"/>
          <p:cNvSpPr txBox="1"/>
          <p:nvPr/>
        </p:nvSpPr>
        <p:spPr>
          <a:xfrm>
            <a:off x="317500" y="336549"/>
            <a:ext cx="116205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pc="50" sz="1000">
                <a:solidFill>
                  <a:srgbClr val="5E8B7E"/>
                </a:solidFill>
                <a:latin typeface="Liter"/>
                <a:ea typeface="Liter"/>
                <a:cs typeface="Liter"/>
                <a:sym typeface="Liter"/>
              </a:defRPr>
            </a:lvl1pPr>
          </a:lstStyle>
          <a:p>
            <a:pPr/>
            <a:r>
              <a:t>KNOWLEDGE GRAPH STRUCTURE</a:t>
            </a:r>
          </a:p>
        </p:txBody>
      </p:sp>
      <p:sp>
        <p:nvSpPr>
          <p:cNvPr id="522" name="Text 1"/>
          <p:cNvSpPr txBox="1"/>
          <p:nvPr/>
        </p:nvSpPr>
        <p:spPr>
          <a:xfrm>
            <a:off x="317500" y="495268"/>
            <a:ext cx="117475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80000"/>
              </a:lnSpc>
              <a:defRPr b="1" sz="3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知识图谱结构设计</a:t>
            </a:r>
          </a:p>
        </p:txBody>
      </p:sp>
      <p:sp>
        <p:nvSpPr>
          <p:cNvPr id="523" name="Shape 2"/>
          <p:cNvSpPr/>
          <p:nvPr/>
        </p:nvSpPr>
        <p:spPr>
          <a:xfrm>
            <a:off x="317500" y="1079399"/>
            <a:ext cx="762000" cy="31751"/>
          </a:xfrm>
          <a:prstGeom prst="rect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4" name="Shape 3"/>
          <p:cNvSpPr/>
          <p:nvPr/>
        </p:nvSpPr>
        <p:spPr>
          <a:xfrm>
            <a:off x="331931" y="1238094"/>
            <a:ext cx="5681809" cy="3873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0" y="0"/>
                </a:moveTo>
                <a:lnTo>
                  <a:pt x="21238" y="0"/>
                </a:lnTo>
                <a:cubicBezTo>
                  <a:pt x="21438" y="0"/>
                  <a:pt x="21600" y="238"/>
                  <a:pt x="21600" y="531"/>
                </a:cubicBezTo>
                <a:lnTo>
                  <a:pt x="21600" y="21069"/>
                </a:lnTo>
                <a:cubicBezTo>
                  <a:pt x="21600" y="21362"/>
                  <a:pt x="21438" y="21600"/>
                  <a:pt x="21238" y="21600"/>
                </a:cubicBezTo>
                <a:lnTo>
                  <a:pt x="110" y="21600"/>
                </a:lnTo>
                <a:cubicBezTo>
                  <a:pt x="49" y="21600"/>
                  <a:pt x="0" y="21528"/>
                  <a:pt x="0" y="21439"/>
                </a:cubicBezTo>
                <a:lnTo>
                  <a:pt x="0" y="161"/>
                </a:lnTo>
                <a:cubicBezTo>
                  <a:pt x="0" y="72"/>
                  <a:pt x="49" y="0"/>
                  <a:pt x="110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5" name="Shape 4"/>
          <p:cNvSpPr/>
          <p:nvPr/>
        </p:nvSpPr>
        <p:spPr>
          <a:xfrm>
            <a:off x="331931" y="1238094"/>
            <a:ext cx="28865" cy="3873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528"/>
                  <a:pt x="0" y="21439"/>
                </a:cubicBezTo>
                <a:lnTo>
                  <a:pt x="0" y="161"/>
                </a:lnTo>
                <a:cubicBezTo>
                  <a:pt x="0" y="72"/>
                  <a:pt x="9671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6" name="Shape 5"/>
          <p:cNvSpPr/>
          <p:nvPr/>
        </p:nvSpPr>
        <p:spPr>
          <a:xfrm>
            <a:off x="524957" y="1428578"/>
            <a:ext cx="148829" cy="158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828" y="6661"/>
                </a:moveTo>
                <a:cubicBezTo>
                  <a:pt x="20417" y="6311"/>
                  <a:pt x="21600" y="4974"/>
                  <a:pt x="21600" y="3375"/>
                </a:cubicBezTo>
                <a:cubicBezTo>
                  <a:pt x="21600" y="1510"/>
                  <a:pt x="19989" y="0"/>
                  <a:pt x="18000" y="0"/>
                </a:cubicBezTo>
                <a:cubicBezTo>
                  <a:pt x="16047" y="0"/>
                  <a:pt x="14459" y="1455"/>
                  <a:pt x="14400" y="3270"/>
                </a:cubicBezTo>
                <a:lnTo>
                  <a:pt x="6129" y="6375"/>
                </a:lnTo>
                <a:cubicBezTo>
                  <a:pt x="5476" y="5771"/>
                  <a:pt x="4586" y="5400"/>
                  <a:pt x="3600" y="5400"/>
                </a:cubicBezTo>
                <a:cubicBezTo>
                  <a:pt x="1611" y="5400"/>
                  <a:pt x="0" y="6910"/>
                  <a:pt x="0" y="8775"/>
                </a:cubicBezTo>
                <a:cubicBezTo>
                  <a:pt x="0" y="10640"/>
                  <a:pt x="1611" y="12150"/>
                  <a:pt x="3600" y="12150"/>
                </a:cubicBezTo>
                <a:cubicBezTo>
                  <a:pt x="4149" y="12150"/>
                  <a:pt x="4671" y="12036"/>
                  <a:pt x="5135" y="11829"/>
                </a:cubicBezTo>
                <a:lnTo>
                  <a:pt x="11686" y="17204"/>
                </a:lnTo>
                <a:cubicBezTo>
                  <a:pt x="11578" y="17525"/>
                  <a:pt x="11520" y="17871"/>
                  <a:pt x="11520" y="18225"/>
                </a:cubicBezTo>
                <a:cubicBezTo>
                  <a:pt x="11520" y="20090"/>
                  <a:pt x="13131" y="21600"/>
                  <a:pt x="15120" y="21600"/>
                </a:cubicBezTo>
                <a:cubicBezTo>
                  <a:pt x="17109" y="21600"/>
                  <a:pt x="18720" y="20090"/>
                  <a:pt x="18720" y="18225"/>
                </a:cubicBezTo>
                <a:cubicBezTo>
                  <a:pt x="18720" y="17056"/>
                  <a:pt x="18090" y="16027"/>
                  <a:pt x="17127" y="15424"/>
                </a:cubicBezTo>
                <a:lnTo>
                  <a:pt x="18828" y="6661"/>
                </a:lnTo>
                <a:close/>
                <a:moveTo>
                  <a:pt x="7033" y="9796"/>
                </a:moveTo>
                <a:cubicBezTo>
                  <a:pt x="7132" y="9505"/>
                  <a:pt x="7191" y="9197"/>
                  <a:pt x="7200" y="8880"/>
                </a:cubicBezTo>
                <a:lnTo>
                  <a:pt x="15471" y="5780"/>
                </a:lnTo>
                <a:cubicBezTo>
                  <a:pt x="15633" y="5927"/>
                  <a:pt x="15804" y="6062"/>
                  <a:pt x="15993" y="6181"/>
                </a:cubicBezTo>
                <a:lnTo>
                  <a:pt x="14292" y="14939"/>
                </a:lnTo>
                <a:cubicBezTo>
                  <a:pt x="14044" y="14993"/>
                  <a:pt x="13806" y="15069"/>
                  <a:pt x="13581" y="15171"/>
                </a:cubicBezTo>
                <a:lnTo>
                  <a:pt x="7033" y="9796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7" name="Text 6"/>
          <p:cNvSpPr txBox="1"/>
          <p:nvPr/>
        </p:nvSpPr>
        <p:spPr>
          <a:xfrm>
            <a:off x="703551" y="1400019"/>
            <a:ext cx="5230813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节点类型(Node Types)</a:t>
            </a:r>
          </a:p>
        </p:txBody>
      </p:sp>
      <p:sp>
        <p:nvSpPr>
          <p:cNvPr id="528" name="Shape 7"/>
          <p:cNvSpPr/>
          <p:nvPr/>
        </p:nvSpPr>
        <p:spPr>
          <a:xfrm>
            <a:off x="505113" y="1746025"/>
            <a:ext cx="5349876" cy="984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56" y="0"/>
                </a:moveTo>
                <a:lnTo>
                  <a:pt x="21344" y="0"/>
                </a:lnTo>
                <a:cubicBezTo>
                  <a:pt x="21485" y="0"/>
                  <a:pt x="21600" y="624"/>
                  <a:pt x="21600" y="1394"/>
                </a:cubicBezTo>
                <a:lnTo>
                  <a:pt x="21600" y="20206"/>
                </a:lnTo>
                <a:cubicBezTo>
                  <a:pt x="21600" y="20976"/>
                  <a:pt x="21485" y="21600"/>
                  <a:pt x="21344" y="21600"/>
                </a:cubicBezTo>
                <a:lnTo>
                  <a:pt x="256" y="21600"/>
                </a:lnTo>
                <a:cubicBezTo>
                  <a:pt x="115" y="21600"/>
                  <a:pt x="0" y="20976"/>
                  <a:pt x="0" y="20206"/>
                </a:cubicBezTo>
                <a:lnTo>
                  <a:pt x="0" y="1394"/>
                </a:lnTo>
                <a:cubicBezTo>
                  <a:pt x="0" y="624"/>
                  <a:pt x="115" y="0"/>
                  <a:pt x="25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9" name="Text 8"/>
          <p:cNvSpPr txBox="1"/>
          <p:nvPr/>
        </p:nvSpPr>
        <p:spPr>
          <a:xfrm>
            <a:off x="600330" y="1847594"/>
            <a:ext cx="522287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(:Drug) 药物节点</a:t>
            </a:r>
          </a:p>
        </p:txBody>
      </p:sp>
      <p:sp>
        <p:nvSpPr>
          <p:cNvPr id="530" name="Text 9"/>
          <p:cNvSpPr txBox="1"/>
          <p:nvPr/>
        </p:nvSpPr>
        <p:spPr>
          <a:xfrm>
            <a:off x="600330" y="2104730"/>
            <a:ext cx="521493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· name: 药物名称</a:t>
            </a:r>
          </a:p>
        </p:txBody>
      </p:sp>
      <p:sp>
        <p:nvSpPr>
          <p:cNvPr id="531" name="Text 10"/>
          <p:cNvSpPr txBox="1"/>
          <p:nvPr/>
        </p:nvSpPr>
        <p:spPr>
          <a:xfrm>
            <a:off x="600330" y="2295168"/>
            <a:ext cx="521493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· type: 化学药/中成药</a:t>
            </a:r>
          </a:p>
        </p:txBody>
      </p:sp>
      <p:sp>
        <p:nvSpPr>
          <p:cNvPr id="532" name="Text 11"/>
          <p:cNvSpPr txBox="1"/>
          <p:nvPr/>
        </p:nvSpPr>
        <p:spPr>
          <a:xfrm>
            <a:off x="600330" y="2485599"/>
            <a:ext cx="521493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· atc_code: ATC编码</a:t>
            </a:r>
          </a:p>
        </p:txBody>
      </p:sp>
      <p:sp>
        <p:nvSpPr>
          <p:cNvPr id="533" name="Shape 12"/>
          <p:cNvSpPr/>
          <p:nvPr/>
        </p:nvSpPr>
        <p:spPr>
          <a:xfrm>
            <a:off x="505113" y="2825200"/>
            <a:ext cx="5349876" cy="984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56" y="0"/>
                </a:moveTo>
                <a:lnTo>
                  <a:pt x="21344" y="0"/>
                </a:lnTo>
                <a:cubicBezTo>
                  <a:pt x="21485" y="0"/>
                  <a:pt x="21600" y="624"/>
                  <a:pt x="21600" y="1394"/>
                </a:cubicBezTo>
                <a:lnTo>
                  <a:pt x="21600" y="20206"/>
                </a:lnTo>
                <a:cubicBezTo>
                  <a:pt x="21600" y="20976"/>
                  <a:pt x="21485" y="21600"/>
                  <a:pt x="21344" y="21600"/>
                </a:cubicBezTo>
                <a:lnTo>
                  <a:pt x="256" y="21600"/>
                </a:lnTo>
                <a:cubicBezTo>
                  <a:pt x="115" y="21600"/>
                  <a:pt x="0" y="20976"/>
                  <a:pt x="0" y="20206"/>
                </a:cubicBezTo>
                <a:lnTo>
                  <a:pt x="0" y="1394"/>
                </a:lnTo>
                <a:cubicBezTo>
                  <a:pt x="0" y="624"/>
                  <a:pt x="115" y="0"/>
                  <a:pt x="25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4" name="Text 13"/>
          <p:cNvSpPr txBox="1"/>
          <p:nvPr/>
        </p:nvSpPr>
        <p:spPr>
          <a:xfrm>
            <a:off x="600330" y="2926761"/>
            <a:ext cx="522287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(:Disease) 疾病节点</a:t>
            </a:r>
          </a:p>
        </p:txBody>
      </p:sp>
      <p:sp>
        <p:nvSpPr>
          <p:cNvPr id="535" name="Text 14"/>
          <p:cNvSpPr txBox="1"/>
          <p:nvPr/>
        </p:nvSpPr>
        <p:spPr>
          <a:xfrm>
            <a:off x="600330" y="3183904"/>
            <a:ext cx="521493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· name: 疾病名称</a:t>
            </a:r>
          </a:p>
        </p:txBody>
      </p:sp>
      <p:sp>
        <p:nvSpPr>
          <p:cNvPr id="536" name="Text 15"/>
          <p:cNvSpPr txBox="1"/>
          <p:nvPr/>
        </p:nvSpPr>
        <p:spPr>
          <a:xfrm>
            <a:off x="600330" y="3374335"/>
            <a:ext cx="521493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· icd_code: ICD编码</a:t>
            </a:r>
          </a:p>
        </p:txBody>
      </p:sp>
      <p:sp>
        <p:nvSpPr>
          <p:cNvPr id="537" name="Text 16"/>
          <p:cNvSpPr txBox="1"/>
          <p:nvPr/>
        </p:nvSpPr>
        <p:spPr>
          <a:xfrm>
            <a:off x="600330" y="3564773"/>
            <a:ext cx="521493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· category: 代谢疾病/心血管疾病</a:t>
            </a:r>
          </a:p>
        </p:txBody>
      </p:sp>
      <p:sp>
        <p:nvSpPr>
          <p:cNvPr id="538" name="Shape 17"/>
          <p:cNvSpPr/>
          <p:nvPr/>
        </p:nvSpPr>
        <p:spPr>
          <a:xfrm>
            <a:off x="505113" y="3904374"/>
            <a:ext cx="5349876" cy="793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56" y="0"/>
                </a:moveTo>
                <a:lnTo>
                  <a:pt x="21344" y="0"/>
                </a:lnTo>
                <a:cubicBezTo>
                  <a:pt x="21485" y="0"/>
                  <a:pt x="21600" y="774"/>
                  <a:pt x="21600" y="1728"/>
                </a:cubicBezTo>
                <a:lnTo>
                  <a:pt x="21600" y="19872"/>
                </a:lnTo>
                <a:cubicBezTo>
                  <a:pt x="21600" y="20826"/>
                  <a:pt x="21485" y="21600"/>
                  <a:pt x="21344" y="21600"/>
                </a:cubicBezTo>
                <a:lnTo>
                  <a:pt x="256" y="21600"/>
                </a:lnTo>
                <a:cubicBezTo>
                  <a:pt x="115" y="21600"/>
                  <a:pt x="0" y="20826"/>
                  <a:pt x="0" y="19872"/>
                </a:cubicBezTo>
                <a:lnTo>
                  <a:pt x="0" y="1728"/>
                </a:lnTo>
                <a:cubicBezTo>
                  <a:pt x="0" y="774"/>
                  <a:pt x="115" y="0"/>
                  <a:pt x="25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9" name="Text 18"/>
          <p:cNvSpPr txBox="1"/>
          <p:nvPr/>
        </p:nvSpPr>
        <p:spPr>
          <a:xfrm>
            <a:off x="600330" y="4005934"/>
            <a:ext cx="522287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(:Symptom) 症状节点</a:t>
            </a:r>
          </a:p>
        </p:txBody>
      </p:sp>
      <p:sp>
        <p:nvSpPr>
          <p:cNvPr id="540" name="Text 19"/>
          <p:cNvSpPr txBox="1"/>
          <p:nvPr/>
        </p:nvSpPr>
        <p:spPr>
          <a:xfrm>
            <a:off x="600330" y="4263078"/>
            <a:ext cx="521493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· name: 症状名称</a:t>
            </a:r>
          </a:p>
        </p:txBody>
      </p:sp>
      <p:sp>
        <p:nvSpPr>
          <p:cNvPr id="541" name="Text 20"/>
          <p:cNvSpPr txBox="1"/>
          <p:nvPr/>
        </p:nvSpPr>
        <p:spPr>
          <a:xfrm>
            <a:off x="600330" y="4453509"/>
            <a:ext cx="521493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· severity: 轻度/中度/重度</a:t>
            </a:r>
          </a:p>
        </p:txBody>
      </p:sp>
      <p:sp>
        <p:nvSpPr>
          <p:cNvPr id="542" name="Shape 21"/>
          <p:cNvSpPr/>
          <p:nvPr/>
        </p:nvSpPr>
        <p:spPr>
          <a:xfrm>
            <a:off x="6189783" y="1238094"/>
            <a:ext cx="5681808" cy="3873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0" y="0"/>
                </a:moveTo>
                <a:lnTo>
                  <a:pt x="21238" y="0"/>
                </a:lnTo>
                <a:cubicBezTo>
                  <a:pt x="21438" y="0"/>
                  <a:pt x="21600" y="238"/>
                  <a:pt x="21600" y="531"/>
                </a:cubicBezTo>
                <a:lnTo>
                  <a:pt x="21600" y="21069"/>
                </a:lnTo>
                <a:cubicBezTo>
                  <a:pt x="21600" y="21362"/>
                  <a:pt x="21438" y="21600"/>
                  <a:pt x="21238" y="21600"/>
                </a:cubicBezTo>
                <a:lnTo>
                  <a:pt x="110" y="21600"/>
                </a:lnTo>
                <a:cubicBezTo>
                  <a:pt x="49" y="21600"/>
                  <a:pt x="0" y="21528"/>
                  <a:pt x="0" y="21439"/>
                </a:cubicBezTo>
                <a:lnTo>
                  <a:pt x="0" y="161"/>
                </a:lnTo>
                <a:cubicBezTo>
                  <a:pt x="0" y="72"/>
                  <a:pt x="49" y="0"/>
                  <a:pt x="110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43" name="Shape 22"/>
          <p:cNvSpPr/>
          <p:nvPr/>
        </p:nvSpPr>
        <p:spPr>
          <a:xfrm>
            <a:off x="6189783" y="1238094"/>
            <a:ext cx="28865" cy="3873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528"/>
                  <a:pt x="0" y="21439"/>
                </a:cubicBezTo>
                <a:lnTo>
                  <a:pt x="0" y="161"/>
                </a:lnTo>
                <a:cubicBezTo>
                  <a:pt x="0" y="72"/>
                  <a:pt x="9671" y="0"/>
                  <a:pt x="21600" y="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44" name="Shape 23"/>
          <p:cNvSpPr/>
          <p:nvPr/>
        </p:nvSpPr>
        <p:spPr>
          <a:xfrm>
            <a:off x="6372888" y="1438500"/>
            <a:ext cx="178595" cy="138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731" y="3084"/>
                </a:moveTo>
                <a:cubicBezTo>
                  <a:pt x="15109" y="3084"/>
                  <a:pt x="14505" y="3301"/>
                  <a:pt x="13976" y="3696"/>
                </a:cubicBezTo>
                <a:cubicBezTo>
                  <a:pt x="13384" y="2925"/>
                  <a:pt x="12694" y="2280"/>
                  <a:pt x="11933" y="1793"/>
                </a:cubicBezTo>
                <a:cubicBezTo>
                  <a:pt x="12990" y="636"/>
                  <a:pt x="14336" y="0"/>
                  <a:pt x="15731" y="0"/>
                </a:cubicBezTo>
                <a:cubicBezTo>
                  <a:pt x="18971" y="0"/>
                  <a:pt x="21600" y="3373"/>
                  <a:pt x="21600" y="7542"/>
                </a:cubicBezTo>
                <a:cubicBezTo>
                  <a:pt x="21600" y="9542"/>
                  <a:pt x="20981" y="11460"/>
                  <a:pt x="19882" y="12872"/>
                </a:cubicBezTo>
                <a:lnTo>
                  <a:pt x="17216" y="16299"/>
                </a:lnTo>
                <a:cubicBezTo>
                  <a:pt x="16117" y="17711"/>
                  <a:pt x="14625" y="18506"/>
                  <a:pt x="13069" y="18506"/>
                </a:cubicBezTo>
                <a:cubicBezTo>
                  <a:pt x="9829" y="18506"/>
                  <a:pt x="7200" y="15132"/>
                  <a:pt x="7200" y="10964"/>
                </a:cubicBezTo>
                <a:cubicBezTo>
                  <a:pt x="7200" y="10892"/>
                  <a:pt x="7200" y="10819"/>
                  <a:pt x="7204" y="10747"/>
                </a:cubicBezTo>
                <a:cubicBezTo>
                  <a:pt x="7222" y="9894"/>
                  <a:pt x="7774" y="9224"/>
                  <a:pt x="8437" y="9248"/>
                </a:cubicBezTo>
                <a:cubicBezTo>
                  <a:pt x="9101" y="9272"/>
                  <a:pt x="9622" y="9981"/>
                  <a:pt x="9604" y="10834"/>
                </a:cubicBezTo>
                <a:cubicBezTo>
                  <a:pt x="9604" y="10877"/>
                  <a:pt x="9604" y="10920"/>
                  <a:pt x="9604" y="10959"/>
                </a:cubicBezTo>
                <a:cubicBezTo>
                  <a:pt x="9604" y="13422"/>
                  <a:pt x="11156" y="15417"/>
                  <a:pt x="13072" y="15417"/>
                </a:cubicBezTo>
                <a:cubicBezTo>
                  <a:pt x="13991" y="15417"/>
                  <a:pt x="14872" y="14949"/>
                  <a:pt x="15525" y="14111"/>
                </a:cubicBezTo>
                <a:lnTo>
                  <a:pt x="18191" y="10684"/>
                </a:lnTo>
                <a:cubicBezTo>
                  <a:pt x="18840" y="9851"/>
                  <a:pt x="19207" y="8713"/>
                  <a:pt x="19207" y="7533"/>
                </a:cubicBezTo>
                <a:cubicBezTo>
                  <a:pt x="19207" y="5070"/>
                  <a:pt x="17655" y="3075"/>
                  <a:pt x="15739" y="3075"/>
                </a:cubicBezTo>
                <a:close/>
                <a:moveTo>
                  <a:pt x="10320" y="6810"/>
                </a:moveTo>
                <a:cubicBezTo>
                  <a:pt x="10249" y="6771"/>
                  <a:pt x="10177" y="6718"/>
                  <a:pt x="10114" y="6660"/>
                </a:cubicBezTo>
                <a:cubicBezTo>
                  <a:pt x="9641" y="6347"/>
                  <a:pt x="9101" y="6169"/>
                  <a:pt x="8535" y="6169"/>
                </a:cubicBezTo>
                <a:cubicBezTo>
                  <a:pt x="7616" y="6169"/>
                  <a:pt x="6735" y="6636"/>
                  <a:pt x="6083" y="7475"/>
                </a:cubicBezTo>
                <a:lnTo>
                  <a:pt x="3416" y="10901"/>
                </a:lnTo>
                <a:cubicBezTo>
                  <a:pt x="2767" y="11735"/>
                  <a:pt x="2400" y="12872"/>
                  <a:pt x="2400" y="14053"/>
                </a:cubicBezTo>
                <a:cubicBezTo>
                  <a:pt x="2400" y="16516"/>
                  <a:pt x="3952" y="18511"/>
                  <a:pt x="5869" y="18511"/>
                </a:cubicBezTo>
                <a:cubicBezTo>
                  <a:pt x="6487" y="18511"/>
                  <a:pt x="7091" y="18299"/>
                  <a:pt x="7620" y="17904"/>
                </a:cubicBezTo>
                <a:cubicBezTo>
                  <a:pt x="8213" y="18675"/>
                  <a:pt x="8902" y="19320"/>
                  <a:pt x="9667" y="19807"/>
                </a:cubicBezTo>
                <a:cubicBezTo>
                  <a:pt x="8610" y="20959"/>
                  <a:pt x="7267" y="21600"/>
                  <a:pt x="5869" y="21600"/>
                </a:cubicBezTo>
                <a:cubicBezTo>
                  <a:pt x="2629" y="21600"/>
                  <a:pt x="0" y="18227"/>
                  <a:pt x="0" y="14058"/>
                </a:cubicBezTo>
                <a:cubicBezTo>
                  <a:pt x="0" y="12058"/>
                  <a:pt x="619" y="10140"/>
                  <a:pt x="1718" y="8728"/>
                </a:cubicBezTo>
                <a:lnTo>
                  <a:pt x="4384" y="5301"/>
                </a:lnTo>
                <a:cubicBezTo>
                  <a:pt x="5483" y="3889"/>
                  <a:pt x="6975" y="3094"/>
                  <a:pt x="8531" y="3094"/>
                </a:cubicBezTo>
                <a:cubicBezTo>
                  <a:pt x="11779" y="3094"/>
                  <a:pt x="14400" y="6496"/>
                  <a:pt x="14400" y="10655"/>
                </a:cubicBezTo>
                <a:cubicBezTo>
                  <a:pt x="14400" y="10718"/>
                  <a:pt x="14400" y="10781"/>
                  <a:pt x="14400" y="10843"/>
                </a:cubicBezTo>
                <a:cubicBezTo>
                  <a:pt x="14385" y="11696"/>
                  <a:pt x="13834" y="12366"/>
                  <a:pt x="13170" y="12347"/>
                </a:cubicBezTo>
                <a:cubicBezTo>
                  <a:pt x="12506" y="12328"/>
                  <a:pt x="11985" y="11619"/>
                  <a:pt x="12000" y="10766"/>
                </a:cubicBezTo>
                <a:cubicBezTo>
                  <a:pt x="12000" y="10728"/>
                  <a:pt x="12000" y="10694"/>
                  <a:pt x="12000" y="10655"/>
                </a:cubicBezTo>
                <a:cubicBezTo>
                  <a:pt x="12000" y="9031"/>
                  <a:pt x="11325" y="7605"/>
                  <a:pt x="10320" y="6819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45" name="Text 24"/>
          <p:cNvSpPr txBox="1"/>
          <p:nvPr/>
        </p:nvSpPr>
        <p:spPr>
          <a:xfrm>
            <a:off x="6561403" y="1400019"/>
            <a:ext cx="523081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关系类型(Relationship Types)</a:t>
            </a:r>
          </a:p>
        </p:txBody>
      </p:sp>
      <p:sp>
        <p:nvSpPr>
          <p:cNvPr id="546" name="Shape 25"/>
          <p:cNvSpPr/>
          <p:nvPr/>
        </p:nvSpPr>
        <p:spPr>
          <a:xfrm>
            <a:off x="6362965" y="1746025"/>
            <a:ext cx="5349876" cy="730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56" y="0"/>
                </a:moveTo>
                <a:lnTo>
                  <a:pt x="21344" y="0"/>
                </a:lnTo>
                <a:cubicBezTo>
                  <a:pt x="21485" y="0"/>
                  <a:pt x="21600" y="841"/>
                  <a:pt x="21600" y="1878"/>
                </a:cubicBezTo>
                <a:lnTo>
                  <a:pt x="21600" y="19722"/>
                </a:lnTo>
                <a:cubicBezTo>
                  <a:pt x="21600" y="20759"/>
                  <a:pt x="21485" y="21600"/>
                  <a:pt x="21344" y="21600"/>
                </a:cubicBezTo>
                <a:lnTo>
                  <a:pt x="256" y="21600"/>
                </a:lnTo>
                <a:cubicBezTo>
                  <a:pt x="115" y="21600"/>
                  <a:pt x="0" y="20759"/>
                  <a:pt x="0" y="19722"/>
                </a:cubicBezTo>
                <a:lnTo>
                  <a:pt x="0" y="1878"/>
                </a:lnTo>
                <a:cubicBezTo>
                  <a:pt x="0" y="842"/>
                  <a:pt x="115" y="0"/>
                  <a:pt x="25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47" name="Text 26"/>
          <p:cNvSpPr txBox="1"/>
          <p:nvPr/>
        </p:nvSpPr>
        <p:spPr>
          <a:xfrm>
            <a:off x="6458182" y="1847594"/>
            <a:ext cx="522287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[:TREATS] 治疗关系</a:t>
            </a:r>
          </a:p>
        </p:txBody>
      </p:sp>
      <p:sp>
        <p:nvSpPr>
          <p:cNvPr id="548" name="Text 27"/>
          <p:cNvSpPr txBox="1"/>
          <p:nvPr/>
        </p:nvSpPr>
        <p:spPr>
          <a:xfrm>
            <a:off x="6458182" y="2079345"/>
            <a:ext cx="52149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(:Drug)-[:TREATS]-&gt;(:Disease)</a:t>
            </a:r>
          </a:p>
        </p:txBody>
      </p:sp>
      <p:sp>
        <p:nvSpPr>
          <p:cNvPr id="549" name="Text 28"/>
          <p:cNvSpPr txBox="1"/>
          <p:nvPr/>
        </p:nvSpPr>
        <p:spPr>
          <a:xfrm>
            <a:off x="6458182" y="2231692"/>
            <a:ext cx="521493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药物治疗疾病</a:t>
            </a:r>
          </a:p>
        </p:txBody>
      </p:sp>
      <p:sp>
        <p:nvSpPr>
          <p:cNvPr id="550" name="Shape 29"/>
          <p:cNvSpPr/>
          <p:nvPr/>
        </p:nvSpPr>
        <p:spPr>
          <a:xfrm>
            <a:off x="6362965" y="2571293"/>
            <a:ext cx="5349876" cy="730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56" y="0"/>
                </a:moveTo>
                <a:lnTo>
                  <a:pt x="21344" y="0"/>
                </a:lnTo>
                <a:cubicBezTo>
                  <a:pt x="21485" y="0"/>
                  <a:pt x="21600" y="841"/>
                  <a:pt x="21600" y="1878"/>
                </a:cubicBezTo>
                <a:lnTo>
                  <a:pt x="21600" y="19722"/>
                </a:lnTo>
                <a:cubicBezTo>
                  <a:pt x="21600" y="20759"/>
                  <a:pt x="21485" y="21600"/>
                  <a:pt x="21344" y="21600"/>
                </a:cubicBezTo>
                <a:lnTo>
                  <a:pt x="256" y="21600"/>
                </a:lnTo>
                <a:cubicBezTo>
                  <a:pt x="115" y="21600"/>
                  <a:pt x="0" y="20759"/>
                  <a:pt x="0" y="19722"/>
                </a:cubicBezTo>
                <a:lnTo>
                  <a:pt x="0" y="1878"/>
                </a:lnTo>
                <a:cubicBezTo>
                  <a:pt x="0" y="842"/>
                  <a:pt x="115" y="0"/>
                  <a:pt x="25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1" name="Text 30"/>
          <p:cNvSpPr txBox="1"/>
          <p:nvPr/>
        </p:nvSpPr>
        <p:spPr>
          <a:xfrm>
            <a:off x="6458182" y="2672853"/>
            <a:ext cx="522287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[:CONTRAINDICATED] 禁忌关系</a:t>
            </a:r>
          </a:p>
        </p:txBody>
      </p:sp>
      <p:sp>
        <p:nvSpPr>
          <p:cNvPr id="552" name="Text 31"/>
          <p:cNvSpPr txBox="1"/>
          <p:nvPr/>
        </p:nvSpPr>
        <p:spPr>
          <a:xfrm>
            <a:off x="6458182" y="2904606"/>
            <a:ext cx="52149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(:Drug)-[:CONTRAINDICATED]-&gt;(:Disease)</a:t>
            </a:r>
          </a:p>
        </p:txBody>
      </p:sp>
      <p:sp>
        <p:nvSpPr>
          <p:cNvPr id="553" name="Text 32"/>
          <p:cNvSpPr txBox="1"/>
          <p:nvPr/>
        </p:nvSpPr>
        <p:spPr>
          <a:xfrm>
            <a:off x="6458182" y="3056951"/>
            <a:ext cx="521493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药物禁忌疾病</a:t>
            </a:r>
          </a:p>
        </p:txBody>
      </p:sp>
      <p:sp>
        <p:nvSpPr>
          <p:cNvPr id="554" name="Shape 33"/>
          <p:cNvSpPr/>
          <p:nvPr/>
        </p:nvSpPr>
        <p:spPr>
          <a:xfrm>
            <a:off x="6362965" y="3396551"/>
            <a:ext cx="5349876" cy="730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56" y="0"/>
                </a:moveTo>
                <a:lnTo>
                  <a:pt x="21344" y="0"/>
                </a:lnTo>
                <a:cubicBezTo>
                  <a:pt x="21485" y="0"/>
                  <a:pt x="21600" y="841"/>
                  <a:pt x="21600" y="1878"/>
                </a:cubicBezTo>
                <a:lnTo>
                  <a:pt x="21600" y="19722"/>
                </a:lnTo>
                <a:cubicBezTo>
                  <a:pt x="21600" y="20759"/>
                  <a:pt x="21485" y="21600"/>
                  <a:pt x="21344" y="21600"/>
                </a:cubicBezTo>
                <a:lnTo>
                  <a:pt x="256" y="21600"/>
                </a:lnTo>
                <a:cubicBezTo>
                  <a:pt x="115" y="21600"/>
                  <a:pt x="0" y="20759"/>
                  <a:pt x="0" y="19722"/>
                </a:cubicBezTo>
                <a:lnTo>
                  <a:pt x="0" y="1878"/>
                </a:lnTo>
                <a:cubicBezTo>
                  <a:pt x="0" y="842"/>
                  <a:pt x="115" y="0"/>
                  <a:pt x="25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5" name="Text 34"/>
          <p:cNvSpPr txBox="1"/>
          <p:nvPr/>
        </p:nvSpPr>
        <p:spPr>
          <a:xfrm>
            <a:off x="6458182" y="3498120"/>
            <a:ext cx="522287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[:INTERACTS_WITH] 相互作用</a:t>
            </a:r>
          </a:p>
        </p:txBody>
      </p:sp>
      <p:sp>
        <p:nvSpPr>
          <p:cNvPr id="556" name="Text 35"/>
          <p:cNvSpPr txBox="1"/>
          <p:nvPr/>
        </p:nvSpPr>
        <p:spPr>
          <a:xfrm>
            <a:off x="6458182" y="3729873"/>
            <a:ext cx="52149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(:Drug)-[:INTERACTS_WITH]-&gt;(:Drug)</a:t>
            </a:r>
          </a:p>
        </p:txBody>
      </p:sp>
      <p:sp>
        <p:nvSpPr>
          <p:cNvPr id="557" name="Text 36"/>
          <p:cNvSpPr txBox="1"/>
          <p:nvPr/>
        </p:nvSpPr>
        <p:spPr>
          <a:xfrm>
            <a:off x="6458182" y="3882211"/>
            <a:ext cx="521493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药物-药物相互作用</a:t>
            </a:r>
          </a:p>
        </p:txBody>
      </p:sp>
      <p:sp>
        <p:nvSpPr>
          <p:cNvPr id="558" name="Shape 37"/>
          <p:cNvSpPr/>
          <p:nvPr/>
        </p:nvSpPr>
        <p:spPr>
          <a:xfrm>
            <a:off x="6362965" y="4221812"/>
            <a:ext cx="5349876" cy="730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56" y="0"/>
                </a:moveTo>
                <a:lnTo>
                  <a:pt x="21344" y="0"/>
                </a:lnTo>
                <a:cubicBezTo>
                  <a:pt x="21485" y="0"/>
                  <a:pt x="21600" y="841"/>
                  <a:pt x="21600" y="1878"/>
                </a:cubicBezTo>
                <a:lnTo>
                  <a:pt x="21600" y="19722"/>
                </a:lnTo>
                <a:cubicBezTo>
                  <a:pt x="21600" y="20759"/>
                  <a:pt x="21485" y="21600"/>
                  <a:pt x="21344" y="21600"/>
                </a:cubicBezTo>
                <a:lnTo>
                  <a:pt x="256" y="21600"/>
                </a:lnTo>
                <a:cubicBezTo>
                  <a:pt x="115" y="21600"/>
                  <a:pt x="0" y="20759"/>
                  <a:pt x="0" y="19722"/>
                </a:cubicBezTo>
                <a:lnTo>
                  <a:pt x="0" y="1878"/>
                </a:lnTo>
                <a:cubicBezTo>
                  <a:pt x="0" y="842"/>
                  <a:pt x="115" y="0"/>
                  <a:pt x="25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9" name="Text 38"/>
          <p:cNvSpPr txBox="1"/>
          <p:nvPr/>
        </p:nvSpPr>
        <p:spPr>
          <a:xfrm>
            <a:off x="6458182" y="4323381"/>
            <a:ext cx="522287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[:HAS_SYMPTOM] 症状关系</a:t>
            </a:r>
          </a:p>
        </p:txBody>
      </p:sp>
      <p:sp>
        <p:nvSpPr>
          <p:cNvPr id="560" name="Text 39"/>
          <p:cNvSpPr txBox="1"/>
          <p:nvPr/>
        </p:nvSpPr>
        <p:spPr>
          <a:xfrm>
            <a:off x="6458182" y="4555132"/>
            <a:ext cx="52149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(:Disease)-[:HAS_SYMPTOM]-&gt;(:Symptom)</a:t>
            </a:r>
          </a:p>
        </p:txBody>
      </p:sp>
      <p:sp>
        <p:nvSpPr>
          <p:cNvPr id="561" name="Text 40"/>
          <p:cNvSpPr txBox="1"/>
          <p:nvPr/>
        </p:nvSpPr>
        <p:spPr>
          <a:xfrm>
            <a:off x="6458182" y="4707478"/>
            <a:ext cx="521493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疾病有症状</a:t>
            </a:r>
          </a:p>
        </p:txBody>
      </p:sp>
      <p:sp>
        <p:nvSpPr>
          <p:cNvPr id="562" name="Shape 41"/>
          <p:cNvSpPr/>
          <p:nvPr/>
        </p:nvSpPr>
        <p:spPr>
          <a:xfrm>
            <a:off x="324715" y="5244779"/>
            <a:ext cx="11539684" cy="17130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8" y="0"/>
                </a:moveTo>
                <a:lnTo>
                  <a:pt x="21422" y="0"/>
                </a:lnTo>
                <a:cubicBezTo>
                  <a:pt x="21520" y="0"/>
                  <a:pt x="21600" y="538"/>
                  <a:pt x="21600" y="1201"/>
                </a:cubicBezTo>
                <a:lnTo>
                  <a:pt x="21600" y="20399"/>
                </a:lnTo>
                <a:cubicBezTo>
                  <a:pt x="21600" y="21062"/>
                  <a:pt x="21520" y="21600"/>
                  <a:pt x="21422" y="21600"/>
                </a:cubicBezTo>
                <a:lnTo>
                  <a:pt x="178" y="21600"/>
                </a:lnTo>
                <a:cubicBezTo>
                  <a:pt x="80" y="21600"/>
                  <a:pt x="0" y="21062"/>
                  <a:pt x="0" y="20399"/>
                </a:cubicBezTo>
                <a:lnTo>
                  <a:pt x="0" y="1201"/>
                </a:lnTo>
                <a:cubicBezTo>
                  <a:pt x="0" y="538"/>
                  <a:pt x="80" y="0"/>
                  <a:pt x="178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23091">
            <a:solidFill>
              <a:srgbClr val="4A6C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3" name="Shape 42"/>
          <p:cNvSpPr/>
          <p:nvPr/>
        </p:nvSpPr>
        <p:spPr>
          <a:xfrm>
            <a:off x="520447" y="5442489"/>
            <a:ext cx="138907" cy="158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8682"/>
                </a:moveTo>
                <a:cubicBezTo>
                  <a:pt x="20886" y="9096"/>
                  <a:pt x="20067" y="9429"/>
                  <a:pt x="19213" y="9695"/>
                </a:cubicBezTo>
                <a:cubicBezTo>
                  <a:pt x="16947" y="10403"/>
                  <a:pt x="13973" y="10800"/>
                  <a:pt x="10800" y="10800"/>
                </a:cubicBezTo>
                <a:cubicBezTo>
                  <a:pt x="7627" y="10800"/>
                  <a:pt x="4648" y="10399"/>
                  <a:pt x="2387" y="9695"/>
                </a:cubicBezTo>
                <a:cubicBezTo>
                  <a:pt x="1538" y="9429"/>
                  <a:pt x="714" y="9096"/>
                  <a:pt x="0" y="8682"/>
                </a:cubicBezTo>
                <a:lnTo>
                  <a:pt x="0" y="12150"/>
                </a:lnTo>
                <a:cubicBezTo>
                  <a:pt x="0" y="14015"/>
                  <a:pt x="4836" y="15525"/>
                  <a:pt x="10800" y="15525"/>
                </a:cubicBezTo>
                <a:cubicBezTo>
                  <a:pt x="16764" y="15525"/>
                  <a:pt x="21600" y="14015"/>
                  <a:pt x="21600" y="12150"/>
                </a:cubicBezTo>
                <a:lnTo>
                  <a:pt x="21600" y="8682"/>
                </a:lnTo>
                <a:close/>
                <a:moveTo>
                  <a:pt x="21600" y="5400"/>
                </a:moveTo>
                <a:lnTo>
                  <a:pt x="21600" y="3375"/>
                </a:lnTo>
                <a:cubicBezTo>
                  <a:pt x="21600" y="1510"/>
                  <a:pt x="16764" y="0"/>
                  <a:pt x="10800" y="0"/>
                </a:cubicBezTo>
                <a:cubicBezTo>
                  <a:pt x="4836" y="0"/>
                  <a:pt x="0" y="1510"/>
                  <a:pt x="0" y="3375"/>
                </a:cubicBezTo>
                <a:lnTo>
                  <a:pt x="0" y="5400"/>
                </a:lnTo>
                <a:cubicBezTo>
                  <a:pt x="0" y="7265"/>
                  <a:pt x="4836" y="8775"/>
                  <a:pt x="10800" y="8775"/>
                </a:cubicBezTo>
                <a:cubicBezTo>
                  <a:pt x="16764" y="8775"/>
                  <a:pt x="21600" y="7265"/>
                  <a:pt x="21600" y="5400"/>
                </a:cubicBezTo>
                <a:close/>
                <a:moveTo>
                  <a:pt x="19213" y="16445"/>
                </a:moveTo>
                <a:cubicBezTo>
                  <a:pt x="16952" y="17149"/>
                  <a:pt x="13977" y="17550"/>
                  <a:pt x="10800" y="17550"/>
                </a:cubicBezTo>
                <a:cubicBezTo>
                  <a:pt x="7623" y="17550"/>
                  <a:pt x="4648" y="17149"/>
                  <a:pt x="2387" y="16445"/>
                </a:cubicBezTo>
                <a:cubicBezTo>
                  <a:pt x="1538" y="16179"/>
                  <a:pt x="714" y="15846"/>
                  <a:pt x="0" y="15432"/>
                </a:cubicBezTo>
                <a:lnTo>
                  <a:pt x="0" y="18225"/>
                </a:lnTo>
                <a:cubicBezTo>
                  <a:pt x="0" y="20090"/>
                  <a:pt x="4836" y="21600"/>
                  <a:pt x="10800" y="21600"/>
                </a:cubicBezTo>
                <a:cubicBezTo>
                  <a:pt x="16764" y="21600"/>
                  <a:pt x="21600" y="20090"/>
                  <a:pt x="21600" y="18225"/>
                </a:cubicBezTo>
                <a:lnTo>
                  <a:pt x="21600" y="15432"/>
                </a:lnTo>
                <a:cubicBezTo>
                  <a:pt x="20886" y="15846"/>
                  <a:pt x="20067" y="16179"/>
                  <a:pt x="19213" y="16445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4" name="Text 43"/>
          <p:cNvSpPr txBox="1"/>
          <p:nvPr/>
        </p:nvSpPr>
        <p:spPr>
          <a:xfrm>
            <a:off x="689118" y="5413921"/>
            <a:ext cx="1108869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知识图谱规模</a:t>
            </a:r>
          </a:p>
        </p:txBody>
      </p:sp>
      <p:sp>
        <p:nvSpPr>
          <p:cNvPr id="565" name="Shape 44"/>
          <p:cNvSpPr/>
          <p:nvPr/>
        </p:nvSpPr>
        <p:spPr>
          <a:xfrm>
            <a:off x="490681" y="5728192"/>
            <a:ext cx="2706690" cy="10636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7" y="0"/>
                </a:moveTo>
                <a:lnTo>
                  <a:pt x="21093" y="0"/>
                </a:lnTo>
                <a:cubicBezTo>
                  <a:pt x="21373" y="0"/>
                  <a:pt x="21600" y="577"/>
                  <a:pt x="21600" y="1290"/>
                </a:cubicBezTo>
                <a:lnTo>
                  <a:pt x="21600" y="20310"/>
                </a:lnTo>
                <a:cubicBezTo>
                  <a:pt x="21600" y="21023"/>
                  <a:pt x="21373" y="21600"/>
                  <a:pt x="21093" y="21600"/>
                </a:cubicBezTo>
                <a:lnTo>
                  <a:pt x="507" y="21600"/>
                </a:lnTo>
                <a:cubicBezTo>
                  <a:pt x="227" y="21600"/>
                  <a:pt x="0" y="21023"/>
                  <a:pt x="0" y="20310"/>
                </a:cubicBezTo>
                <a:lnTo>
                  <a:pt x="0" y="1290"/>
                </a:lnTo>
                <a:cubicBezTo>
                  <a:pt x="0" y="578"/>
                  <a:pt x="227" y="0"/>
                  <a:pt x="507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6" name="Shape 45"/>
          <p:cNvSpPr/>
          <p:nvPr/>
        </p:nvSpPr>
        <p:spPr>
          <a:xfrm>
            <a:off x="1727318" y="5855146"/>
            <a:ext cx="238126" cy="2381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700" y="4725"/>
                </a:moveTo>
                <a:cubicBezTo>
                  <a:pt x="2700" y="3607"/>
                  <a:pt x="3607" y="2700"/>
                  <a:pt x="4725" y="2700"/>
                </a:cubicBezTo>
                <a:cubicBezTo>
                  <a:pt x="5843" y="2700"/>
                  <a:pt x="6750" y="3607"/>
                  <a:pt x="6750" y="4725"/>
                </a:cubicBezTo>
                <a:lnTo>
                  <a:pt x="6750" y="9450"/>
                </a:lnTo>
                <a:lnTo>
                  <a:pt x="2700" y="9450"/>
                </a:lnTo>
                <a:lnTo>
                  <a:pt x="2700" y="4725"/>
                </a:lnTo>
                <a:close/>
                <a:moveTo>
                  <a:pt x="7425" y="15525"/>
                </a:moveTo>
                <a:cubicBezTo>
                  <a:pt x="7425" y="13471"/>
                  <a:pt x="8189" y="11593"/>
                  <a:pt x="9450" y="10167"/>
                </a:cubicBezTo>
                <a:lnTo>
                  <a:pt x="9450" y="4725"/>
                </a:lnTo>
                <a:cubicBezTo>
                  <a:pt x="9450" y="2114"/>
                  <a:pt x="7336" y="0"/>
                  <a:pt x="4725" y="0"/>
                </a:cubicBezTo>
                <a:cubicBezTo>
                  <a:pt x="2114" y="0"/>
                  <a:pt x="0" y="2114"/>
                  <a:pt x="0" y="4725"/>
                </a:cubicBezTo>
                <a:lnTo>
                  <a:pt x="0" y="16875"/>
                </a:lnTo>
                <a:cubicBezTo>
                  <a:pt x="0" y="19486"/>
                  <a:pt x="2114" y="21600"/>
                  <a:pt x="4725" y="21600"/>
                </a:cubicBezTo>
                <a:cubicBezTo>
                  <a:pt x="6299" y="21600"/>
                  <a:pt x="7691" y="20832"/>
                  <a:pt x="8551" y="19647"/>
                </a:cubicBezTo>
                <a:cubicBezTo>
                  <a:pt x="7834" y="18440"/>
                  <a:pt x="7425" y="17031"/>
                  <a:pt x="7425" y="15525"/>
                </a:cubicBezTo>
                <a:close/>
                <a:moveTo>
                  <a:pt x="10155" y="18368"/>
                </a:moveTo>
                <a:cubicBezTo>
                  <a:pt x="10349" y="18736"/>
                  <a:pt x="10842" y="18778"/>
                  <a:pt x="11137" y="18482"/>
                </a:cubicBezTo>
                <a:lnTo>
                  <a:pt x="18482" y="11137"/>
                </a:lnTo>
                <a:cubicBezTo>
                  <a:pt x="18778" y="10842"/>
                  <a:pt x="18736" y="10349"/>
                  <a:pt x="18368" y="10155"/>
                </a:cubicBezTo>
                <a:cubicBezTo>
                  <a:pt x="17520" y="9703"/>
                  <a:pt x="16554" y="9450"/>
                  <a:pt x="15525" y="9450"/>
                </a:cubicBezTo>
                <a:cubicBezTo>
                  <a:pt x="12171" y="9450"/>
                  <a:pt x="9450" y="12171"/>
                  <a:pt x="9450" y="15525"/>
                </a:cubicBezTo>
                <a:cubicBezTo>
                  <a:pt x="9450" y="16550"/>
                  <a:pt x="9703" y="17520"/>
                  <a:pt x="10155" y="18368"/>
                </a:cubicBezTo>
                <a:close/>
                <a:moveTo>
                  <a:pt x="12568" y="19912"/>
                </a:moveTo>
                <a:cubicBezTo>
                  <a:pt x="12272" y="20208"/>
                  <a:pt x="12315" y="20701"/>
                  <a:pt x="12682" y="20895"/>
                </a:cubicBezTo>
                <a:cubicBezTo>
                  <a:pt x="13530" y="21347"/>
                  <a:pt x="14496" y="21600"/>
                  <a:pt x="15525" y="21600"/>
                </a:cubicBezTo>
                <a:cubicBezTo>
                  <a:pt x="18879" y="21600"/>
                  <a:pt x="21600" y="18879"/>
                  <a:pt x="21600" y="15525"/>
                </a:cubicBezTo>
                <a:cubicBezTo>
                  <a:pt x="21600" y="14500"/>
                  <a:pt x="21347" y="13530"/>
                  <a:pt x="20895" y="12682"/>
                </a:cubicBezTo>
                <a:cubicBezTo>
                  <a:pt x="20701" y="12315"/>
                  <a:pt x="20208" y="12272"/>
                  <a:pt x="19912" y="12568"/>
                </a:cubicBezTo>
                <a:lnTo>
                  <a:pt x="12568" y="19912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7" name="Text 46"/>
          <p:cNvSpPr txBox="1"/>
          <p:nvPr/>
        </p:nvSpPr>
        <p:spPr>
          <a:xfrm>
            <a:off x="585886" y="6163097"/>
            <a:ext cx="251619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药物节点</a:t>
            </a:r>
          </a:p>
        </p:txBody>
      </p:sp>
      <p:sp>
        <p:nvSpPr>
          <p:cNvPr id="568" name="Text 47"/>
          <p:cNvSpPr txBox="1"/>
          <p:nvPr/>
        </p:nvSpPr>
        <p:spPr>
          <a:xfrm>
            <a:off x="558104" y="6382149"/>
            <a:ext cx="257175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651</a:t>
            </a:r>
          </a:p>
        </p:txBody>
      </p:sp>
      <p:sp>
        <p:nvSpPr>
          <p:cNvPr id="569" name="Shape 48"/>
          <p:cNvSpPr/>
          <p:nvPr/>
        </p:nvSpPr>
        <p:spPr>
          <a:xfrm>
            <a:off x="3325067" y="5728192"/>
            <a:ext cx="2706690" cy="10636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7" y="0"/>
                </a:moveTo>
                <a:lnTo>
                  <a:pt x="21093" y="0"/>
                </a:lnTo>
                <a:cubicBezTo>
                  <a:pt x="21373" y="0"/>
                  <a:pt x="21600" y="577"/>
                  <a:pt x="21600" y="1290"/>
                </a:cubicBezTo>
                <a:lnTo>
                  <a:pt x="21600" y="20310"/>
                </a:lnTo>
                <a:cubicBezTo>
                  <a:pt x="21600" y="21023"/>
                  <a:pt x="21373" y="21600"/>
                  <a:pt x="21093" y="21600"/>
                </a:cubicBezTo>
                <a:lnTo>
                  <a:pt x="507" y="21600"/>
                </a:lnTo>
                <a:cubicBezTo>
                  <a:pt x="227" y="21600"/>
                  <a:pt x="0" y="21023"/>
                  <a:pt x="0" y="20310"/>
                </a:cubicBezTo>
                <a:lnTo>
                  <a:pt x="0" y="1290"/>
                </a:lnTo>
                <a:cubicBezTo>
                  <a:pt x="0" y="578"/>
                  <a:pt x="227" y="0"/>
                  <a:pt x="507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0" name="Shape 49"/>
          <p:cNvSpPr/>
          <p:nvPr/>
        </p:nvSpPr>
        <p:spPr>
          <a:xfrm>
            <a:off x="4561752" y="5855146"/>
            <a:ext cx="238172" cy="2381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971" y="1240"/>
                </a:moveTo>
                <a:lnTo>
                  <a:pt x="9444" y="2025"/>
                </a:lnTo>
                <a:cubicBezTo>
                  <a:pt x="8600" y="3290"/>
                  <a:pt x="7183" y="4049"/>
                  <a:pt x="5660" y="4049"/>
                </a:cubicBezTo>
                <a:lnTo>
                  <a:pt x="2864" y="4049"/>
                </a:lnTo>
                <a:cubicBezTo>
                  <a:pt x="1282" y="4049"/>
                  <a:pt x="0" y="5331"/>
                  <a:pt x="0" y="6913"/>
                </a:cubicBezTo>
                <a:cubicBezTo>
                  <a:pt x="0" y="7672"/>
                  <a:pt x="304" y="8398"/>
                  <a:pt x="839" y="8934"/>
                </a:cubicBezTo>
                <a:lnTo>
                  <a:pt x="1978" y="10072"/>
                </a:lnTo>
                <a:cubicBezTo>
                  <a:pt x="2442" y="10536"/>
                  <a:pt x="2704" y="11165"/>
                  <a:pt x="2704" y="11823"/>
                </a:cubicBezTo>
                <a:cubicBezTo>
                  <a:pt x="2704" y="12489"/>
                  <a:pt x="2434" y="13126"/>
                  <a:pt x="1957" y="13594"/>
                </a:cubicBezTo>
                <a:lnTo>
                  <a:pt x="1405" y="14134"/>
                </a:lnTo>
                <a:cubicBezTo>
                  <a:pt x="936" y="14590"/>
                  <a:pt x="675" y="15218"/>
                  <a:pt x="675" y="15872"/>
                </a:cubicBezTo>
                <a:cubicBezTo>
                  <a:pt x="675" y="17424"/>
                  <a:pt x="2113" y="18580"/>
                  <a:pt x="3632" y="18243"/>
                </a:cubicBezTo>
                <a:lnTo>
                  <a:pt x="6259" y="17660"/>
                </a:lnTo>
                <a:cubicBezTo>
                  <a:pt x="6584" y="17589"/>
                  <a:pt x="6922" y="17551"/>
                  <a:pt x="7255" y="17551"/>
                </a:cubicBezTo>
                <a:cubicBezTo>
                  <a:pt x="8638" y="17551"/>
                  <a:pt x="9963" y="18167"/>
                  <a:pt x="10848" y="19230"/>
                </a:cubicBezTo>
                <a:lnTo>
                  <a:pt x="12135" y="20773"/>
                </a:lnTo>
                <a:cubicBezTo>
                  <a:pt x="12574" y="21296"/>
                  <a:pt x="13219" y="21600"/>
                  <a:pt x="13902" y="21600"/>
                </a:cubicBezTo>
                <a:cubicBezTo>
                  <a:pt x="15172" y="21600"/>
                  <a:pt x="16201" y="20571"/>
                  <a:pt x="16201" y="19301"/>
                </a:cubicBezTo>
                <a:lnTo>
                  <a:pt x="16201" y="17142"/>
                </a:lnTo>
                <a:cubicBezTo>
                  <a:pt x="16201" y="15395"/>
                  <a:pt x="17272" y="13831"/>
                  <a:pt x="18900" y="13198"/>
                </a:cubicBezTo>
                <a:lnTo>
                  <a:pt x="19837" y="12835"/>
                </a:lnTo>
                <a:cubicBezTo>
                  <a:pt x="20900" y="12422"/>
                  <a:pt x="21600" y="11397"/>
                  <a:pt x="21600" y="10258"/>
                </a:cubicBezTo>
                <a:cubicBezTo>
                  <a:pt x="21600" y="9144"/>
                  <a:pt x="20929" y="8136"/>
                  <a:pt x="19900" y="7706"/>
                </a:cubicBezTo>
                <a:lnTo>
                  <a:pt x="18091" y="6951"/>
                </a:lnTo>
                <a:cubicBezTo>
                  <a:pt x="16690" y="6365"/>
                  <a:pt x="15661" y="5137"/>
                  <a:pt x="15328" y="3657"/>
                </a:cubicBezTo>
                <a:lnTo>
                  <a:pt x="14995" y="2172"/>
                </a:lnTo>
                <a:cubicBezTo>
                  <a:pt x="14708" y="903"/>
                  <a:pt x="13582" y="0"/>
                  <a:pt x="12283" y="0"/>
                </a:cubicBezTo>
                <a:cubicBezTo>
                  <a:pt x="11355" y="0"/>
                  <a:pt x="10486" y="464"/>
                  <a:pt x="9971" y="1240"/>
                </a:cubicBezTo>
                <a:close/>
                <a:moveTo>
                  <a:pt x="6744" y="8098"/>
                </a:moveTo>
                <a:cubicBezTo>
                  <a:pt x="7489" y="8098"/>
                  <a:pt x="8094" y="8703"/>
                  <a:pt x="8094" y="9448"/>
                </a:cubicBezTo>
                <a:cubicBezTo>
                  <a:pt x="8094" y="10193"/>
                  <a:pt x="7489" y="10798"/>
                  <a:pt x="6744" y="10798"/>
                </a:cubicBezTo>
                <a:cubicBezTo>
                  <a:pt x="5999" y="10798"/>
                  <a:pt x="5395" y="10193"/>
                  <a:pt x="5395" y="9448"/>
                </a:cubicBezTo>
                <a:cubicBezTo>
                  <a:pt x="5395" y="8703"/>
                  <a:pt x="5999" y="8098"/>
                  <a:pt x="6744" y="8098"/>
                </a:cubicBezTo>
                <a:close/>
                <a:moveTo>
                  <a:pt x="10794" y="8098"/>
                </a:moveTo>
                <a:cubicBezTo>
                  <a:pt x="10794" y="7353"/>
                  <a:pt x="11398" y="6749"/>
                  <a:pt x="12143" y="6749"/>
                </a:cubicBezTo>
                <a:cubicBezTo>
                  <a:pt x="12888" y="6749"/>
                  <a:pt x="13493" y="7353"/>
                  <a:pt x="13493" y="8098"/>
                </a:cubicBezTo>
                <a:cubicBezTo>
                  <a:pt x="13493" y="8843"/>
                  <a:pt x="12888" y="9448"/>
                  <a:pt x="12143" y="9448"/>
                </a:cubicBezTo>
                <a:cubicBezTo>
                  <a:pt x="11398" y="9448"/>
                  <a:pt x="10794" y="8843"/>
                  <a:pt x="10794" y="8098"/>
                </a:cubicBezTo>
                <a:close/>
                <a:moveTo>
                  <a:pt x="12143" y="12148"/>
                </a:moveTo>
                <a:cubicBezTo>
                  <a:pt x="12888" y="12148"/>
                  <a:pt x="13493" y="12752"/>
                  <a:pt x="13493" y="13497"/>
                </a:cubicBezTo>
                <a:cubicBezTo>
                  <a:pt x="13493" y="14242"/>
                  <a:pt x="12888" y="14847"/>
                  <a:pt x="12143" y="14847"/>
                </a:cubicBezTo>
                <a:cubicBezTo>
                  <a:pt x="11398" y="14847"/>
                  <a:pt x="10794" y="14242"/>
                  <a:pt x="10794" y="13497"/>
                </a:cubicBezTo>
                <a:cubicBezTo>
                  <a:pt x="10794" y="12752"/>
                  <a:pt x="11398" y="12148"/>
                  <a:pt x="12143" y="12148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1" name="Text 50"/>
          <p:cNvSpPr txBox="1"/>
          <p:nvPr/>
        </p:nvSpPr>
        <p:spPr>
          <a:xfrm>
            <a:off x="3420273" y="6163097"/>
            <a:ext cx="251618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疾病节点</a:t>
            </a:r>
          </a:p>
        </p:txBody>
      </p:sp>
      <p:sp>
        <p:nvSpPr>
          <p:cNvPr id="572" name="Text 51"/>
          <p:cNvSpPr txBox="1"/>
          <p:nvPr/>
        </p:nvSpPr>
        <p:spPr>
          <a:xfrm>
            <a:off x="3392492" y="6382149"/>
            <a:ext cx="257175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200+</a:t>
            </a:r>
          </a:p>
        </p:txBody>
      </p:sp>
      <p:sp>
        <p:nvSpPr>
          <p:cNvPr id="573" name="Shape 52"/>
          <p:cNvSpPr/>
          <p:nvPr/>
        </p:nvSpPr>
        <p:spPr>
          <a:xfrm>
            <a:off x="6159453" y="5728192"/>
            <a:ext cx="2706689" cy="10636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7" y="0"/>
                </a:moveTo>
                <a:lnTo>
                  <a:pt x="21093" y="0"/>
                </a:lnTo>
                <a:cubicBezTo>
                  <a:pt x="21373" y="0"/>
                  <a:pt x="21600" y="577"/>
                  <a:pt x="21600" y="1290"/>
                </a:cubicBezTo>
                <a:lnTo>
                  <a:pt x="21600" y="20310"/>
                </a:lnTo>
                <a:cubicBezTo>
                  <a:pt x="21600" y="21023"/>
                  <a:pt x="21373" y="21600"/>
                  <a:pt x="21093" y="21600"/>
                </a:cubicBezTo>
                <a:lnTo>
                  <a:pt x="507" y="21600"/>
                </a:lnTo>
                <a:cubicBezTo>
                  <a:pt x="227" y="21600"/>
                  <a:pt x="0" y="21023"/>
                  <a:pt x="0" y="20310"/>
                </a:cubicBezTo>
                <a:lnTo>
                  <a:pt x="0" y="1290"/>
                </a:lnTo>
                <a:cubicBezTo>
                  <a:pt x="0" y="578"/>
                  <a:pt x="227" y="0"/>
                  <a:pt x="507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4" name="Shape 53"/>
          <p:cNvSpPr/>
          <p:nvPr/>
        </p:nvSpPr>
        <p:spPr>
          <a:xfrm>
            <a:off x="7396091" y="5870028"/>
            <a:ext cx="238173" cy="2084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98" y="3659"/>
                </a:moveTo>
                <a:lnTo>
                  <a:pt x="10165" y="2656"/>
                </a:lnTo>
                <a:cubicBezTo>
                  <a:pt x="9111" y="988"/>
                  <a:pt x="7419" y="0"/>
                  <a:pt x="5614" y="0"/>
                </a:cubicBezTo>
                <a:cubicBezTo>
                  <a:pt x="2514" y="0"/>
                  <a:pt x="0" y="2873"/>
                  <a:pt x="0" y="6416"/>
                </a:cubicBezTo>
                <a:lnTo>
                  <a:pt x="0" y="6541"/>
                </a:lnTo>
                <a:cubicBezTo>
                  <a:pt x="0" y="7679"/>
                  <a:pt x="262" y="8855"/>
                  <a:pt x="700" y="10026"/>
                </a:cubicBezTo>
                <a:lnTo>
                  <a:pt x="5171" y="10026"/>
                </a:lnTo>
                <a:cubicBezTo>
                  <a:pt x="5306" y="10026"/>
                  <a:pt x="5428" y="9935"/>
                  <a:pt x="5483" y="9790"/>
                </a:cubicBezTo>
                <a:lnTo>
                  <a:pt x="6825" y="6112"/>
                </a:lnTo>
                <a:cubicBezTo>
                  <a:pt x="6981" y="5688"/>
                  <a:pt x="7343" y="5408"/>
                  <a:pt x="7744" y="5399"/>
                </a:cubicBezTo>
                <a:cubicBezTo>
                  <a:pt x="8145" y="5389"/>
                  <a:pt x="8516" y="5659"/>
                  <a:pt x="8680" y="6078"/>
                </a:cubicBezTo>
                <a:lnTo>
                  <a:pt x="10844" y="11569"/>
                </a:lnTo>
                <a:lnTo>
                  <a:pt x="12591" y="7578"/>
                </a:lnTo>
                <a:cubicBezTo>
                  <a:pt x="12763" y="7187"/>
                  <a:pt x="13114" y="6936"/>
                  <a:pt x="13497" y="6936"/>
                </a:cubicBezTo>
                <a:cubicBezTo>
                  <a:pt x="13881" y="6936"/>
                  <a:pt x="14231" y="7182"/>
                  <a:pt x="14404" y="7578"/>
                </a:cubicBezTo>
                <a:lnTo>
                  <a:pt x="15383" y="9809"/>
                </a:lnTo>
                <a:cubicBezTo>
                  <a:pt x="15442" y="9940"/>
                  <a:pt x="15556" y="10022"/>
                  <a:pt x="15686" y="10022"/>
                </a:cubicBezTo>
                <a:lnTo>
                  <a:pt x="20900" y="10022"/>
                </a:lnTo>
                <a:cubicBezTo>
                  <a:pt x="21343" y="8850"/>
                  <a:pt x="21600" y="7674"/>
                  <a:pt x="21600" y="6536"/>
                </a:cubicBezTo>
                <a:lnTo>
                  <a:pt x="21600" y="6411"/>
                </a:lnTo>
                <a:cubicBezTo>
                  <a:pt x="21596" y="2873"/>
                  <a:pt x="19082" y="0"/>
                  <a:pt x="15982" y="0"/>
                </a:cubicBezTo>
                <a:cubicBezTo>
                  <a:pt x="14181" y="0"/>
                  <a:pt x="12485" y="988"/>
                  <a:pt x="11431" y="2656"/>
                </a:cubicBezTo>
                <a:lnTo>
                  <a:pt x="10798" y="3654"/>
                </a:lnTo>
                <a:close/>
                <a:moveTo>
                  <a:pt x="19807" y="12340"/>
                </a:moveTo>
                <a:lnTo>
                  <a:pt x="15682" y="12340"/>
                </a:lnTo>
                <a:cubicBezTo>
                  <a:pt x="14788" y="12340"/>
                  <a:pt x="13970" y="11762"/>
                  <a:pt x="13569" y="10846"/>
                </a:cubicBezTo>
                <a:lnTo>
                  <a:pt x="13497" y="10682"/>
                </a:lnTo>
                <a:lnTo>
                  <a:pt x="11705" y="14784"/>
                </a:lnTo>
                <a:cubicBezTo>
                  <a:pt x="11532" y="15184"/>
                  <a:pt x="11169" y="15435"/>
                  <a:pt x="10777" y="15425"/>
                </a:cubicBezTo>
                <a:cubicBezTo>
                  <a:pt x="10385" y="15415"/>
                  <a:pt x="10034" y="15150"/>
                  <a:pt x="9874" y="14745"/>
                </a:cubicBezTo>
                <a:lnTo>
                  <a:pt x="7795" y="9467"/>
                </a:lnTo>
                <a:lnTo>
                  <a:pt x="7352" y="10682"/>
                </a:lnTo>
                <a:cubicBezTo>
                  <a:pt x="6985" y="11689"/>
                  <a:pt x="6124" y="12345"/>
                  <a:pt x="5171" y="12345"/>
                </a:cubicBezTo>
                <a:lnTo>
                  <a:pt x="1788" y="12345"/>
                </a:lnTo>
                <a:cubicBezTo>
                  <a:pt x="3779" y="15902"/>
                  <a:pt x="6976" y="19175"/>
                  <a:pt x="8976" y="20920"/>
                </a:cubicBezTo>
                <a:cubicBezTo>
                  <a:pt x="9499" y="21373"/>
                  <a:pt x="10140" y="21600"/>
                  <a:pt x="10794" y="21600"/>
                </a:cubicBezTo>
                <a:cubicBezTo>
                  <a:pt x="11447" y="21600"/>
                  <a:pt x="12093" y="21378"/>
                  <a:pt x="12612" y="20920"/>
                </a:cubicBezTo>
                <a:cubicBezTo>
                  <a:pt x="14619" y="19170"/>
                  <a:pt x="17816" y="15898"/>
                  <a:pt x="19807" y="1234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5" name="Text 54"/>
          <p:cNvSpPr txBox="1"/>
          <p:nvPr/>
        </p:nvSpPr>
        <p:spPr>
          <a:xfrm>
            <a:off x="6254658" y="6163097"/>
            <a:ext cx="251619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症状节点</a:t>
            </a:r>
          </a:p>
        </p:txBody>
      </p:sp>
      <p:sp>
        <p:nvSpPr>
          <p:cNvPr id="576" name="Text 55"/>
          <p:cNvSpPr txBox="1"/>
          <p:nvPr/>
        </p:nvSpPr>
        <p:spPr>
          <a:xfrm>
            <a:off x="6226878" y="6382149"/>
            <a:ext cx="257175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500+</a:t>
            </a:r>
          </a:p>
        </p:txBody>
      </p:sp>
      <p:sp>
        <p:nvSpPr>
          <p:cNvPr id="577" name="Shape 56"/>
          <p:cNvSpPr/>
          <p:nvPr/>
        </p:nvSpPr>
        <p:spPr>
          <a:xfrm>
            <a:off x="8993841" y="5728192"/>
            <a:ext cx="2706689" cy="10636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7" y="0"/>
                </a:moveTo>
                <a:lnTo>
                  <a:pt x="21093" y="0"/>
                </a:lnTo>
                <a:cubicBezTo>
                  <a:pt x="21373" y="0"/>
                  <a:pt x="21600" y="577"/>
                  <a:pt x="21600" y="1290"/>
                </a:cubicBezTo>
                <a:lnTo>
                  <a:pt x="21600" y="20310"/>
                </a:lnTo>
                <a:cubicBezTo>
                  <a:pt x="21600" y="21023"/>
                  <a:pt x="21373" y="21600"/>
                  <a:pt x="21093" y="21600"/>
                </a:cubicBezTo>
                <a:lnTo>
                  <a:pt x="507" y="21600"/>
                </a:lnTo>
                <a:cubicBezTo>
                  <a:pt x="227" y="21600"/>
                  <a:pt x="0" y="21023"/>
                  <a:pt x="0" y="20310"/>
                </a:cubicBezTo>
                <a:lnTo>
                  <a:pt x="0" y="1290"/>
                </a:lnTo>
                <a:cubicBezTo>
                  <a:pt x="0" y="578"/>
                  <a:pt x="227" y="0"/>
                  <a:pt x="507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8" name="Shape 57"/>
          <p:cNvSpPr/>
          <p:nvPr/>
        </p:nvSpPr>
        <p:spPr>
          <a:xfrm>
            <a:off x="10230478" y="5870028"/>
            <a:ext cx="238126" cy="2083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314"/>
                </a:moveTo>
                <a:cubicBezTo>
                  <a:pt x="0" y="1037"/>
                  <a:pt x="907" y="0"/>
                  <a:pt x="2025" y="0"/>
                </a:cubicBezTo>
                <a:lnTo>
                  <a:pt x="6075" y="0"/>
                </a:lnTo>
                <a:cubicBezTo>
                  <a:pt x="7193" y="0"/>
                  <a:pt x="8100" y="1037"/>
                  <a:pt x="8100" y="2314"/>
                </a:cubicBezTo>
                <a:lnTo>
                  <a:pt x="8100" y="3086"/>
                </a:lnTo>
                <a:lnTo>
                  <a:pt x="13500" y="3086"/>
                </a:lnTo>
                <a:lnTo>
                  <a:pt x="13500" y="2314"/>
                </a:lnTo>
                <a:cubicBezTo>
                  <a:pt x="13500" y="1037"/>
                  <a:pt x="14407" y="0"/>
                  <a:pt x="15525" y="0"/>
                </a:cubicBezTo>
                <a:lnTo>
                  <a:pt x="19575" y="0"/>
                </a:lnTo>
                <a:cubicBezTo>
                  <a:pt x="20693" y="0"/>
                  <a:pt x="21600" y="1037"/>
                  <a:pt x="21600" y="2314"/>
                </a:cubicBezTo>
                <a:lnTo>
                  <a:pt x="21600" y="6943"/>
                </a:lnTo>
                <a:cubicBezTo>
                  <a:pt x="21600" y="8220"/>
                  <a:pt x="20693" y="9257"/>
                  <a:pt x="19575" y="9257"/>
                </a:cubicBezTo>
                <a:lnTo>
                  <a:pt x="15525" y="9257"/>
                </a:lnTo>
                <a:cubicBezTo>
                  <a:pt x="14407" y="9257"/>
                  <a:pt x="13500" y="8220"/>
                  <a:pt x="13500" y="6943"/>
                </a:cubicBezTo>
                <a:lnTo>
                  <a:pt x="13500" y="6171"/>
                </a:lnTo>
                <a:lnTo>
                  <a:pt x="8100" y="6171"/>
                </a:lnTo>
                <a:lnTo>
                  <a:pt x="8100" y="6943"/>
                </a:lnTo>
                <a:cubicBezTo>
                  <a:pt x="8100" y="7295"/>
                  <a:pt x="8028" y="7632"/>
                  <a:pt x="7906" y="7931"/>
                </a:cubicBezTo>
                <a:lnTo>
                  <a:pt x="10800" y="12343"/>
                </a:lnTo>
                <a:lnTo>
                  <a:pt x="14175" y="12343"/>
                </a:lnTo>
                <a:cubicBezTo>
                  <a:pt x="15293" y="12343"/>
                  <a:pt x="16200" y="13379"/>
                  <a:pt x="16200" y="14657"/>
                </a:cubicBezTo>
                <a:lnTo>
                  <a:pt x="16200" y="19286"/>
                </a:lnTo>
                <a:cubicBezTo>
                  <a:pt x="16200" y="20563"/>
                  <a:pt x="15293" y="21600"/>
                  <a:pt x="14175" y="21600"/>
                </a:cubicBezTo>
                <a:lnTo>
                  <a:pt x="10125" y="21600"/>
                </a:lnTo>
                <a:cubicBezTo>
                  <a:pt x="9007" y="21600"/>
                  <a:pt x="8100" y="20563"/>
                  <a:pt x="8100" y="19286"/>
                </a:cubicBezTo>
                <a:lnTo>
                  <a:pt x="8100" y="14657"/>
                </a:lnTo>
                <a:cubicBezTo>
                  <a:pt x="8100" y="14305"/>
                  <a:pt x="8172" y="13968"/>
                  <a:pt x="8294" y="13669"/>
                </a:cubicBezTo>
                <a:lnTo>
                  <a:pt x="5400" y="9257"/>
                </a:lnTo>
                <a:lnTo>
                  <a:pt x="2025" y="9257"/>
                </a:lnTo>
                <a:cubicBezTo>
                  <a:pt x="907" y="9257"/>
                  <a:pt x="0" y="8220"/>
                  <a:pt x="0" y="6943"/>
                </a:cubicBezTo>
                <a:lnTo>
                  <a:pt x="0" y="2314"/>
                </a:ln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9" name="Text 58"/>
          <p:cNvSpPr txBox="1"/>
          <p:nvPr/>
        </p:nvSpPr>
        <p:spPr>
          <a:xfrm>
            <a:off x="9089045" y="6163097"/>
            <a:ext cx="251619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关系边</a:t>
            </a:r>
          </a:p>
        </p:txBody>
      </p:sp>
      <p:sp>
        <p:nvSpPr>
          <p:cNvPr id="580" name="Text 59"/>
          <p:cNvSpPr txBox="1"/>
          <p:nvPr/>
        </p:nvSpPr>
        <p:spPr>
          <a:xfrm>
            <a:off x="9061264" y="6382149"/>
            <a:ext cx="257175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10K+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Text 0"/>
          <p:cNvSpPr txBox="1"/>
          <p:nvPr/>
        </p:nvSpPr>
        <p:spPr>
          <a:xfrm>
            <a:off x="317500" y="336549"/>
            <a:ext cx="116205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pc="50" sz="1000">
                <a:solidFill>
                  <a:srgbClr val="5E8B7E"/>
                </a:solidFill>
                <a:latin typeface="Liter"/>
                <a:ea typeface="Liter"/>
                <a:cs typeface="Liter"/>
                <a:sym typeface="Liter"/>
              </a:defRPr>
            </a:lvl1pPr>
          </a:lstStyle>
          <a:p>
            <a:pPr/>
            <a:r>
              <a:t>KNOWLEDGE GRAPH DEMO</a:t>
            </a:r>
          </a:p>
        </p:txBody>
      </p:sp>
      <p:sp>
        <p:nvSpPr>
          <p:cNvPr id="583" name="Text 1"/>
          <p:cNvSpPr txBox="1"/>
          <p:nvPr/>
        </p:nvSpPr>
        <p:spPr>
          <a:xfrm>
            <a:off x="317500" y="495261"/>
            <a:ext cx="117475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80000"/>
              </a:lnSpc>
              <a:defRPr b="1" sz="3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知识图谱Demo</a:t>
            </a:r>
          </a:p>
        </p:txBody>
      </p:sp>
      <p:sp>
        <p:nvSpPr>
          <p:cNvPr id="584" name="Shape 2"/>
          <p:cNvSpPr/>
          <p:nvPr/>
        </p:nvSpPr>
        <p:spPr>
          <a:xfrm>
            <a:off x="317500" y="1079399"/>
            <a:ext cx="762000" cy="31751"/>
          </a:xfrm>
          <a:prstGeom prst="rect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5" name="Shape 3"/>
          <p:cNvSpPr/>
          <p:nvPr/>
        </p:nvSpPr>
        <p:spPr>
          <a:xfrm>
            <a:off x="331931" y="1238087"/>
            <a:ext cx="5681809" cy="4191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0" y="0"/>
                </a:moveTo>
                <a:lnTo>
                  <a:pt x="21238" y="0"/>
                </a:lnTo>
                <a:cubicBezTo>
                  <a:pt x="21438" y="0"/>
                  <a:pt x="21600" y="220"/>
                  <a:pt x="21600" y="491"/>
                </a:cubicBezTo>
                <a:lnTo>
                  <a:pt x="21600" y="21109"/>
                </a:lnTo>
                <a:cubicBezTo>
                  <a:pt x="21600" y="21380"/>
                  <a:pt x="21438" y="21600"/>
                  <a:pt x="21238" y="21600"/>
                </a:cubicBezTo>
                <a:lnTo>
                  <a:pt x="110" y="21600"/>
                </a:lnTo>
                <a:cubicBezTo>
                  <a:pt x="49" y="21600"/>
                  <a:pt x="0" y="21533"/>
                  <a:pt x="0" y="21451"/>
                </a:cubicBezTo>
                <a:lnTo>
                  <a:pt x="0" y="149"/>
                </a:lnTo>
                <a:cubicBezTo>
                  <a:pt x="0" y="67"/>
                  <a:pt x="49" y="0"/>
                  <a:pt x="110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6" name="Shape 4"/>
          <p:cNvSpPr/>
          <p:nvPr/>
        </p:nvSpPr>
        <p:spPr>
          <a:xfrm>
            <a:off x="331931" y="1238087"/>
            <a:ext cx="28865" cy="4191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533"/>
                  <a:pt x="0" y="21451"/>
                </a:cubicBezTo>
                <a:lnTo>
                  <a:pt x="0" y="149"/>
                </a:lnTo>
                <a:cubicBezTo>
                  <a:pt x="0" y="67"/>
                  <a:pt x="9671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7" name="Shape 5"/>
          <p:cNvSpPr/>
          <p:nvPr/>
        </p:nvSpPr>
        <p:spPr>
          <a:xfrm>
            <a:off x="524957" y="1428578"/>
            <a:ext cx="158751" cy="158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700" y="4725"/>
                </a:moveTo>
                <a:cubicBezTo>
                  <a:pt x="2700" y="3607"/>
                  <a:pt x="3607" y="2700"/>
                  <a:pt x="4725" y="2700"/>
                </a:cubicBezTo>
                <a:cubicBezTo>
                  <a:pt x="5843" y="2700"/>
                  <a:pt x="6750" y="3607"/>
                  <a:pt x="6750" y="4725"/>
                </a:cubicBezTo>
                <a:lnTo>
                  <a:pt x="6750" y="9450"/>
                </a:lnTo>
                <a:lnTo>
                  <a:pt x="2700" y="9450"/>
                </a:lnTo>
                <a:lnTo>
                  <a:pt x="2700" y="4725"/>
                </a:lnTo>
                <a:close/>
                <a:moveTo>
                  <a:pt x="7425" y="15525"/>
                </a:moveTo>
                <a:cubicBezTo>
                  <a:pt x="7425" y="13471"/>
                  <a:pt x="8189" y="11593"/>
                  <a:pt x="9450" y="10167"/>
                </a:cubicBezTo>
                <a:lnTo>
                  <a:pt x="9450" y="4725"/>
                </a:lnTo>
                <a:cubicBezTo>
                  <a:pt x="9450" y="2114"/>
                  <a:pt x="7336" y="0"/>
                  <a:pt x="4725" y="0"/>
                </a:cubicBezTo>
                <a:cubicBezTo>
                  <a:pt x="2114" y="0"/>
                  <a:pt x="0" y="2114"/>
                  <a:pt x="0" y="4725"/>
                </a:cubicBezTo>
                <a:lnTo>
                  <a:pt x="0" y="16875"/>
                </a:lnTo>
                <a:cubicBezTo>
                  <a:pt x="0" y="19486"/>
                  <a:pt x="2114" y="21600"/>
                  <a:pt x="4725" y="21600"/>
                </a:cubicBezTo>
                <a:cubicBezTo>
                  <a:pt x="6299" y="21600"/>
                  <a:pt x="7691" y="20832"/>
                  <a:pt x="8551" y="19647"/>
                </a:cubicBezTo>
                <a:cubicBezTo>
                  <a:pt x="7834" y="18440"/>
                  <a:pt x="7425" y="17031"/>
                  <a:pt x="7425" y="15525"/>
                </a:cubicBezTo>
                <a:close/>
                <a:moveTo>
                  <a:pt x="10155" y="18369"/>
                </a:moveTo>
                <a:cubicBezTo>
                  <a:pt x="10349" y="18735"/>
                  <a:pt x="10842" y="18778"/>
                  <a:pt x="11137" y="18482"/>
                </a:cubicBezTo>
                <a:lnTo>
                  <a:pt x="18482" y="11137"/>
                </a:lnTo>
                <a:cubicBezTo>
                  <a:pt x="18778" y="10842"/>
                  <a:pt x="18735" y="10349"/>
                  <a:pt x="18369" y="10155"/>
                </a:cubicBezTo>
                <a:cubicBezTo>
                  <a:pt x="17520" y="9703"/>
                  <a:pt x="16554" y="9450"/>
                  <a:pt x="15525" y="9450"/>
                </a:cubicBezTo>
                <a:cubicBezTo>
                  <a:pt x="12171" y="9450"/>
                  <a:pt x="9450" y="12171"/>
                  <a:pt x="9450" y="15525"/>
                </a:cubicBezTo>
                <a:cubicBezTo>
                  <a:pt x="9450" y="16550"/>
                  <a:pt x="9703" y="17520"/>
                  <a:pt x="10155" y="18369"/>
                </a:cubicBezTo>
                <a:close/>
                <a:moveTo>
                  <a:pt x="12568" y="19913"/>
                </a:moveTo>
                <a:cubicBezTo>
                  <a:pt x="12272" y="20208"/>
                  <a:pt x="12315" y="20701"/>
                  <a:pt x="12682" y="20895"/>
                </a:cubicBezTo>
                <a:cubicBezTo>
                  <a:pt x="13530" y="21347"/>
                  <a:pt x="14496" y="21600"/>
                  <a:pt x="15525" y="21600"/>
                </a:cubicBezTo>
                <a:cubicBezTo>
                  <a:pt x="18879" y="21600"/>
                  <a:pt x="21600" y="18879"/>
                  <a:pt x="21600" y="15525"/>
                </a:cubicBezTo>
                <a:cubicBezTo>
                  <a:pt x="21600" y="14500"/>
                  <a:pt x="21347" y="13530"/>
                  <a:pt x="20895" y="12682"/>
                </a:cubicBezTo>
                <a:cubicBezTo>
                  <a:pt x="20701" y="12315"/>
                  <a:pt x="20208" y="12272"/>
                  <a:pt x="19913" y="12568"/>
                </a:cubicBezTo>
                <a:lnTo>
                  <a:pt x="12568" y="19913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8" name="Text 6"/>
          <p:cNvSpPr txBox="1"/>
          <p:nvPr/>
        </p:nvSpPr>
        <p:spPr>
          <a:xfrm>
            <a:off x="703551" y="1400012"/>
            <a:ext cx="5230813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药物节点</a:t>
            </a:r>
          </a:p>
        </p:txBody>
      </p:sp>
      <p:sp>
        <p:nvSpPr>
          <p:cNvPr id="589" name="Shape 7"/>
          <p:cNvSpPr/>
          <p:nvPr/>
        </p:nvSpPr>
        <p:spPr>
          <a:xfrm>
            <a:off x="505113" y="1746025"/>
            <a:ext cx="5349876" cy="3524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56" y="0"/>
                </a:moveTo>
                <a:lnTo>
                  <a:pt x="21344" y="0"/>
                </a:lnTo>
                <a:cubicBezTo>
                  <a:pt x="21485" y="0"/>
                  <a:pt x="21600" y="174"/>
                  <a:pt x="21600" y="389"/>
                </a:cubicBezTo>
                <a:lnTo>
                  <a:pt x="21600" y="21211"/>
                </a:lnTo>
                <a:cubicBezTo>
                  <a:pt x="21600" y="21426"/>
                  <a:pt x="21485" y="21600"/>
                  <a:pt x="21344" y="21600"/>
                </a:cubicBezTo>
                <a:lnTo>
                  <a:pt x="256" y="21600"/>
                </a:lnTo>
                <a:cubicBezTo>
                  <a:pt x="115" y="21600"/>
                  <a:pt x="0" y="21426"/>
                  <a:pt x="0" y="21211"/>
                </a:cubicBezTo>
                <a:lnTo>
                  <a:pt x="0" y="389"/>
                </a:lnTo>
                <a:cubicBezTo>
                  <a:pt x="0" y="174"/>
                  <a:pt x="115" y="0"/>
                  <a:pt x="25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90" name="Shape 8"/>
          <p:cNvSpPr/>
          <p:nvPr/>
        </p:nvSpPr>
        <p:spPr>
          <a:xfrm>
            <a:off x="632068" y="1872979"/>
            <a:ext cx="5095876" cy="3270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5" y="0"/>
                </a:moveTo>
                <a:lnTo>
                  <a:pt x="21465" y="0"/>
                </a:lnTo>
                <a:cubicBezTo>
                  <a:pt x="21540" y="0"/>
                  <a:pt x="21600" y="94"/>
                  <a:pt x="21600" y="210"/>
                </a:cubicBezTo>
                <a:lnTo>
                  <a:pt x="21600" y="21390"/>
                </a:lnTo>
                <a:cubicBezTo>
                  <a:pt x="21600" y="21506"/>
                  <a:pt x="21540" y="21600"/>
                  <a:pt x="21465" y="21600"/>
                </a:cubicBezTo>
                <a:lnTo>
                  <a:pt x="135" y="21600"/>
                </a:lnTo>
                <a:cubicBezTo>
                  <a:pt x="60" y="21600"/>
                  <a:pt x="0" y="21506"/>
                  <a:pt x="0" y="21390"/>
                </a:cubicBezTo>
                <a:lnTo>
                  <a:pt x="0" y="210"/>
                </a:lnTo>
                <a:cubicBezTo>
                  <a:pt x="0" y="94"/>
                  <a:pt x="60" y="0"/>
                  <a:pt x="135" y="0"/>
                </a:cubicBezTo>
                <a:close/>
              </a:path>
            </a:pathLst>
          </a:custGeom>
          <a:solidFill>
            <a:srgbClr val="0D0E1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91" name="Text 9"/>
          <p:cNvSpPr txBox="1"/>
          <p:nvPr/>
        </p:nvSpPr>
        <p:spPr>
          <a:xfrm>
            <a:off x="727285" y="1989621"/>
            <a:ext cx="496093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8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// 创建药物节点</a:t>
            </a:r>
          </a:p>
        </p:txBody>
      </p:sp>
      <p:sp>
        <p:nvSpPr>
          <p:cNvPr id="592" name="Text 10"/>
          <p:cNvSpPr txBox="1"/>
          <p:nvPr/>
        </p:nvSpPr>
        <p:spPr>
          <a:xfrm>
            <a:off x="727285" y="2227740"/>
            <a:ext cx="4960938" cy="873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CREATE (d1:Drug {</a:t>
            </a:r>
            <a:endParaRPr sz="1600"/>
          </a:p>
          <a:p>
            <a: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name: </a:t>
            </a:r>
            <a:r>
              <a:rPr>
                <a:solidFill>
                  <a:srgbClr val="E0E2E5"/>
                </a:solidFill>
              </a:rPr>
              <a:t>"二甲双胍"</a:t>
            </a:r>
            <a:r>
              <a:t>,</a:t>
            </a:r>
            <a:endParaRPr sz="1600"/>
          </a:p>
          <a:p>
            <a: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type: </a:t>
            </a:r>
            <a:r>
              <a:rPr>
                <a:solidFill>
                  <a:srgbClr val="E0E2E5"/>
                </a:solidFill>
              </a:rPr>
              <a:t>"化学药"</a:t>
            </a:r>
            <a:r>
              <a:t>,</a:t>
            </a:r>
            <a:endParaRPr sz="1600"/>
          </a:p>
          <a:p>
            <a: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atc_code: </a:t>
            </a:r>
            <a:r>
              <a:rPr>
                <a:solidFill>
                  <a:srgbClr val="E0E2E5"/>
                </a:solidFill>
              </a:rPr>
              <a:t>"A10BA02"</a:t>
            </a:r>
            <a:endParaRPr sz="1600"/>
          </a:p>
          <a:p>
            <a: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})</a:t>
            </a:r>
          </a:p>
        </p:txBody>
      </p:sp>
      <p:sp>
        <p:nvSpPr>
          <p:cNvPr id="593" name="Text 11"/>
          <p:cNvSpPr txBox="1"/>
          <p:nvPr/>
        </p:nvSpPr>
        <p:spPr>
          <a:xfrm>
            <a:off x="727285" y="3193766"/>
            <a:ext cx="4960938" cy="873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CREATE (d2:Drug {</a:t>
            </a:r>
            <a:endParaRPr sz="1600"/>
          </a:p>
          <a:p>
            <a: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name: </a:t>
            </a:r>
            <a:r>
              <a:rPr>
                <a:solidFill>
                  <a:srgbClr val="E0E2E5"/>
                </a:solidFill>
              </a:rPr>
              <a:t>"氨氯地平"</a:t>
            </a:r>
            <a:r>
              <a:t>,</a:t>
            </a:r>
            <a:endParaRPr sz="1600"/>
          </a:p>
          <a:p>
            <a: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type: </a:t>
            </a:r>
            <a:r>
              <a:rPr>
                <a:solidFill>
                  <a:srgbClr val="E0E2E5"/>
                </a:solidFill>
              </a:rPr>
              <a:t>"化学药"</a:t>
            </a:r>
            <a:r>
              <a:t>,</a:t>
            </a:r>
            <a:endParaRPr sz="1600"/>
          </a:p>
          <a:p>
            <a: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atc_code: </a:t>
            </a:r>
            <a:r>
              <a:rPr>
                <a:solidFill>
                  <a:srgbClr val="E0E2E5"/>
                </a:solidFill>
              </a:rPr>
              <a:t>"C08CA01"</a:t>
            </a:r>
            <a:endParaRPr sz="1600"/>
          </a:p>
          <a:p>
            <a: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})</a:t>
            </a:r>
          </a:p>
        </p:txBody>
      </p:sp>
      <p:sp>
        <p:nvSpPr>
          <p:cNvPr id="594" name="Text 12"/>
          <p:cNvSpPr txBox="1"/>
          <p:nvPr/>
        </p:nvSpPr>
        <p:spPr>
          <a:xfrm>
            <a:off x="727285" y="4159800"/>
            <a:ext cx="4960938" cy="873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CREATE (d3:Drug {</a:t>
            </a:r>
            <a:endParaRPr sz="1600"/>
          </a:p>
          <a:p>
            <a: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name: </a:t>
            </a:r>
            <a:r>
              <a:rPr>
                <a:solidFill>
                  <a:srgbClr val="E0E2E5"/>
                </a:solidFill>
              </a:rPr>
              <a:t>"阿托伐他汀"</a:t>
            </a:r>
            <a:r>
              <a:t>,</a:t>
            </a:r>
            <a:endParaRPr sz="1600"/>
          </a:p>
          <a:p>
            <a: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type: </a:t>
            </a:r>
            <a:r>
              <a:rPr>
                <a:solidFill>
                  <a:srgbClr val="E0E2E5"/>
                </a:solidFill>
              </a:rPr>
              <a:t>"化学药"</a:t>
            </a:r>
            <a:r>
              <a:t>,</a:t>
            </a:r>
            <a:endParaRPr sz="1600"/>
          </a:p>
          <a:p>
            <a: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atc_code: </a:t>
            </a:r>
            <a:r>
              <a:rPr>
                <a:solidFill>
                  <a:srgbClr val="E0E2E5"/>
                </a:solidFill>
              </a:rPr>
              <a:t>"C10AA05"</a:t>
            </a:r>
            <a:endParaRPr sz="1600"/>
          </a:p>
          <a:p>
            <a: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})</a:t>
            </a:r>
          </a:p>
        </p:txBody>
      </p:sp>
      <p:sp>
        <p:nvSpPr>
          <p:cNvPr id="595" name="Shape 13"/>
          <p:cNvSpPr/>
          <p:nvPr/>
        </p:nvSpPr>
        <p:spPr>
          <a:xfrm>
            <a:off x="6189783" y="1238087"/>
            <a:ext cx="5681808" cy="4191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0" y="0"/>
                </a:moveTo>
                <a:lnTo>
                  <a:pt x="21238" y="0"/>
                </a:lnTo>
                <a:cubicBezTo>
                  <a:pt x="21438" y="0"/>
                  <a:pt x="21600" y="220"/>
                  <a:pt x="21600" y="491"/>
                </a:cubicBezTo>
                <a:lnTo>
                  <a:pt x="21600" y="21109"/>
                </a:lnTo>
                <a:cubicBezTo>
                  <a:pt x="21600" y="21380"/>
                  <a:pt x="21438" y="21600"/>
                  <a:pt x="21238" y="21600"/>
                </a:cubicBezTo>
                <a:lnTo>
                  <a:pt x="110" y="21600"/>
                </a:lnTo>
                <a:cubicBezTo>
                  <a:pt x="49" y="21600"/>
                  <a:pt x="0" y="21533"/>
                  <a:pt x="0" y="21451"/>
                </a:cubicBezTo>
                <a:lnTo>
                  <a:pt x="0" y="149"/>
                </a:lnTo>
                <a:cubicBezTo>
                  <a:pt x="0" y="67"/>
                  <a:pt x="49" y="0"/>
                  <a:pt x="110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96" name="Shape 14"/>
          <p:cNvSpPr/>
          <p:nvPr/>
        </p:nvSpPr>
        <p:spPr>
          <a:xfrm>
            <a:off x="6189783" y="1238087"/>
            <a:ext cx="28865" cy="4191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533"/>
                  <a:pt x="0" y="21451"/>
                </a:cubicBezTo>
                <a:lnTo>
                  <a:pt x="0" y="149"/>
                </a:lnTo>
                <a:cubicBezTo>
                  <a:pt x="0" y="67"/>
                  <a:pt x="9671" y="0"/>
                  <a:pt x="21600" y="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97" name="Shape 15"/>
          <p:cNvSpPr/>
          <p:nvPr/>
        </p:nvSpPr>
        <p:spPr>
          <a:xfrm>
            <a:off x="6382841" y="1428578"/>
            <a:ext cx="158782" cy="1587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971" y="1240"/>
                </a:moveTo>
                <a:lnTo>
                  <a:pt x="9444" y="2025"/>
                </a:lnTo>
                <a:cubicBezTo>
                  <a:pt x="8600" y="3290"/>
                  <a:pt x="7183" y="4049"/>
                  <a:pt x="5660" y="4049"/>
                </a:cubicBezTo>
                <a:lnTo>
                  <a:pt x="2864" y="4049"/>
                </a:lnTo>
                <a:cubicBezTo>
                  <a:pt x="1282" y="4049"/>
                  <a:pt x="0" y="5331"/>
                  <a:pt x="0" y="6913"/>
                </a:cubicBezTo>
                <a:cubicBezTo>
                  <a:pt x="0" y="7672"/>
                  <a:pt x="304" y="8398"/>
                  <a:pt x="839" y="8934"/>
                </a:cubicBezTo>
                <a:lnTo>
                  <a:pt x="1978" y="10072"/>
                </a:lnTo>
                <a:cubicBezTo>
                  <a:pt x="2442" y="10536"/>
                  <a:pt x="2704" y="11165"/>
                  <a:pt x="2704" y="11823"/>
                </a:cubicBezTo>
                <a:cubicBezTo>
                  <a:pt x="2704" y="12489"/>
                  <a:pt x="2434" y="13126"/>
                  <a:pt x="1957" y="13594"/>
                </a:cubicBezTo>
                <a:lnTo>
                  <a:pt x="1405" y="14134"/>
                </a:lnTo>
                <a:cubicBezTo>
                  <a:pt x="936" y="14590"/>
                  <a:pt x="675" y="15218"/>
                  <a:pt x="675" y="15872"/>
                </a:cubicBezTo>
                <a:cubicBezTo>
                  <a:pt x="675" y="17424"/>
                  <a:pt x="2113" y="18580"/>
                  <a:pt x="3632" y="18242"/>
                </a:cubicBezTo>
                <a:lnTo>
                  <a:pt x="6259" y="17661"/>
                </a:lnTo>
                <a:cubicBezTo>
                  <a:pt x="6584" y="17589"/>
                  <a:pt x="6922" y="17551"/>
                  <a:pt x="7255" y="17551"/>
                </a:cubicBezTo>
                <a:cubicBezTo>
                  <a:pt x="8638" y="17551"/>
                  <a:pt x="9963" y="18167"/>
                  <a:pt x="10848" y="19230"/>
                </a:cubicBezTo>
                <a:lnTo>
                  <a:pt x="12135" y="20773"/>
                </a:lnTo>
                <a:cubicBezTo>
                  <a:pt x="12574" y="21296"/>
                  <a:pt x="13219" y="21600"/>
                  <a:pt x="13902" y="21600"/>
                </a:cubicBezTo>
                <a:cubicBezTo>
                  <a:pt x="15172" y="21600"/>
                  <a:pt x="16201" y="20571"/>
                  <a:pt x="16201" y="19301"/>
                </a:cubicBezTo>
                <a:lnTo>
                  <a:pt x="16201" y="17142"/>
                </a:lnTo>
                <a:cubicBezTo>
                  <a:pt x="16201" y="15395"/>
                  <a:pt x="17272" y="13831"/>
                  <a:pt x="18900" y="13198"/>
                </a:cubicBezTo>
                <a:lnTo>
                  <a:pt x="19837" y="12835"/>
                </a:lnTo>
                <a:cubicBezTo>
                  <a:pt x="20900" y="12422"/>
                  <a:pt x="21600" y="11397"/>
                  <a:pt x="21600" y="10258"/>
                </a:cubicBezTo>
                <a:cubicBezTo>
                  <a:pt x="21600" y="9145"/>
                  <a:pt x="20929" y="8136"/>
                  <a:pt x="19900" y="7706"/>
                </a:cubicBezTo>
                <a:lnTo>
                  <a:pt x="18091" y="6951"/>
                </a:lnTo>
                <a:cubicBezTo>
                  <a:pt x="16690" y="6365"/>
                  <a:pt x="15661" y="5137"/>
                  <a:pt x="15328" y="3657"/>
                </a:cubicBezTo>
                <a:lnTo>
                  <a:pt x="14995" y="2172"/>
                </a:lnTo>
                <a:cubicBezTo>
                  <a:pt x="14708" y="903"/>
                  <a:pt x="13582" y="0"/>
                  <a:pt x="12283" y="0"/>
                </a:cubicBezTo>
                <a:cubicBezTo>
                  <a:pt x="11355" y="0"/>
                  <a:pt x="10486" y="464"/>
                  <a:pt x="9971" y="1240"/>
                </a:cubicBezTo>
                <a:close/>
                <a:moveTo>
                  <a:pt x="6744" y="8098"/>
                </a:moveTo>
                <a:cubicBezTo>
                  <a:pt x="7489" y="8098"/>
                  <a:pt x="8094" y="8703"/>
                  <a:pt x="8094" y="9448"/>
                </a:cubicBezTo>
                <a:cubicBezTo>
                  <a:pt x="8094" y="10193"/>
                  <a:pt x="7489" y="10798"/>
                  <a:pt x="6744" y="10798"/>
                </a:cubicBezTo>
                <a:cubicBezTo>
                  <a:pt x="5999" y="10798"/>
                  <a:pt x="5395" y="10193"/>
                  <a:pt x="5395" y="9448"/>
                </a:cubicBezTo>
                <a:cubicBezTo>
                  <a:pt x="5395" y="8703"/>
                  <a:pt x="5999" y="8098"/>
                  <a:pt x="6744" y="8098"/>
                </a:cubicBezTo>
                <a:close/>
                <a:moveTo>
                  <a:pt x="10794" y="8098"/>
                </a:moveTo>
                <a:cubicBezTo>
                  <a:pt x="10794" y="7353"/>
                  <a:pt x="11398" y="6749"/>
                  <a:pt x="12143" y="6749"/>
                </a:cubicBezTo>
                <a:cubicBezTo>
                  <a:pt x="12888" y="6749"/>
                  <a:pt x="13493" y="7353"/>
                  <a:pt x="13493" y="8098"/>
                </a:cubicBezTo>
                <a:cubicBezTo>
                  <a:pt x="13493" y="8843"/>
                  <a:pt x="12888" y="9448"/>
                  <a:pt x="12143" y="9448"/>
                </a:cubicBezTo>
                <a:cubicBezTo>
                  <a:pt x="11398" y="9448"/>
                  <a:pt x="10794" y="8843"/>
                  <a:pt x="10794" y="8098"/>
                </a:cubicBezTo>
                <a:close/>
                <a:moveTo>
                  <a:pt x="12143" y="12148"/>
                </a:moveTo>
                <a:cubicBezTo>
                  <a:pt x="12888" y="12148"/>
                  <a:pt x="13493" y="12752"/>
                  <a:pt x="13493" y="13497"/>
                </a:cubicBezTo>
                <a:cubicBezTo>
                  <a:pt x="13493" y="14242"/>
                  <a:pt x="12888" y="14847"/>
                  <a:pt x="12143" y="14847"/>
                </a:cubicBezTo>
                <a:cubicBezTo>
                  <a:pt x="11398" y="14847"/>
                  <a:pt x="10794" y="14242"/>
                  <a:pt x="10794" y="13497"/>
                </a:cubicBezTo>
                <a:cubicBezTo>
                  <a:pt x="10794" y="12752"/>
                  <a:pt x="11398" y="12148"/>
                  <a:pt x="12143" y="12148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98" name="Text 16"/>
          <p:cNvSpPr txBox="1"/>
          <p:nvPr/>
        </p:nvSpPr>
        <p:spPr>
          <a:xfrm>
            <a:off x="6561403" y="1400012"/>
            <a:ext cx="523081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疾病节点</a:t>
            </a:r>
          </a:p>
        </p:txBody>
      </p:sp>
      <p:sp>
        <p:nvSpPr>
          <p:cNvPr id="599" name="Shape 17"/>
          <p:cNvSpPr/>
          <p:nvPr/>
        </p:nvSpPr>
        <p:spPr>
          <a:xfrm>
            <a:off x="6362965" y="1746025"/>
            <a:ext cx="5349876" cy="3524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56" y="0"/>
                </a:moveTo>
                <a:lnTo>
                  <a:pt x="21344" y="0"/>
                </a:lnTo>
                <a:cubicBezTo>
                  <a:pt x="21485" y="0"/>
                  <a:pt x="21600" y="174"/>
                  <a:pt x="21600" y="389"/>
                </a:cubicBezTo>
                <a:lnTo>
                  <a:pt x="21600" y="21211"/>
                </a:lnTo>
                <a:cubicBezTo>
                  <a:pt x="21600" y="21426"/>
                  <a:pt x="21485" y="21600"/>
                  <a:pt x="21344" y="21600"/>
                </a:cubicBezTo>
                <a:lnTo>
                  <a:pt x="256" y="21600"/>
                </a:lnTo>
                <a:cubicBezTo>
                  <a:pt x="115" y="21600"/>
                  <a:pt x="0" y="21426"/>
                  <a:pt x="0" y="21211"/>
                </a:cubicBezTo>
                <a:lnTo>
                  <a:pt x="0" y="389"/>
                </a:lnTo>
                <a:cubicBezTo>
                  <a:pt x="0" y="174"/>
                  <a:pt x="115" y="0"/>
                  <a:pt x="25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00" name="Shape 18"/>
          <p:cNvSpPr/>
          <p:nvPr/>
        </p:nvSpPr>
        <p:spPr>
          <a:xfrm>
            <a:off x="6489920" y="1872979"/>
            <a:ext cx="5095876" cy="3270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5" y="0"/>
                </a:moveTo>
                <a:lnTo>
                  <a:pt x="21465" y="0"/>
                </a:lnTo>
                <a:cubicBezTo>
                  <a:pt x="21540" y="0"/>
                  <a:pt x="21600" y="94"/>
                  <a:pt x="21600" y="210"/>
                </a:cubicBezTo>
                <a:lnTo>
                  <a:pt x="21600" y="21390"/>
                </a:lnTo>
                <a:cubicBezTo>
                  <a:pt x="21600" y="21506"/>
                  <a:pt x="21540" y="21600"/>
                  <a:pt x="21465" y="21600"/>
                </a:cubicBezTo>
                <a:lnTo>
                  <a:pt x="135" y="21600"/>
                </a:lnTo>
                <a:cubicBezTo>
                  <a:pt x="60" y="21600"/>
                  <a:pt x="0" y="21506"/>
                  <a:pt x="0" y="21390"/>
                </a:cubicBezTo>
                <a:lnTo>
                  <a:pt x="0" y="210"/>
                </a:lnTo>
                <a:cubicBezTo>
                  <a:pt x="0" y="94"/>
                  <a:pt x="60" y="0"/>
                  <a:pt x="135" y="0"/>
                </a:cubicBezTo>
                <a:close/>
              </a:path>
            </a:pathLst>
          </a:custGeom>
          <a:solidFill>
            <a:srgbClr val="0D0E1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01" name="Text 19"/>
          <p:cNvSpPr txBox="1"/>
          <p:nvPr/>
        </p:nvSpPr>
        <p:spPr>
          <a:xfrm>
            <a:off x="6585136" y="1989621"/>
            <a:ext cx="496093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8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// 创建疾病节点</a:t>
            </a:r>
          </a:p>
        </p:txBody>
      </p:sp>
      <p:sp>
        <p:nvSpPr>
          <p:cNvPr id="602" name="Text 20"/>
          <p:cNvSpPr txBox="1"/>
          <p:nvPr/>
        </p:nvSpPr>
        <p:spPr>
          <a:xfrm>
            <a:off x="6585136" y="2227740"/>
            <a:ext cx="4960939" cy="873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CREATE (dis1:Disease {</a:t>
            </a:r>
            <a:endParaRPr sz="1600"/>
          </a:p>
          <a:p>
            <a: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name: </a:t>
            </a:r>
            <a:r>
              <a:rPr>
                <a:solidFill>
                  <a:srgbClr val="E0E2E5"/>
                </a:solidFill>
              </a:rPr>
              <a:t>"2型糖尿病"</a:t>
            </a:r>
            <a:r>
              <a:t>,</a:t>
            </a:r>
            <a:endParaRPr sz="1600"/>
          </a:p>
          <a:p>
            <a: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icd_code: </a:t>
            </a:r>
            <a:r>
              <a:rPr>
                <a:solidFill>
                  <a:srgbClr val="E0E2E5"/>
                </a:solidFill>
              </a:rPr>
              <a:t>"E11"</a:t>
            </a:r>
            <a:r>
              <a:t>,</a:t>
            </a:r>
            <a:endParaRPr sz="1600"/>
          </a:p>
          <a:p>
            <a: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category: </a:t>
            </a:r>
            <a:r>
              <a:rPr>
                <a:solidFill>
                  <a:srgbClr val="E0E2E5"/>
                </a:solidFill>
              </a:rPr>
              <a:t>"代谢疾病"</a:t>
            </a:r>
            <a:endParaRPr sz="1600"/>
          </a:p>
          <a:p>
            <a: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})</a:t>
            </a:r>
          </a:p>
        </p:txBody>
      </p:sp>
      <p:sp>
        <p:nvSpPr>
          <p:cNvPr id="603" name="Text 21"/>
          <p:cNvSpPr txBox="1"/>
          <p:nvPr/>
        </p:nvSpPr>
        <p:spPr>
          <a:xfrm>
            <a:off x="6585136" y="3193766"/>
            <a:ext cx="4960939" cy="873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CREATE (dis2:Disease {</a:t>
            </a:r>
            <a:endParaRPr sz="1600"/>
          </a:p>
          <a:p>
            <a: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name: </a:t>
            </a:r>
            <a:r>
              <a:rPr>
                <a:solidFill>
                  <a:srgbClr val="E0E2E5"/>
                </a:solidFill>
              </a:rPr>
              <a:t>"高血压病"</a:t>
            </a:r>
            <a:r>
              <a:t>,</a:t>
            </a:r>
            <a:endParaRPr sz="1600"/>
          </a:p>
          <a:p>
            <a: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icd_code: </a:t>
            </a:r>
            <a:r>
              <a:rPr>
                <a:solidFill>
                  <a:srgbClr val="E0E2E5"/>
                </a:solidFill>
              </a:rPr>
              <a:t>"I10"</a:t>
            </a:r>
            <a:r>
              <a:t>,</a:t>
            </a:r>
            <a:endParaRPr sz="1600"/>
          </a:p>
          <a:p>
            <a: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category: </a:t>
            </a:r>
            <a:r>
              <a:rPr>
                <a:solidFill>
                  <a:srgbClr val="E0E2E5"/>
                </a:solidFill>
              </a:rPr>
              <a:t>"心血管疾病"</a:t>
            </a:r>
            <a:endParaRPr sz="1600"/>
          </a:p>
          <a:p>
            <a: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})</a:t>
            </a:r>
          </a:p>
        </p:txBody>
      </p:sp>
      <p:sp>
        <p:nvSpPr>
          <p:cNvPr id="604" name="Text 22"/>
          <p:cNvSpPr txBox="1"/>
          <p:nvPr/>
        </p:nvSpPr>
        <p:spPr>
          <a:xfrm>
            <a:off x="6585136" y="4159800"/>
            <a:ext cx="4960939" cy="873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CREATE (dis3:Disease {</a:t>
            </a:r>
            <a:endParaRPr sz="1600"/>
          </a:p>
          <a:p>
            <a: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name: </a:t>
            </a:r>
            <a:r>
              <a:rPr>
                <a:solidFill>
                  <a:srgbClr val="E0E2E5"/>
                </a:solidFill>
              </a:rPr>
              <a:t>"高脂血症"</a:t>
            </a:r>
            <a:r>
              <a:t>,</a:t>
            </a:r>
            <a:endParaRPr sz="1600"/>
          </a:p>
          <a:p>
            <a: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icd_code: </a:t>
            </a:r>
            <a:r>
              <a:rPr>
                <a:solidFill>
                  <a:srgbClr val="E0E2E5"/>
                </a:solidFill>
              </a:rPr>
              <a:t>"E78"</a:t>
            </a:r>
            <a:r>
              <a:t>,</a:t>
            </a:r>
            <a:endParaRPr sz="1600"/>
          </a:p>
          <a:p>
            <a: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category: </a:t>
            </a:r>
            <a:r>
              <a:rPr>
                <a:solidFill>
                  <a:srgbClr val="E0E2E5"/>
                </a:solidFill>
              </a:rPr>
              <a:t>"代谢疾病"</a:t>
            </a:r>
            <a:endParaRPr sz="1600"/>
          </a:p>
          <a:p>
            <a: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})</a:t>
            </a:r>
          </a:p>
        </p:txBody>
      </p:sp>
      <p:sp>
        <p:nvSpPr>
          <p:cNvPr id="605" name="Shape 23"/>
          <p:cNvSpPr/>
          <p:nvPr/>
        </p:nvSpPr>
        <p:spPr>
          <a:xfrm>
            <a:off x="324715" y="5561884"/>
            <a:ext cx="11539684" cy="26099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8" y="0"/>
                </a:moveTo>
                <a:lnTo>
                  <a:pt x="21422" y="0"/>
                </a:lnTo>
                <a:cubicBezTo>
                  <a:pt x="21520" y="0"/>
                  <a:pt x="21600" y="353"/>
                  <a:pt x="21600" y="788"/>
                </a:cubicBezTo>
                <a:lnTo>
                  <a:pt x="21600" y="20812"/>
                </a:lnTo>
                <a:cubicBezTo>
                  <a:pt x="21600" y="21247"/>
                  <a:pt x="21520" y="21600"/>
                  <a:pt x="21422" y="21600"/>
                </a:cubicBezTo>
                <a:lnTo>
                  <a:pt x="178" y="21600"/>
                </a:lnTo>
                <a:cubicBezTo>
                  <a:pt x="80" y="21600"/>
                  <a:pt x="0" y="21247"/>
                  <a:pt x="0" y="20812"/>
                </a:cubicBezTo>
                <a:lnTo>
                  <a:pt x="0" y="788"/>
                </a:lnTo>
                <a:cubicBezTo>
                  <a:pt x="0" y="353"/>
                  <a:pt x="80" y="0"/>
                  <a:pt x="178" y="0"/>
                </a:cubicBezTo>
                <a:close/>
              </a:path>
            </a:pathLst>
          </a:custGeom>
          <a:solidFill>
            <a:srgbClr val="5E8B7E">
              <a:alpha val="14902"/>
            </a:srgbClr>
          </a:solidFill>
          <a:ln w="23091">
            <a:solidFill>
              <a:srgbClr val="5E8B7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6" name="Shape 24"/>
          <p:cNvSpPr/>
          <p:nvPr/>
        </p:nvSpPr>
        <p:spPr>
          <a:xfrm>
            <a:off x="443040" y="5676994"/>
            <a:ext cx="178595" cy="138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731" y="3084"/>
                </a:moveTo>
                <a:cubicBezTo>
                  <a:pt x="15109" y="3084"/>
                  <a:pt x="14505" y="3301"/>
                  <a:pt x="13976" y="3696"/>
                </a:cubicBezTo>
                <a:cubicBezTo>
                  <a:pt x="13384" y="2925"/>
                  <a:pt x="12694" y="2280"/>
                  <a:pt x="11933" y="1793"/>
                </a:cubicBezTo>
                <a:cubicBezTo>
                  <a:pt x="12990" y="636"/>
                  <a:pt x="14336" y="0"/>
                  <a:pt x="15731" y="0"/>
                </a:cubicBezTo>
                <a:cubicBezTo>
                  <a:pt x="18971" y="0"/>
                  <a:pt x="21600" y="3373"/>
                  <a:pt x="21600" y="7542"/>
                </a:cubicBezTo>
                <a:cubicBezTo>
                  <a:pt x="21600" y="9542"/>
                  <a:pt x="20981" y="11460"/>
                  <a:pt x="19882" y="12872"/>
                </a:cubicBezTo>
                <a:lnTo>
                  <a:pt x="17216" y="16299"/>
                </a:lnTo>
                <a:cubicBezTo>
                  <a:pt x="16117" y="17711"/>
                  <a:pt x="14625" y="18506"/>
                  <a:pt x="13069" y="18506"/>
                </a:cubicBezTo>
                <a:cubicBezTo>
                  <a:pt x="9829" y="18506"/>
                  <a:pt x="7200" y="15132"/>
                  <a:pt x="7200" y="10964"/>
                </a:cubicBezTo>
                <a:cubicBezTo>
                  <a:pt x="7200" y="10892"/>
                  <a:pt x="7200" y="10819"/>
                  <a:pt x="7204" y="10747"/>
                </a:cubicBezTo>
                <a:cubicBezTo>
                  <a:pt x="7222" y="9894"/>
                  <a:pt x="7774" y="9224"/>
                  <a:pt x="8437" y="9248"/>
                </a:cubicBezTo>
                <a:cubicBezTo>
                  <a:pt x="9101" y="9272"/>
                  <a:pt x="9622" y="9981"/>
                  <a:pt x="9604" y="10834"/>
                </a:cubicBezTo>
                <a:cubicBezTo>
                  <a:pt x="9604" y="10877"/>
                  <a:pt x="9604" y="10920"/>
                  <a:pt x="9604" y="10959"/>
                </a:cubicBezTo>
                <a:cubicBezTo>
                  <a:pt x="9604" y="13422"/>
                  <a:pt x="11156" y="15417"/>
                  <a:pt x="13072" y="15417"/>
                </a:cubicBezTo>
                <a:cubicBezTo>
                  <a:pt x="13991" y="15417"/>
                  <a:pt x="14872" y="14949"/>
                  <a:pt x="15525" y="14111"/>
                </a:cubicBezTo>
                <a:lnTo>
                  <a:pt x="18191" y="10684"/>
                </a:lnTo>
                <a:cubicBezTo>
                  <a:pt x="18840" y="9851"/>
                  <a:pt x="19207" y="8713"/>
                  <a:pt x="19207" y="7533"/>
                </a:cubicBezTo>
                <a:cubicBezTo>
                  <a:pt x="19207" y="5070"/>
                  <a:pt x="17655" y="3075"/>
                  <a:pt x="15739" y="3075"/>
                </a:cubicBezTo>
                <a:close/>
                <a:moveTo>
                  <a:pt x="10320" y="6810"/>
                </a:moveTo>
                <a:cubicBezTo>
                  <a:pt x="10249" y="6771"/>
                  <a:pt x="10177" y="6718"/>
                  <a:pt x="10114" y="6660"/>
                </a:cubicBezTo>
                <a:cubicBezTo>
                  <a:pt x="9641" y="6347"/>
                  <a:pt x="9101" y="6169"/>
                  <a:pt x="8535" y="6169"/>
                </a:cubicBezTo>
                <a:cubicBezTo>
                  <a:pt x="7616" y="6169"/>
                  <a:pt x="6735" y="6636"/>
                  <a:pt x="6083" y="7475"/>
                </a:cubicBezTo>
                <a:lnTo>
                  <a:pt x="3416" y="10901"/>
                </a:lnTo>
                <a:cubicBezTo>
                  <a:pt x="2767" y="11735"/>
                  <a:pt x="2400" y="12872"/>
                  <a:pt x="2400" y="14053"/>
                </a:cubicBezTo>
                <a:cubicBezTo>
                  <a:pt x="2400" y="16516"/>
                  <a:pt x="3952" y="18511"/>
                  <a:pt x="5869" y="18511"/>
                </a:cubicBezTo>
                <a:cubicBezTo>
                  <a:pt x="6487" y="18511"/>
                  <a:pt x="7091" y="18299"/>
                  <a:pt x="7620" y="17904"/>
                </a:cubicBezTo>
                <a:cubicBezTo>
                  <a:pt x="8213" y="18675"/>
                  <a:pt x="8902" y="19320"/>
                  <a:pt x="9667" y="19807"/>
                </a:cubicBezTo>
                <a:cubicBezTo>
                  <a:pt x="8610" y="20959"/>
                  <a:pt x="7267" y="21600"/>
                  <a:pt x="5869" y="21600"/>
                </a:cubicBezTo>
                <a:cubicBezTo>
                  <a:pt x="2629" y="21600"/>
                  <a:pt x="0" y="18227"/>
                  <a:pt x="0" y="14058"/>
                </a:cubicBezTo>
                <a:cubicBezTo>
                  <a:pt x="0" y="12058"/>
                  <a:pt x="619" y="10140"/>
                  <a:pt x="1718" y="8728"/>
                </a:cubicBezTo>
                <a:lnTo>
                  <a:pt x="4384" y="5301"/>
                </a:lnTo>
                <a:cubicBezTo>
                  <a:pt x="5483" y="3889"/>
                  <a:pt x="6975" y="3094"/>
                  <a:pt x="8531" y="3094"/>
                </a:cubicBezTo>
                <a:cubicBezTo>
                  <a:pt x="11779" y="3094"/>
                  <a:pt x="14400" y="6496"/>
                  <a:pt x="14400" y="10655"/>
                </a:cubicBezTo>
                <a:cubicBezTo>
                  <a:pt x="14400" y="10718"/>
                  <a:pt x="14400" y="10781"/>
                  <a:pt x="14400" y="10843"/>
                </a:cubicBezTo>
                <a:cubicBezTo>
                  <a:pt x="14385" y="11696"/>
                  <a:pt x="13834" y="12366"/>
                  <a:pt x="13170" y="12347"/>
                </a:cubicBezTo>
                <a:cubicBezTo>
                  <a:pt x="12506" y="12328"/>
                  <a:pt x="11985" y="11619"/>
                  <a:pt x="12000" y="10766"/>
                </a:cubicBezTo>
                <a:cubicBezTo>
                  <a:pt x="12000" y="10728"/>
                  <a:pt x="12000" y="10694"/>
                  <a:pt x="12000" y="10655"/>
                </a:cubicBezTo>
                <a:cubicBezTo>
                  <a:pt x="12000" y="9031"/>
                  <a:pt x="11325" y="7605"/>
                  <a:pt x="10320" y="6819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07" name="Text 25"/>
          <p:cNvSpPr txBox="1"/>
          <p:nvPr/>
        </p:nvSpPr>
        <p:spPr>
          <a:xfrm>
            <a:off x="631555" y="5638513"/>
            <a:ext cx="11088689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关系创建</a:t>
            </a:r>
          </a:p>
        </p:txBody>
      </p:sp>
      <p:sp>
        <p:nvSpPr>
          <p:cNvPr id="608" name="Shape 26"/>
          <p:cNvSpPr/>
          <p:nvPr/>
        </p:nvSpPr>
        <p:spPr>
          <a:xfrm>
            <a:off x="398580" y="5902475"/>
            <a:ext cx="11207751" cy="19288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2" y="0"/>
                </a:moveTo>
                <a:lnTo>
                  <a:pt x="21478" y="0"/>
                </a:lnTo>
                <a:cubicBezTo>
                  <a:pt x="21545" y="0"/>
                  <a:pt x="21600" y="318"/>
                  <a:pt x="21600" y="711"/>
                </a:cubicBezTo>
                <a:lnTo>
                  <a:pt x="21600" y="20889"/>
                </a:lnTo>
                <a:cubicBezTo>
                  <a:pt x="21600" y="21282"/>
                  <a:pt x="21545" y="21600"/>
                  <a:pt x="21478" y="21600"/>
                </a:cubicBezTo>
                <a:lnTo>
                  <a:pt x="122" y="21600"/>
                </a:lnTo>
                <a:cubicBezTo>
                  <a:pt x="55" y="21600"/>
                  <a:pt x="0" y="21282"/>
                  <a:pt x="0" y="20889"/>
                </a:cubicBezTo>
                <a:lnTo>
                  <a:pt x="0" y="711"/>
                </a:lnTo>
                <a:cubicBezTo>
                  <a:pt x="0" y="318"/>
                  <a:pt x="55" y="0"/>
                  <a:pt x="122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09" name="Shape 27"/>
          <p:cNvSpPr/>
          <p:nvPr/>
        </p:nvSpPr>
        <p:spPr>
          <a:xfrm>
            <a:off x="467971" y="5936915"/>
            <a:ext cx="10953751" cy="16748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3" y="0"/>
                </a:moveTo>
                <a:lnTo>
                  <a:pt x="21537" y="0"/>
                </a:lnTo>
                <a:cubicBezTo>
                  <a:pt x="21572" y="0"/>
                  <a:pt x="21600" y="183"/>
                  <a:pt x="21600" y="410"/>
                </a:cubicBezTo>
                <a:lnTo>
                  <a:pt x="21600" y="21190"/>
                </a:lnTo>
                <a:cubicBezTo>
                  <a:pt x="21600" y="21417"/>
                  <a:pt x="21572" y="21600"/>
                  <a:pt x="21537" y="21600"/>
                </a:cubicBezTo>
                <a:lnTo>
                  <a:pt x="63" y="21600"/>
                </a:lnTo>
                <a:cubicBezTo>
                  <a:pt x="28" y="21600"/>
                  <a:pt x="0" y="21417"/>
                  <a:pt x="0" y="21190"/>
                </a:cubicBezTo>
                <a:lnTo>
                  <a:pt x="0" y="410"/>
                </a:lnTo>
                <a:cubicBezTo>
                  <a:pt x="0" y="183"/>
                  <a:pt x="28" y="0"/>
                  <a:pt x="63" y="0"/>
                </a:cubicBezTo>
                <a:close/>
              </a:path>
            </a:pathLst>
          </a:custGeom>
          <a:solidFill>
            <a:srgbClr val="0D0E1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0" name="Text 28"/>
          <p:cNvSpPr txBox="1"/>
          <p:nvPr/>
        </p:nvSpPr>
        <p:spPr>
          <a:xfrm>
            <a:off x="700467" y="6054291"/>
            <a:ext cx="1081881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8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// 创建治疗关系</a:t>
            </a:r>
          </a:p>
        </p:txBody>
      </p:sp>
      <p:sp>
        <p:nvSpPr>
          <p:cNvPr id="611" name="Text 29"/>
          <p:cNvSpPr txBox="1"/>
          <p:nvPr/>
        </p:nvSpPr>
        <p:spPr>
          <a:xfrm>
            <a:off x="687337" y="6197531"/>
            <a:ext cx="1081881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CREATE (d1)-[:TREATS]-&gt;(dis1) // 二甲双胍治疗2型糖尿病</a:t>
            </a:r>
          </a:p>
        </p:txBody>
      </p:sp>
      <p:sp>
        <p:nvSpPr>
          <p:cNvPr id="612" name="Text 30"/>
          <p:cNvSpPr txBox="1"/>
          <p:nvPr/>
        </p:nvSpPr>
        <p:spPr>
          <a:xfrm>
            <a:off x="672719" y="6362757"/>
            <a:ext cx="1081881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CREATE (d2)-[:TREATS]-&gt;(dis2) // 氨氯地平治疗高血压病</a:t>
            </a:r>
          </a:p>
        </p:txBody>
      </p:sp>
      <p:sp>
        <p:nvSpPr>
          <p:cNvPr id="613" name="Text 31"/>
          <p:cNvSpPr txBox="1"/>
          <p:nvPr/>
        </p:nvSpPr>
        <p:spPr>
          <a:xfrm>
            <a:off x="672719" y="6527983"/>
            <a:ext cx="1081881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CREATE (d3)-[:TREATS]-&gt;(dis3) // 阿托伐他汀治疗高脂血症</a:t>
            </a:r>
          </a:p>
        </p:txBody>
      </p:sp>
      <p:sp>
        <p:nvSpPr>
          <p:cNvPr id="614" name="Text 32"/>
          <p:cNvSpPr txBox="1"/>
          <p:nvPr/>
        </p:nvSpPr>
        <p:spPr>
          <a:xfrm>
            <a:off x="6238971" y="6054291"/>
            <a:ext cx="1081881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8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// 创建症状关系</a:t>
            </a:r>
          </a:p>
        </p:txBody>
      </p:sp>
      <p:sp>
        <p:nvSpPr>
          <p:cNvPr id="615" name="Text 33"/>
          <p:cNvSpPr txBox="1"/>
          <p:nvPr/>
        </p:nvSpPr>
        <p:spPr>
          <a:xfrm>
            <a:off x="6238971" y="6282876"/>
            <a:ext cx="1081881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CREATE (dis1)-[:HAS_SYMPTOM]-&gt;(s1) // 2型糖尿病有双下肢水肿</a:t>
            </a:r>
          </a:p>
        </p:txBody>
      </p:sp>
      <p:sp>
        <p:nvSpPr>
          <p:cNvPr id="616" name="Text 34"/>
          <p:cNvSpPr txBox="1"/>
          <p:nvPr/>
        </p:nvSpPr>
        <p:spPr>
          <a:xfrm>
            <a:off x="6238971" y="6410717"/>
            <a:ext cx="1081881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CREATE (dis1)-[:HAS_SYMPTOM]-&gt;(s2) // 2型糖尿病有乏力症状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Text 0"/>
          <p:cNvSpPr txBox="1"/>
          <p:nvPr/>
        </p:nvSpPr>
        <p:spPr>
          <a:xfrm>
            <a:off x="326862" y="348721"/>
            <a:ext cx="1160364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pc="51" sz="1000">
                <a:solidFill>
                  <a:srgbClr val="5E8B7E"/>
                </a:solidFill>
                <a:latin typeface="Liter"/>
                <a:ea typeface="Liter"/>
                <a:cs typeface="Liter"/>
                <a:sym typeface="Liter"/>
              </a:defRPr>
            </a:lvl1pPr>
          </a:lstStyle>
          <a:p>
            <a:pPr/>
            <a:r>
              <a:t>RAG RETRIEVAL DEMO</a:t>
            </a:r>
          </a:p>
        </p:txBody>
      </p:sp>
      <p:sp>
        <p:nvSpPr>
          <p:cNvPr id="619" name="Text 1"/>
          <p:cNvSpPr txBox="1"/>
          <p:nvPr/>
        </p:nvSpPr>
        <p:spPr>
          <a:xfrm>
            <a:off x="326862" y="517740"/>
            <a:ext cx="11734393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80000"/>
              </a:lnSpc>
              <a:defRPr b="1" sz="3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RAG检索过程Demo</a:t>
            </a:r>
          </a:p>
        </p:txBody>
      </p:sp>
      <p:sp>
        <p:nvSpPr>
          <p:cNvPr id="620" name="Shape 2"/>
          <p:cNvSpPr/>
          <p:nvPr/>
        </p:nvSpPr>
        <p:spPr>
          <a:xfrm>
            <a:off x="326862" y="1111231"/>
            <a:ext cx="784473" cy="32687"/>
          </a:xfrm>
          <a:prstGeom prst="rect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21" name="Shape 3"/>
          <p:cNvSpPr/>
          <p:nvPr/>
        </p:nvSpPr>
        <p:spPr>
          <a:xfrm>
            <a:off x="341721" y="1274606"/>
            <a:ext cx="11520445" cy="5556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6" y="0"/>
                </a:moveTo>
                <a:lnTo>
                  <a:pt x="21416" y="0"/>
                </a:lnTo>
                <a:cubicBezTo>
                  <a:pt x="21518" y="0"/>
                  <a:pt x="21600" y="1707"/>
                  <a:pt x="21600" y="3812"/>
                </a:cubicBezTo>
                <a:lnTo>
                  <a:pt x="21600" y="17788"/>
                </a:lnTo>
                <a:cubicBezTo>
                  <a:pt x="21600" y="19893"/>
                  <a:pt x="21518" y="21600"/>
                  <a:pt x="21416" y="21600"/>
                </a:cubicBezTo>
                <a:lnTo>
                  <a:pt x="56" y="21600"/>
                </a:lnTo>
                <a:cubicBezTo>
                  <a:pt x="25" y="21600"/>
                  <a:pt x="0" y="21083"/>
                  <a:pt x="0" y="20445"/>
                </a:cubicBezTo>
                <a:lnTo>
                  <a:pt x="0" y="1155"/>
                </a:lnTo>
                <a:cubicBezTo>
                  <a:pt x="0" y="518"/>
                  <a:pt x="25" y="0"/>
                  <a:pt x="56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22" name="Shape 4"/>
          <p:cNvSpPr/>
          <p:nvPr/>
        </p:nvSpPr>
        <p:spPr>
          <a:xfrm>
            <a:off x="341721" y="1274606"/>
            <a:ext cx="29716" cy="5556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083"/>
                  <a:pt x="0" y="20445"/>
                </a:cubicBezTo>
                <a:lnTo>
                  <a:pt x="0" y="1155"/>
                </a:lnTo>
                <a:cubicBezTo>
                  <a:pt x="0" y="518"/>
                  <a:pt x="9679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23" name="Shape 5"/>
          <p:cNvSpPr/>
          <p:nvPr/>
        </p:nvSpPr>
        <p:spPr>
          <a:xfrm>
            <a:off x="507705" y="1446106"/>
            <a:ext cx="147083" cy="1471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69" h="21469" fill="norm" stroke="1" extrusionOk="0">
                <a:moveTo>
                  <a:pt x="17444" y="8721"/>
                </a:moveTo>
                <a:cubicBezTo>
                  <a:pt x="17444" y="10645"/>
                  <a:pt x="16820" y="12423"/>
                  <a:pt x="15767" y="13865"/>
                </a:cubicBezTo>
                <a:lnTo>
                  <a:pt x="21076" y="19177"/>
                </a:lnTo>
                <a:cubicBezTo>
                  <a:pt x="21600" y="19701"/>
                  <a:pt x="21600" y="20552"/>
                  <a:pt x="21076" y="21076"/>
                </a:cubicBezTo>
                <a:cubicBezTo>
                  <a:pt x="20552" y="21600"/>
                  <a:pt x="19700" y="21600"/>
                  <a:pt x="19176" y="21076"/>
                </a:cubicBezTo>
                <a:lnTo>
                  <a:pt x="13867" y="15764"/>
                </a:lnTo>
                <a:cubicBezTo>
                  <a:pt x="12425" y="16816"/>
                  <a:pt x="10647" y="17441"/>
                  <a:pt x="8722" y="17441"/>
                </a:cubicBezTo>
                <a:cubicBezTo>
                  <a:pt x="3904" y="17441"/>
                  <a:pt x="0" y="13538"/>
                  <a:pt x="0" y="8721"/>
                </a:cubicBezTo>
                <a:cubicBezTo>
                  <a:pt x="0" y="3903"/>
                  <a:pt x="3904" y="0"/>
                  <a:pt x="8722" y="0"/>
                </a:cubicBezTo>
                <a:cubicBezTo>
                  <a:pt x="13540" y="0"/>
                  <a:pt x="17444" y="3903"/>
                  <a:pt x="17444" y="8721"/>
                </a:cubicBezTo>
                <a:close/>
                <a:moveTo>
                  <a:pt x="8722" y="14758"/>
                </a:moveTo>
                <a:cubicBezTo>
                  <a:pt x="12055" y="14758"/>
                  <a:pt x="14761" y="12053"/>
                  <a:pt x="14761" y="8721"/>
                </a:cubicBezTo>
                <a:cubicBezTo>
                  <a:pt x="14761" y="5388"/>
                  <a:pt x="12055" y="2683"/>
                  <a:pt x="8722" y="2683"/>
                </a:cubicBezTo>
                <a:cubicBezTo>
                  <a:pt x="5390" y="2683"/>
                  <a:pt x="2684" y="5388"/>
                  <a:pt x="2684" y="8721"/>
                </a:cubicBezTo>
                <a:cubicBezTo>
                  <a:pt x="2684" y="12053"/>
                  <a:pt x="5390" y="14758"/>
                  <a:pt x="8722" y="14758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24" name="Text 6"/>
          <p:cNvSpPr txBox="1"/>
          <p:nvPr/>
        </p:nvSpPr>
        <p:spPr>
          <a:xfrm>
            <a:off x="675222" y="1418107"/>
            <a:ext cx="1112969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1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输入查询: "2型糖尿病伴糖尿病肾病患者的用药推荐"</a:t>
            </a:r>
          </a:p>
        </p:txBody>
      </p:sp>
      <p:sp>
        <p:nvSpPr>
          <p:cNvPr id="625" name="Shape 7"/>
          <p:cNvSpPr/>
          <p:nvPr/>
        </p:nvSpPr>
        <p:spPr>
          <a:xfrm>
            <a:off x="341720" y="1960772"/>
            <a:ext cx="5685937" cy="11440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3" y="0"/>
                </a:moveTo>
                <a:lnTo>
                  <a:pt x="21228" y="0"/>
                </a:lnTo>
                <a:cubicBezTo>
                  <a:pt x="21433" y="0"/>
                  <a:pt x="21600" y="829"/>
                  <a:pt x="21600" y="1851"/>
                </a:cubicBezTo>
                <a:lnTo>
                  <a:pt x="21600" y="19749"/>
                </a:lnTo>
                <a:cubicBezTo>
                  <a:pt x="21600" y="20771"/>
                  <a:pt x="21433" y="21600"/>
                  <a:pt x="21228" y="21600"/>
                </a:cubicBezTo>
                <a:lnTo>
                  <a:pt x="113" y="21600"/>
                </a:lnTo>
                <a:cubicBezTo>
                  <a:pt x="51" y="21600"/>
                  <a:pt x="0" y="21349"/>
                  <a:pt x="0" y="21039"/>
                </a:cubicBezTo>
                <a:lnTo>
                  <a:pt x="0" y="561"/>
                </a:lnTo>
                <a:cubicBezTo>
                  <a:pt x="0" y="251"/>
                  <a:pt x="51" y="0"/>
                  <a:pt x="113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26" name="Shape 8"/>
          <p:cNvSpPr/>
          <p:nvPr/>
        </p:nvSpPr>
        <p:spPr>
          <a:xfrm>
            <a:off x="341721" y="1960772"/>
            <a:ext cx="29716" cy="11440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349"/>
                  <a:pt x="0" y="21039"/>
                </a:cubicBezTo>
                <a:lnTo>
                  <a:pt x="0" y="561"/>
                </a:lnTo>
                <a:cubicBezTo>
                  <a:pt x="0" y="251"/>
                  <a:pt x="9679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27" name="Shape 9"/>
          <p:cNvSpPr/>
          <p:nvPr/>
        </p:nvSpPr>
        <p:spPr>
          <a:xfrm>
            <a:off x="487276" y="2091470"/>
            <a:ext cx="326864" cy="326864"/>
          </a:xfrm>
          <a:prstGeom prst="ellipse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28" name="Text 10"/>
          <p:cNvSpPr txBox="1"/>
          <p:nvPr/>
        </p:nvSpPr>
        <p:spPr>
          <a:xfrm>
            <a:off x="454591" y="2178701"/>
            <a:ext cx="39223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000">
                <a:solidFill>
                  <a:srgbClr val="1A1D21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29" name="Text 11"/>
          <p:cNvSpPr txBox="1"/>
          <p:nvPr/>
        </p:nvSpPr>
        <p:spPr>
          <a:xfrm>
            <a:off x="912163" y="2153317"/>
            <a:ext cx="6619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1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实体识别</a:t>
            </a:r>
          </a:p>
        </p:txBody>
      </p:sp>
      <p:sp>
        <p:nvSpPr>
          <p:cNvPr id="630" name="Text 12"/>
          <p:cNvSpPr txBox="1"/>
          <p:nvPr/>
        </p:nvSpPr>
        <p:spPr>
          <a:xfrm>
            <a:off x="487276" y="2525518"/>
            <a:ext cx="547496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疾病实体:</a:t>
            </a:r>
            <a:r>
              <a:rPr b="0">
                <a:solidFill>
                  <a:srgbClr val="7D8A96"/>
                </a:solidFill>
              </a:rPr>
              <a:t> ["2型糖尿病", "糖尿病肾病"]</a:t>
            </a:r>
          </a:p>
        </p:txBody>
      </p:sp>
      <p:sp>
        <p:nvSpPr>
          <p:cNvPr id="631" name="Text 13"/>
          <p:cNvSpPr txBox="1"/>
          <p:nvPr/>
        </p:nvSpPr>
        <p:spPr>
          <a:xfrm>
            <a:off x="487276" y="2786977"/>
            <a:ext cx="547496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症状实体:</a:t>
            </a:r>
            <a:r>
              <a:rPr b="0">
                <a:solidFill>
                  <a:srgbClr val="7D8A96"/>
                </a:solidFill>
              </a:rPr>
              <a:t> ["双下肢水肿", "乏力", "纳差"]</a:t>
            </a:r>
          </a:p>
        </p:txBody>
      </p:sp>
      <p:sp>
        <p:nvSpPr>
          <p:cNvPr id="632" name="Shape 14"/>
          <p:cNvSpPr/>
          <p:nvPr/>
        </p:nvSpPr>
        <p:spPr>
          <a:xfrm>
            <a:off x="341720" y="3202645"/>
            <a:ext cx="5685937" cy="18222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3" y="0"/>
                </a:moveTo>
                <a:lnTo>
                  <a:pt x="21227" y="0"/>
                </a:lnTo>
                <a:cubicBezTo>
                  <a:pt x="21433" y="0"/>
                  <a:pt x="21600" y="520"/>
                  <a:pt x="21600" y="1162"/>
                </a:cubicBezTo>
                <a:lnTo>
                  <a:pt x="21600" y="20438"/>
                </a:lnTo>
                <a:cubicBezTo>
                  <a:pt x="21600" y="21080"/>
                  <a:pt x="21433" y="21600"/>
                  <a:pt x="21227" y="21600"/>
                </a:cubicBezTo>
                <a:lnTo>
                  <a:pt x="113" y="21600"/>
                </a:lnTo>
                <a:cubicBezTo>
                  <a:pt x="51" y="21600"/>
                  <a:pt x="0" y="21442"/>
                  <a:pt x="0" y="21248"/>
                </a:cubicBezTo>
                <a:lnTo>
                  <a:pt x="0" y="352"/>
                </a:lnTo>
                <a:cubicBezTo>
                  <a:pt x="0" y="158"/>
                  <a:pt x="51" y="0"/>
                  <a:pt x="113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33" name="Shape 15"/>
          <p:cNvSpPr/>
          <p:nvPr/>
        </p:nvSpPr>
        <p:spPr>
          <a:xfrm>
            <a:off x="341721" y="3202645"/>
            <a:ext cx="29716" cy="18222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442"/>
                  <a:pt x="0" y="21248"/>
                </a:cubicBezTo>
                <a:lnTo>
                  <a:pt x="0" y="352"/>
                </a:lnTo>
                <a:cubicBezTo>
                  <a:pt x="0" y="158"/>
                  <a:pt x="9679" y="0"/>
                  <a:pt x="21600" y="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34" name="Shape 16"/>
          <p:cNvSpPr/>
          <p:nvPr/>
        </p:nvSpPr>
        <p:spPr>
          <a:xfrm>
            <a:off x="487276" y="3333343"/>
            <a:ext cx="326864" cy="326864"/>
          </a:xfrm>
          <a:prstGeom prst="ellipse">
            <a:avLst/>
          </a:pr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35" name="Text 17"/>
          <p:cNvSpPr txBox="1"/>
          <p:nvPr/>
        </p:nvSpPr>
        <p:spPr>
          <a:xfrm>
            <a:off x="454591" y="3420574"/>
            <a:ext cx="39223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36" name="Text 18"/>
          <p:cNvSpPr txBox="1"/>
          <p:nvPr/>
        </p:nvSpPr>
        <p:spPr>
          <a:xfrm>
            <a:off x="912163" y="3395190"/>
            <a:ext cx="95607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1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知识图谱检索</a:t>
            </a:r>
          </a:p>
        </p:txBody>
      </p:sp>
      <p:sp>
        <p:nvSpPr>
          <p:cNvPr id="637" name="Shape 19"/>
          <p:cNvSpPr/>
          <p:nvPr/>
        </p:nvSpPr>
        <p:spPr>
          <a:xfrm>
            <a:off x="487276" y="3758233"/>
            <a:ext cx="5409589" cy="11358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61" y="0"/>
                </a:moveTo>
                <a:lnTo>
                  <a:pt x="21339" y="0"/>
                </a:lnTo>
                <a:cubicBezTo>
                  <a:pt x="21483" y="0"/>
                  <a:pt x="21600" y="557"/>
                  <a:pt x="21600" y="1243"/>
                </a:cubicBezTo>
                <a:lnTo>
                  <a:pt x="21600" y="20357"/>
                </a:lnTo>
                <a:cubicBezTo>
                  <a:pt x="21600" y="21043"/>
                  <a:pt x="21483" y="21600"/>
                  <a:pt x="21339" y="21600"/>
                </a:cubicBezTo>
                <a:lnTo>
                  <a:pt x="261" y="21600"/>
                </a:lnTo>
                <a:cubicBezTo>
                  <a:pt x="117" y="21600"/>
                  <a:pt x="0" y="21043"/>
                  <a:pt x="0" y="20357"/>
                </a:cubicBezTo>
                <a:lnTo>
                  <a:pt x="0" y="1243"/>
                </a:lnTo>
                <a:cubicBezTo>
                  <a:pt x="0" y="557"/>
                  <a:pt x="117" y="0"/>
                  <a:pt x="261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38" name="Shape 20"/>
          <p:cNvSpPr/>
          <p:nvPr/>
        </p:nvSpPr>
        <p:spPr>
          <a:xfrm>
            <a:off x="585300" y="3856259"/>
            <a:ext cx="5213470" cy="9397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5" y="0"/>
                </a:moveTo>
                <a:lnTo>
                  <a:pt x="21465" y="0"/>
                </a:lnTo>
                <a:cubicBezTo>
                  <a:pt x="21539" y="0"/>
                  <a:pt x="21600" y="336"/>
                  <a:pt x="21600" y="751"/>
                </a:cubicBezTo>
                <a:lnTo>
                  <a:pt x="21600" y="20849"/>
                </a:lnTo>
                <a:cubicBezTo>
                  <a:pt x="21600" y="21264"/>
                  <a:pt x="21539" y="21600"/>
                  <a:pt x="21465" y="21600"/>
                </a:cubicBezTo>
                <a:lnTo>
                  <a:pt x="135" y="21600"/>
                </a:lnTo>
                <a:cubicBezTo>
                  <a:pt x="61" y="21600"/>
                  <a:pt x="0" y="21264"/>
                  <a:pt x="0" y="20849"/>
                </a:cubicBezTo>
                <a:lnTo>
                  <a:pt x="0" y="751"/>
                </a:lnTo>
                <a:cubicBezTo>
                  <a:pt x="0" y="336"/>
                  <a:pt x="61" y="0"/>
                  <a:pt x="135" y="0"/>
                </a:cubicBezTo>
                <a:close/>
              </a:path>
            </a:pathLst>
          </a:custGeom>
          <a:solidFill>
            <a:srgbClr val="0D0E1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39" name="Text 21"/>
          <p:cNvSpPr txBox="1"/>
          <p:nvPr/>
        </p:nvSpPr>
        <p:spPr>
          <a:xfrm>
            <a:off x="650650" y="3933032"/>
            <a:ext cx="513992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9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// 查询治疗2型糖尿病的药物</a:t>
            </a:r>
          </a:p>
        </p:txBody>
      </p:sp>
      <p:sp>
        <p:nvSpPr>
          <p:cNvPr id="640" name="Text 22"/>
          <p:cNvSpPr txBox="1"/>
          <p:nvPr/>
        </p:nvSpPr>
        <p:spPr>
          <a:xfrm>
            <a:off x="650650" y="4151533"/>
            <a:ext cx="513992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9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MATCH (d:Drug)-[:TREATS]-&gt;(dis:Disease {name: "2型糖尿病"})</a:t>
            </a:r>
          </a:p>
        </p:txBody>
      </p:sp>
      <p:sp>
        <p:nvSpPr>
          <p:cNvPr id="641" name="Text 23"/>
          <p:cNvSpPr txBox="1"/>
          <p:nvPr/>
        </p:nvSpPr>
        <p:spPr>
          <a:xfrm>
            <a:off x="650650" y="4350074"/>
            <a:ext cx="513992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9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RETURN d.name</a:t>
            </a:r>
          </a:p>
        </p:txBody>
      </p:sp>
      <p:sp>
        <p:nvSpPr>
          <p:cNvPr id="642" name="Text 24"/>
          <p:cNvSpPr txBox="1"/>
          <p:nvPr/>
        </p:nvSpPr>
        <p:spPr>
          <a:xfrm>
            <a:off x="650650" y="4555883"/>
            <a:ext cx="513992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9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→ ["二甲双胍", "胰岛素", ...]</a:t>
            </a:r>
          </a:p>
        </p:txBody>
      </p:sp>
      <p:sp>
        <p:nvSpPr>
          <p:cNvPr id="643" name="Shape 25"/>
          <p:cNvSpPr/>
          <p:nvPr/>
        </p:nvSpPr>
        <p:spPr>
          <a:xfrm>
            <a:off x="341720" y="5122385"/>
            <a:ext cx="5685937" cy="14055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3" y="0"/>
                </a:moveTo>
                <a:lnTo>
                  <a:pt x="21227" y="0"/>
                </a:lnTo>
                <a:cubicBezTo>
                  <a:pt x="21433" y="0"/>
                  <a:pt x="21600" y="675"/>
                  <a:pt x="21600" y="1507"/>
                </a:cubicBezTo>
                <a:lnTo>
                  <a:pt x="21600" y="20093"/>
                </a:lnTo>
                <a:cubicBezTo>
                  <a:pt x="21600" y="20925"/>
                  <a:pt x="21433" y="21600"/>
                  <a:pt x="21227" y="21600"/>
                </a:cubicBezTo>
                <a:lnTo>
                  <a:pt x="113" y="21600"/>
                </a:lnTo>
                <a:cubicBezTo>
                  <a:pt x="51" y="21600"/>
                  <a:pt x="0" y="21396"/>
                  <a:pt x="0" y="21143"/>
                </a:cubicBezTo>
                <a:lnTo>
                  <a:pt x="0" y="457"/>
                </a:lnTo>
                <a:cubicBezTo>
                  <a:pt x="0" y="205"/>
                  <a:pt x="51" y="0"/>
                  <a:pt x="113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4" name="Shape 26"/>
          <p:cNvSpPr/>
          <p:nvPr/>
        </p:nvSpPr>
        <p:spPr>
          <a:xfrm>
            <a:off x="341721" y="5122385"/>
            <a:ext cx="29716" cy="14055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396"/>
                  <a:pt x="0" y="21143"/>
                </a:cubicBezTo>
                <a:lnTo>
                  <a:pt x="0" y="457"/>
                </a:lnTo>
                <a:cubicBezTo>
                  <a:pt x="0" y="205"/>
                  <a:pt x="9679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5" name="Shape 27"/>
          <p:cNvSpPr/>
          <p:nvPr/>
        </p:nvSpPr>
        <p:spPr>
          <a:xfrm>
            <a:off x="487276" y="5253089"/>
            <a:ext cx="326864" cy="326864"/>
          </a:xfrm>
          <a:prstGeom prst="ellipse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6" name="Text 28"/>
          <p:cNvSpPr txBox="1"/>
          <p:nvPr/>
        </p:nvSpPr>
        <p:spPr>
          <a:xfrm>
            <a:off x="454591" y="5340321"/>
            <a:ext cx="39223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000">
                <a:solidFill>
                  <a:srgbClr val="1A1D21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47" name="Text 29"/>
          <p:cNvSpPr txBox="1"/>
          <p:nvPr/>
        </p:nvSpPr>
        <p:spPr>
          <a:xfrm>
            <a:off x="912163" y="5314929"/>
            <a:ext cx="6619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1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向量检索</a:t>
            </a:r>
          </a:p>
        </p:txBody>
      </p:sp>
      <p:sp>
        <p:nvSpPr>
          <p:cNvPr id="648" name="Text 30"/>
          <p:cNvSpPr txBox="1"/>
          <p:nvPr/>
        </p:nvSpPr>
        <p:spPr>
          <a:xfrm>
            <a:off x="487276" y="5687132"/>
            <a:ext cx="547496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查询向量:</a:t>
            </a:r>
            <a:r>
              <a:rPr b="0">
                <a:solidFill>
                  <a:srgbClr val="7D8A96"/>
                </a:solidFill>
              </a:rPr>
              <a:t> encode("2型糖尿病...")</a:t>
            </a:r>
          </a:p>
        </p:txBody>
      </p:sp>
      <p:sp>
        <p:nvSpPr>
          <p:cNvPr id="649" name="Text 31"/>
          <p:cNvSpPr txBox="1"/>
          <p:nvPr/>
        </p:nvSpPr>
        <p:spPr>
          <a:xfrm>
            <a:off x="487276" y="5948590"/>
            <a:ext cx="547496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相似度计算:</a:t>
            </a:r>
            <a:r>
              <a:rPr b="0">
                <a:solidFill>
                  <a:srgbClr val="7D8A96"/>
                </a:solidFill>
              </a:rPr>
              <a:t> cosine_similarity</a:t>
            </a:r>
          </a:p>
        </p:txBody>
      </p:sp>
      <p:sp>
        <p:nvSpPr>
          <p:cNvPr id="650" name="Text 32"/>
          <p:cNvSpPr txBox="1"/>
          <p:nvPr/>
        </p:nvSpPr>
        <p:spPr>
          <a:xfrm>
            <a:off x="487276" y="6210041"/>
            <a:ext cx="547496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Top-10检索:</a:t>
            </a:r>
            <a:r>
              <a:rPr b="0">
                <a:solidFill>
                  <a:srgbClr val="7D8A96"/>
                </a:solidFill>
              </a:rPr>
              <a:t> 指南/文献片段</a:t>
            </a:r>
          </a:p>
        </p:txBody>
      </p:sp>
      <p:sp>
        <p:nvSpPr>
          <p:cNvPr id="651" name="Shape 33"/>
          <p:cNvSpPr/>
          <p:nvPr/>
        </p:nvSpPr>
        <p:spPr>
          <a:xfrm>
            <a:off x="6174361" y="1960772"/>
            <a:ext cx="5685936" cy="18631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3" y="0"/>
                </a:moveTo>
                <a:lnTo>
                  <a:pt x="21227" y="0"/>
                </a:lnTo>
                <a:cubicBezTo>
                  <a:pt x="21433" y="0"/>
                  <a:pt x="21600" y="509"/>
                  <a:pt x="21600" y="1137"/>
                </a:cubicBezTo>
                <a:lnTo>
                  <a:pt x="21600" y="20463"/>
                </a:lnTo>
                <a:cubicBezTo>
                  <a:pt x="21600" y="21091"/>
                  <a:pt x="21433" y="21600"/>
                  <a:pt x="21227" y="21600"/>
                </a:cubicBezTo>
                <a:lnTo>
                  <a:pt x="113" y="21600"/>
                </a:lnTo>
                <a:cubicBezTo>
                  <a:pt x="51" y="21600"/>
                  <a:pt x="0" y="21446"/>
                  <a:pt x="0" y="21256"/>
                </a:cubicBezTo>
                <a:lnTo>
                  <a:pt x="0" y="344"/>
                </a:lnTo>
                <a:cubicBezTo>
                  <a:pt x="0" y="154"/>
                  <a:pt x="51" y="0"/>
                  <a:pt x="113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2" name="Shape 34"/>
          <p:cNvSpPr/>
          <p:nvPr/>
        </p:nvSpPr>
        <p:spPr>
          <a:xfrm>
            <a:off x="6174361" y="1960772"/>
            <a:ext cx="29716" cy="18631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446"/>
                  <a:pt x="0" y="21256"/>
                </a:cubicBezTo>
                <a:lnTo>
                  <a:pt x="0" y="344"/>
                </a:lnTo>
                <a:cubicBezTo>
                  <a:pt x="0" y="154"/>
                  <a:pt x="9679" y="0"/>
                  <a:pt x="21600" y="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3" name="Shape 35"/>
          <p:cNvSpPr/>
          <p:nvPr/>
        </p:nvSpPr>
        <p:spPr>
          <a:xfrm>
            <a:off x="6319918" y="2091470"/>
            <a:ext cx="326864" cy="326864"/>
          </a:xfrm>
          <a:prstGeom prst="ellipse">
            <a:avLst/>
          </a:pr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4" name="Text 36"/>
          <p:cNvSpPr txBox="1"/>
          <p:nvPr/>
        </p:nvSpPr>
        <p:spPr>
          <a:xfrm>
            <a:off x="6287230" y="2178701"/>
            <a:ext cx="39223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55" name="Text 37"/>
          <p:cNvSpPr txBox="1"/>
          <p:nvPr/>
        </p:nvSpPr>
        <p:spPr>
          <a:xfrm>
            <a:off x="6744805" y="2153317"/>
            <a:ext cx="66189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1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结果融合</a:t>
            </a:r>
          </a:p>
        </p:txBody>
      </p:sp>
      <p:sp>
        <p:nvSpPr>
          <p:cNvPr id="656" name="Text 38"/>
          <p:cNvSpPr txBox="1"/>
          <p:nvPr/>
        </p:nvSpPr>
        <p:spPr>
          <a:xfrm>
            <a:off x="6319918" y="2522177"/>
            <a:ext cx="88148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知识图谱结果:</a:t>
            </a:r>
          </a:p>
        </p:txBody>
      </p:sp>
      <p:sp>
        <p:nvSpPr>
          <p:cNvPr id="657" name="Text 39"/>
          <p:cNvSpPr txBox="1"/>
          <p:nvPr/>
        </p:nvSpPr>
        <p:spPr>
          <a:xfrm>
            <a:off x="6450615" y="2776984"/>
            <a:ext cx="533604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["二甲双胍", "胰岛素", "ACEI/ARB"]</a:t>
            </a:r>
          </a:p>
        </p:txBody>
      </p:sp>
      <p:sp>
        <p:nvSpPr>
          <p:cNvPr id="658" name="Text 40"/>
          <p:cNvSpPr txBox="1"/>
          <p:nvPr/>
        </p:nvSpPr>
        <p:spPr>
          <a:xfrm>
            <a:off x="6319918" y="3012352"/>
            <a:ext cx="88148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向量检索结果:</a:t>
            </a:r>
          </a:p>
        </p:txBody>
      </p:sp>
      <p:sp>
        <p:nvSpPr>
          <p:cNvPr id="659" name="Text 41"/>
          <p:cNvSpPr txBox="1"/>
          <p:nvPr/>
        </p:nvSpPr>
        <p:spPr>
          <a:xfrm>
            <a:off x="6450615" y="3267159"/>
            <a:ext cx="533604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["二甲双胍", "SGLT2抑制剂", "GLP-1受体激动剂"]</a:t>
            </a:r>
          </a:p>
        </p:txBody>
      </p:sp>
      <p:sp>
        <p:nvSpPr>
          <p:cNvPr id="660" name="Text 42"/>
          <p:cNvSpPr txBox="1"/>
          <p:nvPr/>
        </p:nvSpPr>
        <p:spPr>
          <a:xfrm>
            <a:off x="6319918" y="3505878"/>
            <a:ext cx="547496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融合策略:</a:t>
            </a:r>
            <a:r>
              <a:rPr b="0">
                <a:solidFill>
                  <a:srgbClr val="7D8A96"/>
                </a:solidFill>
              </a:rPr>
              <a:t> 加权融合(图0.4 + 向量0.6)</a:t>
            </a:r>
          </a:p>
        </p:txBody>
      </p:sp>
      <p:sp>
        <p:nvSpPr>
          <p:cNvPr id="661" name="Shape 43"/>
          <p:cNvSpPr/>
          <p:nvPr/>
        </p:nvSpPr>
        <p:spPr>
          <a:xfrm>
            <a:off x="6166932" y="3928974"/>
            <a:ext cx="5685936" cy="17717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73" y="0"/>
                </a:moveTo>
                <a:lnTo>
                  <a:pt x="21227" y="0"/>
                </a:lnTo>
                <a:cubicBezTo>
                  <a:pt x="21433" y="0"/>
                  <a:pt x="21600" y="535"/>
                  <a:pt x="21600" y="1196"/>
                </a:cubicBezTo>
                <a:lnTo>
                  <a:pt x="21600" y="20404"/>
                </a:lnTo>
                <a:cubicBezTo>
                  <a:pt x="21600" y="21065"/>
                  <a:pt x="21433" y="21600"/>
                  <a:pt x="21227" y="21600"/>
                </a:cubicBezTo>
                <a:lnTo>
                  <a:pt x="373" y="21600"/>
                </a:lnTo>
                <a:cubicBezTo>
                  <a:pt x="167" y="21600"/>
                  <a:pt x="0" y="21065"/>
                  <a:pt x="0" y="20404"/>
                </a:cubicBezTo>
                <a:lnTo>
                  <a:pt x="0" y="1196"/>
                </a:lnTo>
                <a:cubicBezTo>
                  <a:pt x="0" y="536"/>
                  <a:pt x="167" y="0"/>
                  <a:pt x="373" y="0"/>
                </a:cubicBezTo>
                <a:close/>
              </a:path>
            </a:pathLst>
          </a:custGeom>
          <a:solidFill>
            <a:srgbClr val="5E8B7E">
              <a:alpha val="14902"/>
            </a:srgbClr>
          </a:solidFill>
          <a:ln w="23091">
            <a:solidFill>
              <a:srgbClr val="5E8B7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2" name="Shape 44"/>
          <p:cNvSpPr/>
          <p:nvPr/>
        </p:nvSpPr>
        <p:spPr>
          <a:xfrm>
            <a:off x="6325632" y="4107903"/>
            <a:ext cx="156297" cy="1470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7" h="21600" fill="norm" stroke="1" extrusionOk="0">
                <a:moveTo>
                  <a:pt x="2530" y="0"/>
                </a:moveTo>
                <a:cubicBezTo>
                  <a:pt x="1135" y="0"/>
                  <a:pt x="0" y="1211"/>
                  <a:pt x="0" y="2700"/>
                </a:cubicBezTo>
                <a:lnTo>
                  <a:pt x="0" y="18900"/>
                </a:lnTo>
                <a:cubicBezTo>
                  <a:pt x="0" y="20389"/>
                  <a:pt x="1135" y="21600"/>
                  <a:pt x="2530" y="21600"/>
                </a:cubicBezTo>
                <a:lnTo>
                  <a:pt x="12650" y="21600"/>
                </a:lnTo>
                <a:cubicBezTo>
                  <a:pt x="14045" y="21600"/>
                  <a:pt x="15180" y="20389"/>
                  <a:pt x="15180" y="18900"/>
                </a:cubicBezTo>
                <a:lnTo>
                  <a:pt x="15180" y="14850"/>
                </a:lnTo>
                <a:lnTo>
                  <a:pt x="18267" y="14850"/>
                </a:lnTo>
                <a:lnTo>
                  <a:pt x="17042" y="16158"/>
                </a:lnTo>
                <a:cubicBezTo>
                  <a:pt x="16670" y="16554"/>
                  <a:pt x="16670" y="17196"/>
                  <a:pt x="17042" y="17588"/>
                </a:cubicBezTo>
                <a:cubicBezTo>
                  <a:pt x="17414" y="17980"/>
                  <a:pt x="18014" y="17985"/>
                  <a:pt x="18382" y="17588"/>
                </a:cubicBezTo>
                <a:lnTo>
                  <a:pt x="21228" y="14551"/>
                </a:lnTo>
                <a:cubicBezTo>
                  <a:pt x="21600" y="14154"/>
                  <a:pt x="21600" y="13513"/>
                  <a:pt x="21228" y="13120"/>
                </a:cubicBezTo>
                <a:lnTo>
                  <a:pt x="18382" y="10083"/>
                </a:lnTo>
                <a:cubicBezTo>
                  <a:pt x="18010" y="9686"/>
                  <a:pt x="17410" y="9686"/>
                  <a:pt x="17042" y="10083"/>
                </a:cubicBezTo>
                <a:cubicBezTo>
                  <a:pt x="16674" y="10479"/>
                  <a:pt x="16670" y="11121"/>
                  <a:pt x="17042" y="11513"/>
                </a:cubicBezTo>
                <a:lnTo>
                  <a:pt x="18267" y="12821"/>
                </a:lnTo>
                <a:lnTo>
                  <a:pt x="15180" y="12821"/>
                </a:lnTo>
                <a:lnTo>
                  <a:pt x="15180" y="7189"/>
                </a:lnTo>
                <a:cubicBezTo>
                  <a:pt x="15180" y="6472"/>
                  <a:pt x="14915" y="5784"/>
                  <a:pt x="14441" y="5278"/>
                </a:cubicBezTo>
                <a:lnTo>
                  <a:pt x="10227" y="789"/>
                </a:lnTo>
                <a:cubicBezTo>
                  <a:pt x="9752" y="283"/>
                  <a:pt x="9112" y="0"/>
                  <a:pt x="8440" y="0"/>
                </a:cubicBezTo>
                <a:lnTo>
                  <a:pt x="2530" y="0"/>
                </a:lnTo>
                <a:close/>
                <a:moveTo>
                  <a:pt x="12867" y="7425"/>
                </a:moveTo>
                <a:lnTo>
                  <a:pt x="9171" y="7425"/>
                </a:lnTo>
                <a:cubicBezTo>
                  <a:pt x="8645" y="7425"/>
                  <a:pt x="8222" y="6974"/>
                  <a:pt x="8222" y="6413"/>
                </a:cubicBezTo>
                <a:lnTo>
                  <a:pt x="8222" y="2468"/>
                </a:lnTo>
                <a:lnTo>
                  <a:pt x="12867" y="7425"/>
                </a:lnTo>
                <a:close/>
                <a:moveTo>
                  <a:pt x="7590" y="13838"/>
                </a:moveTo>
                <a:cubicBezTo>
                  <a:pt x="7590" y="13276"/>
                  <a:pt x="8013" y="12825"/>
                  <a:pt x="8539" y="12825"/>
                </a:cubicBezTo>
                <a:lnTo>
                  <a:pt x="12650" y="12825"/>
                </a:lnTo>
                <a:lnTo>
                  <a:pt x="12650" y="14850"/>
                </a:lnTo>
                <a:lnTo>
                  <a:pt x="8539" y="14850"/>
                </a:lnTo>
                <a:cubicBezTo>
                  <a:pt x="8013" y="14850"/>
                  <a:pt x="7590" y="14399"/>
                  <a:pt x="7590" y="13838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63" name="Text 45"/>
          <p:cNvSpPr txBox="1"/>
          <p:nvPr/>
        </p:nvSpPr>
        <p:spPr>
          <a:xfrm>
            <a:off x="6493007" y="4079904"/>
            <a:ext cx="529518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1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输出: 相关知识片段</a:t>
            </a:r>
          </a:p>
        </p:txBody>
      </p:sp>
      <p:sp>
        <p:nvSpPr>
          <p:cNvPr id="664" name="Shape 46"/>
          <p:cNvSpPr/>
          <p:nvPr/>
        </p:nvSpPr>
        <p:spPr>
          <a:xfrm>
            <a:off x="6305060" y="4393853"/>
            <a:ext cx="5409588" cy="11685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61" y="0"/>
                </a:moveTo>
                <a:lnTo>
                  <a:pt x="21339" y="0"/>
                </a:lnTo>
                <a:cubicBezTo>
                  <a:pt x="21483" y="0"/>
                  <a:pt x="21600" y="541"/>
                  <a:pt x="21600" y="1208"/>
                </a:cubicBezTo>
                <a:lnTo>
                  <a:pt x="21600" y="20392"/>
                </a:lnTo>
                <a:cubicBezTo>
                  <a:pt x="21600" y="21059"/>
                  <a:pt x="21483" y="21600"/>
                  <a:pt x="21339" y="21600"/>
                </a:cubicBezTo>
                <a:lnTo>
                  <a:pt x="261" y="21600"/>
                </a:lnTo>
                <a:cubicBezTo>
                  <a:pt x="117" y="21600"/>
                  <a:pt x="0" y="21059"/>
                  <a:pt x="0" y="20392"/>
                </a:cubicBezTo>
                <a:lnTo>
                  <a:pt x="0" y="1208"/>
                </a:lnTo>
                <a:cubicBezTo>
                  <a:pt x="0" y="541"/>
                  <a:pt x="117" y="0"/>
                  <a:pt x="261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65" name="Shape 47"/>
          <p:cNvSpPr/>
          <p:nvPr/>
        </p:nvSpPr>
        <p:spPr>
          <a:xfrm>
            <a:off x="6403083" y="4491871"/>
            <a:ext cx="5213470" cy="9724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5" y="0"/>
                </a:moveTo>
                <a:lnTo>
                  <a:pt x="21465" y="0"/>
                </a:lnTo>
                <a:cubicBezTo>
                  <a:pt x="21539" y="0"/>
                  <a:pt x="21600" y="325"/>
                  <a:pt x="21600" y="726"/>
                </a:cubicBezTo>
                <a:lnTo>
                  <a:pt x="21600" y="20874"/>
                </a:lnTo>
                <a:cubicBezTo>
                  <a:pt x="21600" y="21275"/>
                  <a:pt x="21539" y="21600"/>
                  <a:pt x="21465" y="21600"/>
                </a:cubicBezTo>
                <a:lnTo>
                  <a:pt x="135" y="21600"/>
                </a:lnTo>
                <a:cubicBezTo>
                  <a:pt x="61" y="21600"/>
                  <a:pt x="0" y="21275"/>
                  <a:pt x="0" y="20874"/>
                </a:cubicBezTo>
                <a:lnTo>
                  <a:pt x="0" y="726"/>
                </a:lnTo>
                <a:cubicBezTo>
                  <a:pt x="0" y="325"/>
                  <a:pt x="61" y="0"/>
                  <a:pt x="135" y="0"/>
                </a:cubicBezTo>
                <a:close/>
              </a:path>
            </a:pathLst>
          </a:custGeom>
          <a:solidFill>
            <a:srgbClr val="0D0E1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66" name="Text 48"/>
          <p:cNvSpPr txBox="1"/>
          <p:nvPr/>
        </p:nvSpPr>
        <p:spPr>
          <a:xfrm>
            <a:off x="6468433" y="4568651"/>
            <a:ext cx="513992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b="1" sz="9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1.</a:t>
            </a:r>
            <a:r>
              <a:rPr b="0">
                <a:solidFill>
                  <a:srgbClr val="7D8A96"/>
                </a:solidFill>
              </a:rPr>
              <a:t> 二甲双胍: 抑制肝糖原输出，eGFR≥45ml/min可使用</a:t>
            </a:r>
          </a:p>
        </p:txBody>
      </p:sp>
      <p:sp>
        <p:nvSpPr>
          <p:cNvPr id="667" name="Text 49"/>
          <p:cNvSpPr txBox="1"/>
          <p:nvPr/>
        </p:nvSpPr>
        <p:spPr>
          <a:xfrm>
            <a:off x="6468433" y="4787153"/>
            <a:ext cx="513992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b="1" sz="9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2.</a:t>
            </a:r>
            <a:r>
              <a:rPr b="0">
                <a:solidFill>
                  <a:srgbClr val="7D8A96"/>
                </a:solidFill>
              </a:rPr>
              <a:t> ACEI/ARB: 降低肾小球内压，减少蛋白尿</a:t>
            </a:r>
          </a:p>
        </p:txBody>
      </p:sp>
      <p:sp>
        <p:nvSpPr>
          <p:cNvPr id="668" name="Text 50"/>
          <p:cNvSpPr txBox="1"/>
          <p:nvPr/>
        </p:nvSpPr>
        <p:spPr>
          <a:xfrm>
            <a:off x="6468433" y="5005663"/>
            <a:ext cx="513992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b="1" sz="9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3.</a:t>
            </a:r>
            <a:r>
              <a:rPr b="0">
                <a:solidFill>
                  <a:srgbClr val="7D8A96"/>
                </a:solidFill>
              </a:rPr>
              <a:t> SGLT2抑制剂: eGFR≥30ml/min可使用</a:t>
            </a:r>
          </a:p>
        </p:txBody>
      </p:sp>
      <p:sp>
        <p:nvSpPr>
          <p:cNvPr id="669" name="Text 51"/>
          <p:cNvSpPr txBox="1"/>
          <p:nvPr/>
        </p:nvSpPr>
        <p:spPr>
          <a:xfrm>
            <a:off x="6468433" y="5224173"/>
            <a:ext cx="513992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b="1" sz="9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4.</a:t>
            </a:r>
            <a:r>
              <a:rPr b="0">
                <a:solidFill>
                  <a:srgbClr val="7D8A96"/>
                </a:solidFill>
              </a:rPr>
              <a:t> GLP-1受体激动剂: 不经过肾脏代谢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Text 0"/>
          <p:cNvSpPr txBox="1"/>
          <p:nvPr/>
        </p:nvSpPr>
        <p:spPr>
          <a:xfrm>
            <a:off x="317500" y="336549"/>
            <a:ext cx="116205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pc="50" sz="1000">
                <a:solidFill>
                  <a:srgbClr val="5E8B7E"/>
                </a:solidFill>
                <a:latin typeface="Liter"/>
                <a:ea typeface="Liter"/>
                <a:cs typeface="Liter"/>
                <a:sym typeface="Liter"/>
              </a:defRPr>
            </a:lvl1pPr>
          </a:lstStyle>
          <a:p>
            <a:pPr/>
            <a:r>
              <a:t>MODULE 3: 4-BIT LORA FINE-TUNING</a:t>
            </a:r>
          </a:p>
        </p:txBody>
      </p:sp>
      <p:sp>
        <p:nvSpPr>
          <p:cNvPr id="672" name="Text 1"/>
          <p:cNvSpPr txBox="1"/>
          <p:nvPr/>
        </p:nvSpPr>
        <p:spPr>
          <a:xfrm>
            <a:off x="317500" y="495261"/>
            <a:ext cx="117475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80000"/>
              </a:lnSpc>
              <a:defRPr b="1" sz="3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模块3: 4-bit LoRA微调架构</a:t>
            </a:r>
          </a:p>
        </p:txBody>
      </p:sp>
      <p:sp>
        <p:nvSpPr>
          <p:cNvPr id="673" name="Shape 2"/>
          <p:cNvSpPr/>
          <p:nvPr/>
        </p:nvSpPr>
        <p:spPr>
          <a:xfrm>
            <a:off x="317500" y="1079399"/>
            <a:ext cx="762000" cy="31751"/>
          </a:xfrm>
          <a:prstGeom prst="rect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74" name="Shape 3"/>
          <p:cNvSpPr/>
          <p:nvPr/>
        </p:nvSpPr>
        <p:spPr>
          <a:xfrm>
            <a:off x="331931" y="1238087"/>
            <a:ext cx="7602683" cy="1206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2" y="0"/>
                </a:moveTo>
                <a:lnTo>
                  <a:pt x="21329" y="0"/>
                </a:lnTo>
                <a:cubicBezTo>
                  <a:pt x="21479" y="0"/>
                  <a:pt x="21600" y="763"/>
                  <a:pt x="21600" y="1705"/>
                </a:cubicBezTo>
                <a:lnTo>
                  <a:pt x="21600" y="19895"/>
                </a:lnTo>
                <a:cubicBezTo>
                  <a:pt x="21600" y="20837"/>
                  <a:pt x="21479" y="21600"/>
                  <a:pt x="21329" y="21600"/>
                </a:cubicBezTo>
                <a:lnTo>
                  <a:pt x="82" y="21600"/>
                </a:lnTo>
                <a:cubicBezTo>
                  <a:pt x="37" y="21600"/>
                  <a:pt x="0" y="21369"/>
                  <a:pt x="0" y="21083"/>
                </a:cubicBezTo>
                <a:lnTo>
                  <a:pt x="0" y="517"/>
                </a:lnTo>
                <a:cubicBezTo>
                  <a:pt x="0" y="231"/>
                  <a:pt x="37" y="0"/>
                  <a:pt x="82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75" name="Shape 4"/>
          <p:cNvSpPr/>
          <p:nvPr/>
        </p:nvSpPr>
        <p:spPr>
          <a:xfrm>
            <a:off x="331931" y="1238087"/>
            <a:ext cx="28865" cy="1206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369"/>
                  <a:pt x="0" y="21083"/>
                </a:cubicBezTo>
                <a:lnTo>
                  <a:pt x="0" y="517"/>
                </a:lnTo>
                <a:cubicBezTo>
                  <a:pt x="0" y="231"/>
                  <a:pt x="9671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76" name="Shape 5"/>
          <p:cNvSpPr/>
          <p:nvPr/>
        </p:nvSpPr>
        <p:spPr>
          <a:xfrm>
            <a:off x="441580" y="1333306"/>
            <a:ext cx="317501" cy="317501"/>
          </a:xfrm>
          <a:prstGeom prst="ellipse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77" name="Text 6"/>
          <p:cNvSpPr txBox="1"/>
          <p:nvPr/>
        </p:nvSpPr>
        <p:spPr>
          <a:xfrm>
            <a:off x="405861" y="1409506"/>
            <a:ext cx="38893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100">
                <a:solidFill>
                  <a:srgbClr val="1A1D21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78" name="Text 7"/>
          <p:cNvSpPr txBox="1"/>
          <p:nvPr/>
        </p:nvSpPr>
        <p:spPr>
          <a:xfrm>
            <a:off x="854296" y="1384113"/>
            <a:ext cx="71437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数据准备</a:t>
            </a:r>
          </a:p>
        </p:txBody>
      </p:sp>
      <p:sp>
        <p:nvSpPr>
          <p:cNvPr id="679" name="Text 8"/>
          <p:cNvSpPr txBox="1"/>
          <p:nvPr/>
        </p:nvSpPr>
        <p:spPr>
          <a:xfrm>
            <a:off x="441580" y="1720632"/>
            <a:ext cx="746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训练集构建(instruction, input, output)</a:t>
            </a:r>
          </a:p>
        </p:txBody>
      </p:sp>
      <p:sp>
        <p:nvSpPr>
          <p:cNvPr id="680" name="Text 9"/>
          <p:cNvSpPr txBox="1"/>
          <p:nvPr/>
        </p:nvSpPr>
        <p:spPr>
          <a:xfrm>
            <a:off x="441580" y="1942860"/>
            <a:ext cx="746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数据验证与清洗</a:t>
            </a:r>
          </a:p>
        </p:txBody>
      </p:sp>
      <p:sp>
        <p:nvSpPr>
          <p:cNvPr id="681" name="Text 10"/>
          <p:cNvSpPr txBox="1"/>
          <p:nvPr/>
        </p:nvSpPr>
        <p:spPr>
          <a:xfrm>
            <a:off x="441580" y="2165086"/>
            <a:ext cx="746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数据格式化(Alpaca格式)</a:t>
            </a:r>
          </a:p>
        </p:txBody>
      </p:sp>
      <p:sp>
        <p:nvSpPr>
          <p:cNvPr id="682" name="Shape 11"/>
          <p:cNvSpPr/>
          <p:nvPr/>
        </p:nvSpPr>
        <p:spPr>
          <a:xfrm>
            <a:off x="4067946" y="2507917"/>
            <a:ext cx="119110" cy="1587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4" h="21469" fill="norm" stroke="1" extrusionOk="0">
                <a:moveTo>
                  <a:pt x="9377" y="21076"/>
                </a:moveTo>
                <a:cubicBezTo>
                  <a:pt x="10068" y="21600"/>
                  <a:pt x="11191" y="21600"/>
                  <a:pt x="11883" y="21076"/>
                </a:cubicBezTo>
                <a:lnTo>
                  <a:pt x="20735" y="14366"/>
                </a:lnTo>
                <a:cubicBezTo>
                  <a:pt x="21427" y="13842"/>
                  <a:pt x="21427" y="12991"/>
                  <a:pt x="20735" y="12467"/>
                </a:cubicBezTo>
                <a:cubicBezTo>
                  <a:pt x="20044" y="11943"/>
                  <a:pt x="18921" y="11943"/>
                  <a:pt x="18229" y="12467"/>
                </a:cubicBezTo>
                <a:lnTo>
                  <a:pt x="12397" y="16887"/>
                </a:lnTo>
                <a:lnTo>
                  <a:pt x="12397" y="1342"/>
                </a:lnTo>
                <a:cubicBezTo>
                  <a:pt x="12397" y="600"/>
                  <a:pt x="11606" y="0"/>
                  <a:pt x="10627" y="0"/>
                </a:cubicBezTo>
                <a:cubicBezTo>
                  <a:pt x="9648" y="0"/>
                  <a:pt x="8856" y="600"/>
                  <a:pt x="8856" y="1342"/>
                </a:cubicBezTo>
                <a:lnTo>
                  <a:pt x="8856" y="16887"/>
                </a:lnTo>
                <a:lnTo>
                  <a:pt x="3025" y="12467"/>
                </a:lnTo>
                <a:cubicBezTo>
                  <a:pt x="2333" y="11943"/>
                  <a:pt x="1210" y="11943"/>
                  <a:pt x="519" y="12467"/>
                </a:cubicBezTo>
                <a:cubicBezTo>
                  <a:pt x="-173" y="12991"/>
                  <a:pt x="-173" y="13842"/>
                  <a:pt x="519" y="14366"/>
                </a:cubicBezTo>
                <a:lnTo>
                  <a:pt x="9371" y="21076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3" name="Shape 12"/>
          <p:cNvSpPr/>
          <p:nvPr/>
        </p:nvSpPr>
        <p:spPr>
          <a:xfrm>
            <a:off x="331931" y="2730150"/>
            <a:ext cx="7602683" cy="1428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2" y="0"/>
                </a:moveTo>
                <a:lnTo>
                  <a:pt x="21329" y="0"/>
                </a:lnTo>
                <a:cubicBezTo>
                  <a:pt x="21479" y="0"/>
                  <a:pt x="21600" y="645"/>
                  <a:pt x="21600" y="1440"/>
                </a:cubicBezTo>
                <a:lnTo>
                  <a:pt x="21600" y="20160"/>
                </a:lnTo>
                <a:cubicBezTo>
                  <a:pt x="21600" y="20955"/>
                  <a:pt x="21479" y="21600"/>
                  <a:pt x="21329" y="21600"/>
                </a:cubicBezTo>
                <a:lnTo>
                  <a:pt x="82" y="21600"/>
                </a:lnTo>
                <a:cubicBezTo>
                  <a:pt x="37" y="21600"/>
                  <a:pt x="0" y="21405"/>
                  <a:pt x="0" y="21164"/>
                </a:cubicBezTo>
                <a:lnTo>
                  <a:pt x="0" y="436"/>
                </a:lnTo>
                <a:cubicBezTo>
                  <a:pt x="0" y="195"/>
                  <a:pt x="37" y="0"/>
                  <a:pt x="82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4" name="Shape 13"/>
          <p:cNvSpPr/>
          <p:nvPr/>
        </p:nvSpPr>
        <p:spPr>
          <a:xfrm>
            <a:off x="331931" y="2730150"/>
            <a:ext cx="28865" cy="1428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405"/>
                  <a:pt x="0" y="21164"/>
                </a:cubicBezTo>
                <a:lnTo>
                  <a:pt x="0" y="436"/>
                </a:lnTo>
                <a:cubicBezTo>
                  <a:pt x="0" y="195"/>
                  <a:pt x="9671" y="0"/>
                  <a:pt x="21600" y="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5" name="Shape 14"/>
          <p:cNvSpPr/>
          <p:nvPr/>
        </p:nvSpPr>
        <p:spPr>
          <a:xfrm>
            <a:off x="441580" y="2825362"/>
            <a:ext cx="317501" cy="317501"/>
          </a:xfrm>
          <a:prstGeom prst="ellipse">
            <a:avLst/>
          </a:pr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6" name="Text 15"/>
          <p:cNvSpPr txBox="1"/>
          <p:nvPr/>
        </p:nvSpPr>
        <p:spPr>
          <a:xfrm>
            <a:off x="405861" y="2901562"/>
            <a:ext cx="38893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1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87" name="Text 16"/>
          <p:cNvSpPr txBox="1"/>
          <p:nvPr/>
        </p:nvSpPr>
        <p:spPr>
          <a:xfrm>
            <a:off x="854296" y="2876177"/>
            <a:ext cx="87312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模型初始化</a:t>
            </a:r>
          </a:p>
        </p:txBody>
      </p:sp>
      <p:sp>
        <p:nvSpPr>
          <p:cNvPr id="688" name="Text 17"/>
          <p:cNvSpPr txBox="1"/>
          <p:nvPr/>
        </p:nvSpPr>
        <p:spPr>
          <a:xfrm>
            <a:off x="441580" y="3212689"/>
            <a:ext cx="746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加载GLM-4-9B基座模型</a:t>
            </a:r>
          </a:p>
        </p:txBody>
      </p:sp>
      <p:sp>
        <p:nvSpPr>
          <p:cNvPr id="689" name="Text 18"/>
          <p:cNvSpPr txBox="1"/>
          <p:nvPr/>
        </p:nvSpPr>
        <p:spPr>
          <a:xfrm>
            <a:off x="441580" y="3434915"/>
            <a:ext cx="746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4-bit量化(NF4, bitsandbytes)</a:t>
            </a:r>
          </a:p>
        </p:txBody>
      </p:sp>
      <p:sp>
        <p:nvSpPr>
          <p:cNvPr id="690" name="Text 19"/>
          <p:cNvSpPr txBox="1"/>
          <p:nvPr/>
        </p:nvSpPr>
        <p:spPr>
          <a:xfrm>
            <a:off x="441580" y="3657143"/>
            <a:ext cx="746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配置Flash Attention 2</a:t>
            </a:r>
          </a:p>
        </p:txBody>
      </p:sp>
      <p:sp>
        <p:nvSpPr>
          <p:cNvPr id="691" name="Text 20"/>
          <p:cNvSpPr txBox="1"/>
          <p:nvPr/>
        </p:nvSpPr>
        <p:spPr>
          <a:xfrm>
            <a:off x="441580" y="3879377"/>
            <a:ext cx="746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初始化LoRA适配器(rank=16, alpha=32)</a:t>
            </a:r>
          </a:p>
        </p:txBody>
      </p:sp>
      <p:sp>
        <p:nvSpPr>
          <p:cNvPr id="692" name="Shape 21"/>
          <p:cNvSpPr/>
          <p:nvPr/>
        </p:nvSpPr>
        <p:spPr>
          <a:xfrm>
            <a:off x="4067946" y="4222207"/>
            <a:ext cx="119110" cy="1587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4" h="21469" fill="norm" stroke="1" extrusionOk="0">
                <a:moveTo>
                  <a:pt x="9377" y="21076"/>
                </a:moveTo>
                <a:cubicBezTo>
                  <a:pt x="10068" y="21600"/>
                  <a:pt x="11191" y="21600"/>
                  <a:pt x="11883" y="21076"/>
                </a:cubicBezTo>
                <a:lnTo>
                  <a:pt x="20735" y="14366"/>
                </a:lnTo>
                <a:cubicBezTo>
                  <a:pt x="21427" y="13842"/>
                  <a:pt x="21427" y="12991"/>
                  <a:pt x="20735" y="12467"/>
                </a:cubicBezTo>
                <a:cubicBezTo>
                  <a:pt x="20044" y="11943"/>
                  <a:pt x="18921" y="11943"/>
                  <a:pt x="18229" y="12467"/>
                </a:cubicBezTo>
                <a:lnTo>
                  <a:pt x="12397" y="16887"/>
                </a:lnTo>
                <a:lnTo>
                  <a:pt x="12397" y="1342"/>
                </a:lnTo>
                <a:cubicBezTo>
                  <a:pt x="12397" y="600"/>
                  <a:pt x="11606" y="0"/>
                  <a:pt x="10627" y="0"/>
                </a:cubicBezTo>
                <a:cubicBezTo>
                  <a:pt x="9648" y="0"/>
                  <a:pt x="8856" y="600"/>
                  <a:pt x="8856" y="1342"/>
                </a:cubicBezTo>
                <a:lnTo>
                  <a:pt x="8856" y="16887"/>
                </a:lnTo>
                <a:lnTo>
                  <a:pt x="3025" y="12467"/>
                </a:lnTo>
                <a:cubicBezTo>
                  <a:pt x="2333" y="11943"/>
                  <a:pt x="1210" y="11943"/>
                  <a:pt x="519" y="12467"/>
                </a:cubicBezTo>
                <a:cubicBezTo>
                  <a:pt x="-173" y="12991"/>
                  <a:pt x="-173" y="13842"/>
                  <a:pt x="519" y="14366"/>
                </a:cubicBezTo>
                <a:lnTo>
                  <a:pt x="9371" y="21076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93" name="Shape 22"/>
          <p:cNvSpPr/>
          <p:nvPr/>
        </p:nvSpPr>
        <p:spPr>
          <a:xfrm>
            <a:off x="331931" y="4444434"/>
            <a:ext cx="7602683" cy="1428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2" y="0"/>
                </a:moveTo>
                <a:lnTo>
                  <a:pt x="21329" y="0"/>
                </a:lnTo>
                <a:cubicBezTo>
                  <a:pt x="21479" y="0"/>
                  <a:pt x="21600" y="645"/>
                  <a:pt x="21600" y="1440"/>
                </a:cubicBezTo>
                <a:lnTo>
                  <a:pt x="21600" y="20160"/>
                </a:lnTo>
                <a:cubicBezTo>
                  <a:pt x="21600" y="20955"/>
                  <a:pt x="21479" y="21600"/>
                  <a:pt x="21329" y="21600"/>
                </a:cubicBezTo>
                <a:lnTo>
                  <a:pt x="82" y="21600"/>
                </a:lnTo>
                <a:cubicBezTo>
                  <a:pt x="37" y="21600"/>
                  <a:pt x="0" y="21405"/>
                  <a:pt x="0" y="21164"/>
                </a:cubicBezTo>
                <a:lnTo>
                  <a:pt x="0" y="436"/>
                </a:lnTo>
                <a:cubicBezTo>
                  <a:pt x="0" y="195"/>
                  <a:pt x="37" y="0"/>
                  <a:pt x="82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94" name="Shape 23"/>
          <p:cNvSpPr/>
          <p:nvPr/>
        </p:nvSpPr>
        <p:spPr>
          <a:xfrm>
            <a:off x="331931" y="4444434"/>
            <a:ext cx="28865" cy="1428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405"/>
                  <a:pt x="0" y="21164"/>
                </a:cubicBezTo>
                <a:lnTo>
                  <a:pt x="0" y="436"/>
                </a:lnTo>
                <a:cubicBezTo>
                  <a:pt x="0" y="195"/>
                  <a:pt x="9671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95" name="Shape 24"/>
          <p:cNvSpPr/>
          <p:nvPr/>
        </p:nvSpPr>
        <p:spPr>
          <a:xfrm>
            <a:off x="441580" y="4539653"/>
            <a:ext cx="317501" cy="317501"/>
          </a:xfrm>
          <a:prstGeom prst="ellipse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96" name="Text 25"/>
          <p:cNvSpPr txBox="1"/>
          <p:nvPr/>
        </p:nvSpPr>
        <p:spPr>
          <a:xfrm>
            <a:off x="405861" y="4615853"/>
            <a:ext cx="38893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100">
                <a:solidFill>
                  <a:srgbClr val="1A1D21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97" name="Text 26"/>
          <p:cNvSpPr txBox="1"/>
          <p:nvPr/>
        </p:nvSpPr>
        <p:spPr>
          <a:xfrm>
            <a:off x="854296" y="4590460"/>
            <a:ext cx="77787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LoRA微调</a:t>
            </a:r>
          </a:p>
        </p:txBody>
      </p:sp>
      <p:sp>
        <p:nvSpPr>
          <p:cNvPr id="698" name="Text 27"/>
          <p:cNvSpPr txBox="1"/>
          <p:nvPr/>
        </p:nvSpPr>
        <p:spPr>
          <a:xfrm>
            <a:off x="441580" y="4926979"/>
            <a:ext cx="746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冻结基座参数(~9B)</a:t>
            </a:r>
          </a:p>
        </p:txBody>
      </p:sp>
      <p:sp>
        <p:nvSpPr>
          <p:cNvPr id="699" name="Text 28"/>
          <p:cNvSpPr txBox="1"/>
          <p:nvPr/>
        </p:nvSpPr>
        <p:spPr>
          <a:xfrm>
            <a:off x="441580" y="5149207"/>
            <a:ext cx="746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只训练LoRA参数(~50M)</a:t>
            </a:r>
          </a:p>
        </p:txBody>
      </p:sp>
      <p:sp>
        <p:nvSpPr>
          <p:cNvPr id="700" name="Text 29"/>
          <p:cNvSpPr txBox="1"/>
          <p:nvPr/>
        </p:nvSpPr>
        <p:spPr>
          <a:xfrm>
            <a:off x="441580" y="5371432"/>
            <a:ext cx="746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目标模块: q_proj, k_proj, v_proj, o_proj...</a:t>
            </a:r>
          </a:p>
        </p:txBody>
      </p:sp>
      <p:sp>
        <p:nvSpPr>
          <p:cNvPr id="701" name="Text 30"/>
          <p:cNvSpPr txBox="1"/>
          <p:nvPr/>
        </p:nvSpPr>
        <p:spPr>
          <a:xfrm>
            <a:off x="441580" y="5593660"/>
            <a:ext cx="746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学习率调度(Cosine)</a:t>
            </a:r>
          </a:p>
        </p:txBody>
      </p:sp>
      <p:sp>
        <p:nvSpPr>
          <p:cNvPr id="702" name="Shape 31"/>
          <p:cNvSpPr/>
          <p:nvPr/>
        </p:nvSpPr>
        <p:spPr>
          <a:xfrm>
            <a:off x="4067946" y="5936489"/>
            <a:ext cx="119110" cy="1587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4" h="21469" fill="norm" stroke="1" extrusionOk="0">
                <a:moveTo>
                  <a:pt x="9377" y="21076"/>
                </a:moveTo>
                <a:cubicBezTo>
                  <a:pt x="10068" y="21600"/>
                  <a:pt x="11191" y="21600"/>
                  <a:pt x="11883" y="21076"/>
                </a:cubicBezTo>
                <a:lnTo>
                  <a:pt x="20735" y="14366"/>
                </a:lnTo>
                <a:cubicBezTo>
                  <a:pt x="21427" y="13842"/>
                  <a:pt x="21427" y="12991"/>
                  <a:pt x="20735" y="12467"/>
                </a:cubicBezTo>
                <a:cubicBezTo>
                  <a:pt x="20044" y="11943"/>
                  <a:pt x="18921" y="11943"/>
                  <a:pt x="18229" y="12467"/>
                </a:cubicBezTo>
                <a:lnTo>
                  <a:pt x="12397" y="16887"/>
                </a:lnTo>
                <a:lnTo>
                  <a:pt x="12397" y="1342"/>
                </a:lnTo>
                <a:cubicBezTo>
                  <a:pt x="12397" y="600"/>
                  <a:pt x="11606" y="0"/>
                  <a:pt x="10627" y="0"/>
                </a:cubicBezTo>
                <a:cubicBezTo>
                  <a:pt x="9648" y="0"/>
                  <a:pt x="8856" y="600"/>
                  <a:pt x="8856" y="1342"/>
                </a:cubicBezTo>
                <a:lnTo>
                  <a:pt x="8856" y="16887"/>
                </a:lnTo>
                <a:lnTo>
                  <a:pt x="3025" y="12467"/>
                </a:lnTo>
                <a:cubicBezTo>
                  <a:pt x="2333" y="11943"/>
                  <a:pt x="1210" y="11943"/>
                  <a:pt x="519" y="12467"/>
                </a:cubicBezTo>
                <a:cubicBezTo>
                  <a:pt x="-173" y="12991"/>
                  <a:pt x="-173" y="13842"/>
                  <a:pt x="519" y="14366"/>
                </a:cubicBezTo>
                <a:lnTo>
                  <a:pt x="9371" y="21076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03" name="Shape 32"/>
          <p:cNvSpPr/>
          <p:nvPr/>
        </p:nvSpPr>
        <p:spPr>
          <a:xfrm>
            <a:off x="331931" y="6158717"/>
            <a:ext cx="7602683" cy="1206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2" y="0"/>
                </a:moveTo>
                <a:lnTo>
                  <a:pt x="21329" y="0"/>
                </a:lnTo>
                <a:cubicBezTo>
                  <a:pt x="21479" y="0"/>
                  <a:pt x="21600" y="763"/>
                  <a:pt x="21600" y="1705"/>
                </a:cubicBezTo>
                <a:lnTo>
                  <a:pt x="21600" y="19895"/>
                </a:lnTo>
                <a:cubicBezTo>
                  <a:pt x="21600" y="20837"/>
                  <a:pt x="21479" y="21600"/>
                  <a:pt x="21329" y="21600"/>
                </a:cubicBezTo>
                <a:lnTo>
                  <a:pt x="82" y="21600"/>
                </a:lnTo>
                <a:cubicBezTo>
                  <a:pt x="37" y="21600"/>
                  <a:pt x="0" y="21369"/>
                  <a:pt x="0" y="21083"/>
                </a:cubicBezTo>
                <a:lnTo>
                  <a:pt x="0" y="517"/>
                </a:lnTo>
                <a:cubicBezTo>
                  <a:pt x="0" y="231"/>
                  <a:pt x="37" y="0"/>
                  <a:pt x="82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04" name="Shape 33"/>
          <p:cNvSpPr/>
          <p:nvPr/>
        </p:nvSpPr>
        <p:spPr>
          <a:xfrm>
            <a:off x="331931" y="6158717"/>
            <a:ext cx="28865" cy="1206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369"/>
                  <a:pt x="0" y="21083"/>
                </a:cubicBezTo>
                <a:lnTo>
                  <a:pt x="0" y="517"/>
                </a:lnTo>
                <a:cubicBezTo>
                  <a:pt x="0" y="231"/>
                  <a:pt x="9671" y="0"/>
                  <a:pt x="21600" y="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05" name="Shape 34"/>
          <p:cNvSpPr/>
          <p:nvPr/>
        </p:nvSpPr>
        <p:spPr>
          <a:xfrm>
            <a:off x="441580" y="6253936"/>
            <a:ext cx="317501" cy="317501"/>
          </a:xfrm>
          <a:prstGeom prst="ellipse">
            <a:avLst/>
          </a:pr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06" name="Text 35"/>
          <p:cNvSpPr txBox="1"/>
          <p:nvPr/>
        </p:nvSpPr>
        <p:spPr>
          <a:xfrm>
            <a:off x="405861" y="6330136"/>
            <a:ext cx="38893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1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07" name="Text 36"/>
          <p:cNvSpPr txBox="1"/>
          <p:nvPr/>
        </p:nvSpPr>
        <p:spPr>
          <a:xfrm>
            <a:off x="854296" y="6304743"/>
            <a:ext cx="119062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模型评估与保存</a:t>
            </a:r>
          </a:p>
        </p:txBody>
      </p:sp>
      <p:sp>
        <p:nvSpPr>
          <p:cNvPr id="708" name="Text 37"/>
          <p:cNvSpPr txBox="1"/>
          <p:nvPr/>
        </p:nvSpPr>
        <p:spPr>
          <a:xfrm>
            <a:off x="441580" y="6641262"/>
            <a:ext cx="746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验证集评估</a:t>
            </a:r>
          </a:p>
        </p:txBody>
      </p:sp>
      <p:sp>
        <p:nvSpPr>
          <p:cNvPr id="709" name="Text 38"/>
          <p:cNvSpPr txBox="1"/>
          <p:nvPr/>
        </p:nvSpPr>
        <p:spPr>
          <a:xfrm>
            <a:off x="1282010" y="6631327"/>
            <a:ext cx="746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LoRA适配器保存</a:t>
            </a:r>
          </a:p>
        </p:txBody>
      </p:sp>
      <p:sp>
        <p:nvSpPr>
          <p:cNvPr id="710" name="Text 39"/>
          <p:cNvSpPr txBox="1"/>
          <p:nvPr/>
        </p:nvSpPr>
        <p:spPr>
          <a:xfrm>
            <a:off x="2460625" y="6631327"/>
            <a:ext cx="746125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损失曲线可视化(SwanLab)</a:t>
            </a:r>
          </a:p>
        </p:txBody>
      </p:sp>
      <p:sp>
        <p:nvSpPr>
          <p:cNvPr id="711" name="Shape 40"/>
          <p:cNvSpPr/>
          <p:nvPr/>
        </p:nvSpPr>
        <p:spPr>
          <a:xfrm>
            <a:off x="8071670" y="1245302"/>
            <a:ext cx="3792683" cy="56118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2" y="0"/>
                </a:moveTo>
                <a:lnTo>
                  <a:pt x="21058" y="0"/>
                </a:lnTo>
                <a:cubicBezTo>
                  <a:pt x="21357" y="0"/>
                  <a:pt x="21600" y="151"/>
                  <a:pt x="21600" y="337"/>
                </a:cubicBezTo>
                <a:lnTo>
                  <a:pt x="21600" y="21263"/>
                </a:lnTo>
                <a:cubicBezTo>
                  <a:pt x="21600" y="21449"/>
                  <a:pt x="21357" y="21600"/>
                  <a:pt x="21058" y="21600"/>
                </a:cubicBezTo>
                <a:lnTo>
                  <a:pt x="542" y="21600"/>
                </a:lnTo>
                <a:cubicBezTo>
                  <a:pt x="243" y="21600"/>
                  <a:pt x="0" y="21449"/>
                  <a:pt x="0" y="21263"/>
                </a:cubicBezTo>
                <a:lnTo>
                  <a:pt x="0" y="337"/>
                </a:lnTo>
                <a:cubicBezTo>
                  <a:pt x="0" y="151"/>
                  <a:pt x="243" y="0"/>
                  <a:pt x="542" y="0"/>
                </a:cubicBezTo>
                <a:close/>
              </a:path>
            </a:pathLst>
          </a:custGeom>
          <a:solidFill>
            <a:srgbClr val="5E8B7E">
              <a:alpha val="14902"/>
            </a:srgbClr>
          </a:solidFill>
          <a:ln w="23091">
            <a:solidFill>
              <a:srgbClr val="5E8B7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2" name="Shape 41"/>
          <p:cNvSpPr/>
          <p:nvPr/>
        </p:nvSpPr>
        <p:spPr>
          <a:xfrm>
            <a:off x="8257479" y="1443012"/>
            <a:ext cx="158751" cy="158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425" y="1012"/>
                </a:moveTo>
                <a:cubicBezTo>
                  <a:pt x="7425" y="451"/>
                  <a:pt x="6974" y="0"/>
                  <a:pt x="6413" y="0"/>
                </a:cubicBezTo>
                <a:cubicBezTo>
                  <a:pt x="5851" y="0"/>
                  <a:pt x="5400" y="451"/>
                  <a:pt x="5400" y="1012"/>
                </a:cubicBezTo>
                <a:lnTo>
                  <a:pt x="5400" y="2700"/>
                </a:lnTo>
                <a:cubicBezTo>
                  <a:pt x="3911" y="2700"/>
                  <a:pt x="2700" y="3911"/>
                  <a:pt x="2700" y="5400"/>
                </a:cubicBezTo>
                <a:lnTo>
                  <a:pt x="1012" y="5400"/>
                </a:lnTo>
                <a:cubicBezTo>
                  <a:pt x="451" y="5400"/>
                  <a:pt x="0" y="5851"/>
                  <a:pt x="0" y="6413"/>
                </a:cubicBezTo>
                <a:cubicBezTo>
                  <a:pt x="0" y="6974"/>
                  <a:pt x="451" y="7425"/>
                  <a:pt x="1012" y="7425"/>
                </a:cubicBezTo>
                <a:lnTo>
                  <a:pt x="2700" y="7425"/>
                </a:lnTo>
                <a:lnTo>
                  <a:pt x="2700" y="9788"/>
                </a:lnTo>
                <a:lnTo>
                  <a:pt x="1012" y="9788"/>
                </a:lnTo>
                <a:cubicBezTo>
                  <a:pt x="451" y="9788"/>
                  <a:pt x="0" y="10239"/>
                  <a:pt x="0" y="10800"/>
                </a:cubicBezTo>
                <a:cubicBezTo>
                  <a:pt x="0" y="11361"/>
                  <a:pt x="451" y="11812"/>
                  <a:pt x="1012" y="11812"/>
                </a:cubicBezTo>
                <a:lnTo>
                  <a:pt x="2700" y="11812"/>
                </a:lnTo>
                <a:lnTo>
                  <a:pt x="2700" y="14175"/>
                </a:lnTo>
                <a:lnTo>
                  <a:pt x="1012" y="14175"/>
                </a:lnTo>
                <a:cubicBezTo>
                  <a:pt x="451" y="14175"/>
                  <a:pt x="0" y="14626"/>
                  <a:pt x="0" y="15187"/>
                </a:cubicBezTo>
                <a:cubicBezTo>
                  <a:pt x="0" y="15749"/>
                  <a:pt x="451" y="16200"/>
                  <a:pt x="1012" y="16200"/>
                </a:cubicBezTo>
                <a:lnTo>
                  <a:pt x="2700" y="16200"/>
                </a:lnTo>
                <a:cubicBezTo>
                  <a:pt x="2700" y="17689"/>
                  <a:pt x="3911" y="18900"/>
                  <a:pt x="5400" y="18900"/>
                </a:cubicBezTo>
                <a:lnTo>
                  <a:pt x="5400" y="20588"/>
                </a:lnTo>
                <a:cubicBezTo>
                  <a:pt x="5400" y="21149"/>
                  <a:pt x="5851" y="21600"/>
                  <a:pt x="6413" y="21600"/>
                </a:cubicBezTo>
                <a:cubicBezTo>
                  <a:pt x="6974" y="21600"/>
                  <a:pt x="7425" y="21149"/>
                  <a:pt x="7425" y="20588"/>
                </a:cubicBezTo>
                <a:lnTo>
                  <a:pt x="7425" y="18900"/>
                </a:lnTo>
                <a:lnTo>
                  <a:pt x="9788" y="18900"/>
                </a:lnTo>
                <a:lnTo>
                  <a:pt x="9788" y="20588"/>
                </a:lnTo>
                <a:cubicBezTo>
                  <a:pt x="9788" y="21149"/>
                  <a:pt x="10239" y="21600"/>
                  <a:pt x="10800" y="21600"/>
                </a:cubicBezTo>
                <a:cubicBezTo>
                  <a:pt x="11361" y="21600"/>
                  <a:pt x="11812" y="21149"/>
                  <a:pt x="11812" y="20588"/>
                </a:cubicBezTo>
                <a:lnTo>
                  <a:pt x="11812" y="18900"/>
                </a:lnTo>
                <a:lnTo>
                  <a:pt x="14175" y="18900"/>
                </a:lnTo>
                <a:lnTo>
                  <a:pt x="14175" y="20588"/>
                </a:lnTo>
                <a:cubicBezTo>
                  <a:pt x="14175" y="21149"/>
                  <a:pt x="14626" y="21600"/>
                  <a:pt x="15187" y="21600"/>
                </a:cubicBezTo>
                <a:cubicBezTo>
                  <a:pt x="15749" y="21600"/>
                  <a:pt x="16200" y="21149"/>
                  <a:pt x="16200" y="20588"/>
                </a:cubicBezTo>
                <a:lnTo>
                  <a:pt x="16200" y="18900"/>
                </a:lnTo>
                <a:cubicBezTo>
                  <a:pt x="17689" y="18900"/>
                  <a:pt x="18900" y="17689"/>
                  <a:pt x="18900" y="16200"/>
                </a:cubicBezTo>
                <a:lnTo>
                  <a:pt x="20588" y="16200"/>
                </a:lnTo>
                <a:cubicBezTo>
                  <a:pt x="21149" y="16200"/>
                  <a:pt x="21600" y="15749"/>
                  <a:pt x="21600" y="15187"/>
                </a:cubicBezTo>
                <a:cubicBezTo>
                  <a:pt x="21600" y="14626"/>
                  <a:pt x="21149" y="14175"/>
                  <a:pt x="20588" y="14175"/>
                </a:cubicBezTo>
                <a:lnTo>
                  <a:pt x="18900" y="14175"/>
                </a:lnTo>
                <a:lnTo>
                  <a:pt x="18900" y="11812"/>
                </a:lnTo>
                <a:lnTo>
                  <a:pt x="20588" y="11812"/>
                </a:lnTo>
                <a:cubicBezTo>
                  <a:pt x="21149" y="11812"/>
                  <a:pt x="21600" y="11361"/>
                  <a:pt x="21600" y="10800"/>
                </a:cubicBezTo>
                <a:cubicBezTo>
                  <a:pt x="21600" y="10239"/>
                  <a:pt x="21149" y="9788"/>
                  <a:pt x="20588" y="9788"/>
                </a:cubicBezTo>
                <a:lnTo>
                  <a:pt x="18900" y="9788"/>
                </a:lnTo>
                <a:lnTo>
                  <a:pt x="18900" y="7425"/>
                </a:lnTo>
                <a:lnTo>
                  <a:pt x="20588" y="7425"/>
                </a:lnTo>
                <a:cubicBezTo>
                  <a:pt x="21149" y="7425"/>
                  <a:pt x="21600" y="6974"/>
                  <a:pt x="21600" y="6413"/>
                </a:cubicBezTo>
                <a:cubicBezTo>
                  <a:pt x="21600" y="5851"/>
                  <a:pt x="21149" y="5400"/>
                  <a:pt x="20588" y="5400"/>
                </a:cubicBezTo>
                <a:lnTo>
                  <a:pt x="18900" y="5400"/>
                </a:lnTo>
                <a:cubicBezTo>
                  <a:pt x="18900" y="3911"/>
                  <a:pt x="17689" y="2700"/>
                  <a:pt x="16200" y="2700"/>
                </a:cubicBezTo>
                <a:lnTo>
                  <a:pt x="16200" y="1012"/>
                </a:lnTo>
                <a:cubicBezTo>
                  <a:pt x="16200" y="451"/>
                  <a:pt x="15749" y="0"/>
                  <a:pt x="15187" y="0"/>
                </a:cubicBezTo>
                <a:cubicBezTo>
                  <a:pt x="14626" y="0"/>
                  <a:pt x="14175" y="451"/>
                  <a:pt x="14175" y="1012"/>
                </a:cubicBezTo>
                <a:lnTo>
                  <a:pt x="14175" y="2700"/>
                </a:lnTo>
                <a:lnTo>
                  <a:pt x="11812" y="2700"/>
                </a:lnTo>
                <a:lnTo>
                  <a:pt x="11812" y="1012"/>
                </a:lnTo>
                <a:cubicBezTo>
                  <a:pt x="11812" y="451"/>
                  <a:pt x="11361" y="0"/>
                  <a:pt x="10800" y="0"/>
                </a:cubicBezTo>
                <a:cubicBezTo>
                  <a:pt x="10239" y="0"/>
                  <a:pt x="9788" y="451"/>
                  <a:pt x="9788" y="1012"/>
                </a:cubicBezTo>
                <a:lnTo>
                  <a:pt x="9788" y="2700"/>
                </a:lnTo>
                <a:lnTo>
                  <a:pt x="7425" y="2700"/>
                </a:lnTo>
                <a:lnTo>
                  <a:pt x="7425" y="1012"/>
                </a:lnTo>
                <a:close/>
                <a:moveTo>
                  <a:pt x="6750" y="5400"/>
                </a:moveTo>
                <a:lnTo>
                  <a:pt x="14850" y="5400"/>
                </a:lnTo>
                <a:cubicBezTo>
                  <a:pt x="15597" y="5400"/>
                  <a:pt x="16200" y="6003"/>
                  <a:pt x="16200" y="6750"/>
                </a:cubicBezTo>
                <a:lnTo>
                  <a:pt x="16200" y="14850"/>
                </a:lnTo>
                <a:cubicBezTo>
                  <a:pt x="16200" y="15597"/>
                  <a:pt x="15597" y="16200"/>
                  <a:pt x="14850" y="16200"/>
                </a:cubicBezTo>
                <a:lnTo>
                  <a:pt x="6750" y="16200"/>
                </a:lnTo>
                <a:cubicBezTo>
                  <a:pt x="6003" y="16200"/>
                  <a:pt x="5400" y="15597"/>
                  <a:pt x="5400" y="14850"/>
                </a:cubicBezTo>
                <a:lnTo>
                  <a:pt x="5400" y="6750"/>
                </a:lnTo>
                <a:cubicBezTo>
                  <a:pt x="5400" y="6003"/>
                  <a:pt x="6003" y="5400"/>
                  <a:pt x="6750" y="5400"/>
                </a:cubicBezTo>
                <a:close/>
                <a:moveTo>
                  <a:pt x="7425" y="7425"/>
                </a:moveTo>
                <a:lnTo>
                  <a:pt x="7425" y="14175"/>
                </a:lnTo>
                <a:lnTo>
                  <a:pt x="14175" y="14175"/>
                </a:lnTo>
                <a:lnTo>
                  <a:pt x="14175" y="7425"/>
                </a:lnTo>
                <a:lnTo>
                  <a:pt x="7425" y="7425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3" name="Text 42"/>
          <p:cNvSpPr txBox="1"/>
          <p:nvPr/>
        </p:nvSpPr>
        <p:spPr>
          <a:xfrm>
            <a:off x="8436074" y="1414444"/>
            <a:ext cx="3341689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4-bit LoRA优势</a:t>
            </a:r>
          </a:p>
        </p:txBody>
      </p:sp>
      <p:sp>
        <p:nvSpPr>
          <p:cNvPr id="714" name="Shape 43"/>
          <p:cNvSpPr/>
          <p:nvPr/>
        </p:nvSpPr>
        <p:spPr>
          <a:xfrm>
            <a:off x="8237636" y="2682789"/>
            <a:ext cx="3460751" cy="857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96" y="0"/>
                </a:moveTo>
                <a:lnTo>
                  <a:pt x="21204" y="0"/>
                </a:lnTo>
                <a:cubicBezTo>
                  <a:pt x="21423" y="0"/>
                  <a:pt x="21600" y="716"/>
                  <a:pt x="21600" y="1600"/>
                </a:cubicBezTo>
                <a:lnTo>
                  <a:pt x="21600" y="20000"/>
                </a:lnTo>
                <a:cubicBezTo>
                  <a:pt x="21600" y="20884"/>
                  <a:pt x="21423" y="21600"/>
                  <a:pt x="21204" y="21600"/>
                </a:cubicBezTo>
                <a:lnTo>
                  <a:pt x="396" y="21600"/>
                </a:lnTo>
                <a:cubicBezTo>
                  <a:pt x="177" y="21600"/>
                  <a:pt x="0" y="20884"/>
                  <a:pt x="0" y="20000"/>
                </a:cubicBezTo>
                <a:lnTo>
                  <a:pt x="0" y="1600"/>
                </a:lnTo>
                <a:cubicBezTo>
                  <a:pt x="0" y="716"/>
                  <a:pt x="177" y="0"/>
                  <a:pt x="39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5" name="Text 44"/>
          <p:cNvSpPr txBox="1"/>
          <p:nvPr/>
        </p:nvSpPr>
        <p:spPr>
          <a:xfrm>
            <a:off x="8364590" y="2847835"/>
            <a:ext cx="5715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内存占用</a:t>
            </a:r>
          </a:p>
        </p:txBody>
      </p:sp>
      <p:sp>
        <p:nvSpPr>
          <p:cNvPr id="716" name="Text 45"/>
          <p:cNvSpPr txBox="1"/>
          <p:nvPr/>
        </p:nvSpPr>
        <p:spPr>
          <a:xfrm>
            <a:off x="11120109" y="2822450"/>
            <a:ext cx="54768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z="15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-75%</a:t>
            </a:r>
          </a:p>
        </p:txBody>
      </p:sp>
      <p:sp>
        <p:nvSpPr>
          <p:cNvPr id="717" name="Shape 46"/>
          <p:cNvSpPr/>
          <p:nvPr/>
        </p:nvSpPr>
        <p:spPr>
          <a:xfrm>
            <a:off x="8364590" y="3127188"/>
            <a:ext cx="3206751" cy="95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21" y="0"/>
                </a:moveTo>
                <a:lnTo>
                  <a:pt x="21279" y="0"/>
                </a:lnTo>
                <a:cubicBezTo>
                  <a:pt x="21456" y="0"/>
                  <a:pt x="21600" y="4839"/>
                  <a:pt x="21600" y="10800"/>
                </a:cubicBezTo>
                <a:cubicBezTo>
                  <a:pt x="21600" y="16761"/>
                  <a:pt x="21456" y="21600"/>
                  <a:pt x="21279" y="21600"/>
                </a:cubicBezTo>
                <a:lnTo>
                  <a:pt x="321" y="21600"/>
                </a:lnTo>
                <a:cubicBezTo>
                  <a:pt x="144" y="21600"/>
                  <a:pt x="0" y="16761"/>
                  <a:pt x="0" y="10800"/>
                </a:cubicBezTo>
                <a:cubicBezTo>
                  <a:pt x="0" y="4839"/>
                  <a:pt x="144" y="0"/>
                  <a:pt x="32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8" name="Shape 47"/>
          <p:cNvSpPr/>
          <p:nvPr/>
        </p:nvSpPr>
        <p:spPr>
          <a:xfrm>
            <a:off x="8364590" y="3127188"/>
            <a:ext cx="801690" cy="95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3" y="0"/>
                </a:moveTo>
                <a:lnTo>
                  <a:pt x="20317" y="0"/>
                </a:lnTo>
                <a:cubicBezTo>
                  <a:pt x="21025" y="0"/>
                  <a:pt x="21600" y="4839"/>
                  <a:pt x="21600" y="10800"/>
                </a:cubicBezTo>
                <a:cubicBezTo>
                  <a:pt x="21600" y="16761"/>
                  <a:pt x="21025" y="21600"/>
                  <a:pt x="20317" y="21600"/>
                </a:cubicBezTo>
                <a:lnTo>
                  <a:pt x="1283" y="21600"/>
                </a:lnTo>
                <a:cubicBezTo>
                  <a:pt x="575" y="21600"/>
                  <a:pt x="0" y="16761"/>
                  <a:pt x="0" y="10800"/>
                </a:cubicBezTo>
                <a:cubicBezTo>
                  <a:pt x="0" y="4839"/>
                  <a:pt x="575" y="0"/>
                  <a:pt x="1283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9" name="Text 48"/>
          <p:cNvSpPr txBox="1"/>
          <p:nvPr/>
        </p:nvSpPr>
        <p:spPr>
          <a:xfrm>
            <a:off x="8364590" y="3263674"/>
            <a:ext cx="326231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从~24GB降至~6GB</a:t>
            </a:r>
          </a:p>
        </p:txBody>
      </p:sp>
      <p:sp>
        <p:nvSpPr>
          <p:cNvPr id="720" name="Shape 49"/>
          <p:cNvSpPr/>
          <p:nvPr/>
        </p:nvSpPr>
        <p:spPr>
          <a:xfrm>
            <a:off x="8237636" y="3635011"/>
            <a:ext cx="3460751" cy="857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96" y="0"/>
                </a:moveTo>
                <a:lnTo>
                  <a:pt x="21204" y="0"/>
                </a:lnTo>
                <a:cubicBezTo>
                  <a:pt x="21423" y="0"/>
                  <a:pt x="21600" y="716"/>
                  <a:pt x="21600" y="1600"/>
                </a:cubicBezTo>
                <a:lnTo>
                  <a:pt x="21600" y="20000"/>
                </a:lnTo>
                <a:cubicBezTo>
                  <a:pt x="21600" y="20884"/>
                  <a:pt x="21423" y="21600"/>
                  <a:pt x="21204" y="21600"/>
                </a:cubicBezTo>
                <a:lnTo>
                  <a:pt x="396" y="21600"/>
                </a:lnTo>
                <a:cubicBezTo>
                  <a:pt x="177" y="21600"/>
                  <a:pt x="0" y="20884"/>
                  <a:pt x="0" y="20000"/>
                </a:cubicBezTo>
                <a:lnTo>
                  <a:pt x="0" y="1600"/>
                </a:lnTo>
                <a:cubicBezTo>
                  <a:pt x="0" y="716"/>
                  <a:pt x="177" y="0"/>
                  <a:pt x="39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21" name="Text 50"/>
          <p:cNvSpPr txBox="1"/>
          <p:nvPr/>
        </p:nvSpPr>
        <p:spPr>
          <a:xfrm>
            <a:off x="8364590" y="3800056"/>
            <a:ext cx="6985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可训练参数</a:t>
            </a:r>
          </a:p>
        </p:txBody>
      </p:sp>
      <p:sp>
        <p:nvSpPr>
          <p:cNvPr id="722" name="Text 51"/>
          <p:cNvSpPr txBox="1"/>
          <p:nvPr/>
        </p:nvSpPr>
        <p:spPr>
          <a:xfrm>
            <a:off x="11076137" y="3774664"/>
            <a:ext cx="595314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z="15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~50M</a:t>
            </a:r>
          </a:p>
        </p:txBody>
      </p:sp>
      <p:sp>
        <p:nvSpPr>
          <p:cNvPr id="723" name="Shape 52"/>
          <p:cNvSpPr/>
          <p:nvPr/>
        </p:nvSpPr>
        <p:spPr>
          <a:xfrm>
            <a:off x="8364590" y="4079409"/>
            <a:ext cx="3206751" cy="95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21" y="0"/>
                </a:moveTo>
                <a:lnTo>
                  <a:pt x="21279" y="0"/>
                </a:lnTo>
                <a:cubicBezTo>
                  <a:pt x="21456" y="0"/>
                  <a:pt x="21600" y="4839"/>
                  <a:pt x="21600" y="10800"/>
                </a:cubicBezTo>
                <a:cubicBezTo>
                  <a:pt x="21600" y="16761"/>
                  <a:pt x="21456" y="21600"/>
                  <a:pt x="21279" y="21600"/>
                </a:cubicBezTo>
                <a:lnTo>
                  <a:pt x="321" y="21600"/>
                </a:lnTo>
                <a:cubicBezTo>
                  <a:pt x="144" y="21600"/>
                  <a:pt x="0" y="16761"/>
                  <a:pt x="0" y="10800"/>
                </a:cubicBezTo>
                <a:cubicBezTo>
                  <a:pt x="0" y="4839"/>
                  <a:pt x="144" y="0"/>
                  <a:pt x="32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24" name="Shape 53"/>
          <p:cNvSpPr/>
          <p:nvPr/>
        </p:nvSpPr>
        <p:spPr>
          <a:xfrm>
            <a:off x="8364590" y="4079409"/>
            <a:ext cx="15876" cy="95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1" y="0"/>
                </a:moveTo>
                <a:cubicBezTo>
                  <a:pt x="16760" y="0"/>
                  <a:pt x="21600" y="807"/>
                  <a:pt x="21600" y="1800"/>
                </a:cubicBezTo>
                <a:lnTo>
                  <a:pt x="21600" y="19800"/>
                </a:lnTo>
                <a:cubicBezTo>
                  <a:pt x="21600" y="20793"/>
                  <a:pt x="16760" y="21600"/>
                  <a:pt x="10801" y="21600"/>
                </a:cubicBezTo>
                <a:cubicBezTo>
                  <a:pt x="4840" y="21600"/>
                  <a:pt x="0" y="20793"/>
                  <a:pt x="0" y="19800"/>
                </a:cubicBezTo>
                <a:lnTo>
                  <a:pt x="0" y="1800"/>
                </a:lnTo>
                <a:cubicBezTo>
                  <a:pt x="0" y="807"/>
                  <a:pt x="4840" y="0"/>
                  <a:pt x="10799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25" name="Text 54"/>
          <p:cNvSpPr txBox="1"/>
          <p:nvPr/>
        </p:nvSpPr>
        <p:spPr>
          <a:xfrm>
            <a:off x="8364590" y="4215888"/>
            <a:ext cx="326231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仅占基座参数的0.5%</a:t>
            </a:r>
          </a:p>
        </p:txBody>
      </p:sp>
      <p:sp>
        <p:nvSpPr>
          <p:cNvPr id="726" name="Shape 55"/>
          <p:cNvSpPr/>
          <p:nvPr/>
        </p:nvSpPr>
        <p:spPr>
          <a:xfrm>
            <a:off x="8237636" y="4587232"/>
            <a:ext cx="3460751" cy="857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96" y="0"/>
                </a:moveTo>
                <a:lnTo>
                  <a:pt x="21204" y="0"/>
                </a:lnTo>
                <a:cubicBezTo>
                  <a:pt x="21423" y="0"/>
                  <a:pt x="21600" y="716"/>
                  <a:pt x="21600" y="1600"/>
                </a:cubicBezTo>
                <a:lnTo>
                  <a:pt x="21600" y="20000"/>
                </a:lnTo>
                <a:cubicBezTo>
                  <a:pt x="21600" y="20884"/>
                  <a:pt x="21423" y="21600"/>
                  <a:pt x="21204" y="21600"/>
                </a:cubicBezTo>
                <a:lnTo>
                  <a:pt x="396" y="21600"/>
                </a:lnTo>
                <a:cubicBezTo>
                  <a:pt x="177" y="21600"/>
                  <a:pt x="0" y="20884"/>
                  <a:pt x="0" y="20000"/>
                </a:cubicBezTo>
                <a:lnTo>
                  <a:pt x="0" y="1600"/>
                </a:lnTo>
                <a:cubicBezTo>
                  <a:pt x="0" y="716"/>
                  <a:pt x="177" y="0"/>
                  <a:pt x="39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27" name="Text 56"/>
          <p:cNvSpPr txBox="1"/>
          <p:nvPr/>
        </p:nvSpPr>
        <p:spPr>
          <a:xfrm>
            <a:off x="8364590" y="4752270"/>
            <a:ext cx="6985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长文本支持</a:t>
            </a:r>
          </a:p>
        </p:txBody>
      </p:sp>
      <p:sp>
        <p:nvSpPr>
          <p:cNvPr id="728" name="Text 57"/>
          <p:cNvSpPr txBox="1"/>
          <p:nvPr/>
        </p:nvSpPr>
        <p:spPr>
          <a:xfrm>
            <a:off x="11265499" y="4726885"/>
            <a:ext cx="404814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z="15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14K</a:t>
            </a:r>
          </a:p>
        </p:txBody>
      </p:sp>
      <p:sp>
        <p:nvSpPr>
          <p:cNvPr id="729" name="Shape 58"/>
          <p:cNvSpPr/>
          <p:nvPr/>
        </p:nvSpPr>
        <p:spPr>
          <a:xfrm>
            <a:off x="8364590" y="5031630"/>
            <a:ext cx="3206751" cy="95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21" y="0"/>
                </a:moveTo>
                <a:lnTo>
                  <a:pt x="21279" y="0"/>
                </a:lnTo>
                <a:cubicBezTo>
                  <a:pt x="21456" y="0"/>
                  <a:pt x="21600" y="4839"/>
                  <a:pt x="21600" y="10800"/>
                </a:cubicBezTo>
                <a:cubicBezTo>
                  <a:pt x="21600" y="16761"/>
                  <a:pt x="21456" y="21600"/>
                  <a:pt x="21279" y="21600"/>
                </a:cubicBezTo>
                <a:lnTo>
                  <a:pt x="321" y="21600"/>
                </a:lnTo>
                <a:cubicBezTo>
                  <a:pt x="144" y="21600"/>
                  <a:pt x="0" y="16761"/>
                  <a:pt x="0" y="10800"/>
                </a:cubicBezTo>
                <a:cubicBezTo>
                  <a:pt x="0" y="4839"/>
                  <a:pt x="144" y="0"/>
                  <a:pt x="32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30" name="Shape 59"/>
          <p:cNvSpPr/>
          <p:nvPr/>
        </p:nvSpPr>
        <p:spPr>
          <a:xfrm>
            <a:off x="8364590" y="5031630"/>
            <a:ext cx="2246315" cy="95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8" y="0"/>
                </a:moveTo>
                <a:lnTo>
                  <a:pt x="21142" y="0"/>
                </a:lnTo>
                <a:cubicBezTo>
                  <a:pt x="21395" y="0"/>
                  <a:pt x="21600" y="4839"/>
                  <a:pt x="21600" y="10800"/>
                </a:cubicBezTo>
                <a:cubicBezTo>
                  <a:pt x="21600" y="16761"/>
                  <a:pt x="21395" y="21600"/>
                  <a:pt x="21142" y="21600"/>
                </a:cubicBezTo>
                <a:lnTo>
                  <a:pt x="458" y="21600"/>
                </a:lnTo>
                <a:cubicBezTo>
                  <a:pt x="205" y="21600"/>
                  <a:pt x="0" y="16761"/>
                  <a:pt x="0" y="10800"/>
                </a:cubicBezTo>
                <a:cubicBezTo>
                  <a:pt x="0" y="4839"/>
                  <a:pt x="205" y="0"/>
                  <a:pt x="458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31" name="Text 60"/>
          <p:cNvSpPr txBox="1"/>
          <p:nvPr/>
        </p:nvSpPr>
        <p:spPr>
          <a:xfrm>
            <a:off x="8364590" y="5168108"/>
            <a:ext cx="326231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单卡支持14k tokens</a:t>
            </a:r>
          </a:p>
        </p:txBody>
      </p:sp>
      <p:sp>
        <p:nvSpPr>
          <p:cNvPr id="732" name="Shape 61"/>
          <p:cNvSpPr/>
          <p:nvPr/>
        </p:nvSpPr>
        <p:spPr>
          <a:xfrm>
            <a:off x="8237636" y="5539444"/>
            <a:ext cx="3460751" cy="730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96" y="0"/>
                </a:moveTo>
                <a:lnTo>
                  <a:pt x="21204" y="0"/>
                </a:lnTo>
                <a:cubicBezTo>
                  <a:pt x="21423" y="0"/>
                  <a:pt x="21600" y="841"/>
                  <a:pt x="21600" y="1878"/>
                </a:cubicBezTo>
                <a:lnTo>
                  <a:pt x="21600" y="19722"/>
                </a:lnTo>
                <a:cubicBezTo>
                  <a:pt x="21600" y="20759"/>
                  <a:pt x="21423" y="21600"/>
                  <a:pt x="21204" y="21600"/>
                </a:cubicBezTo>
                <a:lnTo>
                  <a:pt x="396" y="21600"/>
                </a:lnTo>
                <a:cubicBezTo>
                  <a:pt x="177" y="21600"/>
                  <a:pt x="0" y="20759"/>
                  <a:pt x="0" y="19722"/>
                </a:cubicBezTo>
                <a:lnTo>
                  <a:pt x="0" y="1878"/>
                </a:lnTo>
                <a:cubicBezTo>
                  <a:pt x="0" y="842"/>
                  <a:pt x="178" y="0"/>
                  <a:pt x="39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33" name="Text 62"/>
          <p:cNvSpPr txBox="1"/>
          <p:nvPr/>
        </p:nvSpPr>
        <p:spPr>
          <a:xfrm>
            <a:off x="8364590" y="5704490"/>
            <a:ext cx="5715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训练加速</a:t>
            </a:r>
          </a:p>
        </p:txBody>
      </p:sp>
      <p:sp>
        <p:nvSpPr>
          <p:cNvPr id="734" name="Text 63"/>
          <p:cNvSpPr txBox="1"/>
          <p:nvPr/>
        </p:nvSpPr>
        <p:spPr>
          <a:xfrm>
            <a:off x="11233308" y="5679106"/>
            <a:ext cx="436564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z="15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FA2</a:t>
            </a:r>
          </a:p>
        </p:txBody>
      </p:sp>
      <p:sp>
        <p:nvSpPr>
          <p:cNvPr id="735" name="Text 64"/>
          <p:cNvSpPr txBox="1"/>
          <p:nvPr/>
        </p:nvSpPr>
        <p:spPr>
          <a:xfrm>
            <a:off x="8364590" y="5993369"/>
            <a:ext cx="326231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Flash Attention 2加速训练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Text 0"/>
          <p:cNvSpPr txBox="1"/>
          <p:nvPr/>
        </p:nvSpPr>
        <p:spPr>
          <a:xfrm>
            <a:off x="317500" y="336549"/>
            <a:ext cx="116205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pc="50" sz="1000">
                <a:solidFill>
                  <a:srgbClr val="5E8B7E"/>
                </a:solidFill>
                <a:latin typeface="Liter"/>
                <a:ea typeface="Liter"/>
                <a:cs typeface="Liter"/>
                <a:sym typeface="Liter"/>
              </a:defRPr>
            </a:lvl1pPr>
          </a:lstStyle>
          <a:p>
            <a:pPr/>
            <a:r>
              <a:t>LORA TECHNICAL DETAILS</a:t>
            </a:r>
          </a:p>
        </p:txBody>
      </p:sp>
      <p:sp>
        <p:nvSpPr>
          <p:cNvPr id="738" name="Text 1"/>
          <p:cNvSpPr txBox="1"/>
          <p:nvPr/>
        </p:nvSpPr>
        <p:spPr>
          <a:xfrm>
            <a:off x="317500" y="495268"/>
            <a:ext cx="117475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80000"/>
              </a:lnSpc>
              <a:defRPr b="1" sz="3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LoRA技术细节</a:t>
            </a:r>
          </a:p>
        </p:txBody>
      </p:sp>
      <p:sp>
        <p:nvSpPr>
          <p:cNvPr id="739" name="Shape 2"/>
          <p:cNvSpPr/>
          <p:nvPr/>
        </p:nvSpPr>
        <p:spPr>
          <a:xfrm>
            <a:off x="317500" y="1079399"/>
            <a:ext cx="762000" cy="31751"/>
          </a:xfrm>
          <a:prstGeom prst="rect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0" name="Shape 3"/>
          <p:cNvSpPr/>
          <p:nvPr/>
        </p:nvSpPr>
        <p:spPr>
          <a:xfrm>
            <a:off x="331931" y="1238094"/>
            <a:ext cx="5681809" cy="2667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0" y="0"/>
                </a:moveTo>
                <a:lnTo>
                  <a:pt x="21238" y="0"/>
                </a:lnTo>
                <a:cubicBezTo>
                  <a:pt x="21438" y="0"/>
                  <a:pt x="21600" y="345"/>
                  <a:pt x="21600" y="771"/>
                </a:cubicBezTo>
                <a:lnTo>
                  <a:pt x="21600" y="20829"/>
                </a:lnTo>
                <a:cubicBezTo>
                  <a:pt x="21600" y="21255"/>
                  <a:pt x="21438" y="21600"/>
                  <a:pt x="21238" y="21600"/>
                </a:cubicBezTo>
                <a:lnTo>
                  <a:pt x="110" y="21600"/>
                </a:lnTo>
                <a:cubicBezTo>
                  <a:pt x="49" y="21600"/>
                  <a:pt x="0" y="21495"/>
                  <a:pt x="0" y="21366"/>
                </a:cubicBezTo>
                <a:lnTo>
                  <a:pt x="0" y="234"/>
                </a:lnTo>
                <a:cubicBezTo>
                  <a:pt x="0" y="105"/>
                  <a:pt x="49" y="0"/>
                  <a:pt x="110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1" name="Shape 4"/>
          <p:cNvSpPr/>
          <p:nvPr/>
        </p:nvSpPr>
        <p:spPr>
          <a:xfrm>
            <a:off x="331931" y="1238094"/>
            <a:ext cx="28865" cy="2667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495"/>
                  <a:pt x="0" y="21366"/>
                </a:cubicBezTo>
                <a:lnTo>
                  <a:pt x="0" y="234"/>
                </a:lnTo>
                <a:cubicBezTo>
                  <a:pt x="0" y="105"/>
                  <a:pt x="9671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2" name="Shape 5"/>
          <p:cNvSpPr/>
          <p:nvPr/>
        </p:nvSpPr>
        <p:spPr>
          <a:xfrm>
            <a:off x="510700" y="1414197"/>
            <a:ext cx="187525" cy="1875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34" h="21434" fill="norm" stroke="1" extrusionOk="0">
                <a:moveTo>
                  <a:pt x="14101" y="9104"/>
                </a:moveTo>
                <a:cubicBezTo>
                  <a:pt x="14533" y="8987"/>
                  <a:pt x="14987" y="9192"/>
                  <a:pt x="15181" y="9593"/>
                </a:cubicBezTo>
                <a:lnTo>
                  <a:pt x="15841" y="10925"/>
                </a:lnTo>
                <a:cubicBezTo>
                  <a:pt x="16206" y="10975"/>
                  <a:pt x="16564" y="11074"/>
                  <a:pt x="16900" y="11212"/>
                </a:cubicBezTo>
                <a:lnTo>
                  <a:pt x="18141" y="10387"/>
                </a:lnTo>
                <a:cubicBezTo>
                  <a:pt x="18513" y="10139"/>
                  <a:pt x="19005" y="10188"/>
                  <a:pt x="19321" y="10504"/>
                </a:cubicBezTo>
                <a:lnTo>
                  <a:pt x="20001" y="11184"/>
                </a:lnTo>
                <a:cubicBezTo>
                  <a:pt x="20317" y="11499"/>
                  <a:pt x="20366" y="11996"/>
                  <a:pt x="20118" y="12364"/>
                </a:cubicBezTo>
                <a:lnTo>
                  <a:pt x="19292" y="13601"/>
                </a:lnTo>
                <a:cubicBezTo>
                  <a:pt x="19360" y="13768"/>
                  <a:pt x="19420" y="13941"/>
                  <a:pt x="19470" y="14122"/>
                </a:cubicBezTo>
                <a:cubicBezTo>
                  <a:pt x="19519" y="14303"/>
                  <a:pt x="19551" y="14480"/>
                  <a:pt x="19576" y="14661"/>
                </a:cubicBezTo>
                <a:lnTo>
                  <a:pt x="20912" y="15320"/>
                </a:lnTo>
                <a:cubicBezTo>
                  <a:pt x="21312" y="15518"/>
                  <a:pt x="21518" y="15972"/>
                  <a:pt x="21401" y="16401"/>
                </a:cubicBezTo>
                <a:lnTo>
                  <a:pt x="21153" y="17329"/>
                </a:lnTo>
                <a:cubicBezTo>
                  <a:pt x="21036" y="17758"/>
                  <a:pt x="20636" y="18049"/>
                  <a:pt x="20189" y="18020"/>
                </a:cubicBezTo>
                <a:lnTo>
                  <a:pt x="18701" y="17924"/>
                </a:lnTo>
                <a:cubicBezTo>
                  <a:pt x="18477" y="18211"/>
                  <a:pt x="18219" y="18477"/>
                  <a:pt x="17924" y="18704"/>
                </a:cubicBezTo>
                <a:lnTo>
                  <a:pt x="18020" y="20189"/>
                </a:lnTo>
                <a:cubicBezTo>
                  <a:pt x="18049" y="20636"/>
                  <a:pt x="17758" y="21040"/>
                  <a:pt x="17329" y="21153"/>
                </a:cubicBezTo>
                <a:lnTo>
                  <a:pt x="16401" y="21401"/>
                </a:lnTo>
                <a:cubicBezTo>
                  <a:pt x="15968" y="21518"/>
                  <a:pt x="15518" y="21312"/>
                  <a:pt x="15320" y="20912"/>
                </a:cubicBezTo>
                <a:lnTo>
                  <a:pt x="14661" y="19580"/>
                </a:lnTo>
                <a:cubicBezTo>
                  <a:pt x="14296" y="19530"/>
                  <a:pt x="13938" y="19431"/>
                  <a:pt x="13601" y="19292"/>
                </a:cubicBezTo>
                <a:lnTo>
                  <a:pt x="12361" y="20118"/>
                </a:lnTo>
                <a:cubicBezTo>
                  <a:pt x="11988" y="20366"/>
                  <a:pt x="11496" y="20317"/>
                  <a:pt x="11181" y="20001"/>
                </a:cubicBezTo>
                <a:lnTo>
                  <a:pt x="10500" y="19321"/>
                </a:lnTo>
                <a:cubicBezTo>
                  <a:pt x="10185" y="19005"/>
                  <a:pt x="10135" y="18513"/>
                  <a:pt x="10383" y="18141"/>
                </a:cubicBezTo>
                <a:lnTo>
                  <a:pt x="11209" y="16900"/>
                </a:lnTo>
                <a:cubicBezTo>
                  <a:pt x="11141" y="16734"/>
                  <a:pt x="11081" y="16560"/>
                  <a:pt x="11032" y="16379"/>
                </a:cubicBezTo>
                <a:cubicBezTo>
                  <a:pt x="10982" y="16199"/>
                  <a:pt x="10950" y="16018"/>
                  <a:pt x="10925" y="15841"/>
                </a:cubicBezTo>
                <a:lnTo>
                  <a:pt x="9589" y="15181"/>
                </a:lnTo>
                <a:cubicBezTo>
                  <a:pt x="9189" y="14983"/>
                  <a:pt x="8987" y="14529"/>
                  <a:pt x="9100" y="14101"/>
                </a:cubicBezTo>
                <a:lnTo>
                  <a:pt x="9348" y="13172"/>
                </a:lnTo>
                <a:cubicBezTo>
                  <a:pt x="9465" y="12743"/>
                  <a:pt x="9866" y="12453"/>
                  <a:pt x="10312" y="12481"/>
                </a:cubicBezTo>
                <a:lnTo>
                  <a:pt x="11797" y="12577"/>
                </a:lnTo>
                <a:cubicBezTo>
                  <a:pt x="12020" y="12290"/>
                  <a:pt x="12279" y="12024"/>
                  <a:pt x="12573" y="11797"/>
                </a:cubicBezTo>
                <a:lnTo>
                  <a:pt x="12478" y="10316"/>
                </a:lnTo>
                <a:cubicBezTo>
                  <a:pt x="12449" y="9869"/>
                  <a:pt x="12740" y="9465"/>
                  <a:pt x="13169" y="9352"/>
                </a:cubicBezTo>
                <a:lnTo>
                  <a:pt x="14097" y="9104"/>
                </a:lnTo>
                <a:close/>
                <a:moveTo>
                  <a:pt x="15252" y="13693"/>
                </a:moveTo>
                <a:cubicBezTo>
                  <a:pt x="14392" y="13694"/>
                  <a:pt x="13694" y="14394"/>
                  <a:pt x="13695" y="15254"/>
                </a:cubicBezTo>
                <a:cubicBezTo>
                  <a:pt x="13696" y="16115"/>
                  <a:pt x="14395" y="16813"/>
                  <a:pt x="15256" y="16812"/>
                </a:cubicBezTo>
                <a:cubicBezTo>
                  <a:pt x="16117" y="16811"/>
                  <a:pt x="16814" y="16111"/>
                  <a:pt x="16813" y="15251"/>
                </a:cubicBezTo>
                <a:cubicBezTo>
                  <a:pt x="16812" y="14390"/>
                  <a:pt x="16113" y="13692"/>
                  <a:pt x="15252" y="13693"/>
                </a:cubicBezTo>
                <a:close/>
                <a:moveTo>
                  <a:pt x="7332" y="31"/>
                </a:moveTo>
                <a:lnTo>
                  <a:pt x="8260" y="280"/>
                </a:lnTo>
                <a:cubicBezTo>
                  <a:pt x="8689" y="396"/>
                  <a:pt x="8980" y="800"/>
                  <a:pt x="8951" y="1243"/>
                </a:cubicBezTo>
                <a:lnTo>
                  <a:pt x="8856" y="2725"/>
                </a:lnTo>
                <a:cubicBezTo>
                  <a:pt x="9150" y="2952"/>
                  <a:pt x="9409" y="3214"/>
                  <a:pt x="9632" y="3504"/>
                </a:cubicBezTo>
                <a:lnTo>
                  <a:pt x="11120" y="3409"/>
                </a:lnTo>
                <a:cubicBezTo>
                  <a:pt x="11563" y="3380"/>
                  <a:pt x="11967" y="3671"/>
                  <a:pt x="12084" y="4100"/>
                </a:cubicBezTo>
                <a:lnTo>
                  <a:pt x="12332" y="5028"/>
                </a:lnTo>
                <a:cubicBezTo>
                  <a:pt x="12446" y="5457"/>
                  <a:pt x="12244" y="5911"/>
                  <a:pt x="11843" y="6109"/>
                </a:cubicBezTo>
                <a:lnTo>
                  <a:pt x="10507" y="6768"/>
                </a:lnTo>
                <a:cubicBezTo>
                  <a:pt x="10482" y="6949"/>
                  <a:pt x="10447" y="7130"/>
                  <a:pt x="10401" y="7307"/>
                </a:cubicBezTo>
                <a:cubicBezTo>
                  <a:pt x="10355" y="7484"/>
                  <a:pt x="10291" y="7661"/>
                  <a:pt x="10224" y="7828"/>
                </a:cubicBezTo>
                <a:lnTo>
                  <a:pt x="11049" y="9068"/>
                </a:lnTo>
                <a:cubicBezTo>
                  <a:pt x="11297" y="9440"/>
                  <a:pt x="11248" y="9933"/>
                  <a:pt x="10932" y="10248"/>
                </a:cubicBezTo>
                <a:lnTo>
                  <a:pt x="10252" y="10929"/>
                </a:lnTo>
                <a:cubicBezTo>
                  <a:pt x="9936" y="11244"/>
                  <a:pt x="9444" y="11294"/>
                  <a:pt x="9072" y="11046"/>
                </a:cubicBezTo>
                <a:lnTo>
                  <a:pt x="7831" y="10220"/>
                </a:lnTo>
                <a:cubicBezTo>
                  <a:pt x="7495" y="10358"/>
                  <a:pt x="7137" y="10458"/>
                  <a:pt x="6772" y="10507"/>
                </a:cubicBezTo>
                <a:lnTo>
                  <a:pt x="6113" y="11840"/>
                </a:lnTo>
                <a:cubicBezTo>
                  <a:pt x="5914" y="12240"/>
                  <a:pt x="5461" y="12442"/>
                  <a:pt x="5032" y="12329"/>
                </a:cubicBezTo>
                <a:lnTo>
                  <a:pt x="4103" y="12081"/>
                </a:lnTo>
                <a:cubicBezTo>
                  <a:pt x="3671" y="11964"/>
                  <a:pt x="3384" y="11560"/>
                  <a:pt x="3412" y="11117"/>
                </a:cubicBezTo>
                <a:lnTo>
                  <a:pt x="3508" y="9632"/>
                </a:lnTo>
                <a:cubicBezTo>
                  <a:pt x="3214" y="9405"/>
                  <a:pt x="2955" y="9143"/>
                  <a:pt x="2732" y="8852"/>
                </a:cubicBezTo>
                <a:lnTo>
                  <a:pt x="1243" y="8948"/>
                </a:lnTo>
                <a:cubicBezTo>
                  <a:pt x="800" y="8976"/>
                  <a:pt x="396" y="8686"/>
                  <a:pt x="280" y="8257"/>
                </a:cubicBezTo>
                <a:lnTo>
                  <a:pt x="31" y="7328"/>
                </a:lnTo>
                <a:cubicBezTo>
                  <a:pt x="-82" y="6900"/>
                  <a:pt x="120" y="6446"/>
                  <a:pt x="520" y="6247"/>
                </a:cubicBezTo>
                <a:lnTo>
                  <a:pt x="1856" y="5588"/>
                </a:lnTo>
                <a:cubicBezTo>
                  <a:pt x="1881" y="5407"/>
                  <a:pt x="1917" y="5230"/>
                  <a:pt x="1963" y="5050"/>
                </a:cubicBezTo>
                <a:cubicBezTo>
                  <a:pt x="2012" y="4869"/>
                  <a:pt x="2069" y="4695"/>
                  <a:pt x="2140" y="4529"/>
                </a:cubicBezTo>
                <a:lnTo>
                  <a:pt x="1314" y="3292"/>
                </a:lnTo>
                <a:cubicBezTo>
                  <a:pt x="1066" y="2920"/>
                  <a:pt x="1116" y="2427"/>
                  <a:pt x="1431" y="2112"/>
                </a:cubicBezTo>
                <a:lnTo>
                  <a:pt x="2112" y="1431"/>
                </a:lnTo>
                <a:cubicBezTo>
                  <a:pt x="2427" y="1116"/>
                  <a:pt x="2920" y="1066"/>
                  <a:pt x="3292" y="1314"/>
                </a:cubicBezTo>
                <a:lnTo>
                  <a:pt x="4532" y="2140"/>
                </a:lnTo>
                <a:cubicBezTo>
                  <a:pt x="4869" y="2002"/>
                  <a:pt x="5227" y="1903"/>
                  <a:pt x="5592" y="1853"/>
                </a:cubicBezTo>
                <a:lnTo>
                  <a:pt x="6251" y="520"/>
                </a:lnTo>
                <a:cubicBezTo>
                  <a:pt x="6449" y="120"/>
                  <a:pt x="6899" y="-82"/>
                  <a:pt x="7332" y="31"/>
                </a:cubicBezTo>
                <a:close/>
                <a:moveTo>
                  <a:pt x="6180" y="4621"/>
                </a:moveTo>
                <a:cubicBezTo>
                  <a:pt x="5319" y="4621"/>
                  <a:pt x="4621" y="5319"/>
                  <a:pt x="4621" y="6180"/>
                </a:cubicBezTo>
                <a:cubicBezTo>
                  <a:pt x="4621" y="7041"/>
                  <a:pt x="5319" y="7739"/>
                  <a:pt x="6180" y="7739"/>
                </a:cubicBezTo>
                <a:cubicBezTo>
                  <a:pt x="7041" y="7739"/>
                  <a:pt x="7739" y="7041"/>
                  <a:pt x="7739" y="6180"/>
                </a:cubicBezTo>
                <a:cubicBezTo>
                  <a:pt x="7739" y="5319"/>
                  <a:pt x="7041" y="4621"/>
                  <a:pt x="6180" y="4621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3" name="Text 6"/>
          <p:cNvSpPr txBox="1"/>
          <p:nvPr/>
        </p:nvSpPr>
        <p:spPr>
          <a:xfrm>
            <a:off x="703551" y="1400019"/>
            <a:ext cx="5230813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量化策略</a:t>
            </a:r>
          </a:p>
        </p:txBody>
      </p:sp>
      <p:sp>
        <p:nvSpPr>
          <p:cNvPr id="744" name="Shape 7"/>
          <p:cNvSpPr/>
          <p:nvPr/>
        </p:nvSpPr>
        <p:spPr>
          <a:xfrm>
            <a:off x="505113" y="1746025"/>
            <a:ext cx="5349876" cy="603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56" y="0"/>
                </a:moveTo>
                <a:lnTo>
                  <a:pt x="21344" y="0"/>
                </a:lnTo>
                <a:cubicBezTo>
                  <a:pt x="21485" y="0"/>
                  <a:pt x="21600" y="1018"/>
                  <a:pt x="21600" y="2274"/>
                </a:cubicBezTo>
                <a:lnTo>
                  <a:pt x="21600" y="19326"/>
                </a:lnTo>
                <a:cubicBezTo>
                  <a:pt x="21600" y="20582"/>
                  <a:pt x="21485" y="21600"/>
                  <a:pt x="21344" y="21600"/>
                </a:cubicBezTo>
                <a:lnTo>
                  <a:pt x="256" y="21600"/>
                </a:lnTo>
                <a:cubicBezTo>
                  <a:pt x="115" y="21600"/>
                  <a:pt x="0" y="20582"/>
                  <a:pt x="0" y="19326"/>
                </a:cubicBezTo>
                <a:lnTo>
                  <a:pt x="0" y="2274"/>
                </a:lnTo>
                <a:cubicBezTo>
                  <a:pt x="0" y="1019"/>
                  <a:pt x="115" y="0"/>
                  <a:pt x="25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5" name="Text 8"/>
          <p:cNvSpPr txBox="1"/>
          <p:nvPr/>
        </p:nvSpPr>
        <p:spPr>
          <a:xfrm>
            <a:off x="600330" y="1847594"/>
            <a:ext cx="522287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量化方法</a:t>
            </a:r>
          </a:p>
        </p:txBody>
      </p:sp>
      <p:sp>
        <p:nvSpPr>
          <p:cNvPr id="746" name="Text 9"/>
          <p:cNvSpPr txBox="1"/>
          <p:nvPr/>
        </p:nvSpPr>
        <p:spPr>
          <a:xfrm>
            <a:off x="600330" y="2082520"/>
            <a:ext cx="522287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4-bit NF4 (bitsandbytes)</a:t>
            </a:r>
          </a:p>
        </p:txBody>
      </p:sp>
      <p:sp>
        <p:nvSpPr>
          <p:cNvPr id="747" name="Shape 10"/>
          <p:cNvSpPr/>
          <p:nvPr/>
        </p:nvSpPr>
        <p:spPr>
          <a:xfrm>
            <a:off x="505113" y="2444393"/>
            <a:ext cx="5349876" cy="603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56" y="0"/>
                </a:moveTo>
                <a:lnTo>
                  <a:pt x="21344" y="0"/>
                </a:lnTo>
                <a:cubicBezTo>
                  <a:pt x="21485" y="0"/>
                  <a:pt x="21600" y="1018"/>
                  <a:pt x="21600" y="2274"/>
                </a:cubicBezTo>
                <a:lnTo>
                  <a:pt x="21600" y="19326"/>
                </a:lnTo>
                <a:cubicBezTo>
                  <a:pt x="21600" y="20582"/>
                  <a:pt x="21485" y="21600"/>
                  <a:pt x="21344" y="21600"/>
                </a:cubicBezTo>
                <a:lnTo>
                  <a:pt x="256" y="21600"/>
                </a:lnTo>
                <a:cubicBezTo>
                  <a:pt x="115" y="21600"/>
                  <a:pt x="0" y="20582"/>
                  <a:pt x="0" y="19326"/>
                </a:cubicBezTo>
                <a:lnTo>
                  <a:pt x="0" y="2274"/>
                </a:lnTo>
                <a:cubicBezTo>
                  <a:pt x="0" y="1019"/>
                  <a:pt x="115" y="0"/>
                  <a:pt x="25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8" name="Text 11"/>
          <p:cNvSpPr txBox="1"/>
          <p:nvPr/>
        </p:nvSpPr>
        <p:spPr>
          <a:xfrm>
            <a:off x="600330" y="2545955"/>
            <a:ext cx="522287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双重量化</a:t>
            </a:r>
          </a:p>
        </p:txBody>
      </p:sp>
      <p:sp>
        <p:nvSpPr>
          <p:cNvPr id="749" name="Text 12"/>
          <p:cNvSpPr txBox="1"/>
          <p:nvPr/>
        </p:nvSpPr>
        <p:spPr>
          <a:xfrm>
            <a:off x="600330" y="2780881"/>
            <a:ext cx="522287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Double Quantization: False</a:t>
            </a:r>
          </a:p>
        </p:txBody>
      </p:sp>
      <p:sp>
        <p:nvSpPr>
          <p:cNvPr id="750" name="Shape 13"/>
          <p:cNvSpPr/>
          <p:nvPr/>
        </p:nvSpPr>
        <p:spPr>
          <a:xfrm>
            <a:off x="505113" y="3142753"/>
            <a:ext cx="5349876" cy="603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56" y="0"/>
                </a:moveTo>
                <a:lnTo>
                  <a:pt x="21344" y="0"/>
                </a:lnTo>
                <a:cubicBezTo>
                  <a:pt x="21485" y="0"/>
                  <a:pt x="21600" y="1018"/>
                  <a:pt x="21600" y="2274"/>
                </a:cubicBezTo>
                <a:lnTo>
                  <a:pt x="21600" y="19326"/>
                </a:lnTo>
                <a:cubicBezTo>
                  <a:pt x="21600" y="20582"/>
                  <a:pt x="21485" y="21600"/>
                  <a:pt x="21344" y="21600"/>
                </a:cubicBezTo>
                <a:lnTo>
                  <a:pt x="256" y="21600"/>
                </a:lnTo>
                <a:cubicBezTo>
                  <a:pt x="115" y="21600"/>
                  <a:pt x="0" y="20582"/>
                  <a:pt x="0" y="19326"/>
                </a:cubicBezTo>
                <a:lnTo>
                  <a:pt x="0" y="2274"/>
                </a:lnTo>
                <a:cubicBezTo>
                  <a:pt x="0" y="1019"/>
                  <a:pt x="115" y="0"/>
                  <a:pt x="25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51" name="Text 14"/>
          <p:cNvSpPr txBox="1"/>
          <p:nvPr/>
        </p:nvSpPr>
        <p:spPr>
          <a:xfrm>
            <a:off x="600330" y="3244322"/>
            <a:ext cx="522287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内存优化</a:t>
            </a:r>
          </a:p>
        </p:txBody>
      </p:sp>
      <p:sp>
        <p:nvSpPr>
          <p:cNvPr id="752" name="Text 15"/>
          <p:cNvSpPr txBox="1"/>
          <p:nvPr/>
        </p:nvSpPr>
        <p:spPr>
          <a:xfrm>
            <a:off x="600330" y="3466550"/>
            <a:ext cx="522287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减少75%内存占用</a:t>
            </a:r>
          </a:p>
        </p:txBody>
      </p:sp>
      <p:sp>
        <p:nvSpPr>
          <p:cNvPr id="753" name="Shape 16"/>
          <p:cNvSpPr/>
          <p:nvPr/>
        </p:nvSpPr>
        <p:spPr>
          <a:xfrm>
            <a:off x="6189783" y="1238094"/>
            <a:ext cx="5681808" cy="2667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0" y="0"/>
                </a:moveTo>
                <a:lnTo>
                  <a:pt x="21238" y="0"/>
                </a:lnTo>
                <a:cubicBezTo>
                  <a:pt x="21438" y="0"/>
                  <a:pt x="21600" y="345"/>
                  <a:pt x="21600" y="771"/>
                </a:cubicBezTo>
                <a:lnTo>
                  <a:pt x="21600" y="20829"/>
                </a:lnTo>
                <a:cubicBezTo>
                  <a:pt x="21600" y="21255"/>
                  <a:pt x="21438" y="21600"/>
                  <a:pt x="21238" y="21600"/>
                </a:cubicBezTo>
                <a:lnTo>
                  <a:pt x="110" y="21600"/>
                </a:lnTo>
                <a:cubicBezTo>
                  <a:pt x="49" y="21600"/>
                  <a:pt x="0" y="21495"/>
                  <a:pt x="0" y="21366"/>
                </a:cubicBezTo>
                <a:lnTo>
                  <a:pt x="0" y="234"/>
                </a:lnTo>
                <a:cubicBezTo>
                  <a:pt x="0" y="105"/>
                  <a:pt x="49" y="0"/>
                  <a:pt x="110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54" name="Shape 17"/>
          <p:cNvSpPr/>
          <p:nvPr/>
        </p:nvSpPr>
        <p:spPr>
          <a:xfrm>
            <a:off x="6189783" y="1238094"/>
            <a:ext cx="28865" cy="2667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495"/>
                  <a:pt x="0" y="21366"/>
                </a:cubicBezTo>
                <a:lnTo>
                  <a:pt x="0" y="234"/>
                </a:lnTo>
                <a:cubicBezTo>
                  <a:pt x="0" y="105"/>
                  <a:pt x="9671" y="0"/>
                  <a:pt x="21600" y="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55" name="Shape 18"/>
          <p:cNvSpPr/>
          <p:nvPr/>
        </p:nvSpPr>
        <p:spPr>
          <a:xfrm>
            <a:off x="6382810" y="1433540"/>
            <a:ext cx="158751" cy="1488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50" y="2160"/>
                </a:moveTo>
                <a:cubicBezTo>
                  <a:pt x="603" y="2160"/>
                  <a:pt x="0" y="2804"/>
                  <a:pt x="0" y="3600"/>
                </a:cubicBezTo>
                <a:cubicBezTo>
                  <a:pt x="0" y="4397"/>
                  <a:pt x="603" y="5040"/>
                  <a:pt x="1350" y="5040"/>
                </a:cubicBezTo>
                <a:lnTo>
                  <a:pt x="5008" y="5040"/>
                </a:lnTo>
                <a:cubicBezTo>
                  <a:pt x="5527" y="6313"/>
                  <a:pt x="6716" y="7200"/>
                  <a:pt x="8100" y="7200"/>
                </a:cubicBezTo>
                <a:cubicBezTo>
                  <a:pt x="9484" y="7200"/>
                  <a:pt x="10673" y="6313"/>
                  <a:pt x="11192" y="5040"/>
                </a:cubicBezTo>
                <a:lnTo>
                  <a:pt x="20250" y="5040"/>
                </a:lnTo>
                <a:cubicBezTo>
                  <a:pt x="20997" y="5040"/>
                  <a:pt x="21600" y="4397"/>
                  <a:pt x="21600" y="3600"/>
                </a:cubicBezTo>
                <a:cubicBezTo>
                  <a:pt x="21600" y="2804"/>
                  <a:pt x="20997" y="2160"/>
                  <a:pt x="20250" y="2160"/>
                </a:cubicBezTo>
                <a:lnTo>
                  <a:pt x="11192" y="2160"/>
                </a:lnTo>
                <a:cubicBezTo>
                  <a:pt x="10673" y="886"/>
                  <a:pt x="9484" y="0"/>
                  <a:pt x="8100" y="0"/>
                </a:cubicBezTo>
                <a:cubicBezTo>
                  <a:pt x="6716" y="0"/>
                  <a:pt x="5527" y="886"/>
                  <a:pt x="5008" y="2160"/>
                </a:cubicBezTo>
                <a:lnTo>
                  <a:pt x="1350" y="2160"/>
                </a:lnTo>
                <a:close/>
                <a:moveTo>
                  <a:pt x="1350" y="9360"/>
                </a:moveTo>
                <a:cubicBezTo>
                  <a:pt x="603" y="9360"/>
                  <a:pt x="0" y="10004"/>
                  <a:pt x="0" y="10800"/>
                </a:cubicBezTo>
                <a:cubicBezTo>
                  <a:pt x="0" y="11596"/>
                  <a:pt x="603" y="12240"/>
                  <a:pt x="1350" y="12240"/>
                </a:cubicBezTo>
                <a:lnTo>
                  <a:pt x="11758" y="12240"/>
                </a:lnTo>
                <a:cubicBezTo>
                  <a:pt x="12277" y="13514"/>
                  <a:pt x="13466" y="14400"/>
                  <a:pt x="14850" y="14400"/>
                </a:cubicBezTo>
                <a:cubicBezTo>
                  <a:pt x="16234" y="14400"/>
                  <a:pt x="17423" y="13514"/>
                  <a:pt x="17942" y="12240"/>
                </a:cubicBezTo>
                <a:lnTo>
                  <a:pt x="20250" y="12240"/>
                </a:lnTo>
                <a:cubicBezTo>
                  <a:pt x="20997" y="12240"/>
                  <a:pt x="21600" y="11596"/>
                  <a:pt x="21600" y="10800"/>
                </a:cubicBezTo>
                <a:cubicBezTo>
                  <a:pt x="21600" y="10004"/>
                  <a:pt x="20997" y="9360"/>
                  <a:pt x="20250" y="9360"/>
                </a:cubicBezTo>
                <a:lnTo>
                  <a:pt x="17942" y="9360"/>
                </a:lnTo>
                <a:cubicBezTo>
                  <a:pt x="17423" y="8086"/>
                  <a:pt x="16234" y="7200"/>
                  <a:pt x="14850" y="7200"/>
                </a:cubicBezTo>
                <a:cubicBezTo>
                  <a:pt x="13466" y="7200"/>
                  <a:pt x="12277" y="8086"/>
                  <a:pt x="11758" y="9360"/>
                </a:cubicBezTo>
                <a:lnTo>
                  <a:pt x="1350" y="9360"/>
                </a:lnTo>
                <a:close/>
                <a:moveTo>
                  <a:pt x="1350" y="16560"/>
                </a:moveTo>
                <a:cubicBezTo>
                  <a:pt x="603" y="16560"/>
                  <a:pt x="0" y="17203"/>
                  <a:pt x="0" y="18000"/>
                </a:cubicBezTo>
                <a:cubicBezTo>
                  <a:pt x="0" y="18796"/>
                  <a:pt x="603" y="19440"/>
                  <a:pt x="1350" y="19440"/>
                </a:cubicBezTo>
                <a:lnTo>
                  <a:pt x="3658" y="19440"/>
                </a:lnTo>
                <a:cubicBezTo>
                  <a:pt x="4177" y="20714"/>
                  <a:pt x="5366" y="21600"/>
                  <a:pt x="6750" y="21600"/>
                </a:cubicBezTo>
                <a:cubicBezTo>
                  <a:pt x="8134" y="21600"/>
                  <a:pt x="9323" y="20714"/>
                  <a:pt x="9842" y="19440"/>
                </a:cubicBezTo>
                <a:lnTo>
                  <a:pt x="20250" y="19440"/>
                </a:lnTo>
                <a:cubicBezTo>
                  <a:pt x="20997" y="19440"/>
                  <a:pt x="21600" y="18796"/>
                  <a:pt x="21600" y="18000"/>
                </a:cubicBezTo>
                <a:cubicBezTo>
                  <a:pt x="21600" y="17203"/>
                  <a:pt x="20997" y="16560"/>
                  <a:pt x="20250" y="16560"/>
                </a:cubicBezTo>
                <a:lnTo>
                  <a:pt x="9842" y="16560"/>
                </a:lnTo>
                <a:cubicBezTo>
                  <a:pt x="9323" y="15287"/>
                  <a:pt x="8134" y="14400"/>
                  <a:pt x="6750" y="14400"/>
                </a:cubicBezTo>
                <a:cubicBezTo>
                  <a:pt x="5366" y="14400"/>
                  <a:pt x="4177" y="15287"/>
                  <a:pt x="3658" y="16560"/>
                </a:cubicBezTo>
                <a:lnTo>
                  <a:pt x="1350" y="16560"/>
                </a:ln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56" name="Text 19"/>
          <p:cNvSpPr txBox="1"/>
          <p:nvPr/>
        </p:nvSpPr>
        <p:spPr>
          <a:xfrm>
            <a:off x="6561403" y="1400019"/>
            <a:ext cx="523081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LoRA配置</a:t>
            </a:r>
          </a:p>
        </p:txBody>
      </p:sp>
      <p:sp>
        <p:nvSpPr>
          <p:cNvPr id="757" name="Shape 20"/>
          <p:cNvSpPr/>
          <p:nvPr/>
        </p:nvSpPr>
        <p:spPr>
          <a:xfrm>
            <a:off x="6362965" y="1746025"/>
            <a:ext cx="5349876" cy="603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56" y="0"/>
                </a:moveTo>
                <a:lnTo>
                  <a:pt x="21344" y="0"/>
                </a:lnTo>
                <a:cubicBezTo>
                  <a:pt x="21485" y="0"/>
                  <a:pt x="21600" y="1018"/>
                  <a:pt x="21600" y="2274"/>
                </a:cubicBezTo>
                <a:lnTo>
                  <a:pt x="21600" y="19326"/>
                </a:lnTo>
                <a:cubicBezTo>
                  <a:pt x="21600" y="20582"/>
                  <a:pt x="21485" y="21600"/>
                  <a:pt x="21344" y="21600"/>
                </a:cubicBezTo>
                <a:lnTo>
                  <a:pt x="256" y="21600"/>
                </a:lnTo>
                <a:cubicBezTo>
                  <a:pt x="115" y="21600"/>
                  <a:pt x="0" y="20582"/>
                  <a:pt x="0" y="19326"/>
                </a:cubicBezTo>
                <a:lnTo>
                  <a:pt x="0" y="2274"/>
                </a:lnTo>
                <a:cubicBezTo>
                  <a:pt x="0" y="1019"/>
                  <a:pt x="115" y="0"/>
                  <a:pt x="25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58" name="Text 21"/>
          <p:cNvSpPr txBox="1"/>
          <p:nvPr/>
        </p:nvSpPr>
        <p:spPr>
          <a:xfrm>
            <a:off x="6458182" y="1860294"/>
            <a:ext cx="522287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Rank</a:t>
            </a:r>
          </a:p>
        </p:txBody>
      </p:sp>
      <p:sp>
        <p:nvSpPr>
          <p:cNvPr id="759" name="Text 22"/>
          <p:cNvSpPr txBox="1"/>
          <p:nvPr/>
        </p:nvSpPr>
        <p:spPr>
          <a:xfrm>
            <a:off x="6458182" y="2082520"/>
            <a:ext cx="522287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rank = 16</a:t>
            </a:r>
          </a:p>
        </p:txBody>
      </p:sp>
      <p:sp>
        <p:nvSpPr>
          <p:cNvPr id="760" name="Shape 23"/>
          <p:cNvSpPr/>
          <p:nvPr/>
        </p:nvSpPr>
        <p:spPr>
          <a:xfrm>
            <a:off x="6362965" y="2444393"/>
            <a:ext cx="5349876" cy="603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56" y="0"/>
                </a:moveTo>
                <a:lnTo>
                  <a:pt x="21344" y="0"/>
                </a:lnTo>
                <a:cubicBezTo>
                  <a:pt x="21485" y="0"/>
                  <a:pt x="21600" y="1018"/>
                  <a:pt x="21600" y="2274"/>
                </a:cubicBezTo>
                <a:lnTo>
                  <a:pt x="21600" y="19326"/>
                </a:lnTo>
                <a:cubicBezTo>
                  <a:pt x="21600" y="20582"/>
                  <a:pt x="21485" y="21600"/>
                  <a:pt x="21344" y="21600"/>
                </a:cubicBezTo>
                <a:lnTo>
                  <a:pt x="256" y="21600"/>
                </a:lnTo>
                <a:cubicBezTo>
                  <a:pt x="115" y="21600"/>
                  <a:pt x="0" y="20582"/>
                  <a:pt x="0" y="19326"/>
                </a:cubicBezTo>
                <a:lnTo>
                  <a:pt x="0" y="2274"/>
                </a:lnTo>
                <a:cubicBezTo>
                  <a:pt x="0" y="1019"/>
                  <a:pt x="115" y="0"/>
                  <a:pt x="25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1" name="Text 24"/>
          <p:cNvSpPr txBox="1"/>
          <p:nvPr/>
        </p:nvSpPr>
        <p:spPr>
          <a:xfrm>
            <a:off x="6458182" y="2558655"/>
            <a:ext cx="522287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Alpha</a:t>
            </a:r>
          </a:p>
        </p:txBody>
      </p:sp>
      <p:sp>
        <p:nvSpPr>
          <p:cNvPr id="762" name="Text 25"/>
          <p:cNvSpPr txBox="1"/>
          <p:nvPr/>
        </p:nvSpPr>
        <p:spPr>
          <a:xfrm>
            <a:off x="6458182" y="2780881"/>
            <a:ext cx="522287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alpha = 32</a:t>
            </a:r>
          </a:p>
        </p:txBody>
      </p:sp>
      <p:sp>
        <p:nvSpPr>
          <p:cNvPr id="763" name="Shape 26"/>
          <p:cNvSpPr/>
          <p:nvPr/>
        </p:nvSpPr>
        <p:spPr>
          <a:xfrm>
            <a:off x="6362965" y="3142753"/>
            <a:ext cx="5349876" cy="603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56" y="0"/>
                </a:moveTo>
                <a:lnTo>
                  <a:pt x="21344" y="0"/>
                </a:lnTo>
                <a:cubicBezTo>
                  <a:pt x="21485" y="0"/>
                  <a:pt x="21600" y="1018"/>
                  <a:pt x="21600" y="2274"/>
                </a:cubicBezTo>
                <a:lnTo>
                  <a:pt x="21600" y="19326"/>
                </a:lnTo>
                <a:cubicBezTo>
                  <a:pt x="21600" y="20582"/>
                  <a:pt x="21485" y="21600"/>
                  <a:pt x="21344" y="21600"/>
                </a:cubicBezTo>
                <a:lnTo>
                  <a:pt x="256" y="21600"/>
                </a:lnTo>
                <a:cubicBezTo>
                  <a:pt x="115" y="21600"/>
                  <a:pt x="0" y="20582"/>
                  <a:pt x="0" y="19326"/>
                </a:cubicBezTo>
                <a:lnTo>
                  <a:pt x="0" y="2274"/>
                </a:lnTo>
                <a:cubicBezTo>
                  <a:pt x="0" y="1019"/>
                  <a:pt x="115" y="0"/>
                  <a:pt x="25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4" name="Text 27"/>
          <p:cNvSpPr txBox="1"/>
          <p:nvPr/>
        </p:nvSpPr>
        <p:spPr>
          <a:xfrm>
            <a:off x="6458182" y="3257022"/>
            <a:ext cx="522287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Target Modules</a:t>
            </a:r>
          </a:p>
        </p:txBody>
      </p:sp>
      <p:sp>
        <p:nvSpPr>
          <p:cNvPr id="765" name="Text 28"/>
          <p:cNvSpPr txBox="1"/>
          <p:nvPr/>
        </p:nvSpPr>
        <p:spPr>
          <a:xfrm>
            <a:off x="6458182" y="3479250"/>
            <a:ext cx="522287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all (q_proj, k_proj, v_proj, o_proj...)</a:t>
            </a:r>
          </a:p>
        </p:txBody>
      </p:sp>
      <p:sp>
        <p:nvSpPr>
          <p:cNvPr id="766" name="Shape 29"/>
          <p:cNvSpPr/>
          <p:nvPr/>
        </p:nvSpPr>
        <p:spPr>
          <a:xfrm>
            <a:off x="324715" y="4038822"/>
            <a:ext cx="11539684" cy="19035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8" y="0"/>
                </a:moveTo>
                <a:lnTo>
                  <a:pt x="21422" y="0"/>
                </a:lnTo>
                <a:cubicBezTo>
                  <a:pt x="21520" y="0"/>
                  <a:pt x="21600" y="484"/>
                  <a:pt x="21600" y="1081"/>
                </a:cubicBezTo>
                <a:lnTo>
                  <a:pt x="21600" y="20519"/>
                </a:lnTo>
                <a:cubicBezTo>
                  <a:pt x="21600" y="21116"/>
                  <a:pt x="21520" y="21600"/>
                  <a:pt x="21422" y="21600"/>
                </a:cubicBezTo>
                <a:lnTo>
                  <a:pt x="178" y="21600"/>
                </a:lnTo>
                <a:cubicBezTo>
                  <a:pt x="80" y="21600"/>
                  <a:pt x="0" y="21116"/>
                  <a:pt x="0" y="20519"/>
                </a:cubicBezTo>
                <a:lnTo>
                  <a:pt x="0" y="1081"/>
                </a:lnTo>
                <a:cubicBezTo>
                  <a:pt x="0" y="484"/>
                  <a:pt x="80" y="0"/>
                  <a:pt x="178" y="0"/>
                </a:cubicBezTo>
                <a:close/>
              </a:path>
            </a:pathLst>
          </a:custGeom>
          <a:solidFill>
            <a:srgbClr val="5E8B7E">
              <a:alpha val="14902"/>
            </a:srgbClr>
          </a:solidFill>
          <a:ln w="23091">
            <a:solidFill>
              <a:srgbClr val="5E8B7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7" name="Shape 30"/>
          <p:cNvSpPr/>
          <p:nvPr/>
        </p:nvSpPr>
        <p:spPr>
          <a:xfrm>
            <a:off x="510526" y="4236539"/>
            <a:ext cx="158751" cy="158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55" fill="norm" stroke="1" extrusionOk="0">
                <a:moveTo>
                  <a:pt x="9809" y="217"/>
                </a:moveTo>
                <a:cubicBezTo>
                  <a:pt x="10437" y="-72"/>
                  <a:pt x="11163" y="-72"/>
                  <a:pt x="11791" y="217"/>
                </a:cubicBezTo>
                <a:lnTo>
                  <a:pt x="21014" y="4450"/>
                </a:lnTo>
                <a:cubicBezTo>
                  <a:pt x="21372" y="4613"/>
                  <a:pt x="21600" y="4970"/>
                  <a:pt x="21600" y="5364"/>
                </a:cubicBezTo>
                <a:cubicBezTo>
                  <a:pt x="21600" y="5758"/>
                  <a:pt x="21372" y="6114"/>
                  <a:pt x="21014" y="6277"/>
                </a:cubicBezTo>
                <a:lnTo>
                  <a:pt x="11791" y="10510"/>
                </a:lnTo>
                <a:cubicBezTo>
                  <a:pt x="11163" y="10799"/>
                  <a:pt x="10437" y="10799"/>
                  <a:pt x="9809" y="10510"/>
                </a:cubicBezTo>
                <a:lnTo>
                  <a:pt x="586" y="6277"/>
                </a:lnTo>
                <a:cubicBezTo>
                  <a:pt x="228" y="6110"/>
                  <a:pt x="0" y="5753"/>
                  <a:pt x="0" y="5364"/>
                </a:cubicBezTo>
                <a:cubicBezTo>
                  <a:pt x="0" y="4974"/>
                  <a:pt x="228" y="4613"/>
                  <a:pt x="586" y="4450"/>
                </a:cubicBezTo>
                <a:lnTo>
                  <a:pt x="9809" y="217"/>
                </a:lnTo>
                <a:close/>
                <a:moveTo>
                  <a:pt x="2029" y="9152"/>
                </a:moveTo>
                <a:lnTo>
                  <a:pt x="8961" y="12333"/>
                </a:lnTo>
                <a:cubicBezTo>
                  <a:pt x="10129" y="12870"/>
                  <a:pt x="11475" y="12870"/>
                  <a:pt x="12644" y="12333"/>
                </a:cubicBezTo>
                <a:lnTo>
                  <a:pt x="19575" y="9152"/>
                </a:lnTo>
                <a:lnTo>
                  <a:pt x="21014" y="9814"/>
                </a:lnTo>
                <a:cubicBezTo>
                  <a:pt x="21372" y="9978"/>
                  <a:pt x="21600" y="10334"/>
                  <a:pt x="21600" y="10728"/>
                </a:cubicBezTo>
                <a:cubicBezTo>
                  <a:pt x="21600" y="11122"/>
                  <a:pt x="21372" y="11478"/>
                  <a:pt x="21014" y="11642"/>
                </a:cubicBezTo>
                <a:lnTo>
                  <a:pt x="11791" y="15874"/>
                </a:lnTo>
                <a:cubicBezTo>
                  <a:pt x="11163" y="16164"/>
                  <a:pt x="10437" y="16164"/>
                  <a:pt x="9809" y="15874"/>
                </a:cubicBezTo>
                <a:lnTo>
                  <a:pt x="586" y="11642"/>
                </a:lnTo>
                <a:cubicBezTo>
                  <a:pt x="228" y="11474"/>
                  <a:pt x="0" y="11118"/>
                  <a:pt x="0" y="10728"/>
                </a:cubicBezTo>
                <a:cubicBezTo>
                  <a:pt x="0" y="10338"/>
                  <a:pt x="228" y="9978"/>
                  <a:pt x="586" y="9814"/>
                </a:cubicBezTo>
                <a:lnTo>
                  <a:pt x="2025" y="9152"/>
                </a:lnTo>
                <a:close/>
                <a:moveTo>
                  <a:pt x="586" y="15179"/>
                </a:moveTo>
                <a:lnTo>
                  <a:pt x="2025" y="14517"/>
                </a:lnTo>
                <a:lnTo>
                  <a:pt x="8956" y="17698"/>
                </a:lnTo>
                <a:cubicBezTo>
                  <a:pt x="10125" y="18234"/>
                  <a:pt x="11471" y="18234"/>
                  <a:pt x="12639" y="17698"/>
                </a:cubicBezTo>
                <a:lnTo>
                  <a:pt x="19571" y="14517"/>
                </a:lnTo>
                <a:lnTo>
                  <a:pt x="21009" y="15179"/>
                </a:lnTo>
                <a:cubicBezTo>
                  <a:pt x="21368" y="15342"/>
                  <a:pt x="21596" y="15698"/>
                  <a:pt x="21596" y="16092"/>
                </a:cubicBezTo>
                <a:cubicBezTo>
                  <a:pt x="21596" y="16486"/>
                  <a:pt x="21368" y="16843"/>
                  <a:pt x="21009" y="17006"/>
                </a:cubicBezTo>
                <a:lnTo>
                  <a:pt x="11787" y="21239"/>
                </a:lnTo>
                <a:cubicBezTo>
                  <a:pt x="11159" y="21528"/>
                  <a:pt x="10433" y="21528"/>
                  <a:pt x="9804" y="21239"/>
                </a:cubicBezTo>
                <a:lnTo>
                  <a:pt x="586" y="17006"/>
                </a:lnTo>
                <a:cubicBezTo>
                  <a:pt x="228" y="16838"/>
                  <a:pt x="0" y="16482"/>
                  <a:pt x="0" y="16092"/>
                </a:cubicBezTo>
                <a:cubicBezTo>
                  <a:pt x="0" y="15703"/>
                  <a:pt x="228" y="15342"/>
                  <a:pt x="586" y="15179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8" name="Text 31"/>
          <p:cNvSpPr txBox="1"/>
          <p:nvPr/>
        </p:nvSpPr>
        <p:spPr>
          <a:xfrm>
            <a:off x="689118" y="4207964"/>
            <a:ext cx="1108869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参数统计</a:t>
            </a:r>
          </a:p>
        </p:txBody>
      </p:sp>
      <p:sp>
        <p:nvSpPr>
          <p:cNvPr id="769" name="Shape 32"/>
          <p:cNvSpPr/>
          <p:nvPr/>
        </p:nvSpPr>
        <p:spPr>
          <a:xfrm>
            <a:off x="490681" y="4553970"/>
            <a:ext cx="2706690" cy="12223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7" y="0"/>
                </a:moveTo>
                <a:lnTo>
                  <a:pt x="21093" y="0"/>
                </a:lnTo>
                <a:cubicBezTo>
                  <a:pt x="21373" y="0"/>
                  <a:pt x="21600" y="502"/>
                  <a:pt x="21600" y="1122"/>
                </a:cubicBezTo>
                <a:lnTo>
                  <a:pt x="21600" y="20478"/>
                </a:lnTo>
                <a:cubicBezTo>
                  <a:pt x="21600" y="21098"/>
                  <a:pt x="21373" y="21600"/>
                  <a:pt x="21093" y="21600"/>
                </a:cubicBezTo>
                <a:lnTo>
                  <a:pt x="507" y="21600"/>
                </a:lnTo>
                <a:cubicBezTo>
                  <a:pt x="227" y="21600"/>
                  <a:pt x="0" y="21098"/>
                  <a:pt x="0" y="20478"/>
                </a:cubicBezTo>
                <a:lnTo>
                  <a:pt x="0" y="1122"/>
                </a:lnTo>
                <a:cubicBezTo>
                  <a:pt x="0" y="503"/>
                  <a:pt x="227" y="0"/>
                  <a:pt x="507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70" name="Shape 33"/>
          <p:cNvSpPr/>
          <p:nvPr/>
        </p:nvSpPr>
        <p:spPr>
          <a:xfrm>
            <a:off x="1734992" y="4675791"/>
            <a:ext cx="223104" cy="248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72" fill="norm" stroke="1" extrusionOk="0">
                <a:moveTo>
                  <a:pt x="9357" y="342"/>
                </a:moveTo>
                <a:cubicBezTo>
                  <a:pt x="10248" y="-114"/>
                  <a:pt x="11347" y="-114"/>
                  <a:pt x="12239" y="342"/>
                </a:cubicBezTo>
                <a:lnTo>
                  <a:pt x="20159" y="4404"/>
                </a:lnTo>
                <a:cubicBezTo>
                  <a:pt x="21051" y="4860"/>
                  <a:pt x="21600" y="5708"/>
                  <a:pt x="21600" y="6621"/>
                </a:cubicBezTo>
                <a:lnTo>
                  <a:pt x="21600" y="14743"/>
                </a:lnTo>
                <a:cubicBezTo>
                  <a:pt x="21600" y="15660"/>
                  <a:pt x="21051" y="16504"/>
                  <a:pt x="20159" y="16960"/>
                </a:cubicBezTo>
                <a:lnTo>
                  <a:pt x="12239" y="21030"/>
                </a:lnTo>
                <a:cubicBezTo>
                  <a:pt x="11347" y="21486"/>
                  <a:pt x="10248" y="21486"/>
                  <a:pt x="9357" y="21030"/>
                </a:cubicBezTo>
                <a:lnTo>
                  <a:pt x="1441" y="16968"/>
                </a:lnTo>
                <a:cubicBezTo>
                  <a:pt x="549" y="16512"/>
                  <a:pt x="0" y="15664"/>
                  <a:pt x="0" y="14751"/>
                </a:cubicBezTo>
                <a:lnTo>
                  <a:pt x="0" y="6629"/>
                </a:lnTo>
                <a:cubicBezTo>
                  <a:pt x="0" y="5712"/>
                  <a:pt x="549" y="4868"/>
                  <a:pt x="1441" y="4412"/>
                </a:cubicBezTo>
                <a:lnTo>
                  <a:pt x="9357" y="342"/>
                </a:lnTo>
                <a:close/>
                <a:moveTo>
                  <a:pt x="18714" y="14748"/>
                </a:moveTo>
                <a:lnTo>
                  <a:pt x="18714" y="8101"/>
                </a:lnTo>
                <a:lnTo>
                  <a:pt x="12239" y="11422"/>
                </a:lnTo>
                <a:lnTo>
                  <a:pt x="12239" y="18069"/>
                </a:lnTo>
                <a:lnTo>
                  <a:pt x="18714" y="14748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71" name="Text 34"/>
          <p:cNvSpPr txBox="1"/>
          <p:nvPr/>
        </p:nvSpPr>
        <p:spPr>
          <a:xfrm>
            <a:off x="585886" y="4988883"/>
            <a:ext cx="251619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基座参数</a:t>
            </a:r>
          </a:p>
        </p:txBody>
      </p:sp>
      <p:sp>
        <p:nvSpPr>
          <p:cNvPr id="772" name="Text 35"/>
          <p:cNvSpPr txBox="1"/>
          <p:nvPr/>
        </p:nvSpPr>
        <p:spPr>
          <a:xfrm>
            <a:off x="558104" y="5207934"/>
            <a:ext cx="257175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~9B</a:t>
            </a:r>
          </a:p>
        </p:txBody>
      </p:sp>
      <p:sp>
        <p:nvSpPr>
          <p:cNvPr id="773" name="Text 36"/>
          <p:cNvSpPr txBox="1"/>
          <p:nvPr/>
        </p:nvSpPr>
        <p:spPr>
          <a:xfrm>
            <a:off x="589854" y="5499987"/>
            <a:ext cx="250825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冻结</a:t>
            </a:r>
          </a:p>
        </p:txBody>
      </p:sp>
      <p:sp>
        <p:nvSpPr>
          <p:cNvPr id="774" name="Shape 37"/>
          <p:cNvSpPr/>
          <p:nvPr/>
        </p:nvSpPr>
        <p:spPr>
          <a:xfrm>
            <a:off x="3325067" y="4553970"/>
            <a:ext cx="2706690" cy="12223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7" y="0"/>
                </a:moveTo>
                <a:lnTo>
                  <a:pt x="21093" y="0"/>
                </a:lnTo>
                <a:cubicBezTo>
                  <a:pt x="21373" y="0"/>
                  <a:pt x="21600" y="502"/>
                  <a:pt x="21600" y="1122"/>
                </a:cubicBezTo>
                <a:lnTo>
                  <a:pt x="21600" y="20478"/>
                </a:lnTo>
                <a:cubicBezTo>
                  <a:pt x="21600" y="21098"/>
                  <a:pt x="21373" y="21600"/>
                  <a:pt x="21093" y="21600"/>
                </a:cubicBezTo>
                <a:lnTo>
                  <a:pt x="507" y="21600"/>
                </a:lnTo>
                <a:cubicBezTo>
                  <a:pt x="227" y="21600"/>
                  <a:pt x="0" y="21098"/>
                  <a:pt x="0" y="20478"/>
                </a:cubicBezTo>
                <a:lnTo>
                  <a:pt x="0" y="1122"/>
                </a:lnTo>
                <a:cubicBezTo>
                  <a:pt x="0" y="503"/>
                  <a:pt x="227" y="0"/>
                  <a:pt x="507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75" name="Shape 38"/>
          <p:cNvSpPr/>
          <p:nvPr/>
        </p:nvSpPr>
        <p:spPr>
          <a:xfrm>
            <a:off x="4561706" y="4683384"/>
            <a:ext cx="235672" cy="2356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69" h="21369" fill="norm" stroke="1" extrusionOk="0">
                <a:moveTo>
                  <a:pt x="19888" y="693"/>
                </a:moveTo>
                <a:cubicBezTo>
                  <a:pt x="18964" y="-231"/>
                  <a:pt x="17471" y="-231"/>
                  <a:pt x="16548" y="693"/>
                </a:cubicBezTo>
                <a:lnTo>
                  <a:pt x="15519" y="1722"/>
                </a:lnTo>
                <a:lnTo>
                  <a:pt x="19647" y="5850"/>
                </a:lnTo>
                <a:lnTo>
                  <a:pt x="20676" y="4821"/>
                </a:lnTo>
                <a:cubicBezTo>
                  <a:pt x="21600" y="3898"/>
                  <a:pt x="21600" y="2405"/>
                  <a:pt x="20676" y="1481"/>
                </a:cubicBezTo>
                <a:lnTo>
                  <a:pt x="19888" y="693"/>
                </a:lnTo>
                <a:close/>
                <a:moveTo>
                  <a:pt x="7270" y="9970"/>
                </a:moveTo>
                <a:cubicBezTo>
                  <a:pt x="7013" y="10227"/>
                  <a:pt x="6815" y="10544"/>
                  <a:pt x="6701" y="10894"/>
                </a:cubicBezTo>
                <a:lnTo>
                  <a:pt x="5453" y="14639"/>
                </a:lnTo>
                <a:cubicBezTo>
                  <a:pt x="5330" y="15001"/>
                  <a:pt x="5427" y="15402"/>
                  <a:pt x="5697" y="15676"/>
                </a:cubicBezTo>
                <a:cubicBezTo>
                  <a:pt x="5967" y="15950"/>
                  <a:pt x="6368" y="16043"/>
                  <a:pt x="6735" y="15921"/>
                </a:cubicBezTo>
                <a:lnTo>
                  <a:pt x="10479" y="14672"/>
                </a:lnTo>
                <a:cubicBezTo>
                  <a:pt x="10825" y="14558"/>
                  <a:pt x="11142" y="14360"/>
                  <a:pt x="11403" y="14103"/>
                </a:cubicBezTo>
                <a:lnTo>
                  <a:pt x="18218" y="7280"/>
                </a:lnTo>
                <a:lnTo>
                  <a:pt x="14089" y="3151"/>
                </a:lnTo>
                <a:lnTo>
                  <a:pt x="7270" y="9970"/>
                </a:lnTo>
                <a:close/>
                <a:moveTo>
                  <a:pt x="4048" y="2476"/>
                </a:moveTo>
                <a:cubicBezTo>
                  <a:pt x="1813" y="2476"/>
                  <a:pt x="0" y="4290"/>
                  <a:pt x="0" y="6525"/>
                </a:cubicBezTo>
                <a:lnTo>
                  <a:pt x="0" y="17321"/>
                </a:lnTo>
                <a:cubicBezTo>
                  <a:pt x="0" y="19556"/>
                  <a:pt x="1813" y="21369"/>
                  <a:pt x="4048" y="21369"/>
                </a:cubicBezTo>
                <a:lnTo>
                  <a:pt x="14844" y="21369"/>
                </a:lnTo>
                <a:cubicBezTo>
                  <a:pt x="17079" y="21369"/>
                  <a:pt x="18893" y="19556"/>
                  <a:pt x="18893" y="17321"/>
                </a:cubicBezTo>
                <a:lnTo>
                  <a:pt x="18893" y="13272"/>
                </a:lnTo>
                <a:cubicBezTo>
                  <a:pt x="18893" y="12526"/>
                  <a:pt x="18290" y="11923"/>
                  <a:pt x="17543" y="11923"/>
                </a:cubicBezTo>
                <a:cubicBezTo>
                  <a:pt x="16797" y="11923"/>
                  <a:pt x="16194" y="12526"/>
                  <a:pt x="16194" y="13272"/>
                </a:cubicBezTo>
                <a:lnTo>
                  <a:pt x="16194" y="17321"/>
                </a:lnTo>
                <a:cubicBezTo>
                  <a:pt x="16194" y="18067"/>
                  <a:pt x="15591" y="18670"/>
                  <a:pt x="14844" y="18670"/>
                </a:cubicBezTo>
                <a:lnTo>
                  <a:pt x="4048" y="18670"/>
                </a:lnTo>
                <a:cubicBezTo>
                  <a:pt x="3302" y="18670"/>
                  <a:pt x="2699" y="18067"/>
                  <a:pt x="2699" y="17321"/>
                </a:cubicBezTo>
                <a:lnTo>
                  <a:pt x="2699" y="6525"/>
                </a:lnTo>
                <a:cubicBezTo>
                  <a:pt x="2699" y="5778"/>
                  <a:pt x="3302" y="5175"/>
                  <a:pt x="4048" y="5175"/>
                </a:cubicBezTo>
                <a:lnTo>
                  <a:pt x="8097" y="5175"/>
                </a:lnTo>
                <a:cubicBezTo>
                  <a:pt x="8843" y="5175"/>
                  <a:pt x="9446" y="4572"/>
                  <a:pt x="9446" y="3826"/>
                </a:cubicBezTo>
                <a:cubicBezTo>
                  <a:pt x="9446" y="3079"/>
                  <a:pt x="8843" y="2476"/>
                  <a:pt x="8097" y="2476"/>
                </a:cubicBezTo>
                <a:lnTo>
                  <a:pt x="4048" y="2476"/>
                </a:ln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76" name="Text 39"/>
          <p:cNvSpPr txBox="1"/>
          <p:nvPr/>
        </p:nvSpPr>
        <p:spPr>
          <a:xfrm>
            <a:off x="3420273" y="4988883"/>
            <a:ext cx="251618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LoRA参数</a:t>
            </a:r>
          </a:p>
        </p:txBody>
      </p:sp>
      <p:sp>
        <p:nvSpPr>
          <p:cNvPr id="777" name="Text 40"/>
          <p:cNvSpPr txBox="1"/>
          <p:nvPr/>
        </p:nvSpPr>
        <p:spPr>
          <a:xfrm>
            <a:off x="3392492" y="5207934"/>
            <a:ext cx="257175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~50M</a:t>
            </a:r>
          </a:p>
        </p:txBody>
      </p:sp>
      <p:sp>
        <p:nvSpPr>
          <p:cNvPr id="778" name="Text 41"/>
          <p:cNvSpPr txBox="1"/>
          <p:nvPr/>
        </p:nvSpPr>
        <p:spPr>
          <a:xfrm>
            <a:off x="3424242" y="5499987"/>
            <a:ext cx="250825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可训练</a:t>
            </a:r>
          </a:p>
        </p:txBody>
      </p:sp>
      <p:sp>
        <p:nvSpPr>
          <p:cNvPr id="779" name="Shape 42"/>
          <p:cNvSpPr/>
          <p:nvPr/>
        </p:nvSpPr>
        <p:spPr>
          <a:xfrm>
            <a:off x="6159453" y="4553970"/>
            <a:ext cx="2706689" cy="12223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7" y="0"/>
                </a:moveTo>
                <a:lnTo>
                  <a:pt x="21093" y="0"/>
                </a:lnTo>
                <a:cubicBezTo>
                  <a:pt x="21373" y="0"/>
                  <a:pt x="21600" y="502"/>
                  <a:pt x="21600" y="1122"/>
                </a:cubicBezTo>
                <a:lnTo>
                  <a:pt x="21600" y="20478"/>
                </a:lnTo>
                <a:cubicBezTo>
                  <a:pt x="21600" y="21098"/>
                  <a:pt x="21373" y="21600"/>
                  <a:pt x="21093" y="21600"/>
                </a:cubicBezTo>
                <a:lnTo>
                  <a:pt x="507" y="21600"/>
                </a:lnTo>
                <a:cubicBezTo>
                  <a:pt x="227" y="21600"/>
                  <a:pt x="0" y="21098"/>
                  <a:pt x="0" y="20478"/>
                </a:cubicBezTo>
                <a:lnTo>
                  <a:pt x="0" y="1122"/>
                </a:lnTo>
                <a:cubicBezTo>
                  <a:pt x="0" y="503"/>
                  <a:pt x="227" y="0"/>
                  <a:pt x="507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80" name="Shape 43"/>
          <p:cNvSpPr/>
          <p:nvPr/>
        </p:nvSpPr>
        <p:spPr>
          <a:xfrm>
            <a:off x="7410939" y="4695779"/>
            <a:ext cx="208395" cy="2083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04" h="21304" fill="norm" stroke="1" extrusionOk="0">
                <a:moveTo>
                  <a:pt x="9132" y="4567"/>
                </a:moveTo>
                <a:cubicBezTo>
                  <a:pt x="9132" y="2048"/>
                  <a:pt x="7087" y="3"/>
                  <a:pt x="4567" y="3"/>
                </a:cubicBezTo>
                <a:cubicBezTo>
                  <a:pt x="2048" y="3"/>
                  <a:pt x="3" y="2048"/>
                  <a:pt x="3" y="4567"/>
                </a:cubicBezTo>
                <a:cubicBezTo>
                  <a:pt x="3" y="7087"/>
                  <a:pt x="2048" y="9132"/>
                  <a:pt x="4567" y="9132"/>
                </a:cubicBezTo>
                <a:cubicBezTo>
                  <a:pt x="7087" y="9132"/>
                  <a:pt x="9132" y="7087"/>
                  <a:pt x="9132" y="4567"/>
                </a:cubicBezTo>
                <a:close/>
                <a:moveTo>
                  <a:pt x="21304" y="16739"/>
                </a:moveTo>
                <a:cubicBezTo>
                  <a:pt x="21304" y="14220"/>
                  <a:pt x="19258" y="12175"/>
                  <a:pt x="16739" y="12175"/>
                </a:cubicBezTo>
                <a:cubicBezTo>
                  <a:pt x="14220" y="12175"/>
                  <a:pt x="12175" y="14220"/>
                  <a:pt x="12175" y="16739"/>
                </a:cubicBezTo>
                <a:cubicBezTo>
                  <a:pt x="12175" y="19258"/>
                  <a:pt x="14220" y="21304"/>
                  <a:pt x="16739" y="21304"/>
                </a:cubicBezTo>
                <a:cubicBezTo>
                  <a:pt x="19258" y="21304"/>
                  <a:pt x="21304" y="19258"/>
                  <a:pt x="21304" y="16739"/>
                </a:cubicBezTo>
                <a:close/>
                <a:moveTo>
                  <a:pt x="20857" y="2599"/>
                </a:moveTo>
                <a:cubicBezTo>
                  <a:pt x="21451" y="2005"/>
                  <a:pt x="21451" y="1040"/>
                  <a:pt x="20857" y="445"/>
                </a:cubicBezTo>
                <a:cubicBezTo>
                  <a:pt x="20262" y="-149"/>
                  <a:pt x="19297" y="-149"/>
                  <a:pt x="18703" y="445"/>
                </a:cubicBezTo>
                <a:lnTo>
                  <a:pt x="445" y="18703"/>
                </a:lnTo>
                <a:cubicBezTo>
                  <a:pt x="-149" y="19297"/>
                  <a:pt x="-149" y="20262"/>
                  <a:pt x="445" y="20857"/>
                </a:cubicBezTo>
                <a:cubicBezTo>
                  <a:pt x="1040" y="21451"/>
                  <a:pt x="2005" y="21451"/>
                  <a:pt x="2599" y="20857"/>
                </a:cubicBezTo>
                <a:lnTo>
                  <a:pt x="20857" y="2599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81" name="Text 44"/>
          <p:cNvSpPr txBox="1"/>
          <p:nvPr/>
        </p:nvSpPr>
        <p:spPr>
          <a:xfrm>
            <a:off x="6254658" y="4988883"/>
            <a:ext cx="251619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训练比例</a:t>
            </a:r>
          </a:p>
        </p:txBody>
      </p:sp>
      <p:sp>
        <p:nvSpPr>
          <p:cNvPr id="782" name="Text 45"/>
          <p:cNvSpPr txBox="1"/>
          <p:nvPr/>
        </p:nvSpPr>
        <p:spPr>
          <a:xfrm>
            <a:off x="6226878" y="5207934"/>
            <a:ext cx="257175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0.5%</a:t>
            </a:r>
          </a:p>
        </p:txBody>
      </p:sp>
      <p:sp>
        <p:nvSpPr>
          <p:cNvPr id="783" name="Text 46"/>
          <p:cNvSpPr txBox="1"/>
          <p:nvPr/>
        </p:nvSpPr>
        <p:spPr>
          <a:xfrm>
            <a:off x="6258628" y="5499987"/>
            <a:ext cx="250825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参数占比</a:t>
            </a:r>
          </a:p>
        </p:txBody>
      </p:sp>
      <p:sp>
        <p:nvSpPr>
          <p:cNvPr id="784" name="Shape 47"/>
          <p:cNvSpPr/>
          <p:nvPr/>
        </p:nvSpPr>
        <p:spPr>
          <a:xfrm>
            <a:off x="8993841" y="4553970"/>
            <a:ext cx="2706689" cy="12223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7" y="0"/>
                </a:moveTo>
                <a:lnTo>
                  <a:pt x="21093" y="0"/>
                </a:lnTo>
                <a:cubicBezTo>
                  <a:pt x="21373" y="0"/>
                  <a:pt x="21600" y="502"/>
                  <a:pt x="21600" y="1122"/>
                </a:cubicBezTo>
                <a:lnTo>
                  <a:pt x="21600" y="20478"/>
                </a:lnTo>
                <a:cubicBezTo>
                  <a:pt x="21600" y="21098"/>
                  <a:pt x="21373" y="21600"/>
                  <a:pt x="21093" y="21600"/>
                </a:cubicBezTo>
                <a:lnTo>
                  <a:pt x="507" y="21600"/>
                </a:lnTo>
                <a:cubicBezTo>
                  <a:pt x="227" y="21600"/>
                  <a:pt x="0" y="21098"/>
                  <a:pt x="0" y="20478"/>
                </a:cubicBezTo>
                <a:lnTo>
                  <a:pt x="0" y="1122"/>
                </a:lnTo>
                <a:cubicBezTo>
                  <a:pt x="0" y="503"/>
                  <a:pt x="227" y="0"/>
                  <a:pt x="507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85" name="Shape 48"/>
          <p:cNvSpPr/>
          <p:nvPr/>
        </p:nvSpPr>
        <p:spPr>
          <a:xfrm>
            <a:off x="10230478" y="4710696"/>
            <a:ext cx="238126" cy="1785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700" y="0"/>
                </a:moveTo>
                <a:cubicBezTo>
                  <a:pt x="1211" y="0"/>
                  <a:pt x="0" y="1614"/>
                  <a:pt x="0" y="3600"/>
                </a:cubicBezTo>
                <a:lnTo>
                  <a:pt x="0" y="4016"/>
                </a:lnTo>
                <a:cubicBezTo>
                  <a:pt x="0" y="4399"/>
                  <a:pt x="186" y="4725"/>
                  <a:pt x="426" y="4933"/>
                </a:cubicBezTo>
                <a:cubicBezTo>
                  <a:pt x="983" y="5417"/>
                  <a:pt x="1350" y="6249"/>
                  <a:pt x="1350" y="7200"/>
                </a:cubicBezTo>
                <a:cubicBezTo>
                  <a:pt x="1350" y="8151"/>
                  <a:pt x="983" y="8983"/>
                  <a:pt x="426" y="9467"/>
                </a:cubicBezTo>
                <a:cubicBezTo>
                  <a:pt x="186" y="9675"/>
                  <a:pt x="0" y="10001"/>
                  <a:pt x="0" y="10384"/>
                </a:cubicBezTo>
                <a:lnTo>
                  <a:pt x="0" y="13500"/>
                </a:lnTo>
                <a:lnTo>
                  <a:pt x="21600" y="13500"/>
                </a:lnTo>
                <a:lnTo>
                  <a:pt x="21600" y="10384"/>
                </a:lnTo>
                <a:cubicBezTo>
                  <a:pt x="21600" y="10001"/>
                  <a:pt x="21414" y="9675"/>
                  <a:pt x="21174" y="9467"/>
                </a:cubicBezTo>
                <a:cubicBezTo>
                  <a:pt x="20617" y="8983"/>
                  <a:pt x="20250" y="8151"/>
                  <a:pt x="20250" y="7200"/>
                </a:cubicBezTo>
                <a:cubicBezTo>
                  <a:pt x="20250" y="6249"/>
                  <a:pt x="20617" y="5417"/>
                  <a:pt x="21174" y="4933"/>
                </a:cubicBezTo>
                <a:cubicBezTo>
                  <a:pt x="21414" y="4725"/>
                  <a:pt x="21600" y="4399"/>
                  <a:pt x="21600" y="4016"/>
                </a:cubicBezTo>
                <a:lnTo>
                  <a:pt x="21600" y="3600"/>
                </a:lnTo>
                <a:cubicBezTo>
                  <a:pt x="21600" y="1614"/>
                  <a:pt x="20389" y="0"/>
                  <a:pt x="18900" y="0"/>
                </a:cubicBezTo>
                <a:lnTo>
                  <a:pt x="2700" y="0"/>
                </a:lnTo>
                <a:close/>
                <a:moveTo>
                  <a:pt x="21600" y="19800"/>
                </a:moveTo>
                <a:lnTo>
                  <a:pt x="21600" y="16200"/>
                </a:lnTo>
                <a:lnTo>
                  <a:pt x="0" y="16200"/>
                </a:lnTo>
                <a:lnTo>
                  <a:pt x="0" y="19800"/>
                </a:lnTo>
                <a:cubicBezTo>
                  <a:pt x="0" y="20796"/>
                  <a:pt x="603" y="21600"/>
                  <a:pt x="1350" y="21600"/>
                </a:cubicBezTo>
                <a:lnTo>
                  <a:pt x="4050" y="21600"/>
                </a:lnTo>
                <a:lnTo>
                  <a:pt x="4050" y="20250"/>
                </a:lnTo>
                <a:cubicBezTo>
                  <a:pt x="4050" y="19502"/>
                  <a:pt x="4501" y="18900"/>
                  <a:pt x="5063" y="18900"/>
                </a:cubicBezTo>
                <a:cubicBezTo>
                  <a:pt x="5624" y="18900"/>
                  <a:pt x="6075" y="19502"/>
                  <a:pt x="6075" y="20250"/>
                </a:cubicBezTo>
                <a:lnTo>
                  <a:pt x="6075" y="21600"/>
                </a:lnTo>
                <a:lnTo>
                  <a:pt x="9787" y="21600"/>
                </a:lnTo>
                <a:lnTo>
                  <a:pt x="9787" y="20250"/>
                </a:lnTo>
                <a:cubicBezTo>
                  <a:pt x="9787" y="19502"/>
                  <a:pt x="10239" y="18900"/>
                  <a:pt x="10800" y="18900"/>
                </a:cubicBezTo>
                <a:cubicBezTo>
                  <a:pt x="11361" y="18900"/>
                  <a:pt x="11813" y="19502"/>
                  <a:pt x="11813" y="20250"/>
                </a:cubicBezTo>
                <a:lnTo>
                  <a:pt x="11813" y="21600"/>
                </a:lnTo>
                <a:lnTo>
                  <a:pt x="15525" y="21600"/>
                </a:lnTo>
                <a:lnTo>
                  <a:pt x="15525" y="20250"/>
                </a:lnTo>
                <a:cubicBezTo>
                  <a:pt x="15525" y="19502"/>
                  <a:pt x="15976" y="18900"/>
                  <a:pt x="16537" y="18900"/>
                </a:cubicBezTo>
                <a:cubicBezTo>
                  <a:pt x="17099" y="18900"/>
                  <a:pt x="17550" y="19502"/>
                  <a:pt x="17550" y="20250"/>
                </a:cubicBezTo>
                <a:lnTo>
                  <a:pt x="17550" y="21600"/>
                </a:lnTo>
                <a:lnTo>
                  <a:pt x="20250" y="21600"/>
                </a:lnTo>
                <a:cubicBezTo>
                  <a:pt x="20997" y="21600"/>
                  <a:pt x="21600" y="20796"/>
                  <a:pt x="21600" y="19800"/>
                </a:cubicBezTo>
                <a:close/>
                <a:moveTo>
                  <a:pt x="6750" y="5400"/>
                </a:moveTo>
                <a:lnTo>
                  <a:pt x="6750" y="9000"/>
                </a:lnTo>
                <a:cubicBezTo>
                  <a:pt x="6750" y="9996"/>
                  <a:pt x="6147" y="10800"/>
                  <a:pt x="5400" y="10800"/>
                </a:cubicBezTo>
                <a:cubicBezTo>
                  <a:pt x="4653" y="10800"/>
                  <a:pt x="4050" y="9996"/>
                  <a:pt x="4050" y="9000"/>
                </a:cubicBezTo>
                <a:lnTo>
                  <a:pt x="4050" y="5400"/>
                </a:lnTo>
                <a:cubicBezTo>
                  <a:pt x="4050" y="4404"/>
                  <a:pt x="4653" y="3600"/>
                  <a:pt x="5400" y="3600"/>
                </a:cubicBezTo>
                <a:cubicBezTo>
                  <a:pt x="6147" y="3600"/>
                  <a:pt x="6750" y="4404"/>
                  <a:pt x="6750" y="5400"/>
                </a:cubicBezTo>
                <a:close/>
                <a:moveTo>
                  <a:pt x="12150" y="5400"/>
                </a:moveTo>
                <a:lnTo>
                  <a:pt x="12150" y="9000"/>
                </a:lnTo>
                <a:cubicBezTo>
                  <a:pt x="12150" y="9996"/>
                  <a:pt x="11547" y="10800"/>
                  <a:pt x="10800" y="10800"/>
                </a:cubicBezTo>
                <a:cubicBezTo>
                  <a:pt x="10053" y="10800"/>
                  <a:pt x="9450" y="9996"/>
                  <a:pt x="9450" y="9000"/>
                </a:cubicBezTo>
                <a:lnTo>
                  <a:pt x="9450" y="5400"/>
                </a:lnTo>
                <a:cubicBezTo>
                  <a:pt x="9450" y="4404"/>
                  <a:pt x="10053" y="3600"/>
                  <a:pt x="10800" y="3600"/>
                </a:cubicBezTo>
                <a:cubicBezTo>
                  <a:pt x="11547" y="3600"/>
                  <a:pt x="12150" y="4404"/>
                  <a:pt x="12150" y="5400"/>
                </a:cubicBezTo>
                <a:close/>
                <a:moveTo>
                  <a:pt x="17550" y="5400"/>
                </a:moveTo>
                <a:lnTo>
                  <a:pt x="17550" y="9000"/>
                </a:lnTo>
                <a:cubicBezTo>
                  <a:pt x="17550" y="9996"/>
                  <a:pt x="16947" y="10800"/>
                  <a:pt x="16200" y="10800"/>
                </a:cubicBezTo>
                <a:cubicBezTo>
                  <a:pt x="15453" y="10800"/>
                  <a:pt x="14850" y="9996"/>
                  <a:pt x="14850" y="9000"/>
                </a:cubicBezTo>
                <a:lnTo>
                  <a:pt x="14850" y="5400"/>
                </a:lnTo>
                <a:cubicBezTo>
                  <a:pt x="14850" y="4404"/>
                  <a:pt x="15453" y="3600"/>
                  <a:pt x="16200" y="3600"/>
                </a:cubicBezTo>
                <a:cubicBezTo>
                  <a:pt x="16947" y="3600"/>
                  <a:pt x="17550" y="4404"/>
                  <a:pt x="17550" y="540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86" name="Text 49"/>
          <p:cNvSpPr txBox="1"/>
          <p:nvPr/>
        </p:nvSpPr>
        <p:spPr>
          <a:xfrm>
            <a:off x="9089045" y="4988883"/>
            <a:ext cx="251619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GPU内存</a:t>
            </a:r>
          </a:p>
        </p:txBody>
      </p:sp>
      <p:sp>
        <p:nvSpPr>
          <p:cNvPr id="787" name="Text 50"/>
          <p:cNvSpPr txBox="1"/>
          <p:nvPr/>
        </p:nvSpPr>
        <p:spPr>
          <a:xfrm>
            <a:off x="9061264" y="5207934"/>
            <a:ext cx="257175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~6GB</a:t>
            </a:r>
          </a:p>
        </p:txBody>
      </p:sp>
      <p:sp>
        <p:nvSpPr>
          <p:cNvPr id="788" name="Text 51"/>
          <p:cNvSpPr txBox="1"/>
          <p:nvPr/>
        </p:nvSpPr>
        <p:spPr>
          <a:xfrm>
            <a:off x="9093014" y="5499987"/>
            <a:ext cx="250825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4-bit量化后</a:t>
            </a:r>
          </a:p>
        </p:txBody>
      </p:sp>
      <p:sp>
        <p:nvSpPr>
          <p:cNvPr id="789" name="Shape 52"/>
          <p:cNvSpPr/>
          <p:nvPr/>
        </p:nvSpPr>
        <p:spPr>
          <a:xfrm>
            <a:off x="331931" y="6076248"/>
            <a:ext cx="11539684" cy="8191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" y="0"/>
                </a:moveTo>
                <a:lnTo>
                  <a:pt x="21422" y="0"/>
                </a:lnTo>
                <a:cubicBezTo>
                  <a:pt x="21520" y="0"/>
                  <a:pt x="21600" y="907"/>
                  <a:pt x="21600" y="2025"/>
                </a:cubicBezTo>
                <a:lnTo>
                  <a:pt x="21600" y="19575"/>
                </a:lnTo>
                <a:cubicBezTo>
                  <a:pt x="21600" y="20693"/>
                  <a:pt x="21520" y="21600"/>
                  <a:pt x="21422" y="21600"/>
                </a:cubicBezTo>
                <a:lnTo>
                  <a:pt x="54" y="21600"/>
                </a:lnTo>
                <a:cubicBezTo>
                  <a:pt x="24" y="21600"/>
                  <a:pt x="0" y="21325"/>
                  <a:pt x="0" y="20986"/>
                </a:cubicBezTo>
                <a:lnTo>
                  <a:pt x="0" y="614"/>
                </a:lnTo>
                <a:cubicBezTo>
                  <a:pt x="0" y="275"/>
                  <a:pt x="24" y="0"/>
                  <a:pt x="54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90" name="Shape 53"/>
          <p:cNvSpPr/>
          <p:nvPr/>
        </p:nvSpPr>
        <p:spPr>
          <a:xfrm>
            <a:off x="331931" y="6076248"/>
            <a:ext cx="28865" cy="8191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325"/>
                  <a:pt x="0" y="20986"/>
                </a:cubicBezTo>
                <a:lnTo>
                  <a:pt x="0" y="614"/>
                </a:lnTo>
                <a:cubicBezTo>
                  <a:pt x="0" y="275"/>
                  <a:pt x="9671" y="0"/>
                  <a:pt x="21600" y="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91" name="Shape 54"/>
          <p:cNvSpPr/>
          <p:nvPr/>
        </p:nvSpPr>
        <p:spPr>
          <a:xfrm>
            <a:off x="502089" y="6238366"/>
            <a:ext cx="125022" cy="1518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44" h="21405" fill="norm" stroke="1" extrusionOk="0">
                <a:moveTo>
                  <a:pt x="16141" y="240"/>
                </a:moveTo>
                <a:cubicBezTo>
                  <a:pt x="16708" y="579"/>
                  <a:pt x="16918" y="1192"/>
                  <a:pt x="16660" y="1728"/>
                </a:cubicBezTo>
                <a:lnTo>
                  <a:pt x="12925" y="9443"/>
                </a:lnTo>
                <a:lnTo>
                  <a:pt x="19819" y="9443"/>
                </a:lnTo>
                <a:cubicBezTo>
                  <a:pt x="20462" y="9443"/>
                  <a:pt x="21034" y="9773"/>
                  <a:pt x="21253" y="10273"/>
                </a:cubicBezTo>
                <a:cubicBezTo>
                  <a:pt x="21472" y="10773"/>
                  <a:pt x="21286" y="11331"/>
                  <a:pt x="20796" y="11670"/>
                </a:cubicBezTo>
                <a:lnTo>
                  <a:pt x="7075" y="21113"/>
                </a:lnTo>
                <a:cubicBezTo>
                  <a:pt x="6537" y="21482"/>
                  <a:pt x="5770" y="21502"/>
                  <a:pt x="5203" y="21164"/>
                </a:cubicBezTo>
                <a:cubicBezTo>
                  <a:pt x="4636" y="20825"/>
                  <a:pt x="4426" y="20212"/>
                  <a:pt x="4684" y="19676"/>
                </a:cubicBezTo>
                <a:lnTo>
                  <a:pt x="8419" y="11961"/>
                </a:lnTo>
                <a:lnTo>
                  <a:pt x="1525" y="11961"/>
                </a:lnTo>
                <a:cubicBezTo>
                  <a:pt x="882" y="11961"/>
                  <a:pt x="310" y="11631"/>
                  <a:pt x="91" y="11131"/>
                </a:cubicBezTo>
                <a:cubicBezTo>
                  <a:pt x="-128" y="10631"/>
                  <a:pt x="58" y="10073"/>
                  <a:pt x="548" y="9734"/>
                </a:cubicBezTo>
                <a:lnTo>
                  <a:pt x="14269" y="291"/>
                </a:lnTo>
                <a:cubicBezTo>
                  <a:pt x="14807" y="-78"/>
                  <a:pt x="15574" y="-98"/>
                  <a:pt x="16141" y="24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92" name="Text 55"/>
          <p:cNvSpPr txBox="1"/>
          <p:nvPr/>
        </p:nvSpPr>
        <p:spPr>
          <a:xfrm>
            <a:off x="655880" y="6212728"/>
            <a:ext cx="1116012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1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Flash Attention 2加速</a:t>
            </a:r>
          </a:p>
        </p:txBody>
      </p:sp>
      <p:sp>
        <p:nvSpPr>
          <p:cNvPr id="793" name="Text 56"/>
          <p:cNvSpPr txBox="1"/>
          <p:nvPr/>
        </p:nvSpPr>
        <p:spPr>
          <a:xfrm>
            <a:off x="441569" y="6425220"/>
            <a:ext cx="373856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注意力计算</a:t>
            </a:r>
          </a:p>
        </p:txBody>
      </p:sp>
      <p:sp>
        <p:nvSpPr>
          <p:cNvPr id="794" name="Text 57"/>
          <p:cNvSpPr txBox="1"/>
          <p:nvPr/>
        </p:nvSpPr>
        <p:spPr>
          <a:xfrm>
            <a:off x="433631" y="6606435"/>
            <a:ext cx="3754439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IO感知优化</a:t>
            </a:r>
          </a:p>
        </p:txBody>
      </p:sp>
      <p:sp>
        <p:nvSpPr>
          <p:cNvPr id="795" name="Text 58"/>
          <p:cNvSpPr txBox="1"/>
          <p:nvPr/>
        </p:nvSpPr>
        <p:spPr>
          <a:xfrm>
            <a:off x="4258468" y="6396908"/>
            <a:ext cx="373856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内存效率</a:t>
            </a:r>
          </a:p>
        </p:txBody>
      </p:sp>
      <p:sp>
        <p:nvSpPr>
          <p:cNvPr id="796" name="Text 59"/>
          <p:cNvSpPr txBox="1"/>
          <p:nvPr/>
        </p:nvSpPr>
        <p:spPr>
          <a:xfrm>
            <a:off x="4231758" y="6584249"/>
            <a:ext cx="3754439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线性复杂度</a:t>
            </a:r>
          </a:p>
        </p:txBody>
      </p:sp>
      <p:sp>
        <p:nvSpPr>
          <p:cNvPr id="797" name="Text 60"/>
          <p:cNvSpPr txBox="1"/>
          <p:nvPr/>
        </p:nvSpPr>
        <p:spPr>
          <a:xfrm>
            <a:off x="8077805" y="6396908"/>
            <a:ext cx="373856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训练速度</a:t>
            </a:r>
          </a:p>
        </p:txBody>
      </p:sp>
      <p:sp>
        <p:nvSpPr>
          <p:cNvPr id="798" name="Text 61"/>
          <p:cNvSpPr txBox="1"/>
          <p:nvPr/>
        </p:nvSpPr>
        <p:spPr>
          <a:xfrm>
            <a:off x="8037418" y="6606435"/>
            <a:ext cx="3754439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显著提升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Text 0"/>
          <p:cNvSpPr txBox="1"/>
          <p:nvPr/>
        </p:nvSpPr>
        <p:spPr>
          <a:xfrm>
            <a:off x="332886" y="356552"/>
            <a:ext cx="11592805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pc="52" sz="1000">
                <a:solidFill>
                  <a:srgbClr val="5E8B7E"/>
                </a:solidFill>
                <a:latin typeface="Liter"/>
                <a:ea typeface="Liter"/>
                <a:cs typeface="Liter"/>
                <a:sym typeface="Liter"/>
              </a:defRPr>
            </a:lvl1pPr>
          </a:lstStyle>
          <a:p>
            <a:pPr/>
            <a:r>
              <a:t>SFT TRAINING CONFIGURATION</a:t>
            </a:r>
          </a:p>
        </p:txBody>
      </p:sp>
      <p:sp>
        <p:nvSpPr>
          <p:cNvPr id="801" name="Text 1"/>
          <p:cNvSpPr txBox="1"/>
          <p:nvPr/>
        </p:nvSpPr>
        <p:spPr>
          <a:xfrm>
            <a:off x="332886" y="562400"/>
            <a:ext cx="11676027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90000"/>
              </a:lnSpc>
              <a:defRPr b="1" sz="23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SFT训练配置</a:t>
            </a:r>
          </a:p>
        </p:txBody>
      </p:sp>
      <p:sp>
        <p:nvSpPr>
          <p:cNvPr id="802" name="Shape 2"/>
          <p:cNvSpPr/>
          <p:nvPr/>
        </p:nvSpPr>
        <p:spPr>
          <a:xfrm>
            <a:off x="332886" y="1031878"/>
            <a:ext cx="798932" cy="33289"/>
          </a:xfrm>
          <a:prstGeom prst="rect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03" name="Shape 3"/>
          <p:cNvSpPr/>
          <p:nvPr/>
        </p:nvSpPr>
        <p:spPr>
          <a:xfrm>
            <a:off x="348018" y="1131710"/>
            <a:ext cx="5682541" cy="5059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5" y="0"/>
                </a:moveTo>
                <a:lnTo>
                  <a:pt x="21220" y="0"/>
                </a:lnTo>
                <a:cubicBezTo>
                  <a:pt x="21430" y="0"/>
                  <a:pt x="21600" y="191"/>
                  <a:pt x="21600" y="426"/>
                </a:cubicBezTo>
                <a:lnTo>
                  <a:pt x="21600" y="21174"/>
                </a:lnTo>
                <a:cubicBezTo>
                  <a:pt x="21600" y="21409"/>
                  <a:pt x="21430" y="21600"/>
                  <a:pt x="21220" y="21600"/>
                </a:cubicBezTo>
                <a:lnTo>
                  <a:pt x="115" y="21600"/>
                </a:lnTo>
                <a:cubicBezTo>
                  <a:pt x="52" y="21600"/>
                  <a:pt x="0" y="21542"/>
                  <a:pt x="0" y="21471"/>
                </a:cubicBezTo>
                <a:lnTo>
                  <a:pt x="0" y="129"/>
                </a:lnTo>
                <a:cubicBezTo>
                  <a:pt x="0" y="58"/>
                  <a:pt x="52" y="0"/>
                  <a:pt x="115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04" name="Shape 4"/>
          <p:cNvSpPr/>
          <p:nvPr/>
        </p:nvSpPr>
        <p:spPr>
          <a:xfrm>
            <a:off x="348018" y="1131710"/>
            <a:ext cx="30263" cy="5059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542"/>
                  <a:pt x="0" y="21471"/>
                </a:cubicBezTo>
                <a:lnTo>
                  <a:pt x="0" y="129"/>
                </a:lnTo>
                <a:cubicBezTo>
                  <a:pt x="0" y="58"/>
                  <a:pt x="9679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05" name="Shape 5"/>
          <p:cNvSpPr/>
          <p:nvPr/>
        </p:nvSpPr>
        <p:spPr>
          <a:xfrm>
            <a:off x="506668" y="1298072"/>
            <a:ext cx="187266" cy="1664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68" h="21297" fill="norm" stroke="1" extrusionOk="0">
                <a:moveTo>
                  <a:pt x="13383" y="52"/>
                </a:moveTo>
                <a:cubicBezTo>
                  <a:pt x="12752" y="-152"/>
                  <a:pt x="12095" y="260"/>
                  <a:pt x="11914" y="967"/>
                </a:cubicBezTo>
                <a:lnTo>
                  <a:pt x="7166" y="19597"/>
                </a:lnTo>
                <a:cubicBezTo>
                  <a:pt x="6984" y="20304"/>
                  <a:pt x="7351" y="21040"/>
                  <a:pt x="7982" y="21244"/>
                </a:cubicBezTo>
                <a:cubicBezTo>
                  <a:pt x="8612" y="21448"/>
                  <a:pt x="9269" y="21036"/>
                  <a:pt x="9451" y="20329"/>
                </a:cubicBezTo>
                <a:lnTo>
                  <a:pt x="14199" y="1699"/>
                </a:lnTo>
                <a:cubicBezTo>
                  <a:pt x="14381" y="992"/>
                  <a:pt x="14013" y="256"/>
                  <a:pt x="13383" y="52"/>
                </a:cubicBezTo>
                <a:close/>
                <a:moveTo>
                  <a:pt x="15779" y="5712"/>
                </a:moveTo>
                <a:cubicBezTo>
                  <a:pt x="15315" y="6232"/>
                  <a:pt x="15315" y="7076"/>
                  <a:pt x="15779" y="7596"/>
                </a:cubicBezTo>
                <a:lnTo>
                  <a:pt x="18502" y="10648"/>
                </a:lnTo>
                <a:lnTo>
                  <a:pt x="15779" y="13700"/>
                </a:lnTo>
                <a:cubicBezTo>
                  <a:pt x="15315" y="14220"/>
                  <a:pt x="15315" y="15064"/>
                  <a:pt x="15779" y="15584"/>
                </a:cubicBezTo>
                <a:cubicBezTo>
                  <a:pt x="16243" y="16104"/>
                  <a:pt x="16996" y="16104"/>
                  <a:pt x="17459" y="15584"/>
                </a:cubicBezTo>
                <a:lnTo>
                  <a:pt x="21020" y="11592"/>
                </a:lnTo>
                <a:cubicBezTo>
                  <a:pt x="21484" y="11072"/>
                  <a:pt x="21484" y="10228"/>
                  <a:pt x="21020" y="9708"/>
                </a:cubicBezTo>
                <a:lnTo>
                  <a:pt x="17459" y="5716"/>
                </a:lnTo>
                <a:cubicBezTo>
                  <a:pt x="16996" y="5196"/>
                  <a:pt x="16243" y="5196"/>
                  <a:pt x="15779" y="5716"/>
                </a:cubicBezTo>
                <a:close/>
                <a:moveTo>
                  <a:pt x="5589" y="5712"/>
                </a:moveTo>
                <a:cubicBezTo>
                  <a:pt x="5125" y="5192"/>
                  <a:pt x="4372" y="5192"/>
                  <a:pt x="3909" y="5712"/>
                </a:cubicBezTo>
                <a:lnTo>
                  <a:pt x="348" y="9704"/>
                </a:lnTo>
                <a:cubicBezTo>
                  <a:pt x="-116" y="10224"/>
                  <a:pt x="-116" y="11068"/>
                  <a:pt x="348" y="11588"/>
                </a:cubicBezTo>
                <a:lnTo>
                  <a:pt x="3909" y="15580"/>
                </a:lnTo>
                <a:cubicBezTo>
                  <a:pt x="4372" y="16100"/>
                  <a:pt x="5125" y="16100"/>
                  <a:pt x="5589" y="15580"/>
                </a:cubicBezTo>
                <a:cubicBezTo>
                  <a:pt x="6053" y="15060"/>
                  <a:pt x="6053" y="14216"/>
                  <a:pt x="5589" y="13696"/>
                </a:cubicBezTo>
                <a:lnTo>
                  <a:pt x="2866" y="10648"/>
                </a:lnTo>
                <a:lnTo>
                  <a:pt x="5585" y="7596"/>
                </a:lnTo>
                <a:cubicBezTo>
                  <a:pt x="6049" y="7076"/>
                  <a:pt x="6049" y="6232"/>
                  <a:pt x="5585" y="5712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06" name="Text 6"/>
          <p:cNvSpPr txBox="1"/>
          <p:nvPr/>
        </p:nvSpPr>
        <p:spPr>
          <a:xfrm>
            <a:off x="704311" y="1267028"/>
            <a:ext cx="527626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3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训练配置文件</a:t>
            </a:r>
          </a:p>
        </p:txBody>
      </p:sp>
      <p:sp>
        <p:nvSpPr>
          <p:cNvPr id="807" name="Shape 7"/>
          <p:cNvSpPr/>
          <p:nvPr/>
        </p:nvSpPr>
        <p:spPr>
          <a:xfrm>
            <a:off x="496257" y="1597648"/>
            <a:ext cx="5401100" cy="37782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66" y="0"/>
                </a:moveTo>
                <a:lnTo>
                  <a:pt x="21334" y="0"/>
                </a:lnTo>
                <a:cubicBezTo>
                  <a:pt x="21481" y="0"/>
                  <a:pt x="21600" y="170"/>
                  <a:pt x="21600" y="381"/>
                </a:cubicBezTo>
                <a:lnTo>
                  <a:pt x="21600" y="21219"/>
                </a:lnTo>
                <a:cubicBezTo>
                  <a:pt x="21600" y="21430"/>
                  <a:pt x="21481" y="21600"/>
                  <a:pt x="21334" y="21600"/>
                </a:cubicBezTo>
                <a:lnTo>
                  <a:pt x="266" y="21600"/>
                </a:lnTo>
                <a:cubicBezTo>
                  <a:pt x="119" y="21600"/>
                  <a:pt x="0" y="21430"/>
                  <a:pt x="0" y="21219"/>
                </a:cubicBezTo>
                <a:lnTo>
                  <a:pt x="0" y="381"/>
                </a:lnTo>
                <a:cubicBezTo>
                  <a:pt x="0" y="171"/>
                  <a:pt x="119" y="0"/>
                  <a:pt x="26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08" name="Shape 8"/>
          <p:cNvSpPr/>
          <p:nvPr/>
        </p:nvSpPr>
        <p:spPr>
          <a:xfrm>
            <a:off x="596087" y="1697473"/>
            <a:ext cx="5201367" cy="35785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8" y="0"/>
                </a:moveTo>
                <a:lnTo>
                  <a:pt x="21462" y="0"/>
                </a:lnTo>
                <a:cubicBezTo>
                  <a:pt x="21538" y="0"/>
                  <a:pt x="21600" y="90"/>
                  <a:pt x="21600" y="201"/>
                </a:cubicBezTo>
                <a:lnTo>
                  <a:pt x="21600" y="21399"/>
                </a:lnTo>
                <a:cubicBezTo>
                  <a:pt x="21600" y="21510"/>
                  <a:pt x="21538" y="21600"/>
                  <a:pt x="21462" y="21600"/>
                </a:cubicBezTo>
                <a:lnTo>
                  <a:pt x="138" y="21600"/>
                </a:lnTo>
                <a:cubicBezTo>
                  <a:pt x="62" y="21600"/>
                  <a:pt x="0" y="21510"/>
                  <a:pt x="0" y="21399"/>
                </a:cubicBezTo>
                <a:lnTo>
                  <a:pt x="0" y="201"/>
                </a:lnTo>
                <a:cubicBezTo>
                  <a:pt x="0" y="90"/>
                  <a:pt x="62" y="0"/>
                  <a:pt x="138" y="0"/>
                </a:cubicBezTo>
                <a:close/>
              </a:path>
            </a:pathLst>
          </a:custGeom>
          <a:solidFill>
            <a:srgbClr val="0D0E1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09" name="Text 9"/>
          <p:cNvSpPr txBox="1"/>
          <p:nvPr/>
        </p:nvSpPr>
        <p:spPr>
          <a:xfrm>
            <a:off x="662641" y="1779371"/>
            <a:ext cx="513479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### model</a:t>
            </a:r>
          </a:p>
        </p:txBody>
      </p:sp>
      <p:sp>
        <p:nvSpPr>
          <p:cNvPr id="810" name="Text 10"/>
          <p:cNvSpPr txBox="1"/>
          <p:nvPr/>
        </p:nvSpPr>
        <p:spPr>
          <a:xfrm>
            <a:off x="662641" y="1995699"/>
            <a:ext cx="513479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model_name_or_path: </a:t>
            </a:r>
            <a:r>
              <a:rPr>
                <a:solidFill>
                  <a:srgbClr val="E0E2E5"/>
                </a:solidFill>
              </a:rPr>
              <a:t>THUDM/GLM-4-9B-0414</a:t>
            </a:r>
          </a:p>
        </p:txBody>
      </p:sp>
      <p:sp>
        <p:nvSpPr>
          <p:cNvPr id="811" name="Text 11"/>
          <p:cNvSpPr txBox="1"/>
          <p:nvPr/>
        </p:nvSpPr>
        <p:spPr>
          <a:xfrm>
            <a:off x="662641" y="2178754"/>
            <a:ext cx="513479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quantization_bit: </a:t>
            </a:r>
            <a:r>
              <a:rPr>
                <a:solidFill>
                  <a:srgbClr val="E0E2E5"/>
                </a:solidFill>
              </a:rPr>
              <a:t>4</a:t>
            </a:r>
          </a:p>
        </p:txBody>
      </p:sp>
      <p:sp>
        <p:nvSpPr>
          <p:cNvPr id="812" name="Text 12"/>
          <p:cNvSpPr txBox="1"/>
          <p:nvPr/>
        </p:nvSpPr>
        <p:spPr>
          <a:xfrm>
            <a:off x="662641" y="2361810"/>
            <a:ext cx="513479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quantization_method: </a:t>
            </a:r>
            <a:r>
              <a:rPr>
                <a:solidFill>
                  <a:srgbClr val="E0E2E5"/>
                </a:solidFill>
              </a:rPr>
              <a:t>bnb</a:t>
            </a:r>
          </a:p>
        </p:txBody>
      </p:sp>
      <p:sp>
        <p:nvSpPr>
          <p:cNvPr id="813" name="Text 13"/>
          <p:cNvSpPr txBox="1"/>
          <p:nvPr/>
        </p:nvSpPr>
        <p:spPr>
          <a:xfrm>
            <a:off x="662641" y="2611409"/>
            <a:ext cx="513479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### method</a:t>
            </a:r>
          </a:p>
        </p:txBody>
      </p:sp>
      <p:sp>
        <p:nvSpPr>
          <p:cNvPr id="814" name="Text 14"/>
          <p:cNvSpPr txBox="1"/>
          <p:nvPr/>
        </p:nvSpPr>
        <p:spPr>
          <a:xfrm>
            <a:off x="662641" y="2827746"/>
            <a:ext cx="513479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stage: </a:t>
            </a:r>
            <a:r>
              <a:rPr>
                <a:solidFill>
                  <a:srgbClr val="E0E2E5"/>
                </a:solidFill>
              </a:rPr>
              <a:t>sft</a:t>
            </a:r>
          </a:p>
        </p:txBody>
      </p:sp>
      <p:sp>
        <p:nvSpPr>
          <p:cNvPr id="815" name="Text 15"/>
          <p:cNvSpPr txBox="1"/>
          <p:nvPr/>
        </p:nvSpPr>
        <p:spPr>
          <a:xfrm>
            <a:off x="662641" y="3010793"/>
            <a:ext cx="513479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finetuning_type: </a:t>
            </a:r>
            <a:r>
              <a:rPr>
                <a:solidFill>
                  <a:srgbClr val="E0E2E5"/>
                </a:solidFill>
              </a:rPr>
              <a:t>full</a:t>
            </a:r>
          </a:p>
        </p:txBody>
      </p:sp>
      <p:sp>
        <p:nvSpPr>
          <p:cNvPr id="816" name="Text 16"/>
          <p:cNvSpPr txBox="1"/>
          <p:nvPr/>
        </p:nvSpPr>
        <p:spPr>
          <a:xfrm>
            <a:off x="662641" y="3260402"/>
            <a:ext cx="513479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### dataset</a:t>
            </a:r>
          </a:p>
        </p:txBody>
      </p:sp>
      <p:sp>
        <p:nvSpPr>
          <p:cNvPr id="817" name="Text 17"/>
          <p:cNvSpPr txBox="1"/>
          <p:nvPr/>
        </p:nvSpPr>
        <p:spPr>
          <a:xfrm>
            <a:off x="662641" y="3476731"/>
            <a:ext cx="513479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cutoff_len: </a:t>
            </a:r>
            <a:r>
              <a:rPr>
                <a:solidFill>
                  <a:srgbClr val="E0E2E5"/>
                </a:solidFill>
              </a:rPr>
              <a:t>14000</a:t>
            </a:r>
          </a:p>
        </p:txBody>
      </p:sp>
      <p:sp>
        <p:nvSpPr>
          <p:cNvPr id="818" name="Text 18"/>
          <p:cNvSpPr txBox="1"/>
          <p:nvPr/>
        </p:nvSpPr>
        <p:spPr>
          <a:xfrm>
            <a:off x="662641" y="3659785"/>
            <a:ext cx="513479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max_samples: </a:t>
            </a:r>
            <a:r>
              <a:rPr>
                <a:solidFill>
                  <a:srgbClr val="E0E2E5"/>
                </a:solidFill>
              </a:rPr>
              <a:t>3602</a:t>
            </a:r>
          </a:p>
        </p:txBody>
      </p:sp>
      <p:sp>
        <p:nvSpPr>
          <p:cNvPr id="819" name="Text 19"/>
          <p:cNvSpPr txBox="1"/>
          <p:nvPr/>
        </p:nvSpPr>
        <p:spPr>
          <a:xfrm>
            <a:off x="662641" y="3909395"/>
            <a:ext cx="513479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### train</a:t>
            </a:r>
          </a:p>
        </p:txBody>
      </p:sp>
      <p:sp>
        <p:nvSpPr>
          <p:cNvPr id="820" name="Text 20"/>
          <p:cNvSpPr txBox="1"/>
          <p:nvPr/>
        </p:nvSpPr>
        <p:spPr>
          <a:xfrm>
            <a:off x="662641" y="4125722"/>
            <a:ext cx="513479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per_device_train_batch_size: </a:t>
            </a:r>
            <a:r>
              <a:rPr>
                <a:solidFill>
                  <a:srgbClr val="E0E2E5"/>
                </a:solidFill>
              </a:rPr>
              <a:t>1</a:t>
            </a:r>
          </a:p>
        </p:txBody>
      </p:sp>
      <p:sp>
        <p:nvSpPr>
          <p:cNvPr id="821" name="Text 21"/>
          <p:cNvSpPr txBox="1"/>
          <p:nvPr/>
        </p:nvSpPr>
        <p:spPr>
          <a:xfrm>
            <a:off x="662641" y="4308769"/>
            <a:ext cx="513479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gradient_accumulation_steps: </a:t>
            </a:r>
            <a:r>
              <a:rPr>
                <a:solidFill>
                  <a:srgbClr val="E0E2E5"/>
                </a:solidFill>
              </a:rPr>
              <a:t>8</a:t>
            </a:r>
          </a:p>
        </p:txBody>
      </p:sp>
      <p:sp>
        <p:nvSpPr>
          <p:cNvPr id="822" name="Text 22"/>
          <p:cNvSpPr txBox="1"/>
          <p:nvPr/>
        </p:nvSpPr>
        <p:spPr>
          <a:xfrm>
            <a:off x="662641" y="4491826"/>
            <a:ext cx="513479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learning_rate: </a:t>
            </a:r>
            <a:r>
              <a:rPr>
                <a:solidFill>
                  <a:srgbClr val="E0E2E5"/>
                </a:solidFill>
              </a:rPr>
              <a:t>5.0e-4</a:t>
            </a:r>
          </a:p>
        </p:txBody>
      </p:sp>
      <p:sp>
        <p:nvSpPr>
          <p:cNvPr id="823" name="Text 23"/>
          <p:cNvSpPr txBox="1"/>
          <p:nvPr/>
        </p:nvSpPr>
        <p:spPr>
          <a:xfrm>
            <a:off x="662641" y="4674880"/>
            <a:ext cx="513479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num_train_epochs: </a:t>
            </a:r>
            <a:r>
              <a:rPr>
                <a:solidFill>
                  <a:srgbClr val="E0E2E5"/>
                </a:solidFill>
              </a:rPr>
              <a:t>3</a:t>
            </a:r>
          </a:p>
        </p:txBody>
      </p:sp>
      <p:sp>
        <p:nvSpPr>
          <p:cNvPr id="824" name="Text 24"/>
          <p:cNvSpPr txBox="1"/>
          <p:nvPr/>
        </p:nvSpPr>
        <p:spPr>
          <a:xfrm>
            <a:off x="662641" y="4857929"/>
            <a:ext cx="513479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lr_scheduler_type: </a:t>
            </a:r>
            <a:r>
              <a:rPr>
                <a:solidFill>
                  <a:srgbClr val="E0E2E5"/>
                </a:solidFill>
              </a:rPr>
              <a:t>cosine</a:t>
            </a:r>
          </a:p>
        </p:txBody>
      </p:sp>
      <p:sp>
        <p:nvSpPr>
          <p:cNvPr id="825" name="Text 25"/>
          <p:cNvSpPr txBox="1"/>
          <p:nvPr/>
        </p:nvSpPr>
        <p:spPr>
          <a:xfrm>
            <a:off x="662641" y="5040984"/>
            <a:ext cx="513479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flash_attn: </a:t>
            </a:r>
            <a:r>
              <a:rPr>
                <a:solidFill>
                  <a:srgbClr val="E0E2E5"/>
                </a:solidFill>
              </a:rPr>
              <a:t>fa2</a:t>
            </a:r>
          </a:p>
        </p:txBody>
      </p:sp>
      <p:sp>
        <p:nvSpPr>
          <p:cNvPr id="826" name="Shape 26"/>
          <p:cNvSpPr/>
          <p:nvPr/>
        </p:nvSpPr>
        <p:spPr>
          <a:xfrm>
            <a:off x="6177212" y="1131710"/>
            <a:ext cx="5682540" cy="18641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5" y="0"/>
                </a:moveTo>
                <a:lnTo>
                  <a:pt x="21220" y="0"/>
                </a:lnTo>
                <a:cubicBezTo>
                  <a:pt x="21430" y="0"/>
                  <a:pt x="21600" y="518"/>
                  <a:pt x="21600" y="1157"/>
                </a:cubicBezTo>
                <a:lnTo>
                  <a:pt x="21600" y="20443"/>
                </a:lnTo>
                <a:cubicBezTo>
                  <a:pt x="21600" y="21082"/>
                  <a:pt x="21430" y="21600"/>
                  <a:pt x="21220" y="21600"/>
                </a:cubicBezTo>
                <a:lnTo>
                  <a:pt x="115" y="21600"/>
                </a:lnTo>
                <a:cubicBezTo>
                  <a:pt x="52" y="21600"/>
                  <a:pt x="0" y="21443"/>
                  <a:pt x="0" y="21249"/>
                </a:cubicBezTo>
                <a:lnTo>
                  <a:pt x="0" y="351"/>
                </a:lnTo>
                <a:cubicBezTo>
                  <a:pt x="0" y="157"/>
                  <a:pt x="52" y="0"/>
                  <a:pt x="115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27" name="Shape 27"/>
          <p:cNvSpPr/>
          <p:nvPr/>
        </p:nvSpPr>
        <p:spPr>
          <a:xfrm>
            <a:off x="6177212" y="1131710"/>
            <a:ext cx="30263" cy="18641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443"/>
                  <a:pt x="0" y="21249"/>
                </a:cubicBezTo>
                <a:lnTo>
                  <a:pt x="0" y="351"/>
                </a:lnTo>
                <a:cubicBezTo>
                  <a:pt x="0" y="157"/>
                  <a:pt x="9679" y="0"/>
                  <a:pt x="21600" y="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28" name="Shape 28"/>
          <p:cNvSpPr/>
          <p:nvPr/>
        </p:nvSpPr>
        <p:spPr>
          <a:xfrm>
            <a:off x="6356658" y="1298089"/>
            <a:ext cx="145639" cy="1664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8682"/>
                </a:moveTo>
                <a:cubicBezTo>
                  <a:pt x="20886" y="9096"/>
                  <a:pt x="20067" y="9429"/>
                  <a:pt x="19213" y="9695"/>
                </a:cubicBezTo>
                <a:cubicBezTo>
                  <a:pt x="16947" y="10403"/>
                  <a:pt x="13973" y="10800"/>
                  <a:pt x="10800" y="10800"/>
                </a:cubicBezTo>
                <a:cubicBezTo>
                  <a:pt x="7627" y="10800"/>
                  <a:pt x="4648" y="10399"/>
                  <a:pt x="2387" y="9695"/>
                </a:cubicBezTo>
                <a:cubicBezTo>
                  <a:pt x="1538" y="9429"/>
                  <a:pt x="714" y="9096"/>
                  <a:pt x="0" y="8682"/>
                </a:cubicBezTo>
                <a:lnTo>
                  <a:pt x="0" y="12150"/>
                </a:lnTo>
                <a:cubicBezTo>
                  <a:pt x="0" y="14015"/>
                  <a:pt x="4836" y="15525"/>
                  <a:pt x="10800" y="15525"/>
                </a:cubicBezTo>
                <a:cubicBezTo>
                  <a:pt x="16764" y="15525"/>
                  <a:pt x="21600" y="14015"/>
                  <a:pt x="21600" y="12150"/>
                </a:cubicBezTo>
                <a:lnTo>
                  <a:pt x="21600" y="8682"/>
                </a:lnTo>
                <a:close/>
                <a:moveTo>
                  <a:pt x="21600" y="5400"/>
                </a:moveTo>
                <a:lnTo>
                  <a:pt x="21600" y="3375"/>
                </a:lnTo>
                <a:cubicBezTo>
                  <a:pt x="21600" y="1510"/>
                  <a:pt x="16764" y="0"/>
                  <a:pt x="10800" y="0"/>
                </a:cubicBezTo>
                <a:cubicBezTo>
                  <a:pt x="4836" y="0"/>
                  <a:pt x="0" y="1510"/>
                  <a:pt x="0" y="3375"/>
                </a:cubicBezTo>
                <a:lnTo>
                  <a:pt x="0" y="5400"/>
                </a:lnTo>
                <a:cubicBezTo>
                  <a:pt x="0" y="7265"/>
                  <a:pt x="4836" y="8775"/>
                  <a:pt x="10800" y="8775"/>
                </a:cubicBezTo>
                <a:cubicBezTo>
                  <a:pt x="16764" y="8775"/>
                  <a:pt x="21600" y="7265"/>
                  <a:pt x="21600" y="5400"/>
                </a:cubicBezTo>
                <a:close/>
                <a:moveTo>
                  <a:pt x="19213" y="16445"/>
                </a:moveTo>
                <a:cubicBezTo>
                  <a:pt x="16952" y="17149"/>
                  <a:pt x="13977" y="17550"/>
                  <a:pt x="10800" y="17550"/>
                </a:cubicBezTo>
                <a:cubicBezTo>
                  <a:pt x="7623" y="17550"/>
                  <a:pt x="4648" y="17149"/>
                  <a:pt x="2387" y="16445"/>
                </a:cubicBezTo>
                <a:cubicBezTo>
                  <a:pt x="1538" y="16179"/>
                  <a:pt x="714" y="15846"/>
                  <a:pt x="0" y="15432"/>
                </a:cubicBezTo>
                <a:lnTo>
                  <a:pt x="0" y="18225"/>
                </a:lnTo>
                <a:cubicBezTo>
                  <a:pt x="0" y="20090"/>
                  <a:pt x="4836" y="21600"/>
                  <a:pt x="10800" y="21600"/>
                </a:cubicBezTo>
                <a:cubicBezTo>
                  <a:pt x="16764" y="21600"/>
                  <a:pt x="21600" y="20090"/>
                  <a:pt x="21600" y="18225"/>
                </a:cubicBezTo>
                <a:lnTo>
                  <a:pt x="21600" y="15432"/>
                </a:lnTo>
                <a:cubicBezTo>
                  <a:pt x="20886" y="15846"/>
                  <a:pt x="20067" y="16179"/>
                  <a:pt x="19213" y="16445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29" name="Text 29"/>
          <p:cNvSpPr txBox="1"/>
          <p:nvPr/>
        </p:nvSpPr>
        <p:spPr>
          <a:xfrm>
            <a:off x="6533505" y="1267028"/>
            <a:ext cx="527626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3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数据集配置</a:t>
            </a:r>
          </a:p>
        </p:txBody>
      </p:sp>
      <p:sp>
        <p:nvSpPr>
          <p:cNvPr id="830" name="Text 30"/>
          <p:cNvSpPr txBox="1"/>
          <p:nvPr/>
        </p:nvSpPr>
        <p:spPr>
          <a:xfrm>
            <a:off x="6325451" y="1608614"/>
            <a:ext cx="546767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数据集:</a:t>
            </a:r>
            <a:r>
              <a:rPr b="0">
                <a:solidFill>
                  <a:srgbClr val="7D8A96"/>
                </a:solidFill>
              </a:rPr>
              <a:t> med_train</a:t>
            </a:r>
          </a:p>
        </p:txBody>
      </p:sp>
      <p:sp>
        <p:nvSpPr>
          <p:cNvPr id="831" name="Text 31"/>
          <p:cNvSpPr txBox="1"/>
          <p:nvPr/>
        </p:nvSpPr>
        <p:spPr>
          <a:xfrm>
            <a:off x="6325451" y="1874883"/>
            <a:ext cx="546767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模板:</a:t>
            </a:r>
            <a:r>
              <a:rPr b="0">
                <a:solidFill>
                  <a:srgbClr val="7D8A96"/>
                </a:solidFill>
              </a:rPr>
              <a:t> glm4</a:t>
            </a:r>
          </a:p>
        </p:txBody>
      </p:sp>
      <p:sp>
        <p:nvSpPr>
          <p:cNvPr id="832" name="Text 32"/>
          <p:cNvSpPr txBox="1"/>
          <p:nvPr/>
        </p:nvSpPr>
        <p:spPr>
          <a:xfrm>
            <a:off x="6325451" y="2141160"/>
            <a:ext cx="546767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最大长度:</a:t>
            </a:r>
            <a:r>
              <a:rPr b="0">
                <a:solidFill>
                  <a:srgbClr val="7D8A96"/>
                </a:solidFill>
              </a:rPr>
              <a:t> 14000 tokens</a:t>
            </a:r>
          </a:p>
        </p:txBody>
      </p:sp>
      <p:sp>
        <p:nvSpPr>
          <p:cNvPr id="833" name="Text 33"/>
          <p:cNvSpPr txBox="1"/>
          <p:nvPr/>
        </p:nvSpPr>
        <p:spPr>
          <a:xfrm>
            <a:off x="6325451" y="2407429"/>
            <a:ext cx="546767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样本数:</a:t>
            </a:r>
            <a:r>
              <a:rPr b="0">
                <a:solidFill>
                  <a:srgbClr val="7D8A96"/>
                </a:solidFill>
              </a:rPr>
              <a:t> 3602</a:t>
            </a:r>
          </a:p>
        </p:txBody>
      </p:sp>
      <p:sp>
        <p:nvSpPr>
          <p:cNvPr id="834" name="Text 34"/>
          <p:cNvSpPr txBox="1"/>
          <p:nvPr/>
        </p:nvSpPr>
        <p:spPr>
          <a:xfrm>
            <a:off x="6325451" y="2673706"/>
            <a:ext cx="546767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验证集:</a:t>
            </a:r>
            <a:r>
              <a:rPr b="0">
                <a:solidFill>
                  <a:srgbClr val="7D8A96"/>
                </a:solidFill>
              </a:rPr>
              <a:t> 10% (val_size=0.1)</a:t>
            </a:r>
          </a:p>
        </p:txBody>
      </p:sp>
      <p:sp>
        <p:nvSpPr>
          <p:cNvPr id="835" name="Shape 35"/>
          <p:cNvSpPr/>
          <p:nvPr/>
        </p:nvSpPr>
        <p:spPr>
          <a:xfrm>
            <a:off x="6177212" y="3095396"/>
            <a:ext cx="5682540" cy="21304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5" y="0"/>
                </a:moveTo>
                <a:lnTo>
                  <a:pt x="21220" y="0"/>
                </a:lnTo>
                <a:cubicBezTo>
                  <a:pt x="21430" y="0"/>
                  <a:pt x="21600" y="453"/>
                  <a:pt x="21600" y="1013"/>
                </a:cubicBezTo>
                <a:lnTo>
                  <a:pt x="21600" y="20587"/>
                </a:lnTo>
                <a:cubicBezTo>
                  <a:pt x="21600" y="21147"/>
                  <a:pt x="21430" y="21600"/>
                  <a:pt x="21220" y="21600"/>
                </a:cubicBezTo>
                <a:lnTo>
                  <a:pt x="115" y="21600"/>
                </a:lnTo>
                <a:cubicBezTo>
                  <a:pt x="52" y="21600"/>
                  <a:pt x="0" y="21463"/>
                  <a:pt x="0" y="21293"/>
                </a:cubicBezTo>
                <a:lnTo>
                  <a:pt x="0" y="307"/>
                </a:lnTo>
                <a:cubicBezTo>
                  <a:pt x="0" y="137"/>
                  <a:pt x="52" y="0"/>
                  <a:pt x="115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6" name="Shape 36"/>
          <p:cNvSpPr/>
          <p:nvPr/>
        </p:nvSpPr>
        <p:spPr>
          <a:xfrm>
            <a:off x="6177212" y="3095396"/>
            <a:ext cx="30263" cy="21304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463"/>
                  <a:pt x="0" y="21293"/>
                </a:cubicBezTo>
                <a:lnTo>
                  <a:pt x="0" y="307"/>
                </a:lnTo>
                <a:cubicBezTo>
                  <a:pt x="0" y="137"/>
                  <a:pt x="9679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7" name="Shape 37"/>
          <p:cNvSpPr/>
          <p:nvPr/>
        </p:nvSpPr>
        <p:spPr>
          <a:xfrm>
            <a:off x="6346256" y="3266984"/>
            <a:ext cx="166445" cy="1560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50" y="2160"/>
                </a:moveTo>
                <a:cubicBezTo>
                  <a:pt x="603" y="2160"/>
                  <a:pt x="0" y="2804"/>
                  <a:pt x="0" y="3600"/>
                </a:cubicBezTo>
                <a:cubicBezTo>
                  <a:pt x="0" y="4397"/>
                  <a:pt x="603" y="5040"/>
                  <a:pt x="1350" y="5040"/>
                </a:cubicBezTo>
                <a:lnTo>
                  <a:pt x="5008" y="5040"/>
                </a:lnTo>
                <a:cubicBezTo>
                  <a:pt x="5527" y="6314"/>
                  <a:pt x="6716" y="7200"/>
                  <a:pt x="8100" y="7200"/>
                </a:cubicBezTo>
                <a:cubicBezTo>
                  <a:pt x="9484" y="7200"/>
                  <a:pt x="10673" y="6314"/>
                  <a:pt x="11192" y="5040"/>
                </a:cubicBezTo>
                <a:lnTo>
                  <a:pt x="20250" y="5040"/>
                </a:lnTo>
                <a:cubicBezTo>
                  <a:pt x="20997" y="5040"/>
                  <a:pt x="21600" y="4397"/>
                  <a:pt x="21600" y="3600"/>
                </a:cubicBezTo>
                <a:cubicBezTo>
                  <a:pt x="21600" y="2804"/>
                  <a:pt x="20997" y="2160"/>
                  <a:pt x="20250" y="2160"/>
                </a:cubicBezTo>
                <a:lnTo>
                  <a:pt x="11192" y="2160"/>
                </a:lnTo>
                <a:cubicBezTo>
                  <a:pt x="10673" y="887"/>
                  <a:pt x="9484" y="0"/>
                  <a:pt x="8100" y="0"/>
                </a:cubicBezTo>
                <a:cubicBezTo>
                  <a:pt x="6716" y="0"/>
                  <a:pt x="5527" y="887"/>
                  <a:pt x="5008" y="2160"/>
                </a:cubicBezTo>
                <a:lnTo>
                  <a:pt x="1350" y="2160"/>
                </a:lnTo>
                <a:close/>
                <a:moveTo>
                  <a:pt x="1350" y="9360"/>
                </a:moveTo>
                <a:cubicBezTo>
                  <a:pt x="603" y="9360"/>
                  <a:pt x="0" y="10004"/>
                  <a:pt x="0" y="10800"/>
                </a:cubicBezTo>
                <a:cubicBezTo>
                  <a:pt x="0" y="11597"/>
                  <a:pt x="603" y="12240"/>
                  <a:pt x="1350" y="12240"/>
                </a:cubicBezTo>
                <a:lnTo>
                  <a:pt x="11758" y="12240"/>
                </a:lnTo>
                <a:cubicBezTo>
                  <a:pt x="12277" y="13513"/>
                  <a:pt x="13466" y="14400"/>
                  <a:pt x="14850" y="14400"/>
                </a:cubicBezTo>
                <a:cubicBezTo>
                  <a:pt x="16234" y="14400"/>
                  <a:pt x="17423" y="13513"/>
                  <a:pt x="17942" y="12240"/>
                </a:cubicBezTo>
                <a:lnTo>
                  <a:pt x="20250" y="12240"/>
                </a:lnTo>
                <a:cubicBezTo>
                  <a:pt x="20997" y="12240"/>
                  <a:pt x="21600" y="11597"/>
                  <a:pt x="21600" y="10800"/>
                </a:cubicBezTo>
                <a:cubicBezTo>
                  <a:pt x="21600" y="10004"/>
                  <a:pt x="20997" y="9360"/>
                  <a:pt x="20250" y="9360"/>
                </a:cubicBezTo>
                <a:lnTo>
                  <a:pt x="17942" y="9360"/>
                </a:lnTo>
                <a:cubicBezTo>
                  <a:pt x="17423" y="8087"/>
                  <a:pt x="16234" y="7200"/>
                  <a:pt x="14850" y="7200"/>
                </a:cubicBezTo>
                <a:cubicBezTo>
                  <a:pt x="13466" y="7200"/>
                  <a:pt x="12277" y="8087"/>
                  <a:pt x="11758" y="9360"/>
                </a:cubicBezTo>
                <a:lnTo>
                  <a:pt x="1350" y="9360"/>
                </a:lnTo>
                <a:close/>
                <a:moveTo>
                  <a:pt x="1350" y="16560"/>
                </a:moveTo>
                <a:cubicBezTo>
                  <a:pt x="603" y="16560"/>
                  <a:pt x="0" y="17203"/>
                  <a:pt x="0" y="18000"/>
                </a:cubicBezTo>
                <a:cubicBezTo>
                  <a:pt x="0" y="18797"/>
                  <a:pt x="603" y="19440"/>
                  <a:pt x="1350" y="19440"/>
                </a:cubicBezTo>
                <a:lnTo>
                  <a:pt x="3658" y="19440"/>
                </a:lnTo>
                <a:cubicBezTo>
                  <a:pt x="4176" y="20714"/>
                  <a:pt x="5366" y="21600"/>
                  <a:pt x="6750" y="21600"/>
                </a:cubicBezTo>
                <a:cubicBezTo>
                  <a:pt x="8134" y="21600"/>
                  <a:pt x="9323" y="20714"/>
                  <a:pt x="9842" y="19440"/>
                </a:cubicBezTo>
                <a:lnTo>
                  <a:pt x="20250" y="19440"/>
                </a:lnTo>
                <a:cubicBezTo>
                  <a:pt x="20997" y="19440"/>
                  <a:pt x="21600" y="18797"/>
                  <a:pt x="21600" y="18000"/>
                </a:cubicBezTo>
                <a:cubicBezTo>
                  <a:pt x="21600" y="17203"/>
                  <a:pt x="20997" y="16560"/>
                  <a:pt x="20250" y="16560"/>
                </a:cubicBezTo>
                <a:lnTo>
                  <a:pt x="9842" y="16560"/>
                </a:lnTo>
                <a:cubicBezTo>
                  <a:pt x="9323" y="15287"/>
                  <a:pt x="8134" y="14400"/>
                  <a:pt x="6750" y="14400"/>
                </a:cubicBezTo>
                <a:cubicBezTo>
                  <a:pt x="5366" y="14400"/>
                  <a:pt x="4176" y="15287"/>
                  <a:pt x="3658" y="16560"/>
                </a:cubicBezTo>
                <a:lnTo>
                  <a:pt x="1350" y="16560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8" name="Text 38"/>
          <p:cNvSpPr txBox="1"/>
          <p:nvPr/>
        </p:nvSpPr>
        <p:spPr>
          <a:xfrm>
            <a:off x="6533505" y="3230722"/>
            <a:ext cx="527626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3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训练参数</a:t>
            </a:r>
          </a:p>
        </p:txBody>
      </p:sp>
      <p:sp>
        <p:nvSpPr>
          <p:cNvPr id="839" name="Text 39"/>
          <p:cNvSpPr txBox="1"/>
          <p:nvPr/>
        </p:nvSpPr>
        <p:spPr>
          <a:xfrm>
            <a:off x="6325451" y="3585000"/>
            <a:ext cx="546767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Batch Size:</a:t>
            </a:r>
            <a:r>
              <a:rPr b="0">
                <a:solidFill>
                  <a:srgbClr val="7D8A96"/>
                </a:solidFill>
              </a:rPr>
              <a:t> 1 (per device)</a:t>
            </a:r>
          </a:p>
        </p:txBody>
      </p:sp>
      <p:sp>
        <p:nvSpPr>
          <p:cNvPr id="840" name="Text 40"/>
          <p:cNvSpPr txBox="1"/>
          <p:nvPr/>
        </p:nvSpPr>
        <p:spPr>
          <a:xfrm>
            <a:off x="6325451" y="3838576"/>
            <a:ext cx="546767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梯度累积:</a:t>
            </a:r>
            <a:r>
              <a:rPr b="0">
                <a:solidFill>
                  <a:srgbClr val="7D8A96"/>
                </a:solidFill>
              </a:rPr>
              <a:t> 8 steps</a:t>
            </a:r>
          </a:p>
        </p:txBody>
      </p:sp>
      <p:sp>
        <p:nvSpPr>
          <p:cNvPr id="841" name="Text 41"/>
          <p:cNvSpPr txBox="1"/>
          <p:nvPr/>
        </p:nvSpPr>
        <p:spPr>
          <a:xfrm>
            <a:off x="6325451" y="4104854"/>
            <a:ext cx="546767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学习率:</a:t>
            </a:r>
            <a:r>
              <a:rPr b="0">
                <a:solidFill>
                  <a:srgbClr val="7D8A96"/>
                </a:solidFill>
              </a:rPr>
              <a:t> 5.0e-4</a:t>
            </a:r>
          </a:p>
        </p:txBody>
      </p:sp>
      <p:sp>
        <p:nvSpPr>
          <p:cNvPr id="842" name="Text 42"/>
          <p:cNvSpPr txBox="1"/>
          <p:nvPr/>
        </p:nvSpPr>
        <p:spPr>
          <a:xfrm>
            <a:off x="6325451" y="4371123"/>
            <a:ext cx="546767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训练轮数:</a:t>
            </a:r>
            <a:r>
              <a:rPr b="0">
                <a:solidFill>
                  <a:srgbClr val="7D8A96"/>
                </a:solidFill>
              </a:rPr>
              <a:t> 3 epochs</a:t>
            </a:r>
          </a:p>
        </p:txBody>
      </p:sp>
      <p:sp>
        <p:nvSpPr>
          <p:cNvPr id="843" name="Text 43"/>
          <p:cNvSpPr txBox="1"/>
          <p:nvPr/>
        </p:nvSpPr>
        <p:spPr>
          <a:xfrm>
            <a:off x="6325451" y="4637401"/>
            <a:ext cx="546767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学习率调度:</a:t>
            </a:r>
            <a:r>
              <a:rPr b="0">
                <a:solidFill>
                  <a:srgbClr val="7D8A96"/>
                </a:solidFill>
              </a:rPr>
              <a:t> Cosine</a:t>
            </a:r>
          </a:p>
        </p:txBody>
      </p:sp>
      <p:sp>
        <p:nvSpPr>
          <p:cNvPr id="844" name="Text 44"/>
          <p:cNvSpPr txBox="1"/>
          <p:nvPr/>
        </p:nvSpPr>
        <p:spPr>
          <a:xfrm>
            <a:off x="6325451" y="4916378"/>
            <a:ext cx="546767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Warmup:</a:t>
            </a:r>
            <a:r>
              <a:rPr b="0">
                <a:solidFill>
                  <a:srgbClr val="7D8A96"/>
                </a:solidFill>
              </a:rPr>
              <a:t> 10% (warmup_ratio=0.1)</a:t>
            </a:r>
          </a:p>
        </p:txBody>
      </p:sp>
      <p:sp>
        <p:nvSpPr>
          <p:cNvPr id="845" name="Shape 45"/>
          <p:cNvSpPr/>
          <p:nvPr/>
        </p:nvSpPr>
        <p:spPr>
          <a:xfrm>
            <a:off x="6169645" y="5332934"/>
            <a:ext cx="5682541" cy="8473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0" y="0"/>
                </a:moveTo>
                <a:lnTo>
                  <a:pt x="21220" y="0"/>
                </a:lnTo>
                <a:cubicBezTo>
                  <a:pt x="21430" y="0"/>
                  <a:pt x="21600" y="1140"/>
                  <a:pt x="21600" y="2546"/>
                </a:cubicBezTo>
                <a:lnTo>
                  <a:pt x="21600" y="19054"/>
                </a:lnTo>
                <a:cubicBezTo>
                  <a:pt x="21600" y="20460"/>
                  <a:pt x="21430" y="21600"/>
                  <a:pt x="21220" y="21600"/>
                </a:cubicBezTo>
                <a:lnTo>
                  <a:pt x="380" y="21600"/>
                </a:lnTo>
                <a:cubicBezTo>
                  <a:pt x="170" y="21600"/>
                  <a:pt x="0" y="20460"/>
                  <a:pt x="0" y="19054"/>
                </a:cubicBezTo>
                <a:lnTo>
                  <a:pt x="0" y="2546"/>
                </a:lnTo>
                <a:cubicBezTo>
                  <a:pt x="0" y="1140"/>
                  <a:pt x="170" y="0"/>
                  <a:pt x="380" y="0"/>
                </a:cubicBezTo>
                <a:close/>
              </a:path>
            </a:pathLst>
          </a:custGeom>
          <a:solidFill>
            <a:srgbClr val="5E8B7E">
              <a:alpha val="14902"/>
            </a:srgbClr>
          </a:solidFill>
          <a:ln w="23091">
            <a:solidFill>
              <a:srgbClr val="5E8B7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46" name="Shape 46"/>
          <p:cNvSpPr/>
          <p:nvPr/>
        </p:nvSpPr>
        <p:spPr>
          <a:xfrm>
            <a:off x="6327826" y="5511833"/>
            <a:ext cx="156647" cy="1566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0" h="21353" fill="norm" stroke="1" extrusionOk="0">
                <a:moveTo>
                  <a:pt x="8080" y="4326"/>
                </a:moveTo>
                <a:lnTo>
                  <a:pt x="8080" y="6304"/>
                </a:lnTo>
                <a:lnTo>
                  <a:pt x="8100" y="6324"/>
                </a:lnTo>
                <a:cubicBezTo>
                  <a:pt x="8358" y="3038"/>
                  <a:pt x="11095" y="453"/>
                  <a:pt x="14436" y="453"/>
                </a:cubicBezTo>
                <a:cubicBezTo>
                  <a:pt x="15235" y="453"/>
                  <a:pt x="16001" y="601"/>
                  <a:pt x="16705" y="872"/>
                </a:cubicBezTo>
                <a:cubicBezTo>
                  <a:pt x="17102" y="1024"/>
                  <a:pt x="17173" y="1530"/>
                  <a:pt x="16875" y="1833"/>
                </a:cubicBezTo>
                <a:lnTo>
                  <a:pt x="13351" y="5371"/>
                </a:lnTo>
                <a:cubicBezTo>
                  <a:pt x="13232" y="5490"/>
                  <a:pt x="13165" y="5654"/>
                  <a:pt x="13165" y="5822"/>
                </a:cubicBezTo>
                <a:lnTo>
                  <a:pt x="13165" y="7473"/>
                </a:lnTo>
                <a:cubicBezTo>
                  <a:pt x="13165" y="7824"/>
                  <a:pt x="13451" y="8111"/>
                  <a:pt x="13801" y="8111"/>
                </a:cubicBezTo>
                <a:lnTo>
                  <a:pt x="15445" y="8111"/>
                </a:lnTo>
                <a:cubicBezTo>
                  <a:pt x="15612" y="8111"/>
                  <a:pt x="15775" y="8043"/>
                  <a:pt x="15894" y="7923"/>
                </a:cubicBezTo>
                <a:lnTo>
                  <a:pt x="19418" y="4386"/>
                </a:lnTo>
                <a:cubicBezTo>
                  <a:pt x="19720" y="4083"/>
                  <a:pt x="20224" y="4158"/>
                  <a:pt x="20375" y="4557"/>
                </a:cubicBezTo>
                <a:cubicBezTo>
                  <a:pt x="20645" y="5263"/>
                  <a:pt x="20793" y="6033"/>
                  <a:pt x="20793" y="6835"/>
                </a:cubicBezTo>
                <a:cubicBezTo>
                  <a:pt x="20793" y="9251"/>
                  <a:pt x="19454" y="11357"/>
                  <a:pt x="17475" y="12438"/>
                </a:cubicBezTo>
                <a:lnTo>
                  <a:pt x="20713" y="15688"/>
                </a:lnTo>
                <a:cubicBezTo>
                  <a:pt x="21456" y="16434"/>
                  <a:pt x="21456" y="17647"/>
                  <a:pt x="20713" y="18396"/>
                </a:cubicBezTo>
                <a:lnTo>
                  <a:pt x="18325" y="20793"/>
                </a:lnTo>
                <a:cubicBezTo>
                  <a:pt x="17583" y="21539"/>
                  <a:pt x="16375" y="21539"/>
                  <a:pt x="15628" y="20793"/>
                </a:cubicBezTo>
                <a:lnTo>
                  <a:pt x="10622" y="15768"/>
                </a:lnTo>
                <a:cubicBezTo>
                  <a:pt x="9534" y="14675"/>
                  <a:pt x="9287" y="13060"/>
                  <a:pt x="9887" y="11728"/>
                </a:cubicBezTo>
                <a:lnTo>
                  <a:pt x="6284" y="8111"/>
                </a:lnTo>
                <a:lnTo>
                  <a:pt x="4313" y="8111"/>
                </a:lnTo>
                <a:cubicBezTo>
                  <a:pt x="3888" y="8111"/>
                  <a:pt x="3491" y="7899"/>
                  <a:pt x="3257" y="7544"/>
                </a:cubicBezTo>
                <a:lnTo>
                  <a:pt x="106" y="2803"/>
                </a:lnTo>
                <a:cubicBezTo>
                  <a:pt x="-61" y="2551"/>
                  <a:pt x="-29" y="2212"/>
                  <a:pt x="186" y="1997"/>
                </a:cubicBezTo>
                <a:lnTo>
                  <a:pt x="1989" y="186"/>
                </a:lnTo>
                <a:cubicBezTo>
                  <a:pt x="2204" y="-29"/>
                  <a:pt x="2538" y="-61"/>
                  <a:pt x="2792" y="107"/>
                </a:cubicBezTo>
                <a:lnTo>
                  <a:pt x="7516" y="3265"/>
                </a:lnTo>
                <a:cubicBezTo>
                  <a:pt x="7869" y="3500"/>
                  <a:pt x="8080" y="3899"/>
                  <a:pt x="8080" y="4326"/>
                </a:cubicBezTo>
                <a:close/>
                <a:moveTo>
                  <a:pt x="7742" y="12282"/>
                </a:moveTo>
                <a:cubicBezTo>
                  <a:pt x="7492" y="13758"/>
                  <a:pt x="7837" y="15317"/>
                  <a:pt x="8791" y="16566"/>
                </a:cubicBezTo>
                <a:lnTo>
                  <a:pt x="5017" y="20351"/>
                </a:lnTo>
                <a:cubicBezTo>
                  <a:pt x="3900" y="21471"/>
                  <a:pt x="2089" y="21471"/>
                  <a:pt x="972" y="20351"/>
                </a:cubicBezTo>
                <a:cubicBezTo>
                  <a:pt x="-144" y="19230"/>
                  <a:pt x="-144" y="17411"/>
                  <a:pt x="972" y="16291"/>
                </a:cubicBezTo>
                <a:lnTo>
                  <a:pt x="6351" y="10891"/>
                </a:lnTo>
                <a:lnTo>
                  <a:pt x="7742" y="12286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47" name="Text 47"/>
          <p:cNvSpPr txBox="1"/>
          <p:nvPr/>
        </p:nvSpPr>
        <p:spPr>
          <a:xfrm>
            <a:off x="6501729" y="5488518"/>
            <a:ext cx="528458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1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训练工具</a:t>
            </a:r>
          </a:p>
        </p:txBody>
      </p:sp>
      <p:sp>
        <p:nvSpPr>
          <p:cNvPr id="848" name="Shape 48"/>
          <p:cNvSpPr/>
          <p:nvPr/>
        </p:nvSpPr>
        <p:spPr>
          <a:xfrm>
            <a:off x="6310319" y="5773101"/>
            <a:ext cx="665776" cy="266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320" y="0"/>
                </a:moveTo>
                <a:lnTo>
                  <a:pt x="17280" y="0"/>
                </a:lnTo>
                <a:cubicBezTo>
                  <a:pt x="19666" y="0"/>
                  <a:pt x="21600" y="4835"/>
                  <a:pt x="21600" y="10800"/>
                </a:cubicBezTo>
                <a:cubicBezTo>
                  <a:pt x="21600" y="16765"/>
                  <a:pt x="19666" y="21600"/>
                  <a:pt x="17280" y="21600"/>
                </a:cubicBezTo>
                <a:lnTo>
                  <a:pt x="4320" y="21600"/>
                </a:lnTo>
                <a:cubicBezTo>
                  <a:pt x="1934" y="21600"/>
                  <a:pt x="0" y="16765"/>
                  <a:pt x="0" y="10800"/>
                </a:cubicBezTo>
                <a:cubicBezTo>
                  <a:pt x="0" y="4835"/>
                  <a:pt x="1934" y="0"/>
                  <a:pt x="4320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49" name="Text 49"/>
          <p:cNvSpPr txBox="1"/>
          <p:nvPr/>
        </p:nvSpPr>
        <p:spPr>
          <a:xfrm>
            <a:off x="6376896" y="5796767"/>
            <a:ext cx="599199" cy="218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3288" tIns="33288" rIns="33288" bIns="33288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Unsloth</a:t>
            </a:r>
          </a:p>
        </p:txBody>
      </p:sp>
      <p:sp>
        <p:nvSpPr>
          <p:cNvPr id="850" name="Shape 50"/>
          <p:cNvSpPr/>
          <p:nvPr/>
        </p:nvSpPr>
        <p:spPr>
          <a:xfrm>
            <a:off x="7041288" y="5773101"/>
            <a:ext cx="1015307" cy="266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833" y="0"/>
                </a:moveTo>
                <a:lnTo>
                  <a:pt x="18767" y="0"/>
                </a:lnTo>
                <a:cubicBezTo>
                  <a:pt x="20332" y="0"/>
                  <a:pt x="21600" y="4835"/>
                  <a:pt x="21600" y="10800"/>
                </a:cubicBezTo>
                <a:cubicBezTo>
                  <a:pt x="21600" y="16765"/>
                  <a:pt x="20332" y="21600"/>
                  <a:pt x="18767" y="21600"/>
                </a:cubicBezTo>
                <a:lnTo>
                  <a:pt x="2833" y="21600"/>
                </a:lnTo>
                <a:cubicBezTo>
                  <a:pt x="1268" y="21600"/>
                  <a:pt x="0" y="16765"/>
                  <a:pt x="0" y="10800"/>
                </a:cubicBezTo>
                <a:cubicBezTo>
                  <a:pt x="0" y="4835"/>
                  <a:pt x="1268" y="0"/>
                  <a:pt x="2833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51" name="Text 51"/>
          <p:cNvSpPr txBox="1"/>
          <p:nvPr/>
        </p:nvSpPr>
        <p:spPr>
          <a:xfrm>
            <a:off x="7107866" y="5796767"/>
            <a:ext cx="948731" cy="218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3288" tIns="33288" rIns="33288" bIns="33288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Transformers</a:t>
            </a:r>
          </a:p>
        </p:txBody>
      </p:sp>
      <p:sp>
        <p:nvSpPr>
          <p:cNvPr id="852" name="Shape 52"/>
          <p:cNvSpPr/>
          <p:nvPr/>
        </p:nvSpPr>
        <p:spPr>
          <a:xfrm>
            <a:off x="8123349" y="5773101"/>
            <a:ext cx="1015307" cy="266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833" y="0"/>
                </a:moveTo>
                <a:lnTo>
                  <a:pt x="18767" y="0"/>
                </a:lnTo>
                <a:cubicBezTo>
                  <a:pt x="20332" y="0"/>
                  <a:pt x="21600" y="4835"/>
                  <a:pt x="21600" y="10800"/>
                </a:cubicBezTo>
                <a:cubicBezTo>
                  <a:pt x="21600" y="16765"/>
                  <a:pt x="20332" y="21600"/>
                  <a:pt x="18767" y="21600"/>
                </a:cubicBezTo>
                <a:lnTo>
                  <a:pt x="2833" y="21600"/>
                </a:lnTo>
                <a:cubicBezTo>
                  <a:pt x="1268" y="21600"/>
                  <a:pt x="0" y="16765"/>
                  <a:pt x="0" y="10800"/>
                </a:cubicBezTo>
                <a:cubicBezTo>
                  <a:pt x="0" y="4835"/>
                  <a:pt x="1268" y="0"/>
                  <a:pt x="2833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53" name="Text 53"/>
          <p:cNvSpPr txBox="1"/>
          <p:nvPr/>
        </p:nvSpPr>
        <p:spPr>
          <a:xfrm>
            <a:off x="8189927" y="5796767"/>
            <a:ext cx="948731" cy="218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3288" tIns="33288" rIns="33288" bIns="33288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BitsAndBytes</a:t>
            </a:r>
          </a:p>
        </p:txBody>
      </p:sp>
      <p:sp>
        <p:nvSpPr>
          <p:cNvPr id="854" name="Shape 54"/>
          <p:cNvSpPr/>
          <p:nvPr/>
        </p:nvSpPr>
        <p:spPr>
          <a:xfrm>
            <a:off x="9201864" y="5773101"/>
            <a:ext cx="1231684" cy="266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335" y="0"/>
                </a:moveTo>
                <a:lnTo>
                  <a:pt x="19265" y="0"/>
                </a:lnTo>
                <a:cubicBezTo>
                  <a:pt x="20555" y="0"/>
                  <a:pt x="21600" y="4835"/>
                  <a:pt x="21600" y="10800"/>
                </a:cubicBezTo>
                <a:cubicBezTo>
                  <a:pt x="21600" y="16765"/>
                  <a:pt x="20555" y="21600"/>
                  <a:pt x="19265" y="21600"/>
                </a:cubicBezTo>
                <a:lnTo>
                  <a:pt x="2335" y="21600"/>
                </a:lnTo>
                <a:cubicBezTo>
                  <a:pt x="1045" y="21600"/>
                  <a:pt x="0" y="16765"/>
                  <a:pt x="0" y="10800"/>
                </a:cubicBezTo>
                <a:cubicBezTo>
                  <a:pt x="0" y="4835"/>
                  <a:pt x="1045" y="0"/>
                  <a:pt x="2335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55" name="Text 55"/>
          <p:cNvSpPr txBox="1"/>
          <p:nvPr/>
        </p:nvSpPr>
        <p:spPr>
          <a:xfrm>
            <a:off x="9268442" y="5796767"/>
            <a:ext cx="1165108" cy="218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3288" tIns="33288" rIns="33288" bIns="33288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Flash Attention 2</a:t>
            </a:r>
          </a:p>
        </p:txBody>
      </p:sp>
      <p:sp>
        <p:nvSpPr>
          <p:cNvPr id="856" name="Shape 56"/>
          <p:cNvSpPr/>
          <p:nvPr/>
        </p:nvSpPr>
        <p:spPr>
          <a:xfrm>
            <a:off x="10502737" y="5773101"/>
            <a:ext cx="757320" cy="266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798" y="0"/>
                </a:moveTo>
                <a:lnTo>
                  <a:pt x="17802" y="0"/>
                </a:lnTo>
                <a:cubicBezTo>
                  <a:pt x="19900" y="0"/>
                  <a:pt x="21600" y="4835"/>
                  <a:pt x="21600" y="10800"/>
                </a:cubicBezTo>
                <a:cubicBezTo>
                  <a:pt x="21600" y="16765"/>
                  <a:pt x="19900" y="21600"/>
                  <a:pt x="17802" y="21600"/>
                </a:cubicBezTo>
                <a:lnTo>
                  <a:pt x="3798" y="21600"/>
                </a:lnTo>
                <a:cubicBezTo>
                  <a:pt x="1700" y="21600"/>
                  <a:pt x="0" y="16765"/>
                  <a:pt x="0" y="10800"/>
                </a:cubicBezTo>
                <a:cubicBezTo>
                  <a:pt x="0" y="4835"/>
                  <a:pt x="1700" y="0"/>
                  <a:pt x="3798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57" name="Text 57"/>
          <p:cNvSpPr txBox="1"/>
          <p:nvPr/>
        </p:nvSpPr>
        <p:spPr>
          <a:xfrm>
            <a:off x="10569315" y="5796767"/>
            <a:ext cx="690743" cy="218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3288" tIns="33288" rIns="33288" bIns="33288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SwanLab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Text 0"/>
          <p:cNvSpPr txBox="1"/>
          <p:nvPr/>
        </p:nvSpPr>
        <p:spPr>
          <a:xfrm>
            <a:off x="343436" y="370268"/>
            <a:ext cx="1157381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pc="54" sz="1000">
                <a:solidFill>
                  <a:srgbClr val="5E8B7E"/>
                </a:solidFill>
                <a:latin typeface="Liter"/>
                <a:ea typeface="Liter"/>
                <a:cs typeface="Liter"/>
                <a:sym typeface="Liter"/>
              </a:defRPr>
            </a:lvl1pPr>
          </a:lstStyle>
          <a:p>
            <a:pPr/>
            <a:r>
              <a:t>SFT TRAINING DATA DEMO</a:t>
            </a:r>
          </a:p>
        </p:txBody>
      </p:sp>
      <p:sp>
        <p:nvSpPr>
          <p:cNvPr id="860" name="Text 1"/>
          <p:cNvSpPr txBox="1"/>
          <p:nvPr/>
        </p:nvSpPr>
        <p:spPr>
          <a:xfrm>
            <a:off x="343436" y="538464"/>
            <a:ext cx="11711191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80000"/>
              </a:lnSpc>
              <a:defRPr b="1" sz="3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SFT训练数据Demo</a:t>
            </a:r>
          </a:p>
        </p:txBody>
      </p:sp>
      <p:sp>
        <p:nvSpPr>
          <p:cNvPr id="861" name="Shape 2"/>
          <p:cNvSpPr/>
          <p:nvPr/>
        </p:nvSpPr>
        <p:spPr>
          <a:xfrm>
            <a:off x="343436" y="1167576"/>
            <a:ext cx="824250" cy="34345"/>
          </a:xfrm>
          <a:prstGeom prst="rect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62" name="Shape 3"/>
          <p:cNvSpPr/>
          <p:nvPr/>
        </p:nvSpPr>
        <p:spPr>
          <a:xfrm>
            <a:off x="351241" y="1347039"/>
            <a:ext cx="11494982" cy="33383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4" y="0"/>
                </a:moveTo>
                <a:lnTo>
                  <a:pt x="21406" y="0"/>
                </a:lnTo>
                <a:cubicBezTo>
                  <a:pt x="21513" y="0"/>
                  <a:pt x="21600" y="298"/>
                  <a:pt x="21600" y="667"/>
                </a:cubicBezTo>
                <a:lnTo>
                  <a:pt x="21600" y="20933"/>
                </a:lnTo>
                <a:cubicBezTo>
                  <a:pt x="21600" y="21302"/>
                  <a:pt x="21513" y="21600"/>
                  <a:pt x="21406" y="21600"/>
                </a:cubicBezTo>
                <a:lnTo>
                  <a:pt x="194" y="21600"/>
                </a:lnTo>
                <a:cubicBezTo>
                  <a:pt x="87" y="21600"/>
                  <a:pt x="0" y="21302"/>
                  <a:pt x="0" y="20933"/>
                </a:cubicBezTo>
                <a:lnTo>
                  <a:pt x="0" y="667"/>
                </a:lnTo>
                <a:cubicBezTo>
                  <a:pt x="0" y="299"/>
                  <a:pt x="87" y="0"/>
                  <a:pt x="194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23091">
            <a:solidFill>
              <a:srgbClr val="4A6C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3" name="Shape 4"/>
          <p:cNvSpPr/>
          <p:nvPr/>
        </p:nvSpPr>
        <p:spPr>
          <a:xfrm>
            <a:off x="562963" y="1560893"/>
            <a:ext cx="150255" cy="1717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8682"/>
                </a:moveTo>
                <a:cubicBezTo>
                  <a:pt x="20886" y="9096"/>
                  <a:pt x="20067" y="9429"/>
                  <a:pt x="19213" y="9695"/>
                </a:cubicBezTo>
                <a:cubicBezTo>
                  <a:pt x="16947" y="10404"/>
                  <a:pt x="13972" y="10800"/>
                  <a:pt x="10800" y="10800"/>
                </a:cubicBezTo>
                <a:cubicBezTo>
                  <a:pt x="7627" y="10800"/>
                  <a:pt x="4648" y="10399"/>
                  <a:pt x="2387" y="9695"/>
                </a:cubicBezTo>
                <a:cubicBezTo>
                  <a:pt x="1538" y="9429"/>
                  <a:pt x="714" y="9096"/>
                  <a:pt x="0" y="8682"/>
                </a:cubicBezTo>
                <a:lnTo>
                  <a:pt x="0" y="12150"/>
                </a:lnTo>
                <a:cubicBezTo>
                  <a:pt x="0" y="14015"/>
                  <a:pt x="4836" y="15525"/>
                  <a:pt x="10800" y="15525"/>
                </a:cubicBezTo>
                <a:cubicBezTo>
                  <a:pt x="16764" y="15525"/>
                  <a:pt x="21600" y="14015"/>
                  <a:pt x="21600" y="12150"/>
                </a:cubicBezTo>
                <a:lnTo>
                  <a:pt x="21600" y="8682"/>
                </a:lnTo>
                <a:close/>
                <a:moveTo>
                  <a:pt x="21600" y="5400"/>
                </a:moveTo>
                <a:lnTo>
                  <a:pt x="21600" y="3375"/>
                </a:lnTo>
                <a:cubicBezTo>
                  <a:pt x="21600" y="1510"/>
                  <a:pt x="16764" y="0"/>
                  <a:pt x="10800" y="0"/>
                </a:cubicBezTo>
                <a:cubicBezTo>
                  <a:pt x="4836" y="0"/>
                  <a:pt x="0" y="1510"/>
                  <a:pt x="0" y="3375"/>
                </a:cubicBezTo>
                <a:lnTo>
                  <a:pt x="0" y="5400"/>
                </a:lnTo>
                <a:cubicBezTo>
                  <a:pt x="0" y="7265"/>
                  <a:pt x="4836" y="8775"/>
                  <a:pt x="10800" y="8775"/>
                </a:cubicBezTo>
                <a:cubicBezTo>
                  <a:pt x="16764" y="8775"/>
                  <a:pt x="21600" y="7265"/>
                  <a:pt x="21600" y="5400"/>
                </a:cubicBezTo>
                <a:close/>
                <a:moveTo>
                  <a:pt x="19213" y="16445"/>
                </a:moveTo>
                <a:cubicBezTo>
                  <a:pt x="16952" y="17149"/>
                  <a:pt x="13977" y="17550"/>
                  <a:pt x="10800" y="17550"/>
                </a:cubicBezTo>
                <a:cubicBezTo>
                  <a:pt x="7623" y="17550"/>
                  <a:pt x="4648" y="17149"/>
                  <a:pt x="2387" y="16445"/>
                </a:cubicBezTo>
                <a:cubicBezTo>
                  <a:pt x="1538" y="16179"/>
                  <a:pt x="714" y="15846"/>
                  <a:pt x="0" y="15432"/>
                </a:cubicBezTo>
                <a:lnTo>
                  <a:pt x="0" y="18225"/>
                </a:lnTo>
                <a:cubicBezTo>
                  <a:pt x="0" y="20090"/>
                  <a:pt x="4836" y="21600"/>
                  <a:pt x="10800" y="21600"/>
                </a:cubicBezTo>
                <a:cubicBezTo>
                  <a:pt x="16764" y="21600"/>
                  <a:pt x="21600" y="20090"/>
                  <a:pt x="21600" y="18225"/>
                </a:cubicBezTo>
                <a:lnTo>
                  <a:pt x="21600" y="15432"/>
                </a:lnTo>
                <a:cubicBezTo>
                  <a:pt x="20886" y="15846"/>
                  <a:pt x="20067" y="16179"/>
                  <a:pt x="19213" y="16445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64" name="Text 5"/>
          <p:cNvSpPr txBox="1"/>
          <p:nvPr/>
        </p:nvSpPr>
        <p:spPr>
          <a:xfrm>
            <a:off x="745414" y="1532468"/>
            <a:ext cx="11007144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3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Alpaca格式训练样本</a:t>
            </a:r>
          </a:p>
        </p:txBody>
      </p:sp>
      <p:sp>
        <p:nvSpPr>
          <p:cNvPr id="865" name="Shape 6"/>
          <p:cNvSpPr/>
          <p:nvPr/>
        </p:nvSpPr>
        <p:spPr>
          <a:xfrm>
            <a:off x="530766" y="1904270"/>
            <a:ext cx="11135932" cy="26015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3" y="0"/>
                </a:moveTo>
                <a:lnTo>
                  <a:pt x="21467" y="0"/>
                </a:lnTo>
                <a:cubicBezTo>
                  <a:pt x="21540" y="0"/>
                  <a:pt x="21600" y="255"/>
                  <a:pt x="21600" y="570"/>
                </a:cubicBezTo>
                <a:lnTo>
                  <a:pt x="21600" y="21030"/>
                </a:lnTo>
                <a:cubicBezTo>
                  <a:pt x="21600" y="21345"/>
                  <a:pt x="21540" y="21600"/>
                  <a:pt x="21467" y="21600"/>
                </a:cubicBezTo>
                <a:lnTo>
                  <a:pt x="133" y="21600"/>
                </a:lnTo>
                <a:cubicBezTo>
                  <a:pt x="60" y="21600"/>
                  <a:pt x="0" y="21345"/>
                  <a:pt x="0" y="21030"/>
                </a:cubicBezTo>
                <a:lnTo>
                  <a:pt x="0" y="570"/>
                </a:lnTo>
                <a:cubicBezTo>
                  <a:pt x="0" y="255"/>
                  <a:pt x="60" y="0"/>
                  <a:pt x="133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66" name="Shape 7"/>
          <p:cNvSpPr/>
          <p:nvPr/>
        </p:nvSpPr>
        <p:spPr>
          <a:xfrm>
            <a:off x="668092" y="2041594"/>
            <a:ext cx="10861183" cy="2326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8" y="0"/>
                </a:moveTo>
                <a:lnTo>
                  <a:pt x="21532" y="0"/>
                </a:lnTo>
                <a:cubicBezTo>
                  <a:pt x="21569" y="0"/>
                  <a:pt x="21600" y="143"/>
                  <a:pt x="21600" y="319"/>
                </a:cubicBezTo>
                <a:lnTo>
                  <a:pt x="21600" y="21281"/>
                </a:lnTo>
                <a:cubicBezTo>
                  <a:pt x="21600" y="21457"/>
                  <a:pt x="21569" y="21600"/>
                  <a:pt x="21532" y="21600"/>
                </a:cubicBezTo>
                <a:lnTo>
                  <a:pt x="68" y="21600"/>
                </a:lnTo>
                <a:cubicBezTo>
                  <a:pt x="31" y="21600"/>
                  <a:pt x="0" y="21457"/>
                  <a:pt x="0" y="21281"/>
                </a:cubicBezTo>
                <a:lnTo>
                  <a:pt x="0" y="319"/>
                </a:lnTo>
                <a:cubicBezTo>
                  <a:pt x="0" y="143"/>
                  <a:pt x="31" y="0"/>
                  <a:pt x="68" y="0"/>
                </a:cubicBezTo>
                <a:close/>
              </a:path>
            </a:pathLst>
          </a:custGeom>
          <a:solidFill>
            <a:srgbClr val="0D0E1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67" name="Text 8"/>
          <p:cNvSpPr txBox="1"/>
          <p:nvPr/>
        </p:nvSpPr>
        <p:spPr>
          <a:xfrm>
            <a:off x="771085" y="2173479"/>
            <a:ext cx="1071522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9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{</a:t>
            </a:r>
          </a:p>
        </p:txBody>
      </p:sp>
      <p:sp>
        <p:nvSpPr>
          <p:cNvPr id="868" name="Text 9"/>
          <p:cNvSpPr txBox="1"/>
          <p:nvPr/>
        </p:nvSpPr>
        <p:spPr>
          <a:xfrm>
            <a:off x="908411" y="2485477"/>
            <a:ext cx="10577850" cy="627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sz="9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"instruction": </a:t>
            </a:r>
            <a:r>
              <a:rPr>
                <a:solidFill>
                  <a:srgbClr val="E0E2E5"/>
                </a:solidFill>
              </a:rPr>
              <a:t>"### 角色说明\n你是一名资深内分泌科医生。\n\n### 任务目标\n请独立分析给定的候选药物列表与中文电子病历，推理患者出院时应携带的药物组合。你要一步一步思考，最终得出最终药物清单。\n\n### 回答要求\n- 需自主完成医学推理，综合病情、并发症、药物禁忌与注意事项后作出决策。\n- 最终可见答案必须严格使用格式 `最终出院带药列表: [\"药物1\",\"药物2\",...]`，药名需与候选药物列表完全一致。\n- 如确无合适药物，应说明原因并输出 `最终出院带药列表: []`。\n\n### 其他约束\n- 仅可从候选药物列表中选择药物，不得引入列表外药物。\n- 回答必须使用中文，保持专业且客观。"</a:t>
            </a:r>
            <a:r>
              <a:t>,</a:t>
            </a:r>
          </a:p>
        </p:txBody>
      </p:sp>
      <p:sp>
        <p:nvSpPr>
          <p:cNvPr id="869" name="Text 10"/>
          <p:cNvSpPr txBox="1"/>
          <p:nvPr/>
        </p:nvSpPr>
        <p:spPr>
          <a:xfrm>
            <a:off x="908411" y="3317670"/>
            <a:ext cx="10577850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sz="9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"input": </a:t>
            </a:r>
            <a:r>
              <a:rPr>
                <a:solidFill>
                  <a:srgbClr val="E0E2E5"/>
                </a:solidFill>
              </a:rPr>
              <a:t>"【当前病历】\n病历ID：1-1\n病历：\n 主诉：发现血糖升高10年，双下肢水肿1个月\n 现病史：患者10年前体检发现血糖升高，空腹血糖8.5mmol/L...\n 既往史：高血压病史5年，血压最高160/100mmHg...\n 诊疗过程描述：入院完善相关检查，空腹血糖9.2mmol/L...\n\n【候选药物列表】\n[\"二甲双胍\", \"氨氯地平\", \"阿托伐他汀\", \"阿司匹林\", \"依那普利\", ...]"</a:t>
            </a:r>
            <a:r>
              <a:t>,</a:t>
            </a:r>
          </a:p>
        </p:txBody>
      </p:sp>
      <p:sp>
        <p:nvSpPr>
          <p:cNvPr id="870" name="Text 11"/>
          <p:cNvSpPr txBox="1"/>
          <p:nvPr/>
        </p:nvSpPr>
        <p:spPr>
          <a:xfrm>
            <a:off x="908411" y="3860154"/>
            <a:ext cx="1057785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sz="9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"output": </a:t>
            </a:r>
            <a:r>
              <a:rPr>
                <a:solidFill>
                  <a:srgbClr val="E0E2E5"/>
                </a:solidFill>
              </a:rPr>
              <a:t>"最终出院带药列表: [\"二甲双胍\", \"氨氯地平\", \"阿托伐他汀\", \"阿司匹林\", \"依那普利\"]"</a:t>
            </a:r>
          </a:p>
        </p:txBody>
      </p:sp>
      <p:sp>
        <p:nvSpPr>
          <p:cNvPr id="871" name="Text 12"/>
          <p:cNvSpPr txBox="1"/>
          <p:nvPr/>
        </p:nvSpPr>
        <p:spPr>
          <a:xfrm>
            <a:off x="771085" y="4102444"/>
            <a:ext cx="1071522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9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}</a:t>
            </a:r>
          </a:p>
        </p:txBody>
      </p:sp>
      <p:sp>
        <p:nvSpPr>
          <p:cNvPr id="872" name="Shape 13"/>
          <p:cNvSpPr/>
          <p:nvPr/>
        </p:nvSpPr>
        <p:spPr>
          <a:xfrm>
            <a:off x="351241" y="4841592"/>
            <a:ext cx="3733314" cy="16641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96" y="0"/>
                </a:moveTo>
                <a:lnTo>
                  <a:pt x="21004" y="0"/>
                </a:lnTo>
                <a:cubicBezTo>
                  <a:pt x="21333" y="0"/>
                  <a:pt x="21600" y="599"/>
                  <a:pt x="21600" y="1337"/>
                </a:cubicBezTo>
                <a:lnTo>
                  <a:pt x="21600" y="20263"/>
                </a:lnTo>
                <a:cubicBezTo>
                  <a:pt x="21600" y="21001"/>
                  <a:pt x="21333" y="21600"/>
                  <a:pt x="21004" y="21600"/>
                </a:cubicBezTo>
                <a:lnTo>
                  <a:pt x="596" y="21600"/>
                </a:lnTo>
                <a:cubicBezTo>
                  <a:pt x="267" y="21600"/>
                  <a:pt x="0" y="21001"/>
                  <a:pt x="0" y="20263"/>
                </a:cubicBezTo>
                <a:lnTo>
                  <a:pt x="0" y="1337"/>
                </a:lnTo>
                <a:cubicBezTo>
                  <a:pt x="0" y="599"/>
                  <a:pt x="267" y="0"/>
                  <a:pt x="596" y="0"/>
                </a:cubicBezTo>
                <a:close/>
              </a:path>
            </a:pathLst>
          </a:custGeom>
          <a:solidFill>
            <a:srgbClr val="5E8B7E">
              <a:alpha val="14902"/>
            </a:srgbClr>
          </a:solidFill>
          <a:ln w="23091">
            <a:solidFill>
              <a:srgbClr val="5E8B7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3" name="Shape 14"/>
          <p:cNvSpPr/>
          <p:nvPr/>
        </p:nvSpPr>
        <p:spPr>
          <a:xfrm>
            <a:off x="532327" y="5032009"/>
            <a:ext cx="125539" cy="1521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3" y="0"/>
                </a:moveTo>
                <a:cubicBezTo>
                  <a:pt x="7363" y="0"/>
                  <a:pt x="4570" y="2304"/>
                  <a:pt x="4570" y="5143"/>
                </a:cubicBezTo>
                <a:cubicBezTo>
                  <a:pt x="4570" y="7981"/>
                  <a:pt x="7363" y="10286"/>
                  <a:pt x="10803" y="10286"/>
                </a:cubicBezTo>
                <a:cubicBezTo>
                  <a:pt x="14242" y="10286"/>
                  <a:pt x="17035" y="7981"/>
                  <a:pt x="17035" y="5143"/>
                </a:cubicBezTo>
                <a:cubicBezTo>
                  <a:pt x="17035" y="2304"/>
                  <a:pt x="14242" y="0"/>
                  <a:pt x="10803" y="0"/>
                </a:cubicBezTo>
                <a:close/>
                <a:moveTo>
                  <a:pt x="13919" y="13406"/>
                </a:moveTo>
                <a:cubicBezTo>
                  <a:pt x="13638" y="13384"/>
                  <a:pt x="13348" y="13372"/>
                  <a:pt x="13057" y="13372"/>
                </a:cubicBezTo>
                <a:lnTo>
                  <a:pt x="8543" y="13372"/>
                </a:lnTo>
                <a:cubicBezTo>
                  <a:pt x="8252" y="13372"/>
                  <a:pt x="7967" y="13384"/>
                  <a:pt x="7681" y="13406"/>
                </a:cubicBezTo>
                <a:lnTo>
                  <a:pt x="7681" y="16299"/>
                </a:lnTo>
                <a:cubicBezTo>
                  <a:pt x="8538" y="16624"/>
                  <a:pt x="9135" y="17340"/>
                  <a:pt x="9135" y="18167"/>
                </a:cubicBezTo>
                <a:cubicBezTo>
                  <a:pt x="9135" y="19303"/>
                  <a:pt x="8019" y="20224"/>
                  <a:pt x="6643" y="20224"/>
                </a:cubicBezTo>
                <a:cubicBezTo>
                  <a:pt x="5266" y="20224"/>
                  <a:pt x="4150" y="19303"/>
                  <a:pt x="4150" y="18167"/>
                </a:cubicBezTo>
                <a:cubicBezTo>
                  <a:pt x="4150" y="17336"/>
                  <a:pt x="4747" y="16620"/>
                  <a:pt x="5604" y="16299"/>
                </a:cubicBezTo>
                <a:lnTo>
                  <a:pt x="5604" y="13796"/>
                </a:lnTo>
                <a:cubicBezTo>
                  <a:pt x="2337" y="14786"/>
                  <a:pt x="0" y="17383"/>
                  <a:pt x="0" y="20426"/>
                </a:cubicBezTo>
                <a:cubicBezTo>
                  <a:pt x="0" y="21073"/>
                  <a:pt x="639" y="21600"/>
                  <a:pt x="1423" y="21600"/>
                </a:cubicBezTo>
                <a:lnTo>
                  <a:pt x="20177" y="21600"/>
                </a:lnTo>
                <a:cubicBezTo>
                  <a:pt x="20961" y="21600"/>
                  <a:pt x="21600" y="21073"/>
                  <a:pt x="21600" y="20426"/>
                </a:cubicBezTo>
                <a:cubicBezTo>
                  <a:pt x="21600" y="17383"/>
                  <a:pt x="19263" y="14790"/>
                  <a:pt x="15991" y="13800"/>
                </a:cubicBezTo>
                <a:lnTo>
                  <a:pt x="15991" y="15403"/>
                </a:lnTo>
                <a:cubicBezTo>
                  <a:pt x="17201" y="15754"/>
                  <a:pt x="18068" y="16710"/>
                  <a:pt x="18068" y="17829"/>
                </a:cubicBezTo>
                <a:lnTo>
                  <a:pt x="18068" y="19200"/>
                </a:lnTo>
                <a:cubicBezTo>
                  <a:pt x="18068" y="19671"/>
                  <a:pt x="17601" y="20057"/>
                  <a:pt x="17030" y="20057"/>
                </a:cubicBezTo>
                <a:cubicBezTo>
                  <a:pt x="16458" y="20057"/>
                  <a:pt x="15991" y="19671"/>
                  <a:pt x="15991" y="19200"/>
                </a:cubicBezTo>
                <a:lnTo>
                  <a:pt x="15991" y="17829"/>
                </a:lnTo>
                <a:cubicBezTo>
                  <a:pt x="15991" y="17357"/>
                  <a:pt x="15524" y="16971"/>
                  <a:pt x="14952" y="16971"/>
                </a:cubicBezTo>
                <a:cubicBezTo>
                  <a:pt x="14381" y="16971"/>
                  <a:pt x="13914" y="17357"/>
                  <a:pt x="13914" y="17829"/>
                </a:cubicBezTo>
                <a:lnTo>
                  <a:pt x="13914" y="19200"/>
                </a:lnTo>
                <a:cubicBezTo>
                  <a:pt x="13914" y="19671"/>
                  <a:pt x="13446" y="20057"/>
                  <a:pt x="12875" y="20057"/>
                </a:cubicBezTo>
                <a:cubicBezTo>
                  <a:pt x="12304" y="20057"/>
                  <a:pt x="11836" y="19671"/>
                  <a:pt x="11836" y="19200"/>
                </a:cubicBezTo>
                <a:lnTo>
                  <a:pt x="11836" y="17829"/>
                </a:lnTo>
                <a:cubicBezTo>
                  <a:pt x="11836" y="16710"/>
                  <a:pt x="12703" y="15759"/>
                  <a:pt x="13914" y="15403"/>
                </a:cubicBezTo>
                <a:lnTo>
                  <a:pt x="13914" y="13406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74" name="Text 15"/>
          <p:cNvSpPr txBox="1"/>
          <p:nvPr/>
        </p:nvSpPr>
        <p:spPr>
          <a:xfrm>
            <a:off x="693848" y="4998975"/>
            <a:ext cx="332275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Instruction字段</a:t>
            </a:r>
          </a:p>
        </p:txBody>
      </p:sp>
      <p:sp>
        <p:nvSpPr>
          <p:cNvPr id="875" name="Text 16"/>
          <p:cNvSpPr txBox="1"/>
          <p:nvPr/>
        </p:nvSpPr>
        <p:spPr>
          <a:xfrm>
            <a:off x="496372" y="5344164"/>
            <a:ext cx="351164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角色说明(资深内分泌科医生)</a:t>
            </a:r>
          </a:p>
        </p:txBody>
      </p:sp>
      <p:sp>
        <p:nvSpPr>
          <p:cNvPr id="876" name="Text 17"/>
          <p:cNvSpPr txBox="1"/>
          <p:nvPr/>
        </p:nvSpPr>
        <p:spPr>
          <a:xfrm>
            <a:off x="496372" y="5618881"/>
            <a:ext cx="351164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任务目标(用药推荐)</a:t>
            </a:r>
          </a:p>
        </p:txBody>
      </p:sp>
      <p:sp>
        <p:nvSpPr>
          <p:cNvPr id="877" name="Text 18"/>
          <p:cNvSpPr txBox="1"/>
          <p:nvPr/>
        </p:nvSpPr>
        <p:spPr>
          <a:xfrm>
            <a:off x="496372" y="5893596"/>
            <a:ext cx="351164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回答要求(推理+格式)</a:t>
            </a:r>
          </a:p>
        </p:txBody>
      </p:sp>
      <p:sp>
        <p:nvSpPr>
          <p:cNvPr id="878" name="Text 19"/>
          <p:cNvSpPr txBox="1"/>
          <p:nvPr/>
        </p:nvSpPr>
        <p:spPr>
          <a:xfrm>
            <a:off x="496372" y="6168304"/>
            <a:ext cx="351164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约束条件(仅列表内药物)</a:t>
            </a:r>
          </a:p>
        </p:txBody>
      </p:sp>
      <p:sp>
        <p:nvSpPr>
          <p:cNvPr id="879" name="Shape 20"/>
          <p:cNvSpPr/>
          <p:nvPr/>
        </p:nvSpPr>
        <p:spPr>
          <a:xfrm>
            <a:off x="4233319" y="4841592"/>
            <a:ext cx="3733313" cy="16641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96" y="0"/>
                </a:moveTo>
                <a:lnTo>
                  <a:pt x="21004" y="0"/>
                </a:lnTo>
                <a:cubicBezTo>
                  <a:pt x="21333" y="0"/>
                  <a:pt x="21600" y="599"/>
                  <a:pt x="21600" y="1337"/>
                </a:cubicBezTo>
                <a:lnTo>
                  <a:pt x="21600" y="20263"/>
                </a:lnTo>
                <a:cubicBezTo>
                  <a:pt x="21600" y="21001"/>
                  <a:pt x="21333" y="21600"/>
                  <a:pt x="21004" y="21600"/>
                </a:cubicBezTo>
                <a:lnTo>
                  <a:pt x="596" y="21600"/>
                </a:lnTo>
                <a:cubicBezTo>
                  <a:pt x="267" y="21600"/>
                  <a:pt x="0" y="21001"/>
                  <a:pt x="0" y="20263"/>
                </a:cubicBezTo>
                <a:lnTo>
                  <a:pt x="0" y="1337"/>
                </a:lnTo>
                <a:cubicBezTo>
                  <a:pt x="0" y="599"/>
                  <a:pt x="267" y="0"/>
                  <a:pt x="596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23091">
            <a:solidFill>
              <a:srgbClr val="4A6C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0" name="Shape 21"/>
          <p:cNvSpPr/>
          <p:nvPr/>
        </p:nvSpPr>
        <p:spPr>
          <a:xfrm>
            <a:off x="4419234" y="5029594"/>
            <a:ext cx="115911" cy="154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700"/>
                </a:moveTo>
                <a:cubicBezTo>
                  <a:pt x="0" y="1211"/>
                  <a:pt x="1614" y="0"/>
                  <a:pt x="3600" y="0"/>
                </a:cubicBezTo>
                <a:lnTo>
                  <a:pt x="12009" y="0"/>
                </a:lnTo>
                <a:cubicBezTo>
                  <a:pt x="12966" y="0"/>
                  <a:pt x="13882" y="283"/>
                  <a:pt x="14557" y="789"/>
                </a:cubicBezTo>
                <a:lnTo>
                  <a:pt x="20548" y="5286"/>
                </a:lnTo>
                <a:cubicBezTo>
                  <a:pt x="21223" y="5792"/>
                  <a:pt x="21600" y="6480"/>
                  <a:pt x="21600" y="7197"/>
                </a:cubicBezTo>
                <a:lnTo>
                  <a:pt x="21600" y="18900"/>
                </a:lnTo>
                <a:cubicBezTo>
                  <a:pt x="21600" y="20389"/>
                  <a:pt x="19986" y="21600"/>
                  <a:pt x="18000" y="21600"/>
                </a:cubicBezTo>
                <a:lnTo>
                  <a:pt x="3600" y="21600"/>
                </a:lnTo>
                <a:cubicBezTo>
                  <a:pt x="1614" y="21600"/>
                  <a:pt x="0" y="20389"/>
                  <a:pt x="0" y="18900"/>
                </a:cubicBezTo>
                <a:lnTo>
                  <a:pt x="0" y="2700"/>
                </a:lnTo>
                <a:close/>
                <a:moveTo>
                  <a:pt x="11700" y="2468"/>
                </a:moveTo>
                <a:lnTo>
                  <a:pt x="11700" y="6413"/>
                </a:lnTo>
                <a:cubicBezTo>
                  <a:pt x="11700" y="6974"/>
                  <a:pt x="12302" y="7425"/>
                  <a:pt x="13050" y="7425"/>
                </a:cubicBezTo>
                <a:lnTo>
                  <a:pt x="18309" y="7425"/>
                </a:lnTo>
                <a:lnTo>
                  <a:pt x="11700" y="2468"/>
                </a:lnTo>
                <a:close/>
                <a:moveTo>
                  <a:pt x="9000" y="11813"/>
                </a:moveTo>
                <a:lnTo>
                  <a:pt x="9000" y="13500"/>
                </a:lnTo>
                <a:lnTo>
                  <a:pt x="6750" y="13500"/>
                </a:lnTo>
                <a:cubicBezTo>
                  <a:pt x="6255" y="13500"/>
                  <a:pt x="5850" y="13804"/>
                  <a:pt x="5850" y="14175"/>
                </a:cubicBezTo>
                <a:lnTo>
                  <a:pt x="5850" y="15525"/>
                </a:lnTo>
                <a:cubicBezTo>
                  <a:pt x="5850" y="15896"/>
                  <a:pt x="6255" y="16200"/>
                  <a:pt x="6750" y="16200"/>
                </a:cubicBezTo>
                <a:lnTo>
                  <a:pt x="9000" y="16200"/>
                </a:lnTo>
                <a:lnTo>
                  <a:pt x="9000" y="17888"/>
                </a:lnTo>
                <a:cubicBezTo>
                  <a:pt x="9000" y="18259"/>
                  <a:pt x="9405" y="18563"/>
                  <a:pt x="9900" y="18563"/>
                </a:cubicBezTo>
                <a:lnTo>
                  <a:pt x="11700" y="18563"/>
                </a:lnTo>
                <a:cubicBezTo>
                  <a:pt x="12195" y="18563"/>
                  <a:pt x="12600" y="18259"/>
                  <a:pt x="12600" y="17888"/>
                </a:cubicBezTo>
                <a:lnTo>
                  <a:pt x="12600" y="16200"/>
                </a:lnTo>
                <a:lnTo>
                  <a:pt x="14850" y="16200"/>
                </a:lnTo>
                <a:cubicBezTo>
                  <a:pt x="15345" y="16200"/>
                  <a:pt x="15750" y="15896"/>
                  <a:pt x="15750" y="15525"/>
                </a:cubicBezTo>
                <a:lnTo>
                  <a:pt x="15750" y="14175"/>
                </a:lnTo>
                <a:cubicBezTo>
                  <a:pt x="15750" y="13804"/>
                  <a:pt x="15345" y="13500"/>
                  <a:pt x="14850" y="13500"/>
                </a:cubicBezTo>
                <a:lnTo>
                  <a:pt x="12600" y="13500"/>
                </a:lnTo>
                <a:lnTo>
                  <a:pt x="12600" y="11813"/>
                </a:lnTo>
                <a:cubicBezTo>
                  <a:pt x="12600" y="11441"/>
                  <a:pt x="12195" y="11138"/>
                  <a:pt x="11700" y="11138"/>
                </a:cubicBezTo>
                <a:lnTo>
                  <a:pt x="9900" y="11138"/>
                </a:lnTo>
                <a:cubicBezTo>
                  <a:pt x="9405" y="11138"/>
                  <a:pt x="9000" y="11441"/>
                  <a:pt x="9000" y="11813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81" name="Text 22"/>
          <p:cNvSpPr txBox="1"/>
          <p:nvPr/>
        </p:nvSpPr>
        <p:spPr>
          <a:xfrm>
            <a:off x="4575926" y="4998975"/>
            <a:ext cx="332275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Input字段</a:t>
            </a:r>
          </a:p>
        </p:txBody>
      </p:sp>
      <p:sp>
        <p:nvSpPr>
          <p:cNvPr id="882" name="Text 23"/>
          <p:cNvSpPr txBox="1"/>
          <p:nvPr/>
        </p:nvSpPr>
        <p:spPr>
          <a:xfrm>
            <a:off x="4378450" y="5344164"/>
            <a:ext cx="351164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当前病历(结构化文本)</a:t>
            </a:r>
          </a:p>
        </p:txBody>
      </p:sp>
      <p:sp>
        <p:nvSpPr>
          <p:cNvPr id="883" name="Text 24"/>
          <p:cNvSpPr txBox="1"/>
          <p:nvPr/>
        </p:nvSpPr>
        <p:spPr>
          <a:xfrm>
            <a:off x="4378450" y="5618881"/>
            <a:ext cx="351164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候选药物列表(651种)</a:t>
            </a:r>
          </a:p>
        </p:txBody>
      </p:sp>
      <p:sp>
        <p:nvSpPr>
          <p:cNvPr id="884" name="Text 25"/>
          <p:cNvSpPr txBox="1"/>
          <p:nvPr/>
        </p:nvSpPr>
        <p:spPr>
          <a:xfrm>
            <a:off x="4378450" y="5893596"/>
            <a:ext cx="351164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主诉/现病史/既往史</a:t>
            </a:r>
          </a:p>
        </p:txBody>
      </p:sp>
      <p:sp>
        <p:nvSpPr>
          <p:cNvPr id="885" name="Text 26"/>
          <p:cNvSpPr txBox="1"/>
          <p:nvPr/>
        </p:nvSpPr>
        <p:spPr>
          <a:xfrm>
            <a:off x="4378450" y="6168304"/>
            <a:ext cx="351164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检查结果/诊断</a:t>
            </a:r>
          </a:p>
        </p:txBody>
      </p:sp>
      <p:sp>
        <p:nvSpPr>
          <p:cNvPr id="886" name="Shape 27"/>
          <p:cNvSpPr/>
          <p:nvPr/>
        </p:nvSpPr>
        <p:spPr>
          <a:xfrm>
            <a:off x="8115396" y="4841592"/>
            <a:ext cx="3733313" cy="16641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96" y="0"/>
                </a:moveTo>
                <a:lnTo>
                  <a:pt x="21004" y="0"/>
                </a:lnTo>
                <a:cubicBezTo>
                  <a:pt x="21333" y="0"/>
                  <a:pt x="21600" y="599"/>
                  <a:pt x="21600" y="1337"/>
                </a:cubicBezTo>
                <a:lnTo>
                  <a:pt x="21600" y="20263"/>
                </a:lnTo>
                <a:cubicBezTo>
                  <a:pt x="21600" y="21001"/>
                  <a:pt x="21333" y="21600"/>
                  <a:pt x="21004" y="21600"/>
                </a:cubicBezTo>
                <a:lnTo>
                  <a:pt x="596" y="21600"/>
                </a:lnTo>
                <a:cubicBezTo>
                  <a:pt x="267" y="21600"/>
                  <a:pt x="0" y="21001"/>
                  <a:pt x="0" y="20263"/>
                </a:cubicBezTo>
                <a:lnTo>
                  <a:pt x="0" y="1337"/>
                </a:lnTo>
                <a:cubicBezTo>
                  <a:pt x="0" y="599"/>
                  <a:pt x="267" y="0"/>
                  <a:pt x="596" y="0"/>
                </a:cubicBezTo>
                <a:close/>
              </a:path>
            </a:pathLst>
          </a:custGeom>
          <a:solidFill>
            <a:srgbClr val="5E8B7E">
              <a:alpha val="14902"/>
            </a:srgbClr>
          </a:solidFill>
          <a:ln w="23091">
            <a:solidFill>
              <a:srgbClr val="5E8B7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7" name="Shape 28"/>
          <p:cNvSpPr/>
          <p:nvPr/>
        </p:nvSpPr>
        <p:spPr>
          <a:xfrm>
            <a:off x="8281992" y="5029594"/>
            <a:ext cx="154547" cy="154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700" y="4725"/>
                </a:moveTo>
                <a:cubicBezTo>
                  <a:pt x="2700" y="3607"/>
                  <a:pt x="3607" y="2700"/>
                  <a:pt x="4725" y="2700"/>
                </a:cubicBezTo>
                <a:cubicBezTo>
                  <a:pt x="5843" y="2700"/>
                  <a:pt x="6750" y="3607"/>
                  <a:pt x="6750" y="4725"/>
                </a:cubicBezTo>
                <a:lnTo>
                  <a:pt x="6750" y="9450"/>
                </a:lnTo>
                <a:lnTo>
                  <a:pt x="2700" y="9450"/>
                </a:lnTo>
                <a:lnTo>
                  <a:pt x="2700" y="4725"/>
                </a:lnTo>
                <a:close/>
                <a:moveTo>
                  <a:pt x="7425" y="15525"/>
                </a:moveTo>
                <a:cubicBezTo>
                  <a:pt x="7425" y="13470"/>
                  <a:pt x="8189" y="11593"/>
                  <a:pt x="9450" y="10167"/>
                </a:cubicBezTo>
                <a:lnTo>
                  <a:pt x="9450" y="4725"/>
                </a:lnTo>
                <a:cubicBezTo>
                  <a:pt x="9450" y="2114"/>
                  <a:pt x="7336" y="0"/>
                  <a:pt x="4725" y="0"/>
                </a:cubicBezTo>
                <a:cubicBezTo>
                  <a:pt x="2114" y="0"/>
                  <a:pt x="0" y="2114"/>
                  <a:pt x="0" y="4725"/>
                </a:cubicBezTo>
                <a:lnTo>
                  <a:pt x="0" y="16875"/>
                </a:lnTo>
                <a:cubicBezTo>
                  <a:pt x="0" y="19486"/>
                  <a:pt x="2114" y="21600"/>
                  <a:pt x="4725" y="21600"/>
                </a:cubicBezTo>
                <a:cubicBezTo>
                  <a:pt x="6299" y="21600"/>
                  <a:pt x="7691" y="20832"/>
                  <a:pt x="8551" y="19647"/>
                </a:cubicBezTo>
                <a:cubicBezTo>
                  <a:pt x="7834" y="18440"/>
                  <a:pt x="7425" y="17031"/>
                  <a:pt x="7425" y="15525"/>
                </a:cubicBezTo>
                <a:close/>
                <a:moveTo>
                  <a:pt x="10155" y="18369"/>
                </a:moveTo>
                <a:cubicBezTo>
                  <a:pt x="10349" y="18736"/>
                  <a:pt x="10842" y="18778"/>
                  <a:pt x="11138" y="18482"/>
                </a:cubicBezTo>
                <a:lnTo>
                  <a:pt x="18482" y="11138"/>
                </a:lnTo>
                <a:cubicBezTo>
                  <a:pt x="18778" y="10842"/>
                  <a:pt x="18736" y="10349"/>
                  <a:pt x="18369" y="10155"/>
                </a:cubicBezTo>
                <a:cubicBezTo>
                  <a:pt x="17521" y="9703"/>
                  <a:pt x="16554" y="9450"/>
                  <a:pt x="15525" y="9450"/>
                </a:cubicBezTo>
                <a:cubicBezTo>
                  <a:pt x="12171" y="9450"/>
                  <a:pt x="9450" y="12171"/>
                  <a:pt x="9450" y="15525"/>
                </a:cubicBezTo>
                <a:cubicBezTo>
                  <a:pt x="9450" y="16550"/>
                  <a:pt x="9703" y="17521"/>
                  <a:pt x="10155" y="18369"/>
                </a:cubicBezTo>
                <a:close/>
                <a:moveTo>
                  <a:pt x="12568" y="19913"/>
                </a:moveTo>
                <a:cubicBezTo>
                  <a:pt x="12272" y="20208"/>
                  <a:pt x="12315" y="20701"/>
                  <a:pt x="12682" y="20896"/>
                </a:cubicBezTo>
                <a:cubicBezTo>
                  <a:pt x="13530" y="21347"/>
                  <a:pt x="14496" y="21600"/>
                  <a:pt x="15525" y="21600"/>
                </a:cubicBezTo>
                <a:cubicBezTo>
                  <a:pt x="18879" y="21600"/>
                  <a:pt x="21600" y="18879"/>
                  <a:pt x="21600" y="15525"/>
                </a:cubicBezTo>
                <a:cubicBezTo>
                  <a:pt x="21600" y="14500"/>
                  <a:pt x="21347" y="13530"/>
                  <a:pt x="20896" y="12682"/>
                </a:cubicBezTo>
                <a:cubicBezTo>
                  <a:pt x="20701" y="12315"/>
                  <a:pt x="20208" y="12272"/>
                  <a:pt x="19913" y="12568"/>
                </a:cubicBezTo>
                <a:lnTo>
                  <a:pt x="12568" y="19913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88" name="Text 29"/>
          <p:cNvSpPr txBox="1"/>
          <p:nvPr/>
        </p:nvSpPr>
        <p:spPr>
          <a:xfrm>
            <a:off x="8458004" y="4998975"/>
            <a:ext cx="332275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Output字段</a:t>
            </a:r>
          </a:p>
        </p:txBody>
      </p:sp>
      <p:sp>
        <p:nvSpPr>
          <p:cNvPr id="889" name="Text 30"/>
          <p:cNvSpPr txBox="1"/>
          <p:nvPr/>
        </p:nvSpPr>
        <p:spPr>
          <a:xfrm>
            <a:off x="8260528" y="5344164"/>
            <a:ext cx="351164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最终出院带药列表</a:t>
            </a:r>
          </a:p>
        </p:txBody>
      </p:sp>
      <p:sp>
        <p:nvSpPr>
          <p:cNvPr id="890" name="Text 31"/>
          <p:cNvSpPr txBox="1"/>
          <p:nvPr/>
        </p:nvSpPr>
        <p:spPr>
          <a:xfrm>
            <a:off x="8260528" y="5618881"/>
            <a:ext cx="351164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严格JSON数组格式</a:t>
            </a:r>
          </a:p>
        </p:txBody>
      </p:sp>
      <p:sp>
        <p:nvSpPr>
          <p:cNvPr id="891" name="Text 32"/>
          <p:cNvSpPr txBox="1"/>
          <p:nvPr/>
        </p:nvSpPr>
        <p:spPr>
          <a:xfrm>
            <a:off x="8260528" y="5893596"/>
            <a:ext cx="351164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药名与列表完全一致</a:t>
            </a:r>
          </a:p>
        </p:txBody>
      </p:sp>
      <p:sp>
        <p:nvSpPr>
          <p:cNvPr id="892" name="Text 33"/>
          <p:cNvSpPr txBox="1"/>
          <p:nvPr/>
        </p:nvSpPr>
        <p:spPr>
          <a:xfrm>
            <a:off x="8260528" y="6168304"/>
            <a:ext cx="351164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可为空数组[]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Text 0"/>
          <p:cNvSpPr txBox="1"/>
          <p:nvPr/>
        </p:nvSpPr>
        <p:spPr>
          <a:xfrm>
            <a:off x="317500" y="336549"/>
            <a:ext cx="116205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pc="50" sz="1000">
                <a:solidFill>
                  <a:srgbClr val="5E8B7E"/>
                </a:solidFill>
                <a:latin typeface="Liter"/>
                <a:ea typeface="Liter"/>
                <a:cs typeface="Liter"/>
                <a:sym typeface="Liter"/>
              </a:defRPr>
            </a:lvl1pPr>
          </a:lstStyle>
          <a:p>
            <a:pPr/>
            <a:r>
              <a:t>MODULE 4: COT DISTILLATION</a:t>
            </a:r>
          </a:p>
        </p:txBody>
      </p:sp>
      <p:sp>
        <p:nvSpPr>
          <p:cNvPr id="895" name="Text 1"/>
          <p:cNvSpPr txBox="1"/>
          <p:nvPr/>
        </p:nvSpPr>
        <p:spPr>
          <a:xfrm>
            <a:off x="317500" y="495261"/>
            <a:ext cx="117475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80000"/>
              </a:lnSpc>
              <a:defRPr b="1" sz="3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模块4: CoT蒸馏架构</a:t>
            </a:r>
          </a:p>
        </p:txBody>
      </p:sp>
      <p:sp>
        <p:nvSpPr>
          <p:cNvPr id="896" name="Shape 3"/>
          <p:cNvSpPr/>
          <p:nvPr/>
        </p:nvSpPr>
        <p:spPr>
          <a:xfrm>
            <a:off x="326159" y="983622"/>
            <a:ext cx="8078933" cy="4095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7" y="0"/>
                </a:moveTo>
                <a:lnTo>
                  <a:pt x="21345" y="0"/>
                </a:lnTo>
                <a:cubicBezTo>
                  <a:pt x="21486" y="0"/>
                  <a:pt x="21600" y="225"/>
                  <a:pt x="21600" y="502"/>
                </a:cubicBezTo>
                <a:lnTo>
                  <a:pt x="21600" y="21098"/>
                </a:lnTo>
                <a:cubicBezTo>
                  <a:pt x="21600" y="21375"/>
                  <a:pt x="21486" y="21600"/>
                  <a:pt x="21345" y="21600"/>
                </a:cubicBezTo>
                <a:lnTo>
                  <a:pt x="77" y="21600"/>
                </a:lnTo>
                <a:cubicBezTo>
                  <a:pt x="35" y="21600"/>
                  <a:pt x="0" y="21532"/>
                  <a:pt x="0" y="21448"/>
                </a:cubicBezTo>
                <a:lnTo>
                  <a:pt x="0" y="152"/>
                </a:lnTo>
                <a:cubicBezTo>
                  <a:pt x="0" y="68"/>
                  <a:pt x="35" y="0"/>
                  <a:pt x="77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97" name="Shape 4"/>
          <p:cNvSpPr/>
          <p:nvPr/>
        </p:nvSpPr>
        <p:spPr>
          <a:xfrm>
            <a:off x="326159" y="983622"/>
            <a:ext cx="28865" cy="4095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532"/>
                  <a:pt x="0" y="21448"/>
                </a:cubicBezTo>
                <a:lnTo>
                  <a:pt x="0" y="152"/>
                </a:lnTo>
                <a:cubicBezTo>
                  <a:pt x="0" y="68"/>
                  <a:pt x="9671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98" name="Shape 5"/>
          <p:cNvSpPr/>
          <p:nvPr/>
        </p:nvSpPr>
        <p:spPr>
          <a:xfrm>
            <a:off x="467546" y="1110583"/>
            <a:ext cx="381001" cy="381001"/>
          </a:xfrm>
          <a:prstGeom prst="ellipse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99" name="Text 6"/>
          <p:cNvSpPr txBox="1"/>
          <p:nvPr/>
        </p:nvSpPr>
        <p:spPr>
          <a:xfrm>
            <a:off x="427858" y="1212183"/>
            <a:ext cx="46037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b="1" sz="1200">
                <a:solidFill>
                  <a:srgbClr val="1A1D21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900" name="Text 7"/>
          <p:cNvSpPr txBox="1"/>
          <p:nvPr/>
        </p:nvSpPr>
        <p:spPr>
          <a:xfrm>
            <a:off x="943739" y="1167710"/>
            <a:ext cx="1770064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z="15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阶段1: CoT知识蒸馏</a:t>
            </a:r>
          </a:p>
        </p:txBody>
      </p:sp>
      <p:sp>
        <p:nvSpPr>
          <p:cNvPr id="901" name="Shape 8"/>
          <p:cNvSpPr/>
          <p:nvPr/>
        </p:nvSpPr>
        <p:spPr>
          <a:xfrm>
            <a:off x="460375" y="1555153"/>
            <a:ext cx="2451866" cy="1079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6" y="0"/>
                </a:moveTo>
                <a:lnTo>
                  <a:pt x="21424" y="0"/>
                </a:lnTo>
                <a:cubicBezTo>
                  <a:pt x="21521" y="0"/>
                  <a:pt x="21600" y="569"/>
                  <a:pt x="21600" y="1271"/>
                </a:cubicBezTo>
                <a:lnTo>
                  <a:pt x="21600" y="20329"/>
                </a:lnTo>
                <a:cubicBezTo>
                  <a:pt x="21600" y="21031"/>
                  <a:pt x="21521" y="21600"/>
                  <a:pt x="21424" y="21600"/>
                </a:cubicBezTo>
                <a:lnTo>
                  <a:pt x="176" y="21600"/>
                </a:lnTo>
                <a:cubicBezTo>
                  <a:pt x="79" y="21600"/>
                  <a:pt x="0" y="21031"/>
                  <a:pt x="0" y="20329"/>
                </a:cubicBezTo>
                <a:lnTo>
                  <a:pt x="0" y="1271"/>
                </a:lnTo>
                <a:cubicBezTo>
                  <a:pt x="0" y="569"/>
                  <a:pt x="79" y="0"/>
                  <a:pt x="17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02" name="Text 9"/>
          <p:cNvSpPr txBox="1"/>
          <p:nvPr/>
        </p:nvSpPr>
        <p:spPr>
          <a:xfrm>
            <a:off x="562762" y="1688340"/>
            <a:ext cx="76835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步骤1.1: DeepSeek-R1生成高质量CoT</a:t>
            </a:r>
          </a:p>
        </p:txBody>
      </p:sp>
      <p:sp>
        <p:nvSpPr>
          <p:cNvPr id="903" name="Text 10"/>
          <p:cNvSpPr txBox="1"/>
          <p:nvPr/>
        </p:nvSpPr>
        <p:spPr>
          <a:xfrm>
            <a:off x="562762" y="1942309"/>
            <a:ext cx="76835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· 输入: 病历 + Few-shot提示</a:t>
            </a:r>
          </a:p>
        </p:txBody>
      </p:sp>
      <p:sp>
        <p:nvSpPr>
          <p:cNvPr id="904" name="Text 11"/>
          <p:cNvSpPr txBox="1"/>
          <p:nvPr/>
        </p:nvSpPr>
        <p:spPr>
          <a:xfrm>
            <a:off x="562762" y="2177236"/>
            <a:ext cx="76835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· Teacher: DeepSeek-R1</a:t>
            </a:r>
          </a:p>
        </p:txBody>
      </p:sp>
      <p:sp>
        <p:nvSpPr>
          <p:cNvPr id="905" name="Text 12"/>
          <p:cNvSpPr txBox="1"/>
          <p:nvPr/>
        </p:nvSpPr>
        <p:spPr>
          <a:xfrm>
            <a:off x="562762" y="2386763"/>
            <a:ext cx="76835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· 输出: 高质量CoT推理链</a:t>
            </a:r>
          </a:p>
        </p:txBody>
      </p:sp>
      <p:sp>
        <p:nvSpPr>
          <p:cNvPr id="906" name="Shape 13"/>
          <p:cNvSpPr/>
          <p:nvPr/>
        </p:nvSpPr>
        <p:spPr>
          <a:xfrm>
            <a:off x="435762" y="2745391"/>
            <a:ext cx="2501091" cy="1079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6" y="0"/>
                </a:moveTo>
                <a:lnTo>
                  <a:pt x="21424" y="0"/>
                </a:lnTo>
                <a:cubicBezTo>
                  <a:pt x="21521" y="0"/>
                  <a:pt x="21600" y="569"/>
                  <a:pt x="21600" y="1271"/>
                </a:cubicBezTo>
                <a:lnTo>
                  <a:pt x="21600" y="20329"/>
                </a:lnTo>
                <a:cubicBezTo>
                  <a:pt x="21600" y="21031"/>
                  <a:pt x="21521" y="21600"/>
                  <a:pt x="21424" y="21600"/>
                </a:cubicBezTo>
                <a:lnTo>
                  <a:pt x="176" y="21600"/>
                </a:lnTo>
                <a:cubicBezTo>
                  <a:pt x="79" y="21600"/>
                  <a:pt x="0" y="21031"/>
                  <a:pt x="0" y="20329"/>
                </a:cubicBezTo>
                <a:lnTo>
                  <a:pt x="0" y="1271"/>
                </a:lnTo>
                <a:cubicBezTo>
                  <a:pt x="0" y="569"/>
                  <a:pt x="79" y="0"/>
                  <a:pt x="17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07" name="Text 14"/>
          <p:cNvSpPr txBox="1"/>
          <p:nvPr/>
        </p:nvSpPr>
        <p:spPr>
          <a:xfrm>
            <a:off x="562762" y="2831162"/>
            <a:ext cx="76835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步骤1.2: CoT质量评估与过滤</a:t>
            </a:r>
          </a:p>
        </p:txBody>
      </p:sp>
      <p:sp>
        <p:nvSpPr>
          <p:cNvPr id="908" name="Text 15"/>
          <p:cNvSpPr txBox="1"/>
          <p:nvPr/>
        </p:nvSpPr>
        <p:spPr>
          <a:xfrm>
            <a:off x="562762" y="3085123"/>
            <a:ext cx="76835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· 评估指标: 准确性、完整性、逻辑性</a:t>
            </a:r>
          </a:p>
        </p:txBody>
      </p:sp>
      <p:sp>
        <p:nvSpPr>
          <p:cNvPr id="909" name="Text 16"/>
          <p:cNvSpPr txBox="1"/>
          <p:nvPr/>
        </p:nvSpPr>
        <p:spPr>
          <a:xfrm>
            <a:off x="562762" y="3307350"/>
            <a:ext cx="76835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· 质量阈值: 0.8</a:t>
            </a:r>
          </a:p>
        </p:txBody>
      </p:sp>
      <p:sp>
        <p:nvSpPr>
          <p:cNvPr id="910" name="Text 17"/>
          <p:cNvSpPr txBox="1"/>
          <p:nvPr/>
        </p:nvSpPr>
        <p:spPr>
          <a:xfrm>
            <a:off x="562762" y="3529577"/>
            <a:ext cx="76835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· 过滤低质量CoT</a:t>
            </a:r>
          </a:p>
        </p:txBody>
      </p:sp>
      <p:sp>
        <p:nvSpPr>
          <p:cNvPr id="911" name="Shape 18"/>
          <p:cNvSpPr/>
          <p:nvPr/>
        </p:nvSpPr>
        <p:spPr>
          <a:xfrm>
            <a:off x="435762" y="3898167"/>
            <a:ext cx="2501091" cy="1079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6" y="0"/>
                </a:moveTo>
                <a:lnTo>
                  <a:pt x="21424" y="0"/>
                </a:lnTo>
                <a:cubicBezTo>
                  <a:pt x="21521" y="0"/>
                  <a:pt x="21600" y="569"/>
                  <a:pt x="21600" y="1271"/>
                </a:cubicBezTo>
                <a:lnTo>
                  <a:pt x="21600" y="20329"/>
                </a:lnTo>
                <a:cubicBezTo>
                  <a:pt x="21600" y="21031"/>
                  <a:pt x="21521" y="21600"/>
                  <a:pt x="21424" y="21600"/>
                </a:cubicBezTo>
                <a:lnTo>
                  <a:pt x="176" y="21600"/>
                </a:lnTo>
                <a:cubicBezTo>
                  <a:pt x="79" y="21600"/>
                  <a:pt x="0" y="21031"/>
                  <a:pt x="0" y="20329"/>
                </a:cubicBezTo>
                <a:lnTo>
                  <a:pt x="0" y="1271"/>
                </a:lnTo>
                <a:cubicBezTo>
                  <a:pt x="0" y="569"/>
                  <a:pt x="79" y="0"/>
                  <a:pt x="17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12" name="Text 19"/>
          <p:cNvSpPr txBox="1"/>
          <p:nvPr/>
        </p:nvSpPr>
        <p:spPr>
          <a:xfrm>
            <a:off x="562762" y="3973976"/>
            <a:ext cx="76835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步骤1.3: 知识蒸馏(Teacher→Student)</a:t>
            </a:r>
          </a:p>
        </p:txBody>
      </p:sp>
      <p:sp>
        <p:nvSpPr>
          <p:cNvPr id="913" name="Text 20"/>
          <p:cNvSpPr txBox="1"/>
          <p:nvPr/>
        </p:nvSpPr>
        <p:spPr>
          <a:xfrm>
            <a:off x="562762" y="4240645"/>
            <a:ext cx="76835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· Student: GLM-4-9B + LoRA</a:t>
            </a:r>
          </a:p>
        </p:txBody>
      </p:sp>
      <p:sp>
        <p:nvSpPr>
          <p:cNvPr id="914" name="Text 21"/>
          <p:cNvSpPr txBox="1"/>
          <p:nvPr/>
        </p:nvSpPr>
        <p:spPr>
          <a:xfrm>
            <a:off x="562762" y="4450172"/>
            <a:ext cx="76835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· 训练数据: DeepSeek-R1生成的CoT</a:t>
            </a:r>
          </a:p>
        </p:txBody>
      </p:sp>
      <p:sp>
        <p:nvSpPr>
          <p:cNvPr id="915" name="Text 22"/>
          <p:cNvSpPr txBox="1"/>
          <p:nvPr/>
        </p:nvSpPr>
        <p:spPr>
          <a:xfrm>
            <a:off x="562762" y="4672399"/>
            <a:ext cx="76835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· 训练目标: 学习生成CoT推理链</a:t>
            </a:r>
          </a:p>
        </p:txBody>
      </p:sp>
      <p:sp>
        <p:nvSpPr>
          <p:cNvPr id="916" name="Shape 24"/>
          <p:cNvSpPr/>
          <p:nvPr/>
        </p:nvSpPr>
        <p:spPr>
          <a:xfrm>
            <a:off x="3141042" y="1019242"/>
            <a:ext cx="5274967" cy="4095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7" y="0"/>
                </a:moveTo>
                <a:lnTo>
                  <a:pt x="21345" y="0"/>
                </a:lnTo>
                <a:cubicBezTo>
                  <a:pt x="21486" y="0"/>
                  <a:pt x="21600" y="225"/>
                  <a:pt x="21600" y="502"/>
                </a:cubicBezTo>
                <a:lnTo>
                  <a:pt x="21600" y="21098"/>
                </a:lnTo>
                <a:cubicBezTo>
                  <a:pt x="21600" y="21375"/>
                  <a:pt x="21486" y="21600"/>
                  <a:pt x="21345" y="21600"/>
                </a:cubicBezTo>
                <a:lnTo>
                  <a:pt x="77" y="21600"/>
                </a:lnTo>
                <a:cubicBezTo>
                  <a:pt x="35" y="21600"/>
                  <a:pt x="0" y="21532"/>
                  <a:pt x="0" y="21448"/>
                </a:cubicBezTo>
                <a:lnTo>
                  <a:pt x="0" y="152"/>
                </a:lnTo>
                <a:cubicBezTo>
                  <a:pt x="0" y="68"/>
                  <a:pt x="35" y="0"/>
                  <a:pt x="77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17" name="Shape 25"/>
          <p:cNvSpPr/>
          <p:nvPr/>
        </p:nvSpPr>
        <p:spPr>
          <a:xfrm>
            <a:off x="3100785" y="990475"/>
            <a:ext cx="28865" cy="4095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532"/>
                  <a:pt x="0" y="21448"/>
                </a:cubicBezTo>
                <a:lnTo>
                  <a:pt x="0" y="152"/>
                </a:lnTo>
                <a:cubicBezTo>
                  <a:pt x="0" y="68"/>
                  <a:pt x="9671" y="0"/>
                  <a:pt x="21600" y="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18" name="Shape 26"/>
          <p:cNvSpPr/>
          <p:nvPr/>
        </p:nvSpPr>
        <p:spPr>
          <a:xfrm>
            <a:off x="3282429" y="1146195"/>
            <a:ext cx="381001" cy="381001"/>
          </a:xfrm>
          <a:prstGeom prst="ellipse">
            <a:avLst/>
          </a:pr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19" name="Text 27"/>
          <p:cNvSpPr txBox="1"/>
          <p:nvPr/>
        </p:nvSpPr>
        <p:spPr>
          <a:xfrm>
            <a:off x="3242741" y="1247795"/>
            <a:ext cx="46037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920" name="Text 28"/>
          <p:cNvSpPr txBox="1"/>
          <p:nvPr/>
        </p:nvSpPr>
        <p:spPr>
          <a:xfrm>
            <a:off x="3758622" y="1203322"/>
            <a:ext cx="2206626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z="15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阶段2: DPO优化CoT质量</a:t>
            </a:r>
          </a:p>
        </p:txBody>
      </p:sp>
      <p:sp>
        <p:nvSpPr>
          <p:cNvPr id="921" name="Shape 29"/>
          <p:cNvSpPr/>
          <p:nvPr/>
        </p:nvSpPr>
        <p:spPr>
          <a:xfrm>
            <a:off x="3282429" y="1622391"/>
            <a:ext cx="2865439" cy="1079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6" y="0"/>
                </a:moveTo>
                <a:lnTo>
                  <a:pt x="21424" y="0"/>
                </a:lnTo>
                <a:cubicBezTo>
                  <a:pt x="21521" y="0"/>
                  <a:pt x="21600" y="569"/>
                  <a:pt x="21600" y="1271"/>
                </a:cubicBezTo>
                <a:lnTo>
                  <a:pt x="21600" y="20329"/>
                </a:lnTo>
                <a:cubicBezTo>
                  <a:pt x="21600" y="21031"/>
                  <a:pt x="21521" y="21600"/>
                  <a:pt x="21424" y="21600"/>
                </a:cubicBezTo>
                <a:lnTo>
                  <a:pt x="176" y="21600"/>
                </a:lnTo>
                <a:cubicBezTo>
                  <a:pt x="79" y="21600"/>
                  <a:pt x="0" y="21031"/>
                  <a:pt x="0" y="20329"/>
                </a:cubicBezTo>
                <a:lnTo>
                  <a:pt x="0" y="1271"/>
                </a:lnTo>
                <a:cubicBezTo>
                  <a:pt x="0" y="569"/>
                  <a:pt x="79" y="0"/>
                  <a:pt x="17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22" name="Text 30"/>
          <p:cNvSpPr txBox="1"/>
          <p:nvPr/>
        </p:nvSpPr>
        <p:spPr>
          <a:xfrm>
            <a:off x="3377645" y="1723952"/>
            <a:ext cx="76835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步骤2.1: 偏好数据构建</a:t>
            </a:r>
          </a:p>
        </p:txBody>
      </p:sp>
      <p:sp>
        <p:nvSpPr>
          <p:cNvPr id="923" name="Text 31"/>
          <p:cNvSpPr txBox="1"/>
          <p:nvPr/>
        </p:nvSpPr>
        <p:spPr>
          <a:xfrm>
            <a:off x="3377645" y="1977921"/>
            <a:ext cx="76835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· 正样本: 高质量CoT(专家标注/DeepSeek-R1)</a:t>
            </a:r>
          </a:p>
        </p:txBody>
      </p:sp>
      <p:sp>
        <p:nvSpPr>
          <p:cNvPr id="924" name="Text 32"/>
          <p:cNvSpPr txBox="1"/>
          <p:nvPr/>
        </p:nvSpPr>
        <p:spPr>
          <a:xfrm>
            <a:off x="3377645" y="2200148"/>
            <a:ext cx="76835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· 负样本: 低质量CoT(模型生成的较差样本)</a:t>
            </a:r>
          </a:p>
        </p:txBody>
      </p:sp>
      <p:sp>
        <p:nvSpPr>
          <p:cNvPr id="925" name="Text 33"/>
          <p:cNvSpPr txBox="1"/>
          <p:nvPr/>
        </p:nvSpPr>
        <p:spPr>
          <a:xfrm>
            <a:off x="3377645" y="2422375"/>
            <a:ext cx="76835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· 偏好对: (好的CoT, 差的CoT)</a:t>
            </a:r>
          </a:p>
        </p:txBody>
      </p:sp>
      <p:sp>
        <p:nvSpPr>
          <p:cNvPr id="926" name="Shape 34"/>
          <p:cNvSpPr/>
          <p:nvPr/>
        </p:nvSpPr>
        <p:spPr>
          <a:xfrm>
            <a:off x="3282429" y="2765205"/>
            <a:ext cx="2865439" cy="1079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6" y="0"/>
                </a:moveTo>
                <a:lnTo>
                  <a:pt x="21424" y="0"/>
                </a:lnTo>
                <a:cubicBezTo>
                  <a:pt x="21521" y="0"/>
                  <a:pt x="21600" y="569"/>
                  <a:pt x="21600" y="1271"/>
                </a:cubicBezTo>
                <a:lnTo>
                  <a:pt x="21600" y="20329"/>
                </a:lnTo>
                <a:cubicBezTo>
                  <a:pt x="21600" y="21031"/>
                  <a:pt x="21521" y="21600"/>
                  <a:pt x="21424" y="21600"/>
                </a:cubicBezTo>
                <a:lnTo>
                  <a:pt x="176" y="21600"/>
                </a:lnTo>
                <a:cubicBezTo>
                  <a:pt x="79" y="21600"/>
                  <a:pt x="0" y="21031"/>
                  <a:pt x="0" y="20329"/>
                </a:cubicBezTo>
                <a:lnTo>
                  <a:pt x="0" y="1271"/>
                </a:lnTo>
                <a:cubicBezTo>
                  <a:pt x="0" y="569"/>
                  <a:pt x="79" y="0"/>
                  <a:pt x="17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27" name="Text 35"/>
          <p:cNvSpPr txBox="1"/>
          <p:nvPr/>
        </p:nvSpPr>
        <p:spPr>
          <a:xfrm>
            <a:off x="3377645" y="2866774"/>
            <a:ext cx="76835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步骤2.2: DPO损失函数训练</a:t>
            </a:r>
          </a:p>
        </p:txBody>
      </p:sp>
      <p:sp>
        <p:nvSpPr>
          <p:cNvPr id="928" name="Text 36"/>
          <p:cNvSpPr txBox="1"/>
          <p:nvPr/>
        </p:nvSpPr>
        <p:spPr>
          <a:xfrm>
            <a:off x="3377645" y="3120743"/>
            <a:ext cx="76835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· 损失函数: DPO Loss</a:t>
            </a:r>
          </a:p>
        </p:txBody>
      </p:sp>
      <p:sp>
        <p:nvSpPr>
          <p:cNvPr id="929" name="Text 37"/>
          <p:cNvSpPr txBox="1"/>
          <p:nvPr/>
        </p:nvSpPr>
        <p:spPr>
          <a:xfrm>
            <a:off x="3377645" y="3342970"/>
            <a:ext cx="76835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· 优化目标: 让模型偏好好CoT</a:t>
            </a:r>
          </a:p>
        </p:txBody>
      </p:sp>
      <p:sp>
        <p:nvSpPr>
          <p:cNvPr id="930" name="Text 38"/>
          <p:cNvSpPr txBox="1"/>
          <p:nvPr/>
        </p:nvSpPr>
        <p:spPr>
          <a:xfrm>
            <a:off x="3377645" y="3565196"/>
            <a:ext cx="76835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· 训练轮数: 1-2轮</a:t>
            </a:r>
          </a:p>
        </p:txBody>
      </p:sp>
      <p:sp>
        <p:nvSpPr>
          <p:cNvPr id="931" name="Shape 39"/>
          <p:cNvSpPr/>
          <p:nvPr/>
        </p:nvSpPr>
        <p:spPr>
          <a:xfrm>
            <a:off x="473318" y="8571142"/>
            <a:ext cx="7810501" cy="1079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6" y="0"/>
                </a:moveTo>
                <a:lnTo>
                  <a:pt x="21424" y="0"/>
                </a:lnTo>
                <a:cubicBezTo>
                  <a:pt x="21521" y="0"/>
                  <a:pt x="21600" y="569"/>
                  <a:pt x="21600" y="1271"/>
                </a:cubicBezTo>
                <a:lnTo>
                  <a:pt x="21600" y="20329"/>
                </a:lnTo>
                <a:cubicBezTo>
                  <a:pt x="21600" y="21031"/>
                  <a:pt x="21521" y="21600"/>
                  <a:pt x="21424" y="21600"/>
                </a:cubicBezTo>
                <a:lnTo>
                  <a:pt x="176" y="21600"/>
                </a:lnTo>
                <a:cubicBezTo>
                  <a:pt x="79" y="21600"/>
                  <a:pt x="0" y="21031"/>
                  <a:pt x="0" y="20329"/>
                </a:cubicBezTo>
                <a:lnTo>
                  <a:pt x="0" y="1271"/>
                </a:lnTo>
                <a:cubicBezTo>
                  <a:pt x="0" y="569"/>
                  <a:pt x="79" y="0"/>
                  <a:pt x="17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32" name="Text 40"/>
          <p:cNvSpPr txBox="1"/>
          <p:nvPr/>
        </p:nvSpPr>
        <p:spPr>
          <a:xfrm>
            <a:off x="568535" y="8672711"/>
            <a:ext cx="76835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步骤2.3: CoT质量优化</a:t>
            </a:r>
          </a:p>
        </p:txBody>
      </p:sp>
      <p:sp>
        <p:nvSpPr>
          <p:cNvPr id="933" name="Text 41"/>
          <p:cNvSpPr txBox="1"/>
          <p:nvPr/>
        </p:nvSpPr>
        <p:spPr>
          <a:xfrm>
            <a:off x="568535" y="8926673"/>
            <a:ext cx="76835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· 准确性优化: 提高推理正确率</a:t>
            </a:r>
          </a:p>
        </p:txBody>
      </p:sp>
      <p:sp>
        <p:nvSpPr>
          <p:cNvPr id="934" name="Text 42"/>
          <p:cNvSpPr txBox="1"/>
          <p:nvPr/>
        </p:nvSpPr>
        <p:spPr>
          <a:xfrm>
            <a:off x="568535" y="9148908"/>
            <a:ext cx="76835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· 简洁性优化: 精简冗余推理步骤</a:t>
            </a:r>
          </a:p>
        </p:txBody>
      </p:sp>
      <p:sp>
        <p:nvSpPr>
          <p:cNvPr id="935" name="Text 43"/>
          <p:cNvSpPr txBox="1"/>
          <p:nvPr/>
        </p:nvSpPr>
        <p:spPr>
          <a:xfrm>
            <a:off x="568535" y="9371134"/>
            <a:ext cx="76835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· 幻觉抑制: 基于RAG检索结果验证事实</a:t>
            </a:r>
          </a:p>
        </p:txBody>
      </p:sp>
      <p:sp>
        <p:nvSpPr>
          <p:cNvPr id="936" name="Shape 44"/>
          <p:cNvSpPr/>
          <p:nvPr/>
        </p:nvSpPr>
        <p:spPr>
          <a:xfrm>
            <a:off x="8547920" y="1256008"/>
            <a:ext cx="3316433" cy="5233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20" y="0"/>
                </a:moveTo>
                <a:lnTo>
                  <a:pt x="20980" y="0"/>
                </a:lnTo>
                <a:cubicBezTo>
                  <a:pt x="21322" y="0"/>
                  <a:pt x="21600" y="108"/>
                  <a:pt x="21600" y="241"/>
                </a:cubicBezTo>
                <a:lnTo>
                  <a:pt x="21600" y="21359"/>
                </a:lnTo>
                <a:cubicBezTo>
                  <a:pt x="21600" y="21492"/>
                  <a:pt x="21322" y="21600"/>
                  <a:pt x="20980" y="21600"/>
                </a:cubicBezTo>
                <a:lnTo>
                  <a:pt x="620" y="21600"/>
                </a:lnTo>
                <a:cubicBezTo>
                  <a:pt x="278" y="21600"/>
                  <a:pt x="0" y="21492"/>
                  <a:pt x="0" y="21359"/>
                </a:cubicBezTo>
                <a:lnTo>
                  <a:pt x="0" y="241"/>
                </a:lnTo>
                <a:cubicBezTo>
                  <a:pt x="0" y="108"/>
                  <a:pt x="278" y="0"/>
                  <a:pt x="620" y="0"/>
                </a:cubicBezTo>
                <a:close/>
              </a:path>
            </a:pathLst>
          </a:custGeom>
          <a:solidFill>
            <a:srgbClr val="5E8B7E">
              <a:alpha val="14902"/>
            </a:srgbClr>
          </a:solidFill>
          <a:ln w="23091">
            <a:solidFill>
              <a:srgbClr val="5E8B7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37" name="Shape 45"/>
          <p:cNvSpPr/>
          <p:nvPr/>
        </p:nvSpPr>
        <p:spPr>
          <a:xfrm>
            <a:off x="8736209" y="1443012"/>
            <a:ext cx="153791" cy="158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877" y="2362"/>
                </a:moveTo>
                <a:cubicBezTo>
                  <a:pt x="4877" y="1059"/>
                  <a:pt x="5971" y="0"/>
                  <a:pt x="7316" y="0"/>
                </a:cubicBezTo>
                <a:lnTo>
                  <a:pt x="8361" y="0"/>
                </a:lnTo>
                <a:cubicBezTo>
                  <a:pt x="9132" y="0"/>
                  <a:pt x="9755" y="603"/>
                  <a:pt x="9755" y="1350"/>
                </a:cubicBezTo>
                <a:lnTo>
                  <a:pt x="9755" y="20250"/>
                </a:lnTo>
                <a:cubicBezTo>
                  <a:pt x="9755" y="20997"/>
                  <a:pt x="9132" y="21600"/>
                  <a:pt x="8361" y="21600"/>
                </a:cubicBezTo>
                <a:lnTo>
                  <a:pt x="6968" y="21600"/>
                </a:lnTo>
                <a:cubicBezTo>
                  <a:pt x="5670" y="21600"/>
                  <a:pt x="4577" y="20739"/>
                  <a:pt x="4268" y="19575"/>
                </a:cubicBezTo>
                <a:cubicBezTo>
                  <a:pt x="4237" y="19575"/>
                  <a:pt x="4211" y="19575"/>
                  <a:pt x="4181" y="19575"/>
                </a:cubicBezTo>
                <a:cubicBezTo>
                  <a:pt x="2256" y="19575"/>
                  <a:pt x="697" y="18065"/>
                  <a:pt x="697" y="16200"/>
                </a:cubicBezTo>
                <a:cubicBezTo>
                  <a:pt x="697" y="15441"/>
                  <a:pt x="958" y="14740"/>
                  <a:pt x="1394" y="14175"/>
                </a:cubicBezTo>
                <a:cubicBezTo>
                  <a:pt x="549" y="13559"/>
                  <a:pt x="0" y="12580"/>
                  <a:pt x="0" y="11475"/>
                </a:cubicBezTo>
                <a:cubicBezTo>
                  <a:pt x="0" y="10171"/>
                  <a:pt x="767" y="9037"/>
                  <a:pt x="1881" y="8476"/>
                </a:cubicBezTo>
                <a:cubicBezTo>
                  <a:pt x="1572" y="7969"/>
                  <a:pt x="1394" y="7379"/>
                  <a:pt x="1394" y="6750"/>
                </a:cubicBezTo>
                <a:cubicBezTo>
                  <a:pt x="1394" y="4885"/>
                  <a:pt x="2953" y="3375"/>
                  <a:pt x="4877" y="3375"/>
                </a:cubicBezTo>
                <a:lnTo>
                  <a:pt x="4877" y="2362"/>
                </a:lnTo>
                <a:close/>
                <a:moveTo>
                  <a:pt x="16723" y="2362"/>
                </a:moveTo>
                <a:lnTo>
                  <a:pt x="16723" y="3375"/>
                </a:lnTo>
                <a:cubicBezTo>
                  <a:pt x="18647" y="3375"/>
                  <a:pt x="20206" y="4885"/>
                  <a:pt x="20206" y="6750"/>
                </a:cubicBezTo>
                <a:cubicBezTo>
                  <a:pt x="20206" y="7383"/>
                  <a:pt x="20028" y="7973"/>
                  <a:pt x="19719" y="8476"/>
                </a:cubicBezTo>
                <a:cubicBezTo>
                  <a:pt x="20838" y="9037"/>
                  <a:pt x="21600" y="10167"/>
                  <a:pt x="21600" y="11475"/>
                </a:cubicBezTo>
                <a:cubicBezTo>
                  <a:pt x="21600" y="12580"/>
                  <a:pt x="21051" y="13559"/>
                  <a:pt x="20206" y="14175"/>
                </a:cubicBezTo>
                <a:cubicBezTo>
                  <a:pt x="20642" y="14740"/>
                  <a:pt x="20903" y="15441"/>
                  <a:pt x="20903" y="16200"/>
                </a:cubicBezTo>
                <a:cubicBezTo>
                  <a:pt x="20903" y="18065"/>
                  <a:pt x="19344" y="19575"/>
                  <a:pt x="17419" y="19575"/>
                </a:cubicBezTo>
                <a:cubicBezTo>
                  <a:pt x="17389" y="19575"/>
                  <a:pt x="17363" y="19575"/>
                  <a:pt x="17332" y="19575"/>
                </a:cubicBezTo>
                <a:cubicBezTo>
                  <a:pt x="17023" y="20739"/>
                  <a:pt x="15930" y="21600"/>
                  <a:pt x="14632" y="21600"/>
                </a:cubicBezTo>
                <a:lnTo>
                  <a:pt x="13239" y="21600"/>
                </a:lnTo>
                <a:cubicBezTo>
                  <a:pt x="12468" y="21600"/>
                  <a:pt x="11845" y="20997"/>
                  <a:pt x="11845" y="20250"/>
                </a:cubicBezTo>
                <a:lnTo>
                  <a:pt x="11845" y="1350"/>
                </a:lnTo>
                <a:cubicBezTo>
                  <a:pt x="11845" y="603"/>
                  <a:pt x="12468" y="0"/>
                  <a:pt x="13239" y="0"/>
                </a:cubicBezTo>
                <a:lnTo>
                  <a:pt x="14284" y="0"/>
                </a:lnTo>
                <a:cubicBezTo>
                  <a:pt x="15629" y="0"/>
                  <a:pt x="16723" y="1059"/>
                  <a:pt x="16723" y="2362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38" name="Text 46"/>
          <p:cNvSpPr txBox="1"/>
          <p:nvPr/>
        </p:nvSpPr>
        <p:spPr>
          <a:xfrm>
            <a:off x="8912324" y="1414444"/>
            <a:ext cx="2865439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四阶段CoT推理</a:t>
            </a:r>
          </a:p>
        </p:txBody>
      </p:sp>
      <p:sp>
        <p:nvSpPr>
          <p:cNvPr id="939" name="Shape 47"/>
          <p:cNvSpPr/>
          <p:nvPr/>
        </p:nvSpPr>
        <p:spPr>
          <a:xfrm>
            <a:off x="8713886" y="1873021"/>
            <a:ext cx="2984501" cy="825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60" y="0"/>
                </a:moveTo>
                <a:lnTo>
                  <a:pt x="21140" y="0"/>
                </a:lnTo>
                <a:cubicBezTo>
                  <a:pt x="21394" y="0"/>
                  <a:pt x="21600" y="744"/>
                  <a:pt x="21600" y="1661"/>
                </a:cubicBezTo>
                <a:lnTo>
                  <a:pt x="21600" y="19939"/>
                </a:lnTo>
                <a:cubicBezTo>
                  <a:pt x="21600" y="20856"/>
                  <a:pt x="21394" y="21600"/>
                  <a:pt x="21140" y="21600"/>
                </a:cubicBezTo>
                <a:lnTo>
                  <a:pt x="460" y="21600"/>
                </a:lnTo>
                <a:cubicBezTo>
                  <a:pt x="206" y="21600"/>
                  <a:pt x="0" y="20856"/>
                  <a:pt x="0" y="19939"/>
                </a:cubicBezTo>
                <a:lnTo>
                  <a:pt x="0" y="1661"/>
                </a:lnTo>
                <a:cubicBezTo>
                  <a:pt x="0" y="744"/>
                  <a:pt x="206" y="0"/>
                  <a:pt x="46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40" name="Shape 48"/>
          <p:cNvSpPr/>
          <p:nvPr/>
        </p:nvSpPr>
        <p:spPr>
          <a:xfrm>
            <a:off x="8840840" y="1999975"/>
            <a:ext cx="317501" cy="317501"/>
          </a:xfrm>
          <a:prstGeom prst="ellipse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41" name="Text 49"/>
          <p:cNvSpPr txBox="1"/>
          <p:nvPr/>
        </p:nvSpPr>
        <p:spPr>
          <a:xfrm>
            <a:off x="8809090" y="2082525"/>
            <a:ext cx="381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000">
                <a:solidFill>
                  <a:srgbClr val="1A1D21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942" name="Text 50"/>
          <p:cNvSpPr txBox="1"/>
          <p:nvPr/>
        </p:nvSpPr>
        <p:spPr>
          <a:xfrm>
            <a:off x="9253556" y="2057140"/>
            <a:ext cx="64293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1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诊断推理</a:t>
            </a:r>
          </a:p>
        </p:txBody>
      </p:sp>
      <p:sp>
        <p:nvSpPr>
          <p:cNvPr id="943" name="Text 51"/>
          <p:cNvSpPr txBox="1"/>
          <p:nvPr/>
        </p:nvSpPr>
        <p:spPr>
          <a:xfrm>
            <a:off x="9253556" y="2387302"/>
            <a:ext cx="238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症状→诊断</a:t>
            </a:r>
          </a:p>
        </p:txBody>
      </p:sp>
      <p:sp>
        <p:nvSpPr>
          <p:cNvPr id="944" name="Shape 52"/>
          <p:cNvSpPr/>
          <p:nvPr/>
        </p:nvSpPr>
        <p:spPr>
          <a:xfrm>
            <a:off x="10148024" y="2793616"/>
            <a:ext cx="119110" cy="1587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4" h="21469" fill="norm" stroke="1" extrusionOk="0">
                <a:moveTo>
                  <a:pt x="9377" y="21076"/>
                </a:moveTo>
                <a:cubicBezTo>
                  <a:pt x="10068" y="21600"/>
                  <a:pt x="11191" y="21600"/>
                  <a:pt x="11883" y="21076"/>
                </a:cubicBezTo>
                <a:lnTo>
                  <a:pt x="20735" y="14366"/>
                </a:lnTo>
                <a:cubicBezTo>
                  <a:pt x="21427" y="13842"/>
                  <a:pt x="21427" y="12991"/>
                  <a:pt x="20735" y="12467"/>
                </a:cubicBezTo>
                <a:cubicBezTo>
                  <a:pt x="20044" y="11943"/>
                  <a:pt x="18921" y="11943"/>
                  <a:pt x="18229" y="12467"/>
                </a:cubicBezTo>
                <a:lnTo>
                  <a:pt x="12397" y="16887"/>
                </a:lnTo>
                <a:lnTo>
                  <a:pt x="12397" y="1342"/>
                </a:lnTo>
                <a:cubicBezTo>
                  <a:pt x="12397" y="600"/>
                  <a:pt x="11606" y="0"/>
                  <a:pt x="10627" y="0"/>
                </a:cubicBezTo>
                <a:cubicBezTo>
                  <a:pt x="9648" y="0"/>
                  <a:pt x="8856" y="600"/>
                  <a:pt x="8856" y="1342"/>
                </a:cubicBezTo>
                <a:lnTo>
                  <a:pt x="8856" y="16887"/>
                </a:lnTo>
                <a:lnTo>
                  <a:pt x="3025" y="12467"/>
                </a:lnTo>
                <a:cubicBezTo>
                  <a:pt x="2333" y="11943"/>
                  <a:pt x="1210" y="11943"/>
                  <a:pt x="519" y="12467"/>
                </a:cubicBezTo>
                <a:cubicBezTo>
                  <a:pt x="-173" y="12991"/>
                  <a:pt x="-173" y="13842"/>
                  <a:pt x="519" y="14366"/>
                </a:cubicBezTo>
                <a:lnTo>
                  <a:pt x="9371" y="21076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45" name="Shape 53"/>
          <p:cNvSpPr/>
          <p:nvPr/>
        </p:nvSpPr>
        <p:spPr>
          <a:xfrm>
            <a:off x="8713886" y="3047578"/>
            <a:ext cx="2984501" cy="825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60" y="0"/>
                </a:moveTo>
                <a:lnTo>
                  <a:pt x="21140" y="0"/>
                </a:lnTo>
                <a:cubicBezTo>
                  <a:pt x="21394" y="0"/>
                  <a:pt x="21600" y="744"/>
                  <a:pt x="21600" y="1661"/>
                </a:cubicBezTo>
                <a:lnTo>
                  <a:pt x="21600" y="19939"/>
                </a:lnTo>
                <a:cubicBezTo>
                  <a:pt x="21600" y="20856"/>
                  <a:pt x="21394" y="21600"/>
                  <a:pt x="21140" y="21600"/>
                </a:cubicBezTo>
                <a:lnTo>
                  <a:pt x="460" y="21600"/>
                </a:lnTo>
                <a:cubicBezTo>
                  <a:pt x="206" y="21600"/>
                  <a:pt x="0" y="20856"/>
                  <a:pt x="0" y="19939"/>
                </a:cubicBezTo>
                <a:lnTo>
                  <a:pt x="0" y="1661"/>
                </a:lnTo>
                <a:cubicBezTo>
                  <a:pt x="0" y="744"/>
                  <a:pt x="206" y="0"/>
                  <a:pt x="46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46" name="Shape 54"/>
          <p:cNvSpPr/>
          <p:nvPr/>
        </p:nvSpPr>
        <p:spPr>
          <a:xfrm>
            <a:off x="8840840" y="3174531"/>
            <a:ext cx="317501" cy="317501"/>
          </a:xfrm>
          <a:prstGeom prst="ellipse">
            <a:avLst/>
          </a:pr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47" name="Text 55"/>
          <p:cNvSpPr txBox="1"/>
          <p:nvPr/>
        </p:nvSpPr>
        <p:spPr>
          <a:xfrm>
            <a:off x="8809090" y="3257081"/>
            <a:ext cx="381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948" name="Text 56"/>
          <p:cNvSpPr txBox="1"/>
          <p:nvPr/>
        </p:nvSpPr>
        <p:spPr>
          <a:xfrm>
            <a:off x="9253556" y="3231697"/>
            <a:ext cx="64293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1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用药推理</a:t>
            </a:r>
          </a:p>
        </p:txBody>
      </p:sp>
      <p:sp>
        <p:nvSpPr>
          <p:cNvPr id="949" name="Text 57"/>
          <p:cNvSpPr txBox="1"/>
          <p:nvPr/>
        </p:nvSpPr>
        <p:spPr>
          <a:xfrm>
            <a:off x="9253556" y="3561858"/>
            <a:ext cx="238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诊断→候选药物</a:t>
            </a:r>
          </a:p>
        </p:txBody>
      </p:sp>
      <p:sp>
        <p:nvSpPr>
          <p:cNvPr id="950" name="Shape 58"/>
          <p:cNvSpPr/>
          <p:nvPr/>
        </p:nvSpPr>
        <p:spPr>
          <a:xfrm>
            <a:off x="10148024" y="3968173"/>
            <a:ext cx="119110" cy="1587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4" h="21469" fill="norm" stroke="1" extrusionOk="0">
                <a:moveTo>
                  <a:pt x="9377" y="21076"/>
                </a:moveTo>
                <a:cubicBezTo>
                  <a:pt x="10068" y="21600"/>
                  <a:pt x="11191" y="21600"/>
                  <a:pt x="11883" y="21076"/>
                </a:cubicBezTo>
                <a:lnTo>
                  <a:pt x="20735" y="14366"/>
                </a:lnTo>
                <a:cubicBezTo>
                  <a:pt x="21427" y="13842"/>
                  <a:pt x="21427" y="12991"/>
                  <a:pt x="20735" y="12467"/>
                </a:cubicBezTo>
                <a:cubicBezTo>
                  <a:pt x="20044" y="11943"/>
                  <a:pt x="18921" y="11943"/>
                  <a:pt x="18229" y="12467"/>
                </a:cubicBezTo>
                <a:lnTo>
                  <a:pt x="12397" y="16887"/>
                </a:lnTo>
                <a:lnTo>
                  <a:pt x="12397" y="1342"/>
                </a:lnTo>
                <a:cubicBezTo>
                  <a:pt x="12397" y="600"/>
                  <a:pt x="11606" y="0"/>
                  <a:pt x="10627" y="0"/>
                </a:cubicBezTo>
                <a:cubicBezTo>
                  <a:pt x="9648" y="0"/>
                  <a:pt x="8856" y="600"/>
                  <a:pt x="8856" y="1342"/>
                </a:cubicBezTo>
                <a:lnTo>
                  <a:pt x="8856" y="16887"/>
                </a:lnTo>
                <a:lnTo>
                  <a:pt x="3025" y="12467"/>
                </a:lnTo>
                <a:cubicBezTo>
                  <a:pt x="2333" y="11943"/>
                  <a:pt x="1210" y="11943"/>
                  <a:pt x="519" y="12467"/>
                </a:cubicBezTo>
                <a:cubicBezTo>
                  <a:pt x="-173" y="12991"/>
                  <a:pt x="-173" y="13842"/>
                  <a:pt x="519" y="14366"/>
                </a:cubicBezTo>
                <a:lnTo>
                  <a:pt x="9371" y="21076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51" name="Shape 59"/>
          <p:cNvSpPr/>
          <p:nvPr/>
        </p:nvSpPr>
        <p:spPr>
          <a:xfrm>
            <a:off x="8713886" y="4222134"/>
            <a:ext cx="2984501" cy="825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60" y="0"/>
                </a:moveTo>
                <a:lnTo>
                  <a:pt x="21140" y="0"/>
                </a:lnTo>
                <a:cubicBezTo>
                  <a:pt x="21394" y="0"/>
                  <a:pt x="21600" y="744"/>
                  <a:pt x="21600" y="1661"/>
                </a:cubicBezTo>
                <a:lnTo>
                  <a:pt x="21600" y="19939"/>
                </a:lnTo>
                <a:cubicBezTo>
                  <a:pt x="21600" y="20856"/>
                  <a:pt x="21394" y="21600"/>
                  <a:pt x="21140" y="21600"/>
                </a:cubicBezTo>
                <a:lnTo>
                  <a:pt x="460" y="21600"/>
                </a:lnTo>
                <a:cubicBezTo>
                  <a:pt x="206" y="21600"/>
                  <a:pt x="0" y="20856"/>
                  <a:pt x="0" y="19939"/>
                </a:cubicBezTo>
                <a:lnTo>
                  <a:pt x="0" y="1661"/>
                </a:lnTo>
                <a:cubicBezTo>
                  <a:pt x="0" y="744"/>
                  <a:pt x="206" y="0"/>
                  <a:pt x="46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52" name="Shape 60"/>
          <p:cNvSpPr/>
          <p:nvPr/>
        </p:nvSpPr>
        <p:spPr>
          <a:xfrm>
            <a:off x="8840840" y="4349095"/>
            <a:ext cx="317501" cy="317501"/>
          </a:xfrm>
          <a:prstGeom prst="ellipse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53" name="Text 61"/>
          <p:cNvSpPr txBox="1"/>
          <p:nvPr/>
        </p:nvSpPr>
        <p:spPr>
          <a:xfrm>
            <a:off x="8809090" y="4431645"/>
            <a:ext cx="381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000">
                <a:solidFill>
                  <a:srgbClr val="1A1D21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954" name="Text 62"/>
          <p:cNvSpPr txBox="1"/>
          <p:nvPr/>
        </p:nvSpPr>
        <p:spPr>
          <a:xfrm>
            <a:off x="9253556" y="4406253"/>
            <a:ext cx="64293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1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安全推理</a:t>
            </a:r>
          </a:p>
        </p:txBody>
      </p:sp>
      <p:sp>
        <p:nvSpPr>
          <p:cNvPr id="955" name="Text 63"/>
          <p:cNvSpPr txBox="1"/>
          <p:nvPr/>
        </p:nvSpPr>
        <p:spPr>
          <a:xfrm>
            <a:off x="9253556" y="4736422"/>
            <a:ext cx="238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候选药物→安全药物</a:t>
            </a:r>
          </a:p>
        </p:txBody>
      </p:sp>
      <p:sp>
        <p:nvSpPr>
          <p:cNvPr id="956" name="Shape 64"/>
          <p:cNvSpPr/>
          <p:nvPr/>
        </p:nvSpPr>
        <p:spPr>
          <a:xfrm>
            <a:off x="10148024" y="5142729"/>
            <a:ext cx="119110" cy="1587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4" h="21469" fill="norm" stroke="1" extrusionOk="0">
                <a:moveTo>
                  <a:pt x="9377" y="21076"/>
                </a:moveTo>
                <a:cubicBezTo>
                  <a:pt x="10068" y="21600"/>
                  <a:pt x="11191" y="21600"/>
                  <a:pt x="11883" y="21076"/>
                </a:cubicBezTo>
                <a:lnTo>
                  <a:pt x="20735" y="14366"/>
                </a:lnTo>
                <a:cubicBezTo>
                  <a:pt x="21427" y="13842"/>
                  <a:pt x="21427" y="12991"/>
                  <a:pt x="20735" y="12467"/>
                </a:cubicBezTo>
                <a:cubicBezTo>
                  <a:pt x="20044" y="11943"/>
                  <a:pt x="18921" y="11943"/>
                  <a:pt x="18229" y="12467"/>
                </a:cubicBezTo>
                <a:lnTo>
                  <a:pt x="12397" y="16887"/>
                </a:lnTo>
                <a:lnTo>
                  <a:pt x="12397" y="1342"/>
                </a:lnTo>
                <a:cubicBezTo>
                  <a:pt x="12397" y="600"/>
                  <a:pt x="11606" y="0"/>
                  <a:pt x="10627" y="0"/>
                </a:cubicBezTo>
                <a:cubicBezTo>
                  <a:pt x="9648" y="0"/>
                  <a:pt x="8856" y="600"/>
                  <a:pt x="8856" y="1342"/>
                </a:cubicBezTo>
                <a:lnTo>
                  <a:pt x="8856" y="16887"/>
                </a:lnTo>
                <a:lnTo>
                  <a:pt x="3025" y="12467"/>
                </a:lnTo>
                <a:cubicBezTo>
                  <a:pt x="2333" y="11943"/>
                  <a:pt x="1210" y="11943"/>
                  <a:pt x="519" y="12467"/>
                </a:cubicBezTo>
                <a:cubicBezTo>
                  <a:pt x="-173" y="12991"/>
                  <a:pt x="-173" y="13842"/>
                  <a:pt x="519" y="14366"/>
                </a:cubicBezTo>
                <a:lnTo>
                  <a:pt x="9371" y="21076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57" name="Shape 65"/>
          <p:cNvSpPr/>
          <p:nvPr/>
        </p:nvSpPr>
        <p:spPr>
          <a:xfrm>
            <a:off x="8713886" y="5396698"/>
            <a:ext cx="2984501" cy="825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60" y="0"/>
                </a:moveTo>
                <a:lnTo>
                  <a:pt x="21140" y="0"/>
                </a:lnTo>
                <a:cubicBezTo>
                  <a:pt x="21394" y="0"/>
                  <a:pt x="21600" y="744"/>
                  <a:pt x="21600" y="1661"/>
                </a:cubicBezTo>
                <a:lnTo>
                  <a:pt x="21600" y="19939"/>
                </a:lnTo>
                <a:cubicBezTo>
                  <a:pt x="21600" y="20856"/>
                  <a:pt x="21394" y="21600"/>
                  <a:pt x="21140" y="21600"/>
                </a:cubicBezTo>
                <a:lnTo>
                  <a:pt x="460" y="21600"/>
                </a:lnTo>
                <a:cubicBezTo>
                  <a:pt x="206" y="21600"/>
                  <a:pt x="0" y="20856"/>
                  <a:pt x="0" y="19939"/>
                </a:cubicBezTo>
                <a:lnTo>
                  <a:pt x="0" y="1661"/>
                </a:lnTo>
                <a:cubicBezTo>
                  <a:pt x="0" y="744"/>
                  <a:pt x="206" y="0"/>
                  <a:pt x="46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58" name="Shape 66"/>
          <p:cNvSpPr/>
          <p:nvPr/>
        </p:nvSpPr>
        <p:spPr>
          <a:xfrm>
            <a:off x="8840840" y="5523651"/>
            <a:ext cx="317501" cy="317501"/>
          </a:xfrm>
          <a:prstGeom prst="ellipse">
            <a:avLst/>
          </a:pr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59" name="Text 67"/>
          <p:cNvSpPr txBox="1"/>
          <p:nvPr/>
        </p:nvSpPr>
        <p:spPr>
          <a:xfrm>
            <a:off x="8809090" y="5606201"/>
            <a:ext cx="381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960" name="Text 68"/>
          <p:cNvSpPr txBox="1"/>
          <p:nvPr/>
        </p:nvSpPr>
        <p:spPr>
          <a:xfrm>
            <a:off x="9253556" y="5580809"/>
            <a:ext cx="64293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1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处方推理</a:t>
            </a:r>
          </a:p>
        </p:txBody>
      </p:sp>
      <p:sp>
        <p:nvSpPr>
          <p:cNvPr id="961" name="Text 69"/>
          <p:cNvSpPr txBox="1"/>
          <p:nvPr/>
        </p:nvSpPr>
        <p:spPr>
          <a:xfrm>
            <a:off x="9253556" y="5910978"/>
            <a:ext cx="238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安全药物→最终处方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Text 0"/>
          <p:cNvSpPr txBox="1"/>
          <p:nvPr/>
        </p:nvSpPr>
        <p:spPr>
          <a:xfrm>
            <a:off x="331304" y="354495"/>
            <a:ext cx="1159565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pc="52" sz="1000">
                <a:solidFill>
                  <a:srgbClr val="5E8B7E"/>
                </a:solidFill>
                <a:latin typeface="Liter"/>
                <a:ea typeface="Liter"/>
                <a:cs typeface="Liter"/>
                <a:sym typeface="Liter"/>
              </a:defRPr>
            </a:lvl1pPr>
          </a:lstStyle>
          <a:p>
            <a:pPr/>
            <a:r>
              <a:t>DEEPSEEK-R1 DISTILLATION DEMO</a:t>
            </a:r>
          </a:p>
        </p:txBody>
      </p:sp>
      <p:sp>
        <p:nvSpPr>
          <p:cNvPr id="964" name="Text 1"/>
          <p:cNvSpPr txBox="1"/>
          <p:nvPr/>
        </p:nvSpPr>
        <p:spPr>
          <a:xfrm>
            <a:off x="331304" y="558766"/>
            <a:ext cx="11678478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90000"/>
              </a:lnSpc>
              <a:defRPr b="1" sz="23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DeepSeek-R1蒸馏Demo</a:t>
            </a:r>
          </a:p>
        </p:txBody>
      </p:sp>
      <p:sp>
        <p:nvSpPr>
          <p:cNvPr id="965" name="Shape 2"/>
          <p:cNvSpPr/>
          <p:nvPr/>
        </p:nvSpPr>
        <p:spPr>
          <a:xfrm>
            <a:off x="331304" y="1026978"/>
            <a:ext cx="795131" cy="33131"/>
          </a:xfrm>
          <a:prstGeom prst="rect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66" name="Shape 3"/>
          <p:cNvSpPr/>
          <p:nvPr/>
        </p:nvSpPr>
        <p:spPr>
          <a:xfrm>
            <a:off x="346363" y="1126329"/>
            <a:ext cx="5680366" cy="53671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5" y="0"/>
                </a:moveTo>
                <a:lnTo>
                  <a:pt x="21222" y="0"/>
                </a:lnTo>
                <a:cubicBezTo>
                  <a:pt x="21431" y="0"/>
                  <a:pt x="21600" y="179"/>
                  <a:pt x="21600" y="400"/>
                </a:cubicBezTo>
                <a:lnTo>
                  <a:pt x="21600" y="21200"/>
                </a:lnTo>
                <a:cubicBezTo>
                  <a:pt x="21600" y="21421"/>
                  <a:pt x="21431" y="21600"/>
                  <a:pt x="21222" y="21600"/>
                </a:cubicBezTo>
                <a:lnTo>
                  <a:pt x="115" y="21600"/>
                </a:lnTo>
                <a:cubicBezTo>
                  <a:pt x="51" y="21600"/>
                  <a:pt x="0" y="21546"/>
                  <a:pt x="0" y="21479"/>
                </a:cubicBezTo>
                <a:lnTo>
                  <a:pt x="0" y="121"/>
                </a:lnTo>
                <a:cubicBezTo>
                  <a:pt x="0" y="54"/>
                  <a:pt x="51" y="0"/>
                  <a:pt x="115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67" name="Shape 4"/>
          <p:cNvSpPr/>
          <p:nvPr/>
        </p:nvSpPr>
        <p:spPr>
          <a:xfrm>
            <a:off x="346364" y="1126329"/>
            <a:ext cx="30120" cy="53671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546"/>
                  <a:pt x="0" y="21479"/>
                </a:cubicBezTo>
                <a:lnTo>
                  <a:pt x="0" y="121"/>
                </a:lnTo>
                <a:cubicBezTo>
                  <a:pt x="0" y="54"/>
                  <a:pt x="9679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68" name="Shape 5"/>
          <p:cNvSpPr/>
          <p:nvPr/>
        </p:nvSpPr>
        <p:spPr>
          <a:xfrm>
            <a:off x="514604" y="1291925"/>
            <a:ext cx="165653" cy="1656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16" h="21513" fill="norm" stroke="1" extrusionOk="0">
                <a:moveTo>
                  <a:pt x="10758" y="20167"/>
                </a:moveTo>
                <a:cubicBezTo>
                  <a:pt x="16700" y="20167"/>
                  <a:pt x="21516" y="15651"/>
                  <a:pt x="21516" y="10084"/>
                </a:cubicBezTo>
                <a:cubicBezTo>
                  <a:pt x="21516" y="4517"/>
                  <a:pt x="16700" y="0"/>
                  <a:pt x="10758" y="0"/>
                </a:cubicBezTo>
                <a:cubicBezTo>
                  <a:pt x="4816" y="0"/>
                  <a:pt x="0" y="4517"/>
                  <a:pt x="0" y="10084"/>
                </a:cubicBezTo>
                <a:cubicBezTo>
                  <a:pt x="0" y="12365"/>
                  <a:pt x="807" y="14466"/>
                  <a:pt x="2168" y="16155"/>
                </a:cubicBezTo>
                <a:lnTo>
                  <a:pt x="118" y="20033"/>
                </a:lnTo>
                <a:cubicBezTo>
                  <a:pt x="-84" y="20411"/>
                  <a:pt x="-21" y="20873"/>
                  <a:pt x="269" y="21188"/>
                </a:cubicBezTo>
                <a:cubicBezTo>
                  <a:pt x="559" y="21503"/>
                  <a:pt x="1017" y="21600"/>
                  <a:pt x="1408" y="21432"/>
                </a:cubicBezTo>
                <a:lnTo>
                  <a:pt x="6383" y="19302"/>
                </a:lnTo>
                <a:cubicBezTo>
                  <a:pt x="7720" y="19856"/>
                  <a:pt x="9199" y="20167"/>
                  <a:pt x="10758" y="20167"/>
                </a:cubicBezTo>
                <a:close/>
                <a:moveTo>
                  <a:pt x="5379" y="8739"/>
                </a:moveTo>
                <a:cubicBezTo>
                  <a:pt x="6121" y="8739"/>
                  <a:pt x="6724" y="9342"/>
                  <a:pt x="6724" y="10084"/>
                </a:cubicBezTo>
                <a:cubicBezTo>
                  <a:pt x="6724" y="10826"/>
                  <a:pt x="6121" y="11428"/>
                  <a:pt x="5379" y="11428"/>
                </a:cubicBezTo>
                <a:cubicBezTo>
                  <a:pt x="4637" y="11428"/>
                  <a:pt x="4034" y="10826"/>
                  <a:pt x="4034" y="10084"/>
                </a:cubicBezTo>
                <a:cubicBezTo>
                  <a:pt x="4034" y="9342"/>
                  <a:pt x="4637" y="8739"/>
                  <a:pt x="5379" y="8739"/>
                </a:cubicBezTo>
                <a:close/>
                <a:moveTo>
                  <a:pt x="10758" y="8739"/>
                </a:moveTo>
                <a:cubicBezTo>
                  <a:pt x="11500" y="8739"/>
                  <a:pt x="12103" y="9342"/>
                  <a:pt x="12103" y="10084"/>
                </a:cubicBezTo>
                <a:cubicBezTo>
                  <a:pt x="12103" y="10826"/>
                  <a:pt x="11500" y="11428"/>
                  <a:pt x="10758" y="11428"/>
                </a:cubicBezTo>
                <a:cubicBezTo>
                  <a:pt x="10016" y="11428"/>
                  <a:pt x="9413" y="10826"/>
                  <a:pt x="9413" y="10084"/>
                </a:cubicBezTo>
                <a:cubicBezTo>
                  <a:pt x="9413" y="9342"/>
                  <a:pt x="10016" y="8739"/>
                  <a:pt x="10758" y="8739"/>
                </a:cubicBezTo>
                <a:close/>
                <a:moveTo>
                  <a:pt x="14792" y="10084"/>
                </a:moveTo>
                <a:cubicBezTo>
                  <a:pt x="14792" y="9342"/>
                  <a:pt x="15395" y="8739"/>
                  <a:pt x="16137" y="8739"/>
                </a:cubicBezTo>
                <a:cubicBezTo>
                  <a:pt x="16879" y="8739"/>
                  <a:pt x="17482" y="9342"/>
                  <a:pt x="17482" y="10084"/>
                </a:cubicBezTo>
                <a:cubicBezTo>
                  <a:pt x="17482" y="10826"/>
                  <a:pt x="16879" y="11428"/>
                  <a:pt x="16137" y="11428"/>
                </a:cubicBezTo>
                <a:cubicBezTo>
                  <a:pt x="15395" y="11428"/>
                  <a:pt x="14792" y="10826"/>
                  <a:pt x="14792" y="10084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69" name="Text 6"/>
          <p:cNvSpPr txBox="1"/>
          <p:nvPr/>
        </p:nvSpPr>
        <p:spPr>
          <a:xfrm>
            <a:off x="700962" y="1260459"/>
            <a:ext cx="5276024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3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Few-shot提示模板</a:t>
            </a:r>
          </a:p>
        </p:txBody>
      </p:sp>
      <p:sp>
        <p:nvSpPr>
          <p:cNvPr id="970" name="Shape 7"/>
          <p:cNvSpPr/>
          <p:nvPr/>
        </p:nvSpPr>
        <p:spPr>
          <a:xfrm>
            <a:off x="493897" y="1590051"/>
            <a:ext cx="5400263" cy="47707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65" y="0"/>
                </a:moveTo>
                <a:lnTo>
                  <a:pt x="21335" y="0"/>
                </a:lnTo>
                <a:cubicBezTo>
                  <a:pt x="21481" y="0"/>
                  <a:pt x="21600" y="134"/>
                  <a:pt x="21600" y="300"/>
                </a:cubicBezTo>
                <a:lnTo>
                  <a:pt x="21600" y="21300"/>
                </a:lnTo>
                <a:cubicBezTo>
                  <a:pt x="21600" y="21466"/>
                  <a:pt x="21481" y="21600"/>
                  <a:pt x="21335" y="21600"/>
                </a:cubicBezTo>
                <a:lnTo>
                  <a:pt x="265" y="21600"/>
                </a:lnTo>
                <a:cubicBezTo>
                  <a:pt x="119" y="21600"/>
                  <a:pt x="0" y="21466"/>
                  <a:pt x="0" y="21300"/>
                </a:cubicBezTo>
                <a:lnTo>
                  <a:pt x="0" y="300"/>
                </a:lnTo>
                <a:cubicBezTo>
                  <a:pt x="0" y="134"/>
                  <a:pt x="119" y="0"/>
                  <a:pt x="265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71" name="Shape 8"/>
          <p:cNvSpPr/>
          <p:nvPr/>
        </p:nvSpPr>
        <p:spPr>
          <a:xfrm>
            <a:off x="593253" y="1689410"/>
            <a:ext cx="5201480" cy="44229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8" y="0"/>
                </a:moveTo>
                <a:lnTo>
                  <a:pt x="21462" y="0"/>
                </a:lnTo>
                <a:cubicBezTo>
                  <a:pt x="21538" y="0"/>
                  <a:pt x="21600" y="72"/>
                  <a:pt x="21600" y="162"/>
                </a:cubicBezTo>
                <a:lnTo>
                  <a:pt x="21600" y="21438"/>
                </a:lnTo>
                <a:cubicBezTo>
                  <a:pt x="21600" y="21528"/>
                  <a:pt x="21538" y="21600"/>
                  <a:pt x="21462" y="21600"/>
                </a:cubicBezTo>
                <a:lnTo>
                  <a:pt x="138" y="21600"/>
                </a:lnTo>
                <a:cubicBezTo>
                  <a:pt x="62" y="21600"/>
                  <a:pt x="0" y="21528"/>
                  <a:pt x="0" y="21438"/>
                </a:cubicBezTo>
                <a:lnTo>
                  <a:pt x="0" y="162"/>
                </a:lnTo>
                <a:cubicBezTo>
                  <a:pt x="0" y="72"/>
                  <a:pt x="62" y="0"/>
                  <a:pt x="138" y="0"/>
                </a:cubicBezTo>
                <a:close/>
              </a:path>
            </a:pathLst>
          </a:custGeom>
          <a:solidFill>
            <a:srgbClr val="0D0E1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72" name="Text 9"/>
          <p:cNvSpPr txBox="1"/>
          <p:nvPr/>
        </p:nvSpPr>
        <p:spPr>
          <a:xfrm>
            <a:off x="692609" y="1790968"/>
            <a:ext cx="506895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角色说明</a:t>
            </a:r>
          </a:p>
        </p:txBody>
      </p:sp>
      <p:sp>
        <p:nvSpPr>
          <p:cNvPr id="973" name="Text 10"/>
          <p:cNvSpPr txBox="1"/>
          <p:nvPr/>
        </p:nvSpPr>
        <p:spPr>
          <a:xfrm>
            <a:off x="692609" y="2039390"/>
            <a:ext cx="506895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你是一名资深内分泌科医生，擅长代谢疾病的用药推荐。</a:t>
            </a:r>
          </a:p>
        </p:txBody>
      </p:sp>
      <p:sp>
        <p:nvSpPr>
          <p:cNvPr id="974" name="Text 11"/>
          <p:cNvSpPr txBox="1"/>
          <p:nvPr/>
        </p:nvSpPr>
        <p:spPr>
          <a:xfrm>
            <a:off x="692609" y="2287812"/>
            <a:ext cx="506895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任务目标</a:t>
            </a:r>
          </a:p>
        </p:txBody>
      </p:sp>
      <p:sp>
        <p:nvSpPr>
          <p:cNvPr id="975" name="Text 12"/>
          <p:cNvSpPr txBox="1"/>
          <p:nvPr/>
        </p:nvSpPr>
        <p:spPr>
          <a:xfrm>
            <a:off x="692609" y="2529552"/>
            <a:ext cx="5068959" cy="373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请分析给定的中文电子病历，推理患者出院时应携带的药物组合。你需要展示完整的推理过程，包括诊断推理、用药推理、安全推理和处方推理。</a:t>
            </a:r>
          </a:p>
        </p:txBody>
      </p:sp>
      <p:sp>
        <p:nvSpPr>
          <p:cNvPr id="976" name="Text 13"/>
          <p:cNvSpPr txBox="1"/>
          <p:nvPr/>
        </p:nvSpPr>
        <p:spPr>
          <a:xfrm>
            <a:off x="692609" y="2966832"/>
            <a:ext cx="506895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 推理要求</a:t>
            </a:r>
          </a:p>
        </p:txBody>
      </p:sp>
      <p:sp>
        <p:nvSpPr>
          <p:cNvPr id="977" name="Text 14"/>
          <p:cNvSpPr txBox="1"/>
          <p:nvPr/>
        </p:nvSpPr>
        <p:spPr>
          <a:xfrm>
            <a:off x="692609" y="3215254"/>
            <a:ext cx="506895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请按以下四个阶段进行推理：</a:t>
            </a:r>
          </a:p>
        </p:txBody>
      </p:sp>
      <p:sp>
        <p:nvSpPr>
          <p:cNvPr id="978" name="Text 15"/>
          <p:cNvSpPr txBox="1"/>
          <p:nvPr/>
        </p:nvSpPr>
        <p:spPr>
          <a:xfrm>
            <a:off x="825084" y="3427918"/>
            <a:ext cx="98387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阶段1: 诊断推理</a:t>
            </a:r>
          </a:p>
        </p:txBody>
      </p:sp>
      <p:sp>
        <p:nvSpPr>
          <p:cNvPr id="979" name="Text 16"/>
          <p:cNvSpPr txBox="1"/>
          <p:nvPr/>
        </p:nvSpPr>
        <p:spPr>
          <a:xfrm>
            <a:off x="825084" y="3643217"/>
            <a:ext cx="100629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阶段2: 用药推理</a:t>
            </a:r>
          </a:p>
        </p:txBody>
      </p:sp>
      <p:sp>
        <p:nvSpPr>
          <p:cNvPr id="980" name="Text 17"/>
          <p:cNvSpPr txBox="1"/>
          <p:nvPr/>
        </p:nvSpPr>
        <p:spPr>
          <a:xfrm>
            <a:off x="825084" y="3858516"/>
            <a:ext cx="100970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阶段3: 安全推理</a:t>
            </a:r>
          </a:p>
        </p:txBody>
      </p:sp>
      <p:sp>
        <p:nvSpPr>
          <p:cNvPr id="981" name="Text 18"/>
          <p:cNvSpPr txBox="1"/>
          <p:nvPr/>
        </p:nvSpPr>
        <p:spPr>
          <a:xfrm>
            <a:off x="825084" y="4073816"/>
            <a:ext cx="100946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阶段4: 处方推理</a:t>
            </a:r>
          </a:p>
        </p:txBody>
      </p:sp>
      <p:sp>
        <p:nvSpPr>
          <p:cNvPr id="982" name="Text 19"/>
          <p:cNvSpPr txBox="1"/>
          <p:nvPr/>
        </p:nvSpPr>
        <p:spPr>
          <a:xfrm>
            <a:off x="692609" y="4324872"/>
            <a:ext cx="506895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 示例病历</a:t>
            </a:r>
          </a:p>
        </p:txBody>
      </p:sp>
      <p:sp>
        <p:nvSpPr>
          <p:cNvPr id="983" name="Text 20"/>
          <p:cNvSpPr txBox="1"/>
          <p:nvPr/>
        </p:nvSpPr>
        <p:spPr>
          <a:xfrm>
            <a:off x="692609" y="4573294"/>
            <a:ext cx="506895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病历ID: 837-1</a:t>
            </a:r>
          </a:p>
        </p:txBody>
      </p:sp>
      <p:sp>
        <p:nvSpPr>
          <p:cNvPr id="984" name="Text 21"/>
          <p:cNvSpPr txBox="1"/>
          <p:nvPr/>
        </p:nvSpPr>
        <p:spPr>
          <a:xfrm>
            <a:off x="692609" y="4788593"/>
            <a:ext cx="506895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主诉: 发现甲状腺功能减退10余年...</a:t>
            </a:r>
          </a:p>
        </p:txBody>
      </p:sp>
      <p:sp>
        <p:nvSpPr>
          <p:cNvPr id="985" name="Text 22"/>
          <p:cNvSpPr txBox="1"/>
          <p:nvPr/>
        </p:nvSpPr>
        <p:spPr>
          <a:xfrm>
            <a:off x="692609" y="5003893"/>
            <a:ext cx="506895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诊断: 甲状腺功能减退症、桥本氏病</a:t>
            </a:r>
          </a:p>
        </p:txBody>
      </p:sp>
      <p:sp>
        <p:nvSpPr>
          <p:cNvPr id="986" name="Text 23"/>
          <p:cNvSpPr txBox="1"/>
          <p:nvPr/>
        </p:nvSpPr>
        <p:spPr>
          <a:xfrm>
            <a:off x="692609" y="5219192"/>
            <a:ext cx="506895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推理过程: ...</a:t>
            </a:r>
          </a:p>
        </p:txBody>
      </p:sp>
      <p:sp>
        <p:nvSpPr>
          <p:cNvPr id="987" name="Text 24"/>
          <p:cNvSpPr txBox="1"/>
          <p:nvPr/>
        </p:nvSpPr>
        <p:spPr>
          <a:xfrm>
            <a:off x="692609" y="5467614"/>
            <a:ext cx="506895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当前病历</a:t>
            </a:r>
          </a:p>
        </p:txBody>
      </p:sp>
      <p:sp>
        <p:nvSpPr>
          <p:cNvPr id="988" name="Text 25"/>
          <p:cNvSpPr txBox="1"/>
          <p:nvPr/>
        </p:nvSpPr>
        <p:spPr>
          <a:xfrm>
            <a:off x="692609" y="5649799"/>
            <a:ext cx="506895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病历ID: {病历ID}</a:t>
            </a:r>
          </a:p>
        </p:txBody>
      </p:sp>
      <p:sp>
        <p:nvSpPr>
          <p:cNvPr id="989" name="Text 26"/>
          <p:cNvSpPr txBox="1"/>
          <p:nvPr/>
        </p:nvSpPr>
        <p:spPr>
          <a:xfrm>
            <a:off x="692609" y="5831976"/>
            <a:ext cx="506895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病历: {病历内容}</a:t>
            </a:r>
          </a:p>
        </p:txBody>
      </p:sp>
      <p:sp>
        <p:nvSpPr>
          <p:cNvPr id="990" name="Shape 27"/>
          <p:cNvSpPr/>
          <p:nvPr/>
        </p:nvSpPr>
        <p:spPr>
          <a:xfrm>
            <a:off x="6177248" y="1126329"/>
            <a:ext cx="5680366" cy="53671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5" y="0"/>
                </a:moveTo>
                <a:lnTo>
                  <a:pt x="21222" y="0"/>
                </a:lnTo>
                <a:cubicBezTo>
                  <a:pt x="21431" y="0"/>
                  <a:pt x="21600" y="179"/>
                  <a:pt x="21600" y="400"/>
                </a:cubicBezTo>
                <a:lnTo>
                  <a:pt x="21600" y="21200"/>
                </a:lnTo>
                <a:cubicBezTo>
                  <a:pt x="21600" y="21421"/>
                  <a:pt x="21431" y="21600"/>
                  <a:pt x="21222" y="21600"/>
                </a:cubicBezTo>
                <a:lnTo>
                  <a:pt x="115" y="21600"/>
                </a:lnTo>
                <a:cubicBezTo>
                  <a:pt x="51" y="21600"/>
                  <a:pt x="0" y="21546"/>
                  <a:pt x="0" y="21479"/>
                </a:cubicBezTo>
                <a:lnTo>
                  <a:pt x="0" y="121"/>
                </a:lnTo>
                <a:cubicBezTo>
                  <a:pt x="0" y="54"/>
                  <a:pt x="51" y="0"/>
                  <a:pt x="115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91" name="Shape 28"/>
          <p:cNvSpPr/>
          <p:nvPr/>
        </p:nvSpPr>
        <p:spPr>
          <a:xfrm>
            <a:off x="6177248" y="1126329"/>
            <a:ext cx="30120" cy="53671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546"/>
                  <a:pt x="0" y="21479"/>
                </a:cubicBezTo>
                <a:lnTo>
                  <a:pt x="0" y="121"/>
                </a:lnTo>
                <a:cubicBezTo>
                  <a:pt x="0" y="54"/>
                  <a:pt x="9679" y="0"/>
                  <a:pt x="21600" y="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92" name="Shape 29"/>
          <p:cNvSpPr/>
          <p:nvPr/>
        </p:nvSpPr>
        <p:spPr>
          <a:xfrm>
            <a:off x="6348077" y="1291925"/>
            <a:ext cx="160477" cy="1656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877" y="2362"/>
                </a:moveTo>
                <a:cubicBezTo>
                  <a:pt x="4877" y="1059"/>
                  <a:pt x="5971" y="0"/>
                  <a:pt x="7316" y="0"/>
                </a:cubicBezTo>
                <a:lnTo>
                  <a:pt x="8361" y="0"/>
                </a:lnTo>
                <a:cubicBezTo>
                  <a:pt x="9132" y="0"/>
                  <a:pt x="9755" y="603"/>
                  <a:pt x="9755" y="1350"/>
                </a:cubicBezTo>
                <a:lnTo>
                  <a:pt x="9755" y="20250"/>
                </a:lnTo>
                <a:cubicBezTo>
                  <a:pt x="9755" y="20997"/>
                  <a:pt x="9132" y="21600"/>
                  <a:pt x="8361" y="21600"/>
                </a:cubicBezTo>
                <a:lnTo>
                  <a:pt x="6968" y="21600"/>
                </a:lnTo>
                <a:cubicBezTo>
                  <a:pt x="5670" y="21600"/>
                  <a:pt x="4577" y="20739"/>
                  <a:pt x="4268" y="19575"/>
                </a:cubicBezTo>
                <a:cubicBezTo>
                  <a:pt x="4237" y="19575"/>
                  <a:pt x="4211" y="19575"/>
                  <a:pt x="4181" y="19575"/>
                </a:cubicBezTo>
                <a:cubicBezTo>
                  <a:pt x="2256" y="19575"/>
                  <a:pt x="697" y="18065"/>
                  <a:pt x="697" y="16200"/>
                </a:cubicBezTo>
                <a:cubicBezTo>
                  <a:pt x="697" y="15441"/>
                  <a:pt x="958" y="14740"/>
                  <a:pt x="1394" y="14175"/>
                </a:cubicBezTo>
                <a:cubicBezTo>
                  <a:pt x="549" y="13559"/>
                  <a:pt x="0" y="12580"/>
                  <a:pt x="0" y="11475"/>
                </a:cubicBezTo>
                <a:cubicBezTo>
                  <a:pt x="0" y="10171"/>
                  <a:pt x="767" y="9037"/>
                  <a:pt x="1881" y="8475"/>
                </a:cubicBezTo>
                <a:cubicBezTo>
                  <a:pt x="1572" y="7969"/>
                  <a:pt x="1394" y="7379"/>
                  <a:pt x="1394" y="6750"/>
                </a:cubicBezTo>
                <a:cubicBezTo>
                  <a:pt x="1394" y="4885"/>
                  <a:pt x="2953" y="3375"/>
                  <a:pt x="4877" y="3375"/>
                </a:cubicBezTo>
                <a:lnTo>
                  <a:pt x="4877" y="2362"/>
                </a:lnTo>
                <a:close/>
                <a:moveTo>
                  <a:pt x="16723" y="2362"/>
                </a:moveTo>
                <a:lnTo>
                  <a:pt x="16723" y="3375"/>
                </a:lnTo>
                <a:cubicBezTo>
                  <a:pt x="18647" y="3375"/>
                  <a:pt x="20206" y="4885"/>
                  <a:pt x="20206" y="6750"/>
                </a:cubicBezTo>
                <a:cubicBezTo>
                  <a:pt x="20206" y="7383"/>
                  <a:pt x="20028" y="7973"/>
                  <a:pt x="19719" y="8475"/>
                </a:cubicBezTo>
                <a:cubicBezTo>
                  <a:pt x="20838" y="9037"/>
                  <a:pt x="21600" y="10167"/>
                  <a:pt x="21600" y="11475"/>
                </a:cubicBezTo>
                <a:cubicBezTo>
                  <a:pt x="21600" y="12580"/>
                  <a:pt x="21051" y="13559"/>
                  <a:pt x="20206" y="14175"/>
                </a:cubicBezTo>
                <a:cubicBezTo>
                  <a:pt x="20642" y="14740"/>
                  <a:pt x="20903" y="15441"/>
                  <a:pt x="20903" y="16200"/>
                </a:cubicBezTo>
                <a:cubicBezTo>
                  <a:pt x="20903" y="18065"/>
                  <a:pt x="19344" y="19575"/>
                  <a:pt x="17419" y="19575"/>
                </a:cubicBezTo>
                <a:cubicBezTo>
                  <a:pt x="17389" y="19575"/>
                  <a:pt x="17363" y="19575"/>
                  <a:pt x="17332" y="19575"/>
                </a:cubicBezTo>
                <a:cubicBezTo>
                  <a:pt x="17023" y="20739"/>
                  <a:pt x="15930" y="21600"/>
                  <a:pt x="14632" y="21600"/>
                </a:cubicBezTo>
                <a:lnTo>
                  <a:pt x="13239" y="21600"/>
                </a:lnTo>
                <a:cubicBezTo>
                  <a:pt x="12468" y="21600"/>
                  <a:pt x="11845" y="20997"/>
                  <a:pt x="11845" y="20250"/>
                </a:cubicBezTo>
                <a:lnTo>
                  <a:pt x="11845" y="1350"/>
                </a:lnTo>
                <a:cubicBezTo>
                  <a:pt x="11845" y="603"/>
                  <a:pt x="12468" y="0"/>
                  <a:pt x="13239" y="0"/>
                </a:cubicBezTo>
                <a:lnTo>
                  <a:pt x="14284" y="0"/>
                </a:lnTo>
                <a:cubicBezTo>
                  <a:pt x="15630" y="0"/>
                  <a:pt x="16723" y="1059"/>
                  <a:pt x="16723" y="2362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93" name="Text 30"/>
          <p:cNvSpPr txBox="1"/>
          <p:nvPr/>
        </p:nvSpPr>
        <p:spPr>
          <a:xfrm>
            <a:off x="6531849" y="1260459"/>
            <a:ext cx="5276023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3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DeepSeek-R1生成的CoT</a:t>
            </a:r>
          </a:p>
        </p:txBody>
      </p:sp>
      <p:sp>
        <p:nvSpPr>
          <p:cNvPr id="994" name="Shape 31"/>
          <p:cNvSpPr/>
          <p:nvPr/>
        </p:nvSpPr>
        <p:spPr>
          <a:xfrm>
            <a:off x="6324782" y="1590051"/>
            <a:ext cx="5400263" cy="47707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65" y="0"/>
                </a:moveTo>
                <a:lnTo>
                  <a:pt x="21335" y="0"/>
                </a:lnTo>
                <a:cubicBezTo>
                  <a:pt x="21481" y="0"/>
                  <a:pt x="21600" y="134"/>
                  <a:pt x="21600" y="300"/>
                </a:cubicBezTo>
                <a:lnTo>
                  <a:pt x="21600" y="21300"/>
                </a:lnTo>
                <a:cubicBezTo>
                  <a:pt x="21600" y="21466"/>
                  <a:pt x="21481" y="21600"/>
                  <a:pt x="21335" y="21600"/>
                </a:cubicBezTo>
                <a:lnTo>
                  <a:pt x="265" y="21600"/>
                </a:lnTo>
                <a:cubicBezTo>
                  <a:pt x="119" y="21600"/>
                  <a:pt x="0" y="21466"/>
                  <a:pt x="0" y="21300"/>
                </a:cubicBezTo>
                <a:lnTo>
                  <a:pt x="0" y="300"/>
                </a:lnTo>
                <a:cubicBezTo>
                  <a:pt x="0" y="134"/>
                  <a:pt x="119" y="0"/>
                  <a:pt x="265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95" name="Shape 32"/>
          <p:cNvSpPr/>
          <p:nvPr/>
        </p:nvSpPr>
        <p:spPr>
          <a:xfrm>
            <a:off x="6424138" y="1689410"/>
            <a:ext cx="5201480" cy="457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8" y="0"/>
                </a:moveTo>
                <a:lnTo>
                  <a:pt x="21462" y="0"/>
                </a:lnTo>
                <a:cubicBezTo>
                  <a:pt x="21538" y="0"/>
                  <a:pt x="21600" y="70"/>
                  <a:pt x="21600" y="157"/>
                </a:cubicBezTo>
                <a:lnTo>
                  <a:pt x="21600" y="21443"/>
                </a:lnTo>
                <a:cubicBezTo>
                  <a:pt x="21600" y="21530"/>
                  <a:pt x="21538" y="21600"/>
                  <a:pt x="21462" y="21600"/>
                </a:cubicBezTo>
                <a:lnTo>
                  <a:pt x="138" y="21600"/>
                </a:lnTo>
                <a:cubicBezTo>
                  <a:pt x="62" y="21600"/>
                  <a:pt x="0" y="21530"/>
                  <a:pt x="0" y="21443"/>
                </a:cubicBezTo>
                <a:lnTo>
                  <a:pt x="0" y="157"/>
                </a:lnTo>
                <a:cubicBezTo>
                  <a:pt x="0" y="70"/>
                  <a:pt x="62" y="0"/>
                  <a:pt x="138" y="0"/>
                </a:cubicBezTo>
                <a:close/>
              </a:path>
            </a:pathLst>
          </a:custGeom>
          <a:solidFill>
            <a:srgbClr val="0D0E1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96" name="Text 33"/>
          <p:cNvSpPr txBox="1"/>
          <p:nvPr/>
        </p:nvSpPr>
        <p:spPr>
          <a:xfrm>
            <a:off x="6523494" y="1803668"/>
            <a:ext cx="506895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阶段1: 诊断推理</a:t>
            </a:r>
          </a:p>
        </p:txBody>
      </p:sp>
      <p:sp>
        <p:nvSpPr>
          <p:cNvPr id="997" name="Text 34"/>
          <p:cNvSpPr txBox="1"/>
          <p:nvPr/>
        </p:nvSpPr>
        <p:spPr>
          <a:xfrm>
            <a:off x="6523494" y="2039390"/>
            <a:ext cx="506895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- 关键症状: 双下肢水肿、乏力、纳差</a:t>
            </a:r>
          </a:p>
        </p:txBody>
      </p:sp>
      <p:sp>
        <p:nvSpPr>
          <p:cNvPr id="998" name="Text 35"/>
          <p:cNvSpPr txBox="1"/>
          <p:nvPr/>
        </p:nvSpPr>
        <p:spPr>
          <a:xfrm>
            <a:off x="6523494" y="2287812"/>
            <a:ext cx="506895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- 实验室检查: 空腹血糖9.2mmol/L↑、HbA1c 8.5%↑、尿蛋白(++)</a:t>
            </a:r>
          </a:p>
        </p:txBody>
      </p:sp>
      <p:sp>
        <p:nvSpPr>
          <p:cNvPr id="999" name="Text 36"/>
          <p:cNvSpPr txBox="1"/>
          <p:nvPr/>
        </p:nvSpPr>
        <p:spPr>
          <a:xfrm>
            <a:off x="6523494" y="2522870"/>
            <a:ext cx="5068959" cy="568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- 诊断分析: 糖尿病病史10年，血糖控制不佳，出现蛋白尿，诊断为2型糖尿病伴糖尿病肾病；高血压病史5年，血压150/90mmHg，属于高血压病2级极高危；血脂异常，诊断为高脂血症</a:t>
            </a:r>
          </a:p>
        </p:txBody>
      </p:sp>
      <p:sp>
        <p:nvSpPr>
          <p:cNvPr id="1000" name="Text 37"/>
          <p:cNvSpPr txBox="1"/>
          <p:nvPr/>
        </p:nvSpPr>
        <p:spPr>
          <a:xfrm>
            <a:off x="6523494" y="3149017"/>
            <a:ext cx="506895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阶段2: 用药推理</a:t>
            </a:r>
          </a:p>
        </p:txBody>
      </p:sp>
      <p:sp>
        <p:nvSpPr>
          <p:cNvPr id="1001" name="Text 38"/>
          <p:cNvSpPr txBox="1"/>
          <p:nvPr/>
        </p:nvSpPr>
        <p:spPr>
          <a:xfrm>
            <a:off x="6523494" y="3390749"/>
            <a:ext cx="5068959" cy="373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- 适应症药物: 二甲双胍(降糖)、依那普利(降压+护肾)、氨氯地平(降压)、阿托伐他汀(降脂)、阿司匹林(抗血小板)</a:t>
            </a:r>
          </a:p>
        </p:txBody>
      </p:sp>
      <p:sp>
        <p:nvSpPr>
          <p:cNvPr id="1002" name="Text 39"/>
          <p:cNvSpPr txBox="1"/>
          <p:nvPr/>
        </p:nvSpPr>
        <p:spPr>
          <a:xfrm>
            <a:off x="6523494" y="3821356"/>
            <a:ext cx="5068959" cy="373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- 药理分析: 二甲双胍抑制肝糖原输出；依那普利降低血压，减少蛋白尿，保护肾脏；阿托伐他汀降低胆固醇，稳定斑块</a:t>
            </a:r>
          </a:p>
        </p:txBody>
      </p:sp>
      <p:sp>
        <p:nvSpPr>
          <p:cNvPr id="1003" name="Text 40"/>
          <p:cNvSpPr txBox="1"/>
          <p:nvPr/>
        </p:nvSpPr>
        <p:spPr>
          <a:xfrm>
            <a:off x="6523494" y="4258636"/>
            <a:ext cx="506895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阶段3: 安全推理</a:t>
            </a:r>
          </a:p>
        </p:txBody>
      </p:sp>
      <p:sp>
        <p:nvSpPr>
          <p:cNvPr id="1004" name="Text 41"/>
          <p:cNvSpPr txBox="1"/>
          <p:nvPr/>
        </p:nvSpPr>
        <p:spPr>
          <a:xfrm>
            <a:off x="6523494" y="4500376"/>
            <a:ext cx="5068959" cy="373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- 禁忌症检查: 二甲双胍eGFR&gt;45ml/min无禁忌；依那普利无双侧肾动脉狭窄、无妊娠无禁忌</a:t>
            </a:r>
          </a:p>
        </p:txBody>
      </p:sp>
      <p:sp>
        <p:nvSpPr>
          <p:cNvPr id="1005" name="Text 42"/>
          <p:cNvSpPr txBox="1"/>
          <p:nvPr/>
        </p:nvSpPr>
        <p:spPr>
          <a:xfrm>
            <a:off x="6523494" y="4930975"/>
            <a:ext cx="5068959" cy="373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- 药物相互作用: 依那普利+氨氯地平无相互作用；阿司匹林+ACEI可能增加肾功能损害风险，需监测</a:t>
            </a:r>
          </a:p>
        </p:txBody>
      </p:sp>
      <p:sp>
        <p:nvSpPr>
          <p:cNvPr id="1006" name="Text 43"/>
          <p:cNvSpPr txBox="1"/>
          <p:nvPr/>
        </p:nvSpPr>
        <p:spPr>
          <a:xfrm>
            <a:off x="6523494" y="5368255"/>
            <a:ext cx="506895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阶段4: 处方推理</a:t>
            </a:r>
          </a:p>
        </p:txBody>
      </p:sp>
      <p:sp>
        <p:nvSpPr>
          <p:cNvPr id="1007" name="Text 44"/>
          <p:cNvSpPr txBox="1"/>
          <p:nvPr/>
        </p:nvSpPr>
        <p:spPr>
          <a:xfrm>
            <a:off x="6523494" y="5609995"/>
            <a:ext cx="5068959" cy="373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- 个体化剂量: 二甲双胍0.5g每日2次、依那普利5mg每日1次、氨氯地平5mg每日1次、阿托伐他汀20mg每晚1次、阿司匹林100mg每日1次</a:t>
            </a:r>
          </a:p>
        </p:txBody>
      </p:sp>
      <p:sp>
        <p:nvSpPr>
          <p:cNvPr id="1008" name="Text 45"/>
          <p:cNvSpPr txBox="1"/>
          <p:nvPr/>
        </p:nvSpPr>
        <p:spPr>
          <a:xfrm>
            <a:off x="6523494" y="5981038"/>
            <a:ext cx="506895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- 最终处方: 二甲双胍、依那普利、氨氯地平、阿托伐他汀、阿司匹林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Text 0"/>
          <p:cNvSpPr txBox="1"/>
          <p:nvPr/>
        </p:nvSpPr>
        <p:spPr>
          <a:xfrm>
            <a:off x="334945" y="359228"/>
            <a:ext cx="1158909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pc="52" sz="1000">
                <a:solidFill>
                  <a:srgbClr val="5E8B7E"/>
                </a:solidFill>
                <a:latin typeface="Liter"/>
                <a:ea typeface="Liter"/>
                <a:cs typeface="Liter"/>
                <a:sym typeface="Liter"/>
              </a:defRPr>
            </a:lvl1pPr>
          </a:lstStyle>
          <a:p>
            <a:pPr/>
            <a:r>
              <a:t>DPO PREFERENCE DATA</a:t>
            </a:r>
          </a:p>
        </p:txBody>
      </p:sp>
      <p:sp>
        <p:nvSpPr>
          <p:cNvPr id="1011" name="Text 1"/>
          <p:cNvSpPr txBox="1"/>
          <p:nvPr/>
        </p:nvSpPr>
        <p:spPr>
          <a:xfrm>
            <a:off x="334945" y="567140"/>
            <a:ext cx="11672835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90000"/>
              </a:lnSpc>
              <a:defRPr b="1" sz="23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DPO偏好数据与优化</a:t>
            </a:r>
          </a:p>
        </p:txBody>
      </p:sp>
      <p:sp>
        <p:nvSpPr>
          <p:cNvPr id="1012" name="Shape 2"/>
          <p:cNvSpPr/>
          <p:nvPr/>
        </p:nvSpPr>
        <p:spPr>
          <a:xfrm>
            <a:off x="334944" y="1038264"/>
            <a:ext cx="803870" cy="33496"/>
          </a:xfrm>
          <a:prstGeom prst="rect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13" name="Shape 3"/>
          <p:cNvSpPr/>
          <p:nvPr/>
        </p:nvSpPr>
        <p:spPr>
          <a:xfrm>
            <a:off x="350169" y="1138714"/>
            <a:ext cx="5675798" cy="25790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6" y="0"/>
                </a:moveTo>
                <a:lnTo>
                  <a:pt x="21218" y="0"/>
                </a:lnTo>
                <a:cubicBezTo>
                  <a:pt x="21429" y="0"/>
                  <a:pt x="21600" y="377"/>
                  <a:pt x="21600" y="842"/>
                </a:cubicBezTo>
                <a:lnTo>
                  <a:pt x="21600" y="20758"/>
                </a:lnTo>
                <a:cubicBezTo>
                  <a:pt x="21600" y="21223"/>
                  <a:pt x="21429" y="21600"/>
                  <a:pt x="21218" y="21600"/>
                </a:cubicBezTo>
                <a:lnTo>
                  <a:pt x="116" y="21600"/>
                </a:lnTo>
                <a:cubicBezTo>
                  <a:pt x="52" y="21600"/>
                  <a:pt x="0" y="21486"/>
                  <a:pt x="0" y="21345"/>
                </a:cubicBezTo>
                <a:lnTo>
                  <a:pt x="0" y="255"/>
                </a:lnTo>
                <a:cubicBezTo>
                  <a:pt x="0" y="114"/>
                  <a:pt x="52" y="0"/>
                  <a:pt x="116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14" name="Shape 4"/>
          <p:cNvSpPr/>
          <p:nvPr/>
        </p:nvSpPr>
        <p:spPr>
          <a:xfrm>
            <a:off x="350170" y="1138714"/>
            <a:ext cx="30451" cy="25790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486"/>
                  <a:pt x="0" y="21345"/>
                </a:cubicBezTo>
                <a:lnTo>
                  <a:pt x="0" y="255"/>
                </a:lnTo>
                <a:cubicBezTo>
                  <a:pt x="0" y="114"/>
                  <a:pt x="9679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15" name="Shape 5"/>
          <p:cNvSpPr/>
          <p:nvPr/>
        </p:nvSpPr>
        <p:spPr>
          <a:xfrm>
            <a:off x="520258" y="1311356"/>
            <a:ext cx="162240" cy="1517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484" y="6703"/>
                </a:moveTo>
                <a:cubicBezTo>
                  <a:pt x="4255" y="6703"/>
                  <a:pt x="4877" y="7369"/>
                  <a:pt x="4877" y="8193"/>
                </a:cubicBezTo>
                <a:lnTo>
                  <a:pt x="4877" y="20110"/>
                </a:lnTo>
                <a:cubicBezTo>
                  <a:pt x="4877" y="20934"/>
                  <a:pt x="4255" y="21600"/>
                  <a:pt x="3484" y="21600"/>
                </a:cubicBezTo>
                <a:lnTo>
                  <a:pt x="1394" y="21600"/>
                </a:lnTo>
                <a:cubicBezTo>
                  <a:pt x="623" y="21600"/>
                  <a:pt x="0" y="20934"/>
                  <a:pt x="0" y="20110"/>
                </a:cubicBezTo>
                <a:lnTo>
                  <a:pt x="0" y="8193"/>
                </a:lnTo>
                <a:cubicBezTo>
                  <a:pt x="0" y="7369"/>
                  <a:pt x="623" y="6703"/>
                  <a:pt x="1394" y="6703"/>
                </a:cubicBezTo>
                <a:lnTo>
                  <a:pt x="3484" y="6703"/>
                </a:lnTo>
                <a:close/>
                <a:moveTo>
                  <a:pt x="11784" y="0"/>
                </a:moveTo>
                <a:cubicBezTo>
                  <a:pt x="12973" y="0"/>
                  <a:pt x="13935" y="1029"/>
                  <a:pt x="13935" y="2300"/>
                </a:cubicBezTo>
                <a:lnTo>
                  <a:pt x="13935" y="2495"/>
                </a:lnTo>
                <a:cubicBezTo>
                  <a:pt x="13935" y="2812"/>
                  <a:pt x="13879" y="3128"/>
                  <a:pt x="13770" y="3422"/>
                </a:cubicBezTo>
                <a:lnTo>
                  <a:pt x="12542" y="6703"/>
                </a:lnTo>
                <a:lnTo>
                  <a:pt x="19510" y="6703"/>
                </a:lnTo>
                <a:cubicBezTo>
                  <a:pt x="20664" y="6703"/>
                  <a:pt x="21600" y="7704"/>
                  <a:pt x="21600" y="8938"/>
                </a:cubicBezTo>
                <a:cubicBezTo>
                  <a:pt x="21600" y="9855"/>
                  <a:pt x="21082" y="10642"/>
                  <a:pt x="20341" y="10986"/>
                </a:cubicBezTo>
                <a:cubicBezTo>
                  <a:pt x="21082" y="11331"/>
                  <a:pt x="21600" y="12117"/>
                  <a:pt x="21600" y="13034"/>
                </a:cubicBezTo>
                <a:cubicBezTo>
                  <a:pt x="21600" y="14124"/>
                  <a:pt x="20868" y="15032"/>
                  <a:pt x="19902" y="15227"/>
                </a:cubicBezTo>
                <a:cubicBezTo>
                  <a:pt x="20093" y="15567"/>
                  <a:pt x="20206" y="15963"/>
                  <a:pt x="20206" y="16386"/>
                </a:cubicBezTo>
                <a:cubicBezTo>
                  <a:pt x="20206" y="17420"/>
                  <a:pt x="19553" y="18286"/>
                  <a:pt x="18665" y="18542"/>
                </a:cubicBezTo>
                <a:cubicBezTo>
                  <a:pt x="18761" y="18798"/>
                  <a:pt x="18813" y="19077"/>
                  <a:pt x="18813" y="19366"/>
                </a:cubicBezTo>
                <a:cubicBezTo>
                  <a:pt x="18813" y="20599"/>
                  <a:pt x="17877" y="21600"/>
                  <a:pt x="16723" y="21600"/>
                </a:cubicBezTo>
                <a:lnTo>
                  <a:pt x="12895" y="21600"/>
                </a:lnTo>
                <a:cubicBezTo>
                  <a:pt x="11314" y="21600"/>
                  <a:pt x="9777" y="21023"/>
                  <a:pt x="8544" y="19966"/>
                </a:cubicBezTo>
                <a:lnTo>
                  <a:pt x="8013" y="19515"/>
                </a:lnTo>
                <a:cubicBezTo>
                  <a:pt x="7351" y="18951"/>
                  <a:pt x="6968" y="18095"/>
                  <a:pt x="6968" y="17187"/>
                </a:cubicBezTo>
                <a:lnTo>
                  <a:pt x="6968" y="8500"/>
                </a:lnTo>
                <a:cubicBezTo>
                  <a:pt x="6968" y="7807"/>
                  <a:pt x="7120" y="7122"/>
                  <a:pt x="7408" y="6503"/>
                </a:cubicBezTo>
                <a:lnTo>
                  <a:pt x="9855" y="1271"/>
                </a:lnTo>
                <a:cubicBezTo>
                  <a:pt x="10221" y="493"/>
                  <a:pt x="10965" y="0"/>
                  <a:pt x="11784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16" name="Text 6"/>
          <p:cNvSpPr txBox="1"/>
          <p:nvPr/>
        </p:nvSpPr>
        <p:spPr>
          <a:xfrm>
            <a:off x="708665" y="1275575"/>
            <a:ext cx="5267013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3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偏好数据格式</a:t>
            </a:r>
          </a:p>
        </p:txBody>
      </p:sp>
      <p:sp>
        <p:nvSpPr>
          <p:cNvPr id="1017" name="Shape 7"/>
          <p:cNvSpPr/>
          <p:nvPr/>
        </p:nvSpPr>
        <p:spPr>
          <a:xfrm>
            <a:off x="499324" y="1607523"/>
            <a:ext cx="5392617" cy="16077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68" y="0"/>
                </a:moveTo>
                <a:lnTo>
                  <a:pt x="21332" y="0"/>
                </a:lnTo>
                <a:cubicBezTo>
                  <a:pt x="21480" y="0"/>
                  <a:pt x="21600" y="403"/>
                  <a:pt x="21600" y="900"/>
                </a:cubicBezTo>
                <a:lnTo>
                  <a:pt x="21600" y="20700"/>
                </a:lnTo>
                <a:cubicBezTo>
                  <a:pt x="21600" y="21197"/>
                  <a:pt x="21480" y="21600"/>
                  <a:pt x="21332" y="21600"/>
                </a:cubicBezTo>
                <a:lnTo>
                  <a:pt x="268" y="21600"/>
                </a:lnTo>
                <a:cubicBezTo>
                  <a:pt x="120" y="21600"/>
                  <a:pt x="0" y="21197"/>
                  <a:pt x="0" y="20700"/>
                </a:cubicBezTo>
                <a:lnTo>
                  <a:pt x="0" y="900"/>
                </a:lnTo>
                <a:cubicBezTo>
                  <a:pt x="0" y="403"/>
                  <a:pt x="120" y="0"/>
                  <a:pt x="268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18" name="Shape 8"/>
          <p:cNvSpPr/>
          <p:nvPr/>
        </p:nvSpPr>
        <p:spPr>
          <a:xfrm>
            <a:off x="599773" y="1707974"/>
            <a:ext cx="5191648" cy="14067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9" y="0"/>
                </a:moveTo>
                <a:lnTo>
                  <a:pt x="21461" y="0"/>
                </a:lnTo>
                <a:cubicBezTo>
                  <a:pt x="21538" y="0"/>
                  <a:pt x="21600" y="230"/>
                  <a:pt x="21600" y="514"/>
                </a:cubicBezTo>
                <a:lnTo>
                  <a:pt x="21600" y="21086"/>
                </a:lnTo>
                <a:cubicBezTo>
                  <a:pt x="21600" y="21370"/>
                  <a:pt x="21538" y="21600"/>
                  <a:pt x="21461" y="21600"/>
                </a:cubicBezTo>
                <a:lnTo>
                  <a:pt x="139" y="21600"/>
                </a:lnTo>
                <a:cubicBezTo>
                  <a:pt x="62" y="21600"/>
                  <a:pt x="0" y="21370"/>
                  <a:pt x="0" y="21086"/>
                </a:cubicBezTo>
                <a:lnTo>
                  <a:pt x="0" y="514"/>
                </a:lnTo>
                <a:cubicBezTo>
                  <a:pt x="0" y="230"/>
                  <a:pt x="62" y="0"/>
                  <a:pt x="139" y="0"/>
                </a:cubicBezTo>
                <a:close/>
              </a:path>
            </a:pathLst>
          </a:custGeom>
          <a:solidFill>
            <a:srgbClr val="0D0E1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19" name="Text 9"/>
          <p:cNvSpPr txBox="1"/>
          <p:nvPr/>
        </p:nvSpPr>
        <p:spPr>
          <a:xfrm>
            <a:off x="666738" y="1790841"/>
            <a:ext cx="512465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{</a:t>
            </a:r>
          </a:p>
        </p:txBody>
      </p:sp>
      <p:sp>
        <p:nvSpPr>
          <p:cNvPr id="1020" name="Text 10"/>
          <p:cNvSpPr txBox="1"/>
          <p:nvPr/>
        </p:nvSpPr>
        <p:spPr>
          <a:xfrm>
            <a:off x="800669" y="2008522"/>
            <a:ext cx="499068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"instruction": </a:t>
            </a:r>
            <a:r>
              <a:rPr>
                <a:solidFill>
                  <a:srgbClr val="E0E2E5"/>
                </a:solidFill>
              </a:rPr>
              <a:t>"..."</a:t>
            </a:r>
            <a:r>
              <a:t> ,</a:t>
            </a:r>
          </a:p>
        </p:txBody>
      </p:sp>
      <p:sp>
        <p:nvSpPr>
          <p:cNvPr id="1021" name="Text 11"/>
          <p:cNvSpPr txBox="1"/>
          <p:nvPr/>
        </p:nvSpPr>
        <p:spPr>
          <a:xfrm>
            <a:off x="800669" y="2226188"/>
            <a:ext cx="499068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"input": </a:t>
            </a:r>
            <a:r>
              <a:rPr>
                <a:solidFill>
                  <a:srgbClr val="E0E2E5"/>
                </a:solidFill>
              </a:rPr>
              <a:t>"..."</a:t>
            </a:r>
            <a:r>
              <a:t> ,</a:t>
            </a:r>
          </a:p>
        </p:txBody>
      </p:sp>
      <p:sp>
        <p:nvSpPr>
          <p:cNvPr id="1022" name="Text 12"/>
          <p:cNvSpPr txBox="1"/>
          <p:nvPr/>
        </p:nvSpPr>
        <p:spPr>
          <a:xfrm>
            <a:off x="800669" y="2431153"/>
            <a:ext cx="499068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"chosen": </a:t>
            </a:r>
            <a:r>
              <a:rPr>
                <a:solidFill>
                  <a:srgbClr val="E0E2E5"/>
                </a:solidFill>
              </a:rPr>
              <a:t>"高质量CoT"</a:t>
            </a:r>
            <a:r>
              <a:t> ,</a:t>
            </a:r>
          </a:p>
        </p:txBody>
      </p:sp>
      <p:sp>
        <p:nvSpPr>
          <p:cNvPr id="1023" name="Text 13"/>
          <p:cNvSpPr txBox="1"/>
          <p:nvPr/>
        </p:nvSpPr>
        <p:spPr>
          <a:xfrm>
            <a:off x="800669" y="2648818"/>
            <a:ext cx="499068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"rejected": </a:t>
            </a:r>
            <a:r>
              <a:rPr>
                <a:solidFill>
                  <a:srgbClr val="E0E2E5"/>
                </a:solidFill>
              </a:rPr>
              <a:t>"低质量CoT"</a:t>
            </a:r>
          </a:p>
        </p:txBody>
      </p:sp>
      <p:sp>
        <p:nvSpPr>
          <p:cNvPr id="1024" name="Text 14"/>
          <p:cNvSpPr txBox="1"/>
          <p:nvPr/>
        </p:nvSpPr>
        <p:spPr>
          <a:xfrm>
            <a:off x="666738" y="2879182"/>
            <a:ext cx="512465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}</a:t>
            </a:r>
          </a:p>
        </p:txBody>
      </p:sp>
      <p:sp>
        <p:nvSpPr>
          <p:cNvPr id="1025" name="Shape 15"/>
          <p:cNvSpPr/>
          <p:nvPr/>
        </p:nvSpPr>
        <p:spPr>
          <a:xfrm>
            <a:off x="6178165" y="1138714"/>
            <a:ext cx="5675798" cy="25790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6" y="0"/>
                </a:moveTo>
                <a:lnTo>
                  <a:pt x="21218" y="0"/>
                </a:lnTo>
                <a:cubicBezTo>
                  <a:pt x="21429" y="0"/>
                  <a:pt x="21600" y="377"/>
                  <a:pt x="21600" y="842"/>
                </a:cubicBezTo>
                <a:lnTo>
                  <a:pt x="21600" y="20758"/>
                </a:lnTo>
                <a:cubicBezTo>
                  <a:pt x="21600" y="21223"/>
                  <a:pt x="21429" y="21600"/>
                  <a:pt x="21218" y="21600"/>
                </a:cubicBezTo>
                <a:lnTo>
                  <a:pt x="116" y="21600"/>
                </a:lnTo>
                <a:cubicBezTo>
                  <a:pt x="52" y="21600"/>
                  <a:pt x="0" y="21486"/>
                  <a:pt x="0" y="21345"/>
                </a:cubicBezTo>
                <a:lnTo>
                  <a:pt x="0" y="255"/>
                </a:lnTo>
                <a:cubicBezTo>
                  <a:pt x="0" y="114"/>
                  <a:pt x="52" y="0"/>
                  <a:pt x="116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26" name="Shape 16"/>
          <p:cNvSpPr/>
          <p:nvPr/>
        </p:nvSpPr>
        <p:spPr>
          <a:xfrm>
            <a:off x="6178165" y="1138714"/>
            <a:ext cx="30451" cy="25790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486"/>
                  <a:pt x="0" y="21345"/>
                </a:cubicBezTo>
                <a:lnTo>
                  <a:pt x="0" y="255"/>
                </a:lnTo>
                <a:cubicBezTo>
                  <a:pt x="0" y="114"/>
                  <a:pt x="9679" y="0"/>
                  <a:pt x="21600" y="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27" name="Shape 17"/>
          <p:cNvSpPr/>
          <p:nvPr/>
        </p:nvSpPr>
        <p:spPr>
          <a:xfrm>
            <a:off x="6348254" y="1306122"/>
            <a:ext cx="167507" cy="1674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6" h="21600" fill="norm" stroke="1" extrusionOk="0">
                <a:moveTo>
                  <a:pt x="2779" y="9640"/>
                </a:moveTo>
                <a:cubicBezTo>
                  <a:pt x="3340" y="5716"/>
                  <a:pt x="6718" y="2700"/>
                  <a:pt x="10796" y="2700"/>
                </a:cubicBezTo>
                <a:cubicBezTo>
                  <a:pt x="13031" y="2700"/>
                  <a:pt x="15055" y="3607"/>
                  <a:pt x="16523" y="5071"/>
                </a:cubicBezTo>
                <a:cubicBezTo>
                  <a:pt x="16531" y="5079"/>
                  <a:pt x="16540" y="5088"/>
                  <a:pt x="16548" y="5096"/>
                </a:cubicBezTo>
                <a:lnTo>
                  <a:pt x="16869" y="5400"/>
                </a:lnTo>
                <a:lnTo>
                  <a:pt x="14849" y="5400"/>
                </a:lnTo>
                <a:cubicBezTo>
                  <a:pt x="14102" y="5400"/>
                  <a:pt x="13499" y="6003"/>
                  <a:pt x="13499" y="6750"/>
                </a:cubicBezTo>
                <a:cubicBezTo>
                  <a:pt x="13499" y="7497"/>
                  <a:pt x="14102" y="8100"/>
                  <a:pt x="14849" y="8100"/>
                </a:cubicBezTo>
                <a:lnTo>
                  <a:pt x="20247" y="8100"/>
                </a:lnTo>
                <a:cubicBezTo>
                  <a:pt x="20993" y="8100"/>
                  <a:pt x="21596" y="7497"/>
                  <a:pt x="21596" y="6750"/>
                </a:cubicBezTo>
                <a:lnTo>
                  <a:pt x="21596" y="1350"/>
                </a:lnTo>
                <a:cubicBezTo>
                  <a:pt x="21596" y="603"/>
                  <a:pt x="20993" y="0"/>
                  <a:pt x="20247" y="0"/>
                </a:cubicBezTo>
                <a:cubicBezTo>
                  <a:pt x="19500" y="0"/>
                  <a:pt x="18897" y="603"/>
                  <a:pt x="18897" y="1350"/>
                </a:cubicBezTo>
                <a:lnTo>
                  <a:pt x="18897" y="3603"/>
                </a:lnTo>
                <a:lnTo>
                  <a:pt x="18421" y="3151"/>
                </a:lnTo>
                <a:cubicBezTo>
                  <a:pt x="16468" y="1207"/>
                  <a:pt x="13769" y="0"/>
                  <a:pt x="10796" y="0"/>
                </a:cubicBezTo>
                <a:cubicBezTo>
                  <a:pt x="5356" y="0"/>
                  <a:pt x="856" y="4025"/>
                  <a:pt x="110" y="9260"/>
                </a:cubicBezTo>
                <a:cubicBezTo>
                  <a:pt x="5" y="9998"/>
                  <a:pt x="515" y="10682"/>
                  <a:pt x="1253" y="10787"/>
                </a:cubicBezTo>
                <a:cubicBezTo>
                  <a:pt x="1991" y="10893"/>
                  <a:pt x="2674" y="10378"/>
                  <a:pt x="2779" y="9644"/>
                </a:cubicBezTo>
                <a:close/>
                <a:moveTo>
                  <a:pt x="21482" y="12340"/>
                </a:moveTo>
                <a:cubicBezTo>
                  <a:pt x="21588" y="11602"/>
                  <a:pt x="21073" y="10918"/>
                  <a:pt x="20339" y="10813"/>
                </a:cubicBezTo>
                <a:cubicBezTo>
                  <a:pt x="19606" y="10707"/>
                  <a:pt x="18918" y="11222"/>
                  <a:pt x="18813" y="11956"/>
                </a:cubicBezTo>
                <a:cubicBezTo>
                  <a:pt x="18252" y="15879"/>
                  <a:pt x="14874" y="18896"/>
                  <a:pt x="10796" y="18896"/>
                </a:cubicBezTo>
                <a:cubicBezTo>
                  <a:pt x="8561" y="18896"/>
                  <a:pt x="6537" y="17989"/>
                  <a:pt x="5069" y="16525"/>
                </a:cubicBezTo>
                <a:cubicBezTo>
                  <a:pt x="5061" y="16516"/>
                  <a:pt x="5052" y="16508"/>
                  <a:pt x="5044" y="16500"/>
                </a:cubicBezTo>
                <a:lnTo>
                  <a:pt x="4723" y="16196"/>
                </a:lnTo>
                <a:lnTo>
                  <a:pt x="6743" y="16196"/>
                </a:lnTo>
                <a:cubicBezTo>
                  <a:pt x="7490" y="16196"/>
                  <a:pt x="8093" y="15592"/>
                  <a:pt x="8093" y="14846"/>
                </a:cubicBezTo>
                <a:cubicBezTo>
                  <a:pt x="8093" y="14099"/>
                  <a:pt x="7490" y="13496"/>
                  <a:pt x="6743" y="13496"/>
                </a:cubicBezTo>
                <a:lnTo>
                  <a:pt x="1350" y="13500"/>
                </a:lnTo>
                <a:cubicBezTo>
                  <a:pt x="991" y="13500"/>
                  <a:pt x="646" y="13643"/>
                  <a:pt x="392" y="13901"/>
                </a:cubicBezTo>
                <a:cubicBezTo>
                  <a:pt x="139" y="14158"/>
                  <a:pt x="-4" y="14500"/>
                  <a:pt x="0" y="14863"/>
                </a:cubicBezTo>
                <a:lnTo>
                  <a:pt x="42" y="20220"/>
                </a:lnTo>
                <a:cubicBezTo>
                  <a:pt x="47" y="20967"/>
                  <a:pt x="658" y="21566"/>
                  <a:pt x="1405" y="21558"/>
                </a:cubicBezTo>
                <a:cubicBezTo>
                  <a:pt x="2151" y="21549"/>
                  <a:pt x="2750" y="20942"/>
                  <a:pt x="2741" y="20195"/>
                </a:cubicBezTo>
                <a:lnTo>
                  <a:pt x="2724" y="18022"/>
                </a:lnTo>
                <a:lnTo>
                  <a:pt x="3176" y="18449"/>
                </a:lnTo>
                <a:cubicBezTo>
                  <a:pt x="5128" y="20393"/>
                  <a:pt x="7823" y="21600"/>
                  <a:pt x="10796" y="21600"/>
                </a:cubicBezTo>
                <a:cubicBezTo>
                  <a:pt x="16236" y="21600"/>
                  <a:pt x="20736" y="17575"/>
                  <a:pt x="21482" y="1234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28" name="Text 18"/>
          <p:cNvSpPr txBox="1"/>
          <p:nvPr/>
        </p:nvSpPr>
        <p:spPr>
          <a:xfrm>
            <a:off x="6536662" y="1275575"/>
            <a:ext cx="526701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3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DPO损失函数</a:t>
            </a:r>
          </a:p>
        </p:txBody>
      </p:sp>
      <p:sp>
        <p:nvSpPr>
          <p:cNvPr id="1029" name="Shape 19"/>
          <p:cNvSpPr/>
          <p:nvPr/>
        </p:nvSpPr>
        <p:spPr>
          <a:xfrm>
            <a:off x="6327321" y="1607523"/>
            <a:ext cx="5392616" cy="19761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68" y="0"/>
                </a:moveTo>
                <a:lnTo>
                  <a:pt x="21332" y="0"/>
                </a:lnTo>
                <a:cubicBezTo>
                  <a:pt x="21480" y="0"/>
                  <a:pt x="21600" y="328"/>
                  <a:pt x="21600" y="732"/>
                </a:cubicBezTo>
                <a:lnTo>
                  <a:pt x="21600" y="20868"/>
                </a:lnTo>
                <a:cubicBezTo>
                  <a:pt x="21600" y="21272"/>
                  <a:pt x="21480" y="21600"/>
                  <a:pt x="21332" y="21600"/>
                </a:cubicBezTo>
                <a:lnTo>
                  <a:pt x="268" y="21600"/>
                </a:lnTo>
                <a:cubicBezTo>
                  <a:pt x="120" y="21600"/>
                  <a:pt x="0" y="21272"/>
                  <a:pt x="0" y="20868"/>
                </a:cubicBezTo>
                <a:lnTo>
                  <a:pt x="0" y="732"/>
                </a:lnTo>
                <a:cubicBezTo>
                  <a:pt x="0" y="328"/>
                  <a:pt x="120" y="0"/>
                  <a:pt x="268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30" name="Shape 20"/>
          <p:cNvSpPr/>
          <p:nvPr/>
        </p:nvSpPr>
        <p:spPr>
          <a:xfrm>
            <a:off x="6427769" y="1707974"/>
            <a:ext cx="5191648" cy="17752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9" y="0"/>
                </a:moveTo>
                <a:lnTo>
                  <a:pt x="21461" y="0"/>
                </a:lnTo>
                <a:cubicBezTo>
                  <a:pt x="21538" y="0"/>
                  <a:pt x="21600" y="182"/>
                  <a:pt x="21600" y="408"/>
                </a:cubicBezTo>
                <a:lnTo>
                  <a:pt x="21600" y="21192"/>
                </a:lnTo>
                <a:cubicBezTo>
                  <a:pt x="21600" y="21418"/>
                  <a:pt x="21538" y="21600"/>
                  <a:pt x="21461" y="21600"/>
                </a:cubicBezTo>
                <a:lnTo>
                  <a:pt x="139" y="21600"/>
                </a:lnTo>
                <a:cubicBezTo>
                  <a:pt x="62" y="21600"/>
                  <a:pt x="0" y="21418"/>
                  <a:pt x="0" y="21192"/>
                </a:cubicBezTo>
                <a:lnTo>
                  <a:pt x="0" y="408"/>
                </a:lnTo>
                <a:cubicBezTo>
                  <a:pt x="0" y="183"/>
                  <a:pt x="62" y="0"/>
                  <a:pt x="139" y="0"/>
                </a:cubicBezTo>
                <a:close/>
              </a:path>
            </a:pathLst>
          </a:custGeom>
          <a:solidFill>
            <a:srgbClr val="0D0E1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31" name="Text 21"/>
          <p:cNvSpPr txBox="1"/>
          <p:nvPr/>
        </p:nvSpPr>
        <p:spPr>
          <a:xfrm>
            <a:off x="6494734" y="1790841"/>
            <a:ext cx="512466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L_DPO = -log σ(β (log π_θ(y_w|x)</a:t>
            </a:r>
          </a:p>
        </p:txBody>
      </p:sp>
      <p:sp>
        <p:nvSpPr>
          <p:cNvPr id="1032" name="Text 22"/>
          <p:cNvSpPr txBox="1"/>
          <p:nvPr/>
        </p:nvSpPr>
        <p:spPr>
          <a:xfrm>
            <a:off x="6762653" y="2042000"/>
            <a:ext cx="4856705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- log π_θ(y_l|x)))</a:t>
            </a:r>
          </a:p>
        </p:txBody>
      </p:sp>
      <p:sp>
        <p:nvSpPr>
          <p:cNvPr id="1033" name="Text 23"/>
          <p:cNvSpPr txBox="1"/>
          <p:nvPr/>
        </p:nvSpPr>
        <p:spPr>
          <a:xfrm>
            <a:off x="6494734" y="2280444"/>
            <a:ext cx="512466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其中:</a:t>
            </a:r>
          </a:p>
        </p:txBody>
      </p:sp>
      <p:sp>
        <p:nvSpPr>
          <p:cNvPr id="1034" name="Text 24"/>
          <p:cNvSpPr txBox="1"/>
          <p:nvPr/>
        </p:nvSpPr>
        <p:spPr>
          <a:xfrm>
            <a:off x="6628665" y="2498109"/>
            <a:ext cx="499068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· π_θ(y|x): 模型在输入x下输出y的概率</a:t>
            </a:r>
          </a:p>
        </p:txBody>
      </p:sp>
      <p:sp>
        <p:nvSpPr>
          <p:cNvPr id="1035" name="Text 25"/>
          <p:cNvSpPr txBox="1"/>
          <p:nvPr/>
        </p:nvSpPr>
        <p:spPr>
          <a:xfrm>
            <a:off x="6628665" y="2682296"/>
            <a:ext cx="499068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· y_w: chosen (好的CoT)</a:t>
            </a:r>
          </a:p>
        </p:txBody>
      </p:sp>
      <p:sp>
        <p:nvSpPr>
          <p:cNvPr id="1036" name="Text 26"/>
          <p:cNvSpPr txBox="1"/>
          <p:nvPr/>
        </p:nvSpPr>
        <p:spPr>
          <a:xfrm>
            <a:off x="6628665" y="2866482"/>
            <a:ext cx="499068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· y_l: rejected (差的CoT)</a:t>
            </a:r>
          </a:p>
        </p:txBody>
      </p:sp>
      <p:sp>
        <p:nvSpPr>
          <p:cNvPr id="1037" name="Text 27"/>
          <p:cNvSpPr txBox="1"/>
          <p:nvPr/>
        </p:nvSpPr>
        <p:spPr>
          <a:xfrm>
            <a:off x="6628665" y="3050669"/>
            <a:ext cx="499068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· β: 温度参数</a:t>
            </a:r>
          </a:p>
        </p:txBody>
      </p:sp>
      <p:sp>
        <p:nvSpPr>
          <p:cNvPr id="1038" name="Text 28"/>
          <p:cNvSpPr txBox="1"/>
          <p:nvPr/>
        </p:nvSpPr>
        <p:spPr>
          <a:xfrm>
            <a:off x="6628665" y="3234856"/>
            <a:ext cx="499068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· σ: sigmoid函数</a:t>
            </a:r>
          </a:p>
        </p:txBody>
      </p:sp>
      <p:sp>
        <p:nvSpPr>
          <p:cNvPr id="1039" name="Shape 29"/>
          <p:cNvSpPr/>
          <p:nvPr/>
        </p:nvSpPr>
        <p:spPr>
          <a:xfrm>
            <a:off x="342556" y="3825233"/>
            <a:ext cx="11503842" cy="26947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9" y="0"/>
                </a:moveTo>
                <a:lnTo>
                  <a:pt x="21411" y="0"/>
                </a:lnTo>
                <a:cubicBezTo>
                  <a:pt x="21516" y="0"/>
                  <a:pt x="21600" y="361"/>
                  <a:pt x="21600" y="805"/>
                </a:cubicBezTo>
                <a:lnTo>
                  <a:pt x="21600" y="20795"/>
                </a:lnTo>
                <a:cubicBezTo>
                  <a:pt x="21600" y="21239"/>
                  <a:pt x="21516" y="21600"/>
                  <a:pt x="21411" y="21600"/>
                </a:cubicBezTo>
                <a:lnTo>
                  <a:pt x="189" y="21600"/>
                </a:lnTo>
                <a:cubicBezTo>
                  <a:pt x="84" y="21600"/>
                  <a:pt x="0" y="21239"/>
                  <a:pt x="0" y="20795"/>
                </a:cubicBezTo>
                <a:lnTo>
                  <a:pt x="0" y="805"/>
                </a:lnTo>
                <a:cubicBezTo>
                  <a:pt x="0" y="361"/>
                  <a:pt x="84" y="0"/>
                  <a:pt x="189" y="0"/>
                </a:cubicBezTo>
                <a:close/>
              </a:path>
            </a:pathLst>
          </a:custGeom>
          <a:solidFill>
            <a:srgbClr val="5E8B7E">
              <a:alpha val="14902"/>
            </a:srgbClr>
          </a:solidFill>
          <a:ln w="23091">
            <a:solidFill>
              <a:srgbClr val="5E8B7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40" name="Shape 30"/>
          <p:cNvSpPr/>
          <p:nvPr/>
        </p:nvSpPr>
        <p:spPr>
          <a:xfrm>
            <a:off x="505009" y="4000236"/>
            <a:ext cx="167523" cy="1675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40" h="21388" fill="norm" stroke="1" extrusionOk="0">
                <a:moveTo>
                  <a:pt x="20945" y="6292"/>
                </a:moveTo>
                <a:lnTo>
                  <a:pt x="16945" y="10301"/>
                </a:lnTo>
                <a:cubicBezTo>
                  <a:pt x="16562" y="10686"/>
                  <a:pt x="15991" y="10798"/>
                  <a:pt x="15491" y="10590"/>
                </a:cubicBezTo>
                <a:cubicBezTo>
                  <a:pt x="14991" y="10381"/>
                  <a:pt x="14670" y="9896"/>
                  <a:pt x="14670" y="9358"/>
                </a:cubicBezTo>
                <a:lnTo>
                  <a:pt x="14670" y="6685"/>
                </a:lnTo>
                <a:lnTo>
                  <a:pt x="1337" y="6685"/>
                </a:lnTo>
                <a:cubicBezTo>
                  <a:pt x="599" y="6685"/>
                  <a:pt x="3" y="6087"/>
                  <a:pt x="3" y="5348"/>
                </a:cubicBezTo>
                <a:cubicBezTo>
                  <a:pt x="3" y="4609"/>
                  <a:pt x="599" y="4012"/>
                  <a:pt x="1337" y="4012"/>
                </a:cubicBezTo>
                <a:lnTo>
                  <a:pt x="14670" y="4012"/>
                </a:lnTo>
                <a:lnTo>
                  <a:pt x="14670" y="1339"/>
                </a:lnTo>
                <a:cubicBezTo>
                  <a:pt x="14670" y="800"/>
                  <a:pt x="14995" y="312"/>
                  <a:pt x="15495" y="103"/>
                </a:cubicBezTo>
                <a:cubicBezTo>
                  <a:pt x="15995" y="-106"/>
                  <a:pt x="16566" y="11"/>
                  <a:pt x="16949" y="391"/>
                </a:cubicBezTo>
                <a:lnTo>
                  <a:pt x="20949" y="4400"/>
                </a:lnTo>
                <a:cubicBezTo>
                  <a:pt x="21470" y="4922"/>
                  <a:pt x="21470" y="5770"/>
                  <a:pt x="20949" y="6292"/>
                </a:cubicBezTo>
                <a:close/>
                <a:moveTo>
                  <a:pt x="4391" y="20993"/>
                </a:moveTo>
                <a:lnTo>
                  <a:pt x="391" y="16984"/>
                </a:lnTo>
                <a:cubicBezTo>
                  <a:pt x="-130" y="16461"/>
                  <a:pt x="-130" y="15614"/>
                  <a:pt x="391" y="15092"/>
                </a:cubicBezTo>
                <a:lnTo>
                  <a:pt x="4391" y="11082"/>
                </a:lnTo>
                <a:cubicBezTo>
                  <a:pt x="4774" y="10698"/>
                  <a:pt x="5345" y="10585"/>
                  <a:pt x="5845" y="10794"/>
                </a:cubicBezTo>
                <a:cubicBezTo>
                  <a:pt x="6345" y="11003"/>
                  <a:pt x="6670" y="11492"/>
                  <a:pt x="6670" y="12030"/>
                </a:cubicBezTo>
                <a:lnTo>
                  <a:pt x="6670" y="14703"/>
                </a:lnTo>
                <a:lnTo>
                  <a:pt x="20003" y="14703"/>
                </a:lnTo>
                <a:cubicBezTo>
                  <a:pt x="20741" y="14703"/>
                  <a:pt x="21337" y="15301"/>
                  <a:pt x="21337" y="16040"/>
                </a:cubicBezTo>
                <a:cubicBezTo>
                  <a:pt x="21337" y="16779"/>
                  <a:pt x="20741" y="17376"/>
                  <a:pt x="20003" y="17376"/>
                </a:cubicBezTo>
                <a:lnTo>
                  <a:pt x="6670" y="17376"/>
                </a:lnTo>
                <a:lnTo>
                  <a:pt x="6670" y="20049"/>
                </a:lnTo>
                <a:cubicBezTo>
                  <a:pt x="6670" y="20588"/>
                  <a:pt x="6345" y="21076"/>
                  <a:pt x="5845" y="21285"/>
                </a:cubicBezTo>
                <a:cubicBezTo>
                  <a:pt x="5345" y="21494"/>
                  <a:pt x="4774" y="21377"/>
                  <a:pt x="4391" y="20997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41" name="Text 31"/>
          <p:cNvSpPr txBox="1"/>
          <p:nvPr/>
        </p:nvSpPr>
        <p:spPr>
          <a:xfrm>
            <a:off x="693440" y="3969707"/>
            <a:ext cx="1109505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3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偏好数据示例</a:t>
            </a:r>
          </a:p>
        </p:txBody>
      </p:sp>
      <p:sp>
        <p:nvSpPr>
          <p:cNvPr id="1042" name="Shape 32"/>
          <p:cNvSpPr/>
          <p:nvPr/>
        </p:nvSpPr>
        <p:spPr>
          <a:xfrm>
            <a:off x="484099" y="4301656"/>
            <a:ext cx="5543343" cy="20766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61" y="0"/>
                </a:moveTo>
                <a:lnTo>
                  <a:pt x="21339" y="0"/>
                </a:lnTo>
                <a:cubicBezTo>
                  <a:pt x="21483" y="0"/>
                  <a:pt x="21600" y="312"/>
                  <a:pt x="21600" y="697"/>
                </a:cubicBezTo>
                <a:lnTo>
                  <a:pt x="21600" y="20903"/>
                </a:lnTo>
                <a:cubicBezTo>
                  <a:pt x="21600" y="21288"/>
                  <a:pt x="21483" y="21600"/>
                  <a:pt x="21339" y="21600"/>
                </a:cubicBezTo>
                <a:lnTo>
                  <a:pt x="261" y="21600"/>
                </a:lnTo>
                <a:cubicBezTo>
                  <a:pt x="117" y="21600"/>
                  <a:pt x="0" y="21288"/>
                  <a:pt x="0" y="20903"/>
                </a:cubicBezTo>
                <a:lnTo>
                  <a:pt x="0" y="697"/>
                </a:lnTo>
                <a:cubicBezTo>
                  <a:pt x="0" y="312"/>
                  <a:pt x="117" y="0"/>
                  <a:pt x="261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43" name="Text 33"/>
          <p:cNvSpPr txBox="1"/>
          <p:nvPr/>
        </p:nvSpPr>
        <p:spPr>
          <a:xfrm>
            <a:off x="584547" y="4413690"/>
            <a:ext cx="5409365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Chosen (高质量CoT)</a:t>
            </a:r>
          </a:p>
        </p:txBody>
      </p:sp>
      <p:sp>
        <p:nvSpPr>
          <p:cNvPr id="1044" name="Shape 34"/>
          <p:cNvSpPr/>
          <p:nvPr/>
        </p:nvSpPr>
        <p:spPr>
          <a:xfrm>
            <a:off x="584548" y="4670030"/>
            <a:ext cx="5342374" cy="16077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5" y="0"/>
                </a:moveTo>
                <a:lnTo>
                  <a:pt x="21465" y="0"/>
                </a:lnTo>
                <a:cubicBezTo>
                  <a:pt x="21539" y="0"/>
                  <a:pt x="21600" y="201"/>
                  <a:pt x="21600" y="450"/>
                </a:cubicBezTo>
                <a:lnTo>
                  <a:pt x="21600" y="21150"/>
                </a:lnTo>
                <a:cubicBezTo>
                  <a:pt x="21600" y="21399"/>
                  <a:pt x="21539" y="21600"/>
                  <a:pt x="21465" y="21600"/>
                </a:cubicBezTo>
                <a:lnTo>
                  <a:pt x="135" y="21600"/>
                </a:lnTo>
                <a:cubicBezTo>
                  <a:pt x="61" y="21600"/>
                  <a:pt x="0" y="21399"/>
                  <a:pt x="0" y="21150"/>
                </a:cubicBezTo>
                <a:lnTo>
                  <a:pt x="0" y="450"/>
                </a:lnTo>
                <a:cubicBezTo>
                  <a:pt x="0" y="202"/>
                  <a:pt x="61" y="0"/>
                  <a:pt x="135" y="0"/>
                </a:cubicBezTo>
                <a:close/>
              </a:path>
            </a:pathLst>
          </a:custGeom>
          <a:solidFill>
            <a:srgbClr val="0D0E1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45" name="Text 35"/>
          <p:cNvSpPr txBox="1"/>
          <p:nvPr/>
        </p:nvSpPr>
        <p:spPr>
          <a:xfrm>
            <a:off x="651512" y="4740196"/>
            <a:ext cx="527538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阶段1: 诊断推理</a:t>
            </a:r>
          </a:p>
        </p:txBody>
      </p:sp>
      <p:sp>
        <p:nvSpPr>
          <p:cNvPr id="1046" name="Text 36"/>
          <p:cNvSpPr txBox="1"/>
          <p:nvPr/>
        </p:nvSpPr>
        <p:spPr>
          <a:xfrm>
            <a:off x="651512" y="4924383"/>
            <a:ext cx="527538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- 关键症状: 双下肢水肿、乏力、纳差</a:t>
            </a:r>
          </a:p>
        </p:txBody>
      </p:sp>
      <p:sp>
        <p:nvSpPr>
          <p:cNvPr id="1047" name="Text 37"/>
          <p:cNvSpPr txBox="1"/>
          <p:nvPr/>
        </p:nvSpPr>
        <p:spPr>
          <a:xfrm>
            <a:off x="651512" y="5108570"/>
            <a:ext cx="527538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- 实验室检查: 空腹血糖9.2mmol/L↑...</a:t>
            </a:r>
          </a:p>
        </p:txBody>
      </p:sp>
      <p:sp>
        <p:nvSpPr>
          <p:cNvPr id="1048" name="Text 38"/>
          <p:cNvSpPr txBox="1"/>
          <p:nvPr/>
        </p:nvSpPr>
        <p:spPr>
          <a:xfrm>
            <a:off x="651512" y="5292757"/>
            <a:ext cx="527538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- 诊断分析: 糖尿病病史10年...</a:t>
            </a:r>
          </a:p>
        </p:txBody>
      </p:sp>
      <p:sp>
        <p:nvSpPr>
          <p:cNvPr id="1049" name="Text 39"/>
          <p:cNvSpPr txBox="1"/>
          <p:nvPr/>
        </p:nvSpPr>
        <p:spPr>
          <a:xfrm>
            <a:off x="651512" y="5476928"/>
            <a:ext cx="527538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阶段2: 用药推理</a:t>
            </a:r>
          </a:p>
        </p:txBody>
      </p:sp>
      <p:sp>
        <p:nvSpPr>
          <p:cNvPr id="1050" name="Text 40"/>
          <p:cNvSpPr txBox="1"/>
          <p:nvPr/>
        </p:nvSpPr>
        <p:spPr>
          <a:xfrm>
            <a:off x="651512" y="5661115"/>
            <a:ext cx="527538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- 适应症药物: 二甲双胍(降糖)...</a:t>
            </a:r>
          </a:p>
        </p:txBody>
      </p:sp>
      <p:sp>
        <p:nvSpPr>
          <p:cNvPr id="1051" name="Text 41"/>
          <p:cNvSpPr txBox="1"/>
          <p:nvPr/>
        </p:nvSpPr>
        <p:spPr>
          <a:xfrm>
            <a:off x="651512" y="5845302"/>
            <a:ext cx="527538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- 药理分析: 二甲双胍抑制肝糖原输出...</a:t>
            </a:r>
          </a:p>
        </p:txBody>
      </p:sp>
      <p:sp>
        <p:nvSpPr>
          <p:cNvPr id="1052" name="Text 42"/>
          <p:cNvSpPr txBox="1"/>
          <p:nvPr/>
        </p:nvSpPr>
        <p:spPr>
          <a:xfrm>
            <a:off x="651512" y="6042189"/>
            <a:ext cx="527538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...</a:t>
            </a:r>
          </a:p>
        </p:txBody>
      </p:sp>
      <p:sp>
        <p:nvSpPr>
          <p:cNvPr id="1053" name="Shape 43"/>
          <p:cNvSpPr/>
          <p:nvPr/>
        </p:nvSpPr>
        <p:spPr>
          <a:xfrm>
            <a:off x="6162940" y="4301656"/>
            <a:ext cx="5543342" cy="20766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61" y="0"/>
                </a:moveTo>
                <a:lnTo>
                  <a:pt x="21339" y="0"/>
                </a:lnTo>
                <a:cubicBezTo>
                  <a:pt x="21483" y="0"/>
                  <a:pt x="21600" y="312"/>
                  <a:pt x="21600" y="697"/>
                </a:cubicBezTo>
                <a:lnTo>
                  <a:pt x="21600" y="20903"/>
                </a:lnTo>
                <a:cubicBezTo>
                  <a:pt x="21600" y="21288"/>
                  <a:pt x="21483" y="21600"/>
                  <a:pt x="21339" y="21600"/>
                </a:cubicBezTo>
                <a:lnTo>
                  <a:pt x="261" y="21600"/>
                </a:lnTo>
                <a:cubicBezTo>
                  <a:pt x="117" y="21600"/>
                  <a:pt x="0" y="21288"/>
                  <a:pt x="0" y="20903"/>
                </a:cubicBezTo>
                <a:lnTo>
                  <a:pt x="0" y="697"/>
                </a:lnTo>
                <a:cubicBezTo>
                  <a:pt x="0" y="312"/>
                  <a:pt x="117" y="0"/>
                  <a:pt x="261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54" name="Text 44"/>
          <p:cNvSpPr txBox="1"/>
          <p:nvPr/>
        </p:nvSpPr>
        <p:spPr>
          <a:xfrm>
            <a:off x="6263389" y="4413690"/>
            <a:ext cx="540936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Rejected (低质量CoT)</a:t>
            </a:r>
          </a:p>
        </p:txBody>
      </p:sp>
      <p:sp>
        <p:nvSpPr>
          <p:cNvPr id="1055" name="Shape 45"/>
          <p:cNvSpPr/>
          <p:nvPr/>
        </p:nvSpPr>
        <p:spPr>
          <a:xfrm>
            <a:off x="6263389" y="4670030"/>
            <a:ext cx="5342374" cy="16077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5" y="0"/>
                </a:moveTo>
                <a:lnTo>
                  <a:pt x="21465" y="0"/>
                </a:lnTo>
                <a:cubicBezTo>
                  <a:pt x="21539" y="0"/>
                  <a:pt x="21600" y="201"/>
                  <a:pt x="21600" y="450"/>
                </a:cubicBezTo>
                <a:lnTo>
                  <a:pt x="21600" y="21150"/>
                </a:lnTo>
                <a:cubicBezTo>
                  <a:pt x="21600" y="21399"/>
                  <a:pt x="21539" y="21600"/>
                  <a:pt x="21465" y="21600"/>
                </a:cubicBezTo>
                <a:lnTo>
                  <a:pt x="135" y="21600"/>
                </a:lnTo>
                <a:cubicBezTo>
                  <a:pt x="61" y="21600"/>
                  <a:pt x="0" y="21399"/>
                  <a:pt x="0" y="21150"/>
                </a:cubicBezTo>
                <a:lnTo>
                  <a:pt x="0" y="450"/>
                </a:lnTo>
                <a:cubicBezTo>
                  <a:pt x="0" y="202"/>
                  <a:pt x="61" y="0"/>
                  <a:pt x="135" y="0"/>
                </a:cubicBezTo>
                <a:close/>
              </a:path>
            </a:pathLst>
          </a:custGeom>
          <a:solidFill>
            <a:srgbClr val="0D0E1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56" name="Text 46"/>
          <p:cNvSpPr txBox="1"/>
          <p:nvPr/>
        </p:nvSpPr>
        <p:spPr>
          <a:xfrm>
            <a:off x="6330353" y="4740196"/>
            <a:ext cx="527538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患者有糖尿病、高血压、高脂血症，</a:t>
            </a:r>
          </a:p>
        </p:txBody>
      </p:sp>
      <p:sp>
        <p:nvSpPr>
          <p:cNvPr id="1057" name="Text 47"/>
          <p:cNvSpPr txBox="1"/>
          <p:nvPr/>
        </p:nvSpPr>
        <p:spPr>
          <a:xfrm>
            <a:off x="6330353" y="4924383"/>
            <a:ext cx="527538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需要用降糖药、降压药、降脂药。</a:t>
            </a:r>
          </a:p>
        </p:txBody>
      </p:sp>
      <p:sp>
        <p:nvSpPr>
          <p:cNvPr id="1058" name="Text 48"/>
          <p:cNvSpPr txBox="1"/>
          <p:nvPr/>
        </p:nvSpPr>
        <p:spPr>
          <a:xfrm>
            <a:off x="6330353" y="5108570"/>
            <a:ext cx="527538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降糖药选二甲双胍，降压药选氨氯地平，</a:t>
            </a:r>
          </a:p>
        </p:txBody>
      </p:sp>
      <p:sp>
        <p:nvSpPr>
          <p:cNvPr id="1059" name="Text 49"/>
          <p:cNvSpPr txBox="1"/>
          <p:nvPr/>
        </p:nvSpPr>
        <p:spPr>
          <a:xfrm>
            <a:off x="6330353" y="5292757"/>
            <a:ext cx="527538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降脂药选阿托伐他汀。还需要用阿司匹林</a:t>
            </a:r>
          </a:p>
        </p:txBody>
      </p:sp>
      <p:sp>
        <p:nvSpPr>
          <p:cNvPr id="1060" name="Text 50"/>
          <p:cNvSpPr txBox="1"/>
          <p:nvPr/>
        </p:nvSpPr>
        <p:spPr>
          <a:xfrm>
            <a:off x="6330353" y="5476928"/>
            <a:ext cx="527538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预防心血管事件。依那普利也可以用，</a:t>
            </a:r>
          </a:p>
        </p:txBody>
      </p:sp>
      <p:sp>
        <p:nvSpPr>
          <p:cNvPr id="1061" name="Text 51"/>
          <p:cNvSpPr txBox="1"/>
          <p:nvPr/>
        </p:nvSpPr>
        <p:spPr>
          <a:xfrm>
            <a:off x="6330353" y="5661115"/>
            <a:ext cx="527538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保护肾脏。</a:t>
            </a:r>
          </a:p>
        </p:txBody>
      </p:sp>
      <p:sp>
        <p:nvSpPr>
          <p:cNvPr id="1062" name="Text 52"/>
          <p:cNvSpPr txBox="1"/>
          <p:nvPr/>
        </p:nvSpPr>
        <p:spPr>
          <a:xfrm>
            <a:off x="6330353" y="5845302"/>
            <a:ext cx="527538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最终处方: 二甲双胍、氨氯地平、</a:t>
            </a:r>
          </a:p>
        </p:txBody>
      </p:sp>
      <p:sp>
        <p:nvSpPr>
          <p:cNvPr id="1063" name="Text 53"/>
          <p:cNvSpPr txBox="1"/>
          <p:nvPr/>
        </p:nvSpPr>
        <p:spPr>
          <a:xfrm>
            <a:off x="6330353" y="6029489"/>
            <a:ext cx="527538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阿托伐他汀、阿司匹林、依那普利。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Text 0"/>
          <p:cNvSpPr txBox="1"/>
          <p:nvPr/>
        </p:nvSpPr>
        <p:spPr>
          <a:xfrm>
            <a:off x="317500" y="336549"/>
            <a:ext cx="116205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pc="50" sz="1000">
                <a:solidFill>
                  <a:srgbClr val="5E8B7E"/>
                </a:solidFill>
                <a:latin typeface="Liter"/>
                <a:ea typeface="Liter"/>
                <a:cs typeface="Liter"/>
                <a:sym typeface="Liter"/>
              </a:defRPr>
            </a:lvl1pPr>
          </a:lstStyle>
          <a:p>
            <a:pPr/>
            <a:r>
              <a:t>MODULE 5: SAFETY LAYER</a:t>
            </a:r>
          </a:p>
        </p:txBody>
      </p:sp>
      <p:sp>
        <p:nvSpPr>
          <p:cNvPr id="1066" name="Text 1"/>
          <p:cNvSpPr txBox="1"/>
          <p:nvPr/>
        </p:nvSpPr>
        <p:spPr>
          <a:xfrm>
            <a:off x="317500" y="495268"/>
            <a:ext cx="117475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80000"/>
              </a:lnSpc>
              <a:defRPr b="1" sz="3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模块5: 安全防护系统</a:t>
            </a:r>
          </a:p>
        </p:txBody>
      </p:sp>
      <p:sp>
        <p:nvSpPr>
          <p:cNvPr id="1067" name="Shape 2"/>
          <p:cNvSpPr/>
          <p:nvPr/>
        </p:nvSpPr>
        <p:spPr>
          <a:xfrm>
            <a:off x="317500" y="1079406"/>
            <a:ext cx="762000" cy="31751"/>
          </a:xfrm>
          <a:prstGeom prst="rect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68" name="Shape 3"/>
          <p:cNvSpPr/>
          <p:nvPr/>
        </p:nvSpPr>
        <p:spPr>
          <a:xfrm>
            <a:off x="331931" y="1238094"/>
            <a:ext cx="7602683" cy="1428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2" y="0"/>
                </a:moveTo>
                <a:lnTo>
                  <a:pt x="21329" y="0"/>
                </a:lnTo>
                <a:cubicBezTo>
                  <a:pt x="21479" y="0"/>
                  <a:pt x="21600" y="645"/>
                  <a:pt x="21600" y="1440"/>
                </a:cubicBezTo>
                <a:lnTo>
                  <a:pt x="21600" y="20160"/>
                </a:lnTo>
                <a:cubicBezTo>
                  <a:pt x="21600" y="20955"/>
                  <a:pt x="21479" y="21600"/>
                  <a:pt x="21329" y="21600"/>
                </a:cubicBezTo>
                <a:lnTo>
                  <a:pt x="82" y="21600"/>
                </a:lnTo>
                <a:cubicBezTo>
                  <a:pt x="37" y="21600"/>
                  <a:pt x="0" y="21405"/>
                  <a:pt x="0" y="21164"/>
                </a:cubicBezTo>
                <a:lnTo>
                  <a:pt x="0" y="436"/>
                </a:lnTo>
                <a:cubicBezTo>
                  <a:pt x="0" y="195"/>
                  <a:pt x="37" y="0"/>
                  <a:pt x="82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69" name="Shape 4"/>
          <p:cNvSpPr/>
          <p:nvPr/>
        </p:nvSpPr>
        <p:spPr>
          <a:xfrm>
            <a:off x="331931" y="1238094"/>
            <a:ext cx="28865" cy="1428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405"/>
                  <a:pt x="0" y="21164"/>
                </a:cubicBezTo>
                <a:lnTo>
                  <a:pt x="0" y="436"/>
                </a:lnTo>
                <a:cubicBezTo>
                  <a:pt x="0" y="195"/>
                  <a:pt x="9671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70" name="Shape 5"/>
          <p:cNvSpPr/>
          <p:nvPr/>
        </p:nvSpPr>
        <p:spPr>
          <a:xfrm>
            <a:off x="441580" y="1333313"/>
            <a:ext cx="317501" cy="317501"/>
          </a:xfrm>
          <a:prstGeom prst="ellipse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71" name="Text 6"/>
          <p:cNvSpPr txBox="1"/>
          <p:nvPr/>
        </p:nvSpPr>
        <p:spPr>
          <a:xfrm>
            <a:off x="405861" y="1409513"/>
            <a:ext cx="38893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100">
                <a:solidFill>
                  <a:srgbClr val="1A1D21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072" name="Text 7"/>
          <p:cNvSpPr txBox="1"/>
          <p:nvPr/>
        </p:nvSpPr>
        <p:spPr>
          <a:xfrm>
            <a:off x="854296" y="1384128"/>
            <a:ext cx="146843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Layer 1: 置信度过滤</a:t>
            </a:r>
          </a:p>
        </p:txBody>
      </p:sp>
      <p:sp>
        <p:nvSpPr>
          <p:cNvPr id="1073" name="Text 8"/>
          <p:cNvSpPr txBox="1"/>
          <p:nvPr/>
        </p:nvSpPr>
        <p:spPr>
          <a:xfrm>
            <a:off x="441580" y="1720648"/>
            <a:ext cx="746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推荐概率 &gt;= 0.6?</a:t>
            </a:r>
          </a:p>
        </p:txBody>
      </p:sp>
      <p:sp>
        <p:nvSpPr>
          <p:cNvPr id="1074" name="Text 9"/>
          <p:cNvSpPr txBox="1"/>
          <p:nvPr/>
        </p:nvSpPr>
        <p:spPr>
          <a:xfrm>
            <a:off x="441580" y="1942867"/>
            <a:ext cx="746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置信度校准(Temperature Scaling)</a:t>
            </a:r>
          </a:p>
        </p:txBody>
      </p:sp>
      <p:sp>
        <p:nvSpPr>
          <p:cNvPr id="1075" name="Text 10"/>
          <p:cNvSpPr txBox="1"/>
          <p:nvPr/>
        </p:nvSpPr>
        <p:spPr>
          <a:xfrm>
            <a:off x="441580" y="2165101"/>
            <a:ext cx="746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不确定性估计(MC Dropout)</a:t>
            </a:r>
          </a:p>
        </p:txBody>
      </p:sp>
      <p:sp>
        <p:nvSpPr>
          <p:cNvPr id="1076" name="Text 11"/>
          <p:cNvSpPr txBox="1"/>
          <p:nvPr/>
        </p:nvSpPr>
        <p:spPr>
          <a:xfrm>
            <a:off x="441580" y="2387320"/>
            <a:ext cx="746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拒绝: 置信度过低的推荐</a:t>
            </a:r>
          </a:p>
        </p:txBody>
      </p:sp>
      <p:sp>
        <p:nvSpPr>
          <p:cNvPr id="1077" name="Shape 12"/>
          <p:cNvSpPr/>
          <p:nvPr/>
        </p:nvSpPr>
        <p:spPr>
          <a:xfrm>
            <a:off x="4067946" y="2730158"/>
            <a:ext cx="119110" cy="1587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4" h="21469" fill="norm" stroke="1" extrusionOk="0">
                <a:moveTo>
                  <a:pt x="9377" y="21076"/>
                </a:moveTo>
                <a:cubicBezTo>
                  <a:pt x="10068" y="21600"/>
                  <a:pt x="11191" y="21600"/>
                  <a:pt x="11883" y="21076"/>
                </a:cubicBezTo>
                <a:lnTo>
                  <a:pt x="20735" y="14366"/>
                </a:lnTo>
                <a:cubicBezTo>
                  <a:pt x="21427" y="13842"/>
                  <a:pt x="21427" y="12991"/>
                  <a:pt x="20735" y="12467"/>
                </a:cubicBezTo>
                <a:cubicBezTo>
                  <a:pt x="20044" y="11943"/>
                  <a:pt x="18921" y="11943"/>
                  <a:pt x="18229" y="12467"/>
                </a:cubicBezTo>
                <a:lnTo>
                  <a:pt x="12397" y="16887"/>
                </a:lnTo>
                <a:lnTo>
                  <a:pt x="12397" y="1342"/>
                </a:lnTo>
                <a:cubicBezTo>
                  <a:pt x="12397" y="600"/>
                  <a:pt x="11606" y="0"/>
                  <a:pt x="10627" y="0"/>
                </a:cubicBezTo>
                <a:cubicBezTo>
                  <a:pt x="9648" y="0"/>
                  <a:pt x="8856" y="600"/>
                  <a:pt x="8856" y="1342"/>
                </a:cubicBezTo>
                <a:lnTo>
                  <a:pt x="8856" y="16887"/>
                </a:lnTo>
                <a:lnTo>
                  <a:pt x="3025" y="12467"/>
                </a:lnTo>
                <a:cubicBezTo>
                  <a:pt x="2333" y="11943"/>
                  <a:pt x="1210" y="11943"/>
                  <a:pt x="519" y="12467"/>
                </a:cubicBezTo>
                <a:cubicBezTo>
                  <a:pt x="-173" y="12991"/>
                  <a:pt x="-173" y="13842"/>
                  <a:pt x="519" y="14366"/>
                </a:cubicBezTo>
                <a:lnTo>
                  <a:pt x="9371" y="21076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78" name="Shape 13"/>
          <p:cNvSpPr/>
          <p:nvPr/>
        </p:nvSpPr>
        <p:spPr>
          <a:xfrm>
            <a:off x="331931" y="2952377"/>
            <a:ext cx="7602683" cy="1651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2" y="0"/>
                </a:moveTo>
                <a:lnTo>
                  <a:pt x="21329" y="0"/>
                </a:lnTo>
                <a:cubicBezTo>
                  <a:pt x="21479" y="0"/>
                  <a:pt x="21600" y="558"/>
                  <a:pt x="21600" y="1246"/>
                </a:cubicBezTo>
                <a:lnTo>
                  <a:pt x="21600" y="20354"/>
                </a:lnTo>
                <a:cubicBezTo>
                  <a:pt x="21600" y="21042"/>
                  <a:pt x="21479" y="21600"/>
                  <a:pt x="21329" y="21600"/>
                </a:cubicBezTo>
                <a:lnTo>
                  <a:pt x="82" y="21600"/>
                </a:lnTo>
                <a:cubicBezTo>
                  <a:pt x="37" y="21600"/>
                  <a:pt x="0" y="21431"/>
                  <a:pt x="0" y="21222"/>
                </a:cubicBezTo>
                <a:lnTo>
                  <a:pt x="0" y="378"/>
                </a:lnTo>
                <a:cubicBezTo>
                  <a:pt x="0" y="169"/>
                  <a:pt x="37" y="0"/>
                  <a:pt x="82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79" name="Shape 14"/>
          <p:cNvSpPr/>
          <p:nvPr/>
        </p:nvSpPr>
        <p:spPr>
          <a:xfrm>
            <a:off x="331931" y="2952377"/>
            <a:ext cx="28865" cy="1651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431"/>
                  <a:pt x="0" y="21222"/>
                </a:cubicBezTo>
                <a:lnTo>
                  <a:pt x="0" y="378"/>
                </a:lnTo>
                <a:cubicBezTo>
                  <a:pt x="0" y="169"/>
                  <a:pt x="9671" y="0"/>
                  <a:pt x="21600" y="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80" name="Shape 15"/>
          <p:cNvSpPr/>
          <p:nvPr/>
        </p:nvSpPr>
        <p:spPr>
          <a:xfrm>
            <a:off x="441580" y="3047596"/>
            <a:ext cx="317501" cy="317501"/>
          </a:xfrm>
          <a:prstGeom prst="ellipse">
            <a:avLst/>
          </a:pr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81" name="Text 16"/>
          <p:cNvSpPr txBox="1"/>
          <p:nvPr/>
        </p:nvSpPr>
        <p:spPr>
          <a:xfrm>
            <a:off x="405861" y="3123796"/>
            <a:ext cx="38893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1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082" name="Text 17"/>
          <p:cNvSpPr txBox="1"/>
          <p:nvPr/>
        </p:nvSpPr>
        <p:spPr>
          <a:xfrm>
            <a:off x="854296" y="3098412"/>
            <a:ext cx="180975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Layer 2: 规则引擎硬约束</a:t>
            </a:r>
          </a:p>
        </p:txBody>
      </p:sp>
      <p:sp>
        <p:nvSpPr>
          <p:cNvPr id="1083" name="Text 18"/>
          <p:cNvSpPr txBox="1"/>
          <p:nvPr/>
        </p:nvSpPr>
        <p:spPr>
          <a:xfrm>
            <a:off x="441580" y="3434931"/>
            <a:ext cx="746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绝对禁忌症检查</a:t>
            </a:r>
          </a:p>
        </p:txBody>
      </p:sp>
      <p:sp>
        <p:nvSpPr>
          <p:cNvPr id="1084" name="Text 19"/>
          <p:cNvSpPr txBox="1"/>
          <p:nvPr/>
        </p:nvSpPr>
        <p:spPr>
          <a:xfrm>
            <a:off x="441580" y="3657150"/>
            <a:ext cx="746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剂量范围检查</a:t>
            </a:r>
          </a:p>
        </p:txBody>
      </p:sp>
      <p:sp>
        <p:nvSpPr>
          <p:cNvPr id="1085" name="Text 20"/>
          <p:cNvSpPr txBox="1"/>
          <p:nvPr/>
        </p:nvSpPr>
        <p:spPr>
          <a:xfrm>
            <a:off x="441580" y="3879384"/>
            <a:ext cx="746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给药途径检查</a:t>
            </a:r>
          </a:p>
        </p:txBody>
      </p:sp>
      <p:sp>
        <p:nvSpPr>
          <p:cNvPr id="1086" name="Text 21"/>
          <p:cNvSpPr txBox="1"/>
          <p:nvPr/>
        </p:nvSpPr>
        <p:spPr>
          <a:xfrm>
            <a:off x="441580" y="4101603"/>
            <a:ext cx="746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特殊人群检查</a:t>
            </a:r>
          </a:p>
        </p:txBody>
      </p:sp>
      <p:sp>
        <p:nvSpPr>
          <p:cNvPr id="1087" name="Text 22"/>
          <p:cNvSpPr txBox="1"/>
          <p:nvPr/>
        </p:nvSpPr>
        <p:spPr>
          <a:xfrm>
            <a:off x="441580" y="4323838"/>
            <a:ext cx="746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拒绝: 违反硬约束的推荐</a:t>
            </a:r>
          </a:p>
        </p:txBody>
      </p:sp>
      <p:sp>
        <p:nvSpPr>
          <p:cNvPr id="1088" name="Shape 23"/>
          <p:cNvSpPr/>
          <p:nvPr/>
        </p:nvSpPr>
        <p:spPr>
          <a:xfrm>
            <a:off x="4067946" y="4666676"/>
            <a:ext cx="119110" cy="1587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4" h="21469" fill="norm" stroke="1" extrusionOk="0">
                <a:moveTo>
                  <a:pt x="9377" y="21076"/>
                </a:moveTo>
                <a:cubicBezTo>
                  <a:pt x="10068" y="21600"/>
                  <a:pt x="11191" y="21600"/>
                  <a:pt x="11883" y="21076"/>
                </a:cubicBezTo>
                <a:lnTo>
                  <a:pt x="20735" y="14366"/>
                </a:lnTo>
                <a:cubicBezTo>
                  <a:pt x="21427" y="13842"/>
                  <a:pt x="21427" y="12991"/>
                  <a:pt x="20735" y="12467"/>
                </a:cubicBezTo>
                <a:cubicBezTo>
                  <a:pt x="20044" y="11943"/>
                  <a:pt x="18921" y="11943"/>
                  <a:pt x="18229" y="12467"/>
                </a:cubicBezTo>
                <a:lnTo>
                  <a:pt x="12397" y="16887"/>
                </a:lnTo>
                <a:lnTo>
                  <a:pt x="12397" y="1342"/>
                </a:lnTo>
                <a:cubicBezTo>
                  <a:pt x="12397" y="600"/>
                  <a:pt x="11606" y="0"/>
                  <a:pt x="10627" y="0"/>
                </a:cubicBezTo>
                <a:cubicBezTo>
                  <a:pt x="9648" y="0"/>
                  <a:pt x="8856" y="600"/>
                  <a:pt x="8856" y="1342"/>
                </a:cubicBezTo>
                <a:lnTo>
                  <a:pt x="8856" y="16887"/>
                </a:lnTo>
                <a:lnTo>
                  <a:pt x="3025" y="12467"/>
                </a:lnTo>
                <a:cubicBezTo>
                  <a:pt x="2333" y="11943"/>
                  <a:pt x="1210" y="11943"/>
                  <a:pt x="519" y="12467"/>
                </a:cubicBezTo>
                <a:cubicBezTo>
                  <a:pt x="-173" y="12991"/>
                  <a:pt x="-173" y="13842"/>
                  <a:pt x="519" y="14366"/>
                </a:cubicBezTo>
                <a:lnTo>
                  <a:pt x="9371" y="21076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89" name="Shape 24"/>
          <p:cNvSpPr/>
          <p:nvPr/>
        </p:nvSpPr>
        <p:spPr>
          <a:xfrm>
            <a:off x="331931" y="4888894"/>
            <a:ext cx="7602683" cy="1428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2" y="0"/>
                </a:moveTo>
                <a:lnTo>
                  <a:pt x="21329" y="0"/>
                </a:lnTo>
                <a:cubicBezTo>
                  <a:pt x="21479" y="0"/>
                  <a:pt x="21600" y="645"/>
                  <a:pt x="21600" y="1440"/>
                </a:cubicBezTo>
                <a:lnTo>
                  <a:pt x="21600" y="20160"/>
                </a:lnTo>
                <a:cubicBezTo>
                  <a:pt x="21600" y="20955"/>
                  <a:pt x="21479" y="21600"/>
                  <a:pt x="21329" y="21600"/>
                </a:cubicBezTo>
                <a:lnTo>
                  <a:pt x="82" y="21600"/>
                </a:lnTo>
                <a:cubicBezTo>
                  <a:pt x="37" y="21600"/>
                  <a:pt x="0" y="21405"/>
                  <a:pt x="0" y="21164"/>
                </a:cubicBezTo>
                <a:lnTo>
                  <a:pt x="0" y="436"/>
                </a:lnTo>
                <a:cubicBezTo>
                  <a:pt x="0" y="195"/>
                  <a:pt x="37" y="0"/>
                  <a:pt x="82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90" name="Shape 25"/>
          <p:cNvSpPr/>
          <p:nvPr/>
        </p:nvSpPr>
        <p:spPr>
          <a:xfrm>
            <a:off x="331931" y="4888894"/>
            <a:ext cx="28865" cy="1428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405"/>
                  <a:pt x="0" y="21164"/>
                </a:cubicBezTo>
                <a:lnTo>
                  <a:pt x="0" y="436"/>
                </a:lnTo>
                <a:cubicBezTo>
                  <a:pt x="0" y="195"/>
                  <a:pt x="9671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91" name="Shape 26"/>
          <p:cNvSpPr/>
          <p:nvPr/>
        </p:nvSpPr>
        <p:spPr>
          <a:xfrm>
            <a:off x="441580" y="4984113"/>
            <a:ext cx="317501" cy="317501"/>
          </a:xfrm>
          <a:prstGeom prst="ellipse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92" name="Text 27"/>
          <p:cNvSpPr txBox="1"/>
          <p:nvPr/>
        </p:nvSpPr>
        <p:spPr>
          <a:xfrm>
            <a:off x="405861" y="5060313"/>
            <a:ext cx="38893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100">
                <a:solidFill>
                  <a:srgbClr val="1A1D21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093" name="Text 28"/>
          <p:cNvSpPr txBox="1"/>
          <p:nvPr/>
        </p:nvSpPr>
        <p:spPr>
          <a:xfrm>
            <a:off x="854296" y="5034929"/>
            <a:ext cx="1293813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Layer 3: DDI检测</a:t>
            </a:r>
          </a:p>
        </p:txBody>
      </p:sp>
      <p:sp>
        <p:nvSpPr>
          <p:cNvPr id="1094" name="Text 29"/>
          <p:cNvSpPr txBox="1"/>
          <p:nvPr/>
        </p:nvSpPr>
        <p:spPr>
          <a:xfrm>
            <a:off x="441580" y="5371432"/>
            <a:ext cx="746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药物-药物相互作用检测</a:t>
            </a:r>
          </a:p>
        </p:txBody>
      </p:sp>
      <p:sp>
        <p:nvSpPr>
          <p:cNvPr id="1095" name="Text 30"/>
          <p:cNvSpPr txBox="1"/>
          <p:nvPr/>
        </p:nvSpPr>
        <p:spPr>
          <a:xfrm>
            <a:off x="441580" y="5593667"/>
            <a:ext cx="746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药物-疾病相互作用检测</a:t>
            </a:r>
          </a:p>
        </p:txBody>
      </p:sp>
      <p:sp>
        <p:nvSpPr>
          <p:cNvPr id="1096" name="Text 31"/>
          <p:cNvSpPr txBox="1"/>
          <p:nvPr/>
        </p:nvSpPr>
        <p:spPr>
          <a:xfrm>
            <a:off x="441580" y="5815901"/>
            <a:ext cx="746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严重程度分级(Major/Moderate/Minor)</a:t>
            </a:r>
          </a:p>
        </p:txBody>
      </p:sp>
      <p:sp>
        <p:nvSpPr>
          <p:cNvPr id="1097" name="Text 32"/>
          <p:cNvSpPr txBox="1"/>
          <p:nvPr/>
        </p:nvSpPr>
        <p:spPr>
          <a:xfrm>
            <a:off x="441580" y="6038120"/>
            <a:ext cx="7461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拒绝: 严重相互作用的推荐</a:t>
            </a:r>
          </a:p>
        </p:txBody>
      </p:sp>
      <p:sp>
        <p:nvSpPr>
          <p:cNvPr id="1098" name="Shape 33"/>
          <p:cNvSpPr/>
          <p:nvPr/>
        </p:nvSpPr>
        <p:spPr>
          <a:xfrm>
            <a:off x="8071670" y="1245311"/>
            <a:ext cx="3792683" cy="53801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2" y="0"/>
                </a:moveTo>
                <a:lnTo>
                  <a:pt x="21058" y="0"/>
                </a:lnTo>
                <a:cubicBezTo>
                  <a:pt x="21357" y="0"/>
                  <a:pt x="21600" y="171"/>
                  <a:pt x="21600" y="382"/>
                </a:cubicBezTo>
                <a:lnTo>
                  <a:pt x="21600" y="21218"/>
                </a:lnTo>
                <a:cubicBezTo>
                  <a:pt x="21600" y="21429"/>
                  <a:pt x="21357" y="21600"/>
                  <a:pt x="21058" y="21600"/>
                </a:cubicBezTo>
                <a:lnTo>
                  <a:pt x="542" y="21600"/>
                </a:lnTo>
                <a:cubicBezTo>
                  <a:pt x="243" y="21600"/>
                  <a:pt x="0" y="21429"/>
                  <a:pt x="0" y="21218"/>
                </a:cubicBezTo>
                <a:lnTo>
                  <a:pt x="0" y="382"/>
                </a:lnTo>
                <a:cubicBezTo>
                  <a:pt x="0" y="171"/>
                  <a:pt x="243" y="0"/>
                  <a:pt x="542" y="0"/>
                </a:cubicBezTo>
                <a:close/>
              </a:path>
            </a:pathLst>
          </a:custGeom>
          <a:solidFill>
            <a:srgbClr val="5E8B7E">
              <a:alpha val="14902"/>
            </a:srgbClr>
          </a:solidFill>
          <a:ln w="23091">
            <a:solidFill>
              <a:srgbClr val="5E8B7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99" name="Shape 34"/>
          <p:cNvSpPr/>
          <p:nvPr/>
        </p:nvSpPr>
        <p:spPr>
          <a:xfrm>
            <a:off x="8262471" y="1443012"/>
            <a:ext cx="148829" cy="157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1" h="21515" fill="norm" stroke="1" extrusionOk="0">
                <a:moveTo>
                  <a:pt x="10792" y="0"/>
                </a:moveTo>
                <a:cubicBezTo>
                  <a:pt x="10998" y="0"/>
                  <a:pt x="11205" y="42"/>
                  <a:pt x="11394" y="123"/>
                </a:cubicBezTo>
                <a:lnTo>
                  <a:pt x="19869" y="3499"/>
                </a:lnTo>
                <a:cubicBezTo>
                  <a:pt x="20858" y="3891"/>
                  <a:pt x="21596" y="4808"/>
                  <a:pt x="21592" y="5915"/>
                </a:cubicBezTo>
                <a:cubicBezTo>
                  <a:pt x="21569" y="10107"/>
                  <a:pt x="19734" y="17776"/>
                  <a:pt x="11984" y="21262"/>
                </a:cubicBezTo>
                <a:cubicBezTo>
                  <a:pt x="11232" y="21600"/>
                  <a:pt x="10360" y="21600"/>
                  <a:pt x="9608" y="21262"/>
                </a:cubicBezTo>
                <a:cubicBezTo>
                  <a:pt x="1854" y="17776"/>
                  <a:pt x="23" y="10107"/>
                  <a:pt x="0" y="5915"/>
                </a:cubicBezTo>
                <a:cubicBezTo>
                  <a:pt x="-4" y="4808"/>
                  <a:pt x="734" y="3891"/>
                  <a:pt x="1723" y="3499"/>
                </a:cubicBezTo>
                <a:lnTo>
                  <a:pt x="10193" y="123"/>
                </a:lnTo>
                <a:cubicBezTo>
                  <a:pt x="10382" y="42"/>
                  <a:pt x="10585" y="0"/>
                  <a:pt x="10792" y="0"/>
                </a:cubicBezTo>
                <a:close/>
                <a:moveTo>
                  <a:pt x="10792" y="2823"/>
                </a:moveTo>
                <a:lnTo>
                  <a:pt x="10792" y="18799"/>
                </a:lnTo>
                <a:cubicBezTo>
                  <a:pt x="16999" y="15976"/>
                  <a:pt x="18668" y="9722"/>
                  <a:pt x="18708" y="5979"/>
                </a:cubicBezTo>
                <a:lnTo>
                  <a:pt x="10792" y="2827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00" name="Text 35"/>
          <p:cNvSpPr txBox="1"/>
          <p:nvPr/>
        </p:nvSpPr>
        <p:spPr>
          <a:xfrm>
            <a:off x="8436074" y="1414453"/>
            <a:ext cx="3341689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安全防护流程图</a:t>
            </a:r>
          </a:p>
        </p:txBody>
      </p:sp>
      <p:sp>
        <p:nvSpPr>
          <p:cNvPr id="1101" name="Shape 36"/>
          <p:cNvSpPr/>
          <p:nvPr/>
        </p:nvSpPr>
        <p:spPr>
          <a:xfrm>
            <a:off x="8237636" y="1760465"/>
            <a:ext cx="3460751" cy="7461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96" y="0"/>
                </a:moveTo>
                <a:lnTo>
                  <a:pt x="21204" y="0"/>
                </a:lnTo>
                <a:cubicBezTo>
                  <a:pt x="21423" y="0"/>
                  <a:pt x="21600" y="823"/>
                  <a:pt x="21600" y="1838"/>
                </a:cubicBezTo>
                <a:lnTo>
                  <a:pt x="21600" y="19762"/>
                </a:lnTo>
                <a:cubicBezTo>
                  <a:pt x="21600" y="20777"/>
                  <a:pt x="21423" y="21600"/>
                  <a:pt x="21204" y="21600"/>
                </a:cubicBezTo>
                <a:lnTo>
                  <a:pt x="396" y="21600"/>
                </a:lnTo>
                <a:cubicBezTo>
                  <a:pt x="177" y="21600"/>
                  <a:pt x="0" y="20777"/>
                  <a:pt x="0" y="19762"/>
                </a:cubicBezTo>
                <a:lnTo>
                  <a:pt x="0" y="1838"/>
                </a:lnTo>
                <a:cubicBezTo>
                  <a:pt x="0" y="823"/>
                  <a:pt x="177" y="0"/>
                  <a:pt x="396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02" name="Shape 37"/>
          <p:cNvSpPr/>
          <p:nvPr/>
        </p:nvSpPr>
        <p:spPr>
          <a:xfrm>
            <a:off x="9867258" y="1887420"/>
            <a:ext cx="208396" cy="2381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50" h="21469" fill="norm" stroke="1" extrusionOk="0">
                <a:moveTo>
                  <a:pt x="1532" y="0"/>
                </a:moveTo>
                <a:cubicBezTo>
                  <a:pt x="685" y="0"/>
                  <a:pt x="0" y="600"/>
                  <a:pt x="0" y="1342"/>
                </a:cubicBezTo>
                <a:lnTo>
                  <a:pt x="0" y="12075"/>
                </a:lnTo>
                <a:cubicBezTo>
                  <a:pt x="0" y="12817"/>
                  <a:pt x="685" y="13416"/>
                  <a:pt x="1532" y="13416"/>
                </a:cubicBezTo>
                <a:cubicBezTo>
                  <a:pt x="2379" y="13416"/>
                  <a:pt x="3064" y="12817"/>
                  <a:pt x="3064" y="12075"/>
                </a:cubicBezTo>
                <a:lnTo>
                  <a:pt x="3064" y="9391"/>
                </a:lnTo>
                <a:lnTo>
                  <a:pt x="5491" y="9391"/>
                </a:lnTo>
                <a:lnTo>
                  <a:pt x="11619" y="14758"/>
                </a:lnTo>
                <a:lnTo>
                  <a:pt x="6573" y="19177"/>
                </a:lnTo>
                <a:cubicBezTo>
                  <a:pt x="5974" y="19701"/>
                  <a:pt x="5974" y="20552"/>
                  <a:pt x="6573" y="21076"/>
                </a:cubicBezTo>
                <a:cubicBezTo>
                  <a:pt x="7171" y="21600"/>
                  <a:pt x="8143" y="21600"/>
                  <a:pt x="8741" y="21076"/>
                </a:cubicBezTo>
                <a:lnTo>
                  <a:pt x="13787" y="16657"/>
                </a:lnTo>
                <a:lnTo>
                  <a:pt x="18833" y="21072"/>
                </a:lnTo>
                <a:cubicBezTo>
                  <a:pt x="19431" y="21596"/>
                  <a:pt x="20403" y="21596"/>
                  <a:pt x="21002" y="21072"/>
                </a:cubicBezTo>
                <a:cubicBezTo>
                  <a:pt x="21600" y="20548"/>
                  <a:pt x="21600" y="19697"/>
                  <a:pt x="21002" y="19173"/>
                </a:cubicBezTo>
                <a:lnTo>
                  <a:pt x="15956" y="14758"/>
                </a:lnTo>
                <a:lnTo>
                  <a:pt x="20997" y="10339"/>
                </a:lnTo>
                <a:cubicBezTo>
                  <a:pt x="21595" y="9815"/>
                  <a:pt x="21595" y="8964"/>
                  <a:pt x="20997" y="8440"/>
                </a:cubicBezTo>
                <a:cubicBezTo>
                  <a:pt x="20398" y="7916"/>
                  <a:pt x="19427" y="7916"/>
                  <a:pt x="18828" y="8440"/>
                </a:cubicBezTo>
                <a:lnTo>
                  <a:pt x="13787" y="12859"/>
                </a:lnTo>
                <a:lnTo>
                  <a:pt x="9680" y="9261"/>
                </a:lnTo>
                <a:cubicBezTo>
                  <a:pt x="12035" y="8767"/>
                  <a:pt x="13787" y="6909"/>
                  <a:pt x="13787" y="4696"/>
                </a:cubicBezTo>
                <a:cubicBezTo>
                  <a:pt x="13787" y="2100"/>
                  <a:pt x="11389" y="0"/>
                  <a:pt x="8425" y="0"/>
                </a:cubicBezTo>
                <a:lnTo>
                  <a:pt x="1532" y="0"/>
                </a:lnTo>
                <a:close/>
                <a:moveTo>
                  <a:pt x="8425" y="6708"/>
                </a:moveTo>
                <a:lnTo>
                  <a:pt x="3064" y="6708"/>
                </a:lnTo>
                <a:lnTo>
                  <a:pt x="3064" y="2683"/>
                </a:lnTo>
                <a:lnTo>
                  <a:pt x="8425" y="2683"/>
                </a:lnTo>
                <a:cubicBezTo>
                  <a:pt x="9694" y="2683"/>
                  <a:pt x="10723" y="3585"/>
                  <a:pt x="10723" y="4696"/>
                </a:cubicBezTo>
                <a:cubicBezTo>
                  <a:pt x="10723" y="5807"/>
                  <a:pt x="9694" y="6708"/>
                  <a:pt x="8425" y="6708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03" name="Text 38"/>
          <p:cNvSpPr txBox="1"/>
          <p:nvPr/>
        </p:nvSpPr>
        <p:spPr>
          <a:xfrm>
            <a:off x="8332840" y="2195364"/>
            <a:ext cx="3270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推荐处方 + CoT推理链</a:t>
            </a:r>
          </a:p>
        </p:txBody>
      </p:sp>
      <p:sp>
        <p:nvSpPr>
          <p:cNvPr id="1104" name="Shape 39"/>
          <p:cNvSpPr/>
          <p:nvPr/>
        </p:nvSpPr>
        <p:spPr>
          <a:xfrm>
            <a:off x="9909899" y="2601685"/>
            <a:ext cx="119110" cy="1587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4" h="21469" fill="norm" stroke="1" extrusionOk="0">
                <a:moveTo>
                  <a:pt x="9377" y="21076"/>
                </a:moveTo>
                <a:cubicBezTo>
                  <a:pt x="10068" y="21600"/>
                  <a:pt x="11191" y="21600"/>
                  <a:pt x="11883" y="21076"/>
                </a:cubicBezTo>
                <a:lnTo>
                  <a:pt x="20735" y="14366"/>
                </a:lnTo>
                <a:cubicBezTo>
                  <a:pt x="21427" y="13842"/>
                  <a:pt x="21427" y="12991"/>
                  <a:pt x="20735" y="12467"/>
                </a:cubicBezTo>
                <a:cubicBezTo>
                  <a:pt x="20044" y="11943"/>
                  <a:pt x="18921" y="11943"/>
                  <a:pt x="18229" y="12467"/>
                </a:cubicBezTo>
                <a:lnTo>
                  <a:pt x="12397" y="16887"/>
                </a:lnTo>
                <a:lnTo>
                  <a:pt x="12397" y="1342"/>
                </a:lnTo>
                <a:cubicBezTo>
                  <a:pt x="12397" y="600"/>
                  <a:pt x="11606" y="0"/>
                  <a:pt x="10627" y="0"/>
                </a:cubicBezTo>
                <a:cubicBezTo>
                  <a:pt x="9648" y="0"/>
                  <a:pt x="8856" y="600"/>
                  <a:pt x="8856" y="1342"/>
                </a:cubicBezTo>
                <a:lnTo>
                  <a:pt x="8856" y="16887"/>
                </a:lnTo>
                <a:lnTo>
                  <a:pt x="3025" y="12467"/>
                </a:lnTo>
                <a:cubicBezTo>
                  <a:pt x="2333" y="11943"/>
                  <a:pt x="1210" y="11943"/>
                  <a:pt x="519" y="12467"/>
                </a:cubicBezTo>
                <a:cubicBezTo>
                  <a:pt x="-173" y="12991"/>
                  <a:pt x="-173" y="13842"/>
                  <a:pt x="519" y="14366"/>
                </a:cubicBezTo>
                <a:lnTo>
                  <a:pt x="9371" y="21076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05" name="Shape 40"/>
          <p:cNvSpPr/>
          <p:nvPr/>
        </p:nvSpPr>
        <p:spPr>
          <a:xfrm>
            <a:off x="8237636" y="2855640"/>
            <a:ext cx="3460751" cy="603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96" y="0"/>
                </a:moveTo>
                <a:lnTo>
                  <a:pt x="21204" y="0"/>
                </a:lnTo>
                <a:cubicBezTo>
                  <a:pt x="21423" y="0"/>
                  <a:pt x="21600" y="1018"/>
                  <a:pt x="21600" y="2274"/>
                </a:cubicBezTo>
                <a:lnTo>
                  <a:pt x="21600" y="19326"/>
                </a:lnTo>
                <a:cubicBezTo>
                  <a:pt x="21600" y="20582"/>
                  <a:pt x="21423" y="21600"/>
                  <a:pt x="21204" y="21600"/>
                </a:cubicBezTo>
                <a:lnTo>
                  <a:pt x="396" y="21600"/>
                </a:lnTo>
                <a:cubicBezTo>
                  <a:pt x="177" y="21600"/>
                  <a:pt x="0" y="20582"/>
                  <a:pt x="0" y="19326"/>
                </a:cubicBezTo>
                <a:lnTo>
                  <a:pt x="0" y="2274"/>
                </a:lnTo>
                <a:cubicBezTo>
                  <a:pt x="0" y="1019"/>
                  <a:pt x="178" y="0"/>
                  <a:pt x="396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06" name="Text 41"/>
          <p:cNvSpPr txBox="1"/>
          <p:nvPr/>
        </p:nvSpPr>
        <p:spPr>
          <a:xfrm>
            <a:off x="8332853" y="2957209"/>
            <a:ext cx="11747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Layer 1: 置信度过滤</a:t>
            </a:r>
          </a:p>
        </p:txBody>
      </p:sp>
      <p:sp>
        <p:nvSpPr>
          <p:cNvPr id="1107" name="Shape 42"/>
          <p:cNvSpPr/>
          <p:nvPr/>
        </p:nvSpPr>
        <p:spPr>
          <a:xfrm>
            <a:off x="11463180" y="2982592"/>
            <a:ext cx="127001" cy="127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16761" y="21600"/>
                  <a:pt x="21600" y="16761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9" y="0"/>
                  <a:pt x="0" y="4839"/>
                  <a:pt x="0" y="10800"/>
                </a:cubicBezTo>
                <a:cubicBezTo>
                  <a:pt x="0" y="16761"/>
                  <a:pt x="4839" y="21600"/>
                  <a:pt x="10800" y="21600"/>
                </a:cubicBezTo>
                <a:close/>
                <a:moveTo>
                  <a:pt x="14361" y="8973"/>
                </a:moveTo>
                <a:lnTo>
                  <a:pt x="10986" y="14373"/>
                </a:lnTo>
                <a:cubicBezTo>
                  <a:pt x="10809" y="14656"/>
                  <a:pt x="10505" y="14833"/>
                  <a:pt x="10171" y="14850"/>
                </a:cubicBezTo>
                <a:cubicBezTo>
                  <a:pt x="9838" y="14867"/>
                  <a:pt x="9517" y="14715"/>
                  <a:pt x="9319" y="14445"/>
                </a:cubicBezTo>
                <a:lnTo>
                  <a:pt x="7294" y="11745"/>
                </a:lnTo>
                <a:cubicBezTo>
                  <a:pt x="6957" y="11298"/>
                  <a:pt x="7050" y="10665"/>
                  <a:pt x="7497" y="10328"/>
                </a:cubicBezTo>
                <a:cubicBezTo>
                  <a:pt x="7944" y="9990"/>
                  <a:pt x="8577" y="10083"/>
                  <a:pt x="8914" y="10530"/>
                </a:cubicBezTo>
                <a:lnTo>
                  <a:pt x="10053" y="12049"/>
                </a:lnTo>
                <a:lnTo>
                  <a:pt x="12644" y="7902"/>
                </a:lnTo>
                <a:cubicBezTo>
                  <a:pt x="12939" y="7429"/>
                  <a:pt x="13563" y="7282"/>
                  <a:pt x="14040" y="7581"/>
                </a:cubicBezTo>
                <a:cubicBezTo>
                  <a:pt x="14517" y="7881"/>
                  <a:pt x="14660" y="8501"/>
                  <a:pt x="14361" y="8977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08" name="Text 43"/>
          <p:cNvSpPr txBox="1"/>
          <p:nvPr/>
        </p:nvSpPr>
        <p:spPr>
          <a:xfrm>
            <a:off x="8332853" y="3214353"/>
            <a:ext cx="332581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概率 &gt;= 0.6?</a:t>
            </a:r>
          </a:p>
        </p:txBody>
      </p:sp>
      <p:sp>
        <p:nvSpPr>
          <p:cNvPr id="1109" name="Shape 44"/>
          <p:cNvSpPr/>
          <p:nvPr/>
        </p:nvSpPr>
        <p:spPr>
          <a:xfrm>
            <a:off x="9909899" y="3553954"/>
            <a:ext cx="119110" cy="1587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4" h="21469" fill="norm" stroke="1" extrusionOk="0">
                <a:moveTo>
                  <a:pt x="9377" y="21076"/>
                </a:moveTo>
                <a:cubicBezTo>
                  <a:pt x="10068" y="21600"/>
                  <a:pt x="11191" y="21600"/>
                  <a:pt x="11883" y="21076"/>
                </a:cubicBezTo>
                <a:lnTo>
                  <a:pt x="20735" y="14366"/>
                </a:lnTo>
                <a:cubicBezTo>
                  <a:pt x="21427" y="13842"/>
                  <a:pt x="21427" y="12991"/>
                  <a:pt x="20735" y="12467"/>
                </a:cubicBezTo>
                <a:cubicBezTo>
                  <a:pt x="20044" y="11943"/>
                  <a:pt x="18921" y="11943"/>
                  <a:pt x="18229" y="12467"/>
                </a:cubicBezTo>
                <a:lnTo>
                  <a:pt x="12397" y="16887"/>
                </a:lnTo>
                <a:lnTo>
                  <a:pt x="12397" y="1342"/>
                </a:lnTo>
                <a:cubicBezTo>
                  <a:pt x="12397" y="600"/>
                  <a:pt x="11606" y="0"/>
                  <a:pt x="10627" y="0"/>
                </a:cubicBezTo>
                <a:cubicBezTo>
                  <a:pt x="9648" y="0"/>
                  <a:pt x="8856" y="600"/>
                  <a:pt x="8856" y="1342"/>
                </a:cubicBezTo>
                <a:lnTo>
                  <a:pt x="8856" y="16887"/>
                </a:lnTo>
                <a:lnTo>
                  <a:pt x="3025" y="12467"/>
                </a:lnTo>
                <a:cubicBezTo>
                  <a:pt x="2333" y="11943"/>
                  <a:pt x="1210" y="11943"/>
                  <a:pt x="519" y="12467"/>
                </a:cubicBezTo>
                <a:cubicBezTo>
                  <a:pt x="-173" y="12991"/>
                  <a:pt x="-173" y="13842"/>
                  <a:pt x="519" y="14366"/>
                </a:cubicBezTo>
                <a:lnTo>
                  <a:pt x="9371" y="21076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10" name="Shape 45"/>
          <p:cNvSpPr/>
          <p:nvPr/>
        </p:nvSpPr>
        <p:spPr>
          <a:xfrm>
            <a:off x="8237636" y="3807922"/>
            <a:ext cx="3460751" cy="603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96" y="0"/>
                </a:moveTo>
                <a:lnTo>
                  <a:pt x="21204" y="0"/>
                </a:lnTo>
                <a:cubicBezTo>
                  <a:pt x="21423" y="0"/>
                  <a:pt x="21600" y="1018"/>
                  <a:pt x="21600" y="2274"/>
                </a:cubicBezTo>
                <a:lnTo>
                  <a:pt x="21600" y="19326"/>
                </a:lnTo>
                <a:cubicBezTo>
                  <a:pt x="21600" y="20582"/>
                  <a:pt x="21423" y="21600"/>
                  <a:pt x="21204" y="21600"/>
                </a:cubicBezTo>
                <a:lnTo>
                  <a:pt x="396" y="21600"/>
                </a:lnTo>
                <a:cubicBezTo>
                  <a:pt x="177" y="21600"/>
                  <a:pt x="0" y="20582"/>
                  <a:pt x="0" y="19326"/>
                </a:cubicBezTo>
                <a:lnTo>
                  <a:pt x="0" y="2274"/>
                </a:lnTo>
                <a:cubicBezTo>
                  <a:pt x="0" y="1019"/>
                  <a:pt x="178" y="0"/>
                  <a:pt x="396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11" name="Text 46"/>
          <p:cNvSpPr txBox="1"/>
          <p:nvPr/>
        </p:nvSpPr>
        <p:spPr>
          <a:xfrm>
            <a:off x="8332853" y="3909491"/>
            <a:ext cx="107156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Layer 2: 规则引擎</a:t>
            </a:r>
          </a:p>
        </p:txBody>
      </p:sp>
      <p:sp>
        <p:nvSpPr>
          <p:cNvPr id="1112" name="Shape 47"/>
          <p:cNvSpPr/>
          <p:nvPr/>
        </p:nvSpPr>
        <p:spPr>
          <a:xfrm>
            <a:off x="11463180" y="3934876"/>
            <a:ext cx="127001" cy="127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16761" y="21600"/>
                  <a:pt x="21600" y="16761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9" y="0"/>
                  <a:pt x="0" y="4839"/>
                  <a:pt x="0" y="10800"/>
                </a:cubicBezTo>
                <a:cubicBezTo>
                  <a:pt x="0" y="16761"/>
                  <a:pt x="4839" y="21600"/>
                  <a:pt x="10800" y="21600"/>
                </a:cubicBezTo>
                <a:close/>
                <a:moveTo>
                  <a:pt x="14361" y="8973"/>
                </a:moveTo>
                <a:lnTo>
                  <a:pt x="10986" y="14373"/>
                </a:lnTo>
                <a:cubicBezTo>
                  <a:pt x="10809" y="14656"/>
                  <a:pt x="10505" y="14833"/>
                  <a:pt x="10171" y="14850"/>
                </a:cubicBezTo>
                <a:cubicBezTo>
                  <a:pt x="9838" y="14867"/>
                  <a:pt x="9517" y="14715"/>
                  <a:pt x="9319" y="14445"/>
                </a:cubicBezTo>
                <a:lnTo>
                  <a:pt x="7294" y="11745"/>
                </a:lnTo>
                <a:cubicBezTo>
                  <a:pt x="6957" y="11298"/>
                  <a:pt x="7050" y="10665"/>
                  <a:pt x="7497" y="10328"/>
                </a:cubicBezTo>
                <a:cubicBezTo>
                  <a:pt x="7944" y="9990"/>
                  <a:pt x="8577" y="10083"/>
                  <a:pt x="8914" y="10530"/>
                </a:cubicBezTo>
                <a:lnTo>
                  <a:pt x="10053" y="12049"/>
                </a:lnTo>
                <a:lnTo>
                  <a:pt x="12644" y="7902"/>
                </a:lnTo>
                <a:cubicBezTo>
                  <a:pt x="12939" y="7429"/>
                  <a:pt x="13563" y="7282"/>
                  <a:pt x="14040" y="7581"/>
                </a:cubicBezTo>
                <a:cubicBezTo>
                  <a:pt x="14517" y="7881"/>
                  <a:pt x="14660" y="8501"/>
                  <a:pt x="14361" y="8977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13" name="Text 48"/>
          <p:cNvSpPr txBox="1"/>
          <p:nvPr/>
        </p:nvSpPr>
        <p:spPr>
          <a:xfrm>
            <a:off x="8332853" y="4166620"/>
            <a:ext cx="332581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禁忌症/剂量/途径检查</a:t>
            </a:r>
          </a:p>
        </p:txBody>
      </p:sp>
      <p:sp>
        <p:nvSpPr>
          <p:cNvPr id="1114" name="Shape 49"/>
          <p:cNvSpPr/>
          <p:nvPr/>
        </p:nvSpPr>
        <p:spPr>
          <a:xfrm>
            <a:off x="9909899" y="4506221"/>
            <a:ext cx="119110" cy="1587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4" h="21469" fill="norm" stroke="1" extrusionOk="0">
                <a:moveTo>
                  <a:pt x="9377" y="21076"/>
                </a:moveTo>
                <a:cubicBezTo>
                  <a:pt x="10068" y="21600"/>
                  <a:pt x="11191" y="21600"/>
                  <a:pt x="11883" y="21076"/>
                </a:cubicBezTo>
                <a:lnTo>
                  <a:pt x="20735" y="14366"/>
                </a:lnTo>
                <a:cubicBezTo>
                  <a:pt x="21427" y="13842"/>
                  <a:pt x="21427" y="12991"/>
                  <a:pt x="20735" y="12467"/>
                </a:cubicBezTo>
                <a:cubicBezTo>
                  <a:pt x="20044" y="11943"/>
                  <a:pt x="18921" y="11943"/>
                  <a:pt x="18229" y="12467"/>
                </a:cubicBezTo>
                <a:lnTo>
                  <a:pt x="12397" y="16887"/>
                </a:lnTo>
                <a:lnTo>
                  <a:pt x="12397" y="1342"/>
                </a:lnTo>
                <a:cubicBezTo>
                  <a:pt x="12397" y="600"/>
                  <a:pt x="11606" y="0"/>
                  <a:pt x="10627" y="0"/>
                </a:cubicBezTo>
                <a:cubicBezTo>
                  <a:pt x="9648" y="0"/>
                  <a:pt x="8856" y="600"/>
                  <a:pt x="8856" y="1342"/>
                </a:cubicBezTo>
                <a:lnTo>
                  <a:pt x="8856" y="16887"/>
                </a:lnTo>
                <a:lnTo>
                  <a:pt x="3025" y="12467"/>
                </a:lnTo>
                <a:cubicBezTo>
                  <a:pt x="2333" y="11943"/>
                  <a:pt x="1210" y="11943"/>
                  <a:pt x="519" y="12467"/>
                </a:cubicBezTo>
                <a:cubicBezTo>
                  <a:pt x="-173" y="12991"/>
                  <a:pt x="-173" y="13842"/>
                  <a:pt x="519" y="14366"/>
                </a:cubicBezTo>
                <a:lnTo>
                  <a:pt x="9371" y="21076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15" name="Shape 50"/>
          <p:cNvSpPr/>
          <p:nvPr/>
        </p:nvSpPr>
        <p:spPr>
          <a:xfrm>
            <a:off x="8237636" y="4760190"/>
            <a:ext cx="3460751" cy="603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96" y="0"/>
                </a:moveTo>
                <a:lnTo>
                  <a:pt x="21204" y="0"/>
                </a:lnTo>
                <a:cubicBezTo>
                  <a:pt x="21423" y="0"/>
                  <a:pt x="21600" y="1018"/>
                  <a:pt x="21600" y="2274"/>
                </a:cubicBezTo>
                <a:lnTo>
                  <a:pt x="21600" y="19326"/>
                </a:lnTo>
                <a:cubicBezTo>
                  <a:pt x="21600" y="20582"/>
                  <a:pt x="21423" y="21600"/>
                  <a:pt x="21204" y="21600"/>
                </a:cubicBezTo>
                <a:lnTo>
                  <a:pt x="396" y="21600"/>
                </a:lnTo>
                <a:cubicBezTo>
                  <a:pt x="177" y="21600"/>
                  <a:pt x="0" y="20582"/>
                  <a:pt x="0" y="19326"/>
                </a:cubicBezTo>
                <a:lnTo>
                  <a:pt x="0" y="2274"/>
                </a:lnTo>
                <a:cubicBezTo>
                  <a:pt x="0" y="1019"/>
                  <a:pt x="178" y="0"/>
                  <a:pt x="396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16" name="Text 51"/>
          <p:cNvSpPr txBox="1"/>
          <p:nvPr/>
        </p:nvSpPr>
        <p:spPr>
          <a:xfrm>
            <a:off x="8332853" y="4861759"/>
            <a:ext cx="103981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Layer 3: DDI检测</a:t>
            </a:r>
          </a:p>
        </p:txBody>
      </p:sp>
      <p:sp>
        <p:nvSpPr>
          <p:cNvPr id="1117" name="Shape 52"/>
          <p:cNvSpPr/>
          <p:nvPr/>
        </p:nvSpPr>
        <p:spPr>
          <a:xfrm>
            <a:off x="11463180" y="4887143"/>
            <a:ext cx="127001" cy="127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16761" y="21600"/>
                  <a:pt x="21600" y="16761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9" y="0"/>
                  <a:pt x="0" y="4839"/>
                  <a:pt x="0" y="10800"/>
                </a:cubicBezTo>
                <a:cubicBezTo>
                  <a:pt x="0" y="16761"/>
                  <a:pt x="4839" y="21600"/>
                  <a:pt x="10800" y="21600"/>
                </a:cubicBezTo>
                <a:close/>
                <a:moveTo>
                  <a:pt x="14361" y="8973"/>
                </a:moveTo>
                <a:lnTo>
                  <a:pt x="10986" y="14373"/>
                </a:lnTo>
                <a:cubicBezTo>
                  <a:pt x="10809" y="14656"/>
                  <a:pt x="10505" y="14833"/>
                  <a:pt x="10171" y="14850"/>
                </a:cubicBezTo>
                <a:cubicBezTo>
                  <a:pt x="9838" y="14867"/>
                  <a:pt x="9517" y="14715"/>
                  <a:pt x="9319" y="14445"/>
                </a:cubicBezTo>
                <a:lnTo>
                  <a:pt x="7294" y="11745"/>
                </a:lnTo>
                <a:cubicBezTo>
                  <a:pt x="6957" y="11298"/>
                  <a:pt x="7050" y="10665"/>
                  <a:pt x="7497" y="10328"/>
                </a:cubicBezTo>
                <a:cubicBezTo>
                  <a:pt x="7944" y="9990"/>
                  <a:pt x="8577" y="10083"/>
                  <a:pt x="8914" y="10530"/>
                </a:cubicBezTo>
                <a:lnTo>
                  <a:pt x="10053" y="12049"/>
                </a:lnTo>
                <a:lnTo>
                  <a:pt x="12644" y="7902"/>
                </a:lnTo>
                <a:cubicBezTo>
                  <a:pt x="12939" y="7429"/>
                  <a:pt x="13563" y="7282"/>
                  <a:pt x="14040" y="7581"/>
                </a:cubicBezTo>
                <a:cubicBezTo>
                  <a:pt x="14517" y="7881"/>
                  <a:pt x="14660" y="8501"/>
                  <a:pt x="14361" y="8977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18" name="Text 53"/>
          <p:cNvSpPr txBox="1"/>
          <p:nvPr/>
        </p:nvSpPr>
        <p:spPr>
          <a:xfrm>
            <a:off x="8332853" y="5118903"/>
            <a:ext cx="332581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药物相互作用检查</a:t>
            </a:r>
          </a:p>
        </p:txBody>
      </p:sp>
      <p:sp>
        <p:nvSpPr>
          <p:cNvPr id="1119" name="Shape 54"/>
          <p:cNvSpPr/>
          <p:nvPr/>
        </p:nvSpPr>
        <p:spPr>
          <a:xfrm>
            <a:off x="9909899" y="5458504"/>
            <a:ext cx="119110" cy="1587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4" h="21469" fill="norm" stroke="1" extrusionOk="0">
                <a:moveTo>
                  <a:pt x="9377" y="21076"/>
                </a:moveTo>
                <a:cubicBezTo>
                  <a:pt x="10068" y="21600"/>
                  <a:pt x="11191" y="21600"/>
                  <a:pt x="11883" y="21076"/>
                </a:cubicBezTo>
                <a:lnTo>
                  <a:pt x="20735" y="14366"/>
                </a:lnTo>
                <a:cubicBezTo>
                  <a:pt x="21427" y="13842"/>
                  <a:pt x="21427" y="12991"/>
                  <a:pt x="20735" y="12467"/>
                </a:cubicBezTo>
                <a:cubicBezTo>
                  <a:pt x="20044" y="11943"/>
                  <a:pt x="18921" y="11943"/>
                  <a:pt x="18229" y="12467"/>
                </a:cubicBezTo>
                <a:lnTo>
                  <a:pt x="12397" y="16887"/>
                </a:lnTo>
                <a:lnTo>
                  <a:pt x="12397" y="1342"/>
                </a:lnTo>
                <a:cubicBezTo>
                  <a:pt x="12397" y="600"/>
                  <a:pt x="11606" y="0"/>
                  <a:pt x="10627" y="0"/>
                </a:cubicBezTo>
                <a:cubicBezTo>
                  <a:pt x="9648" y="0"/>
                  <a:pt x="8856" y="600"/>
                  <a:pt x="8856" y="1342"/>
                </a:cubicBezTo>
                <a:lnTo>
                  <a:pt x="8856" y="16887"/>
                </a:lnTo>
                <a:lnTo>
                  <a:pt x="3025" y="12467"/>
                </a:lnTo>
                <a:cubicBezTo>
                  <a:pt x="2333" y="11943"/>
                  <a:pt x="1210" y="11943"/>
                  <a:pt x="519" y="12467"/>
                </a:cubicBezTo>
                <a:cubicBezTo>
                  <a:pt x="-173" y="12991"/>
                  <a:pt x="-173" y="13842"/>
                  <a:pt x="519" y="14366"/>
                </a:cubicBezTo>
                <a:lnTo>
                  <a:pt x="9371" y="21076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20" name="Shape 55"/>
          <p:cNvSpPr/>
          <p:nvPr/>
        </p:nvSpPr>
        <p:spPr>
          <a:xfrm>
            <a:off x="8237636" y="5712473"/>
            <a:ext cx="3460751" cy="7461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96" y="0"/>
                </a:moveTo>
                <a:lnTo>
                  <a:pt x="21204" y="0"/>
                </a:lnTo>
                <a:cubicBezTo>
                  <a:pt x="21423" y="0"/>
                  <a:pt x="21600" y="823"/>
                  <a:pt x="21600" y="1838"/>
                </a:cubicBezTo>
                <a:lnTo>
                  <a:pt x="21600" y="19762"/>
                </a:lnTo>
                <a:cubicBezTo>
                  <a:pt x="21600" y="20777"/>
                  <a:pt x="21423" y="21600"/>
                  <a:pt x="21204" y="21600"/>
                </a:cubicBezTo>
                <a:lnTo>
                  <a:pt x="396" y="21600"/>
                </a:lnTo>
                <a:cubicBezTo>
                  <a:pt x="177" y="21600"/>
                  <a:pt x="0" y="20777"/>
                  <a:pt x="0" y="19762"/>
                </a:cubicBezTo>
                <a:lnTo>
                  <a:pt x="0" y="1838"/>
                </a:lnTo>
                <a:cubicBezTo>
                  <a:pt x="0" y="823"/>
                  <a:pt x="177" y="0"/>
                  <a:pt x="396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21" name="Shape 56"/>
          <p:cNvSpPr/>
          <p:nvPr/>
        </p:nvSpPr>
        <p:spPr>
          <a:xfrm>
            <a:off x="9882106" y="5846862"/>
            <a:ext cx="178636" cy="2158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91" h="21374" fill="norm" stroke="1" extrusionOk="0">
                <a:moveTo>
                  <a:pt x="13792" y="2341"/>
                </a:moveTo>
                <a:cubicBezTo>
                  <a:pt x="14366" y="1682"/>
                  <a:pt x="14189" y="761"/>
                  <a:pt x="13400" y="282"/>
                </a:cubicBezTo>
                <a:cubicBezTo>
                  <a:pt x="12611" y="-197"/>
                  <a:pt x="11508" y="-50"/>
                  <a:pt x="10934" y="609"/>
                </a:cubicBezTo>
                <a:lnTo>
                  <a:pt x="5086" y="7319"/>
                </a:lnTo>
                <a:lnTo>
                  <a:pt x="3017" y="5592"/>
                </a:lnTo>
                <a:cubicBezTo>
                  <a:pt x="2327" y="5016"/>
                  <a:pt x="1207" y="5016"/>
                  <a:pt x="518" y="5592"/>
                </a:cubicBezTo>
                <a:cubicBezTo>
                  <a:pt x="-172" y="6168"/>
                  <a:pt x="-172" y="7103"/>
                  <a:pt x="518" y="7678"/>
                </a:cubicBezTo>
                <a:lnTo>
                  <a:pt x="4049" y="10626"/>
                </a:lnTo>
                <a:cubicBezTo>
                  <a:pt x="4413" y="10930"/>
                  <a:pt x="4920" y="11087"/>
                  <a:pt x="5434" y="11054"/>
                </a:cubicBezTo>
                <a:cubicBezTo>
                  <a:pt x="5947" y="11022"/>
                  <a:pt x="6421" y="10801"/>
                  <a:pt x="6725" y="10451"/>
                </a:cubicBezTo>
                <a:lnTo>
                  <a:pt x="13787" y="2345"/>
                </a:lnTo>
                <a:close/>
                <a:moveTo>
                  <a:pt x="20854" y="8604"/>
                </a:moveTo>
                <a:cubicBezTo>
                  <a:pt x="21428" y="7946"/>
                  <a:pt x="21251" y="7024"/>
                  <a:pt x="20462" y="6545"/>
                </a:cubicBezTo>
                <a:cubicBezTo>
                  <a:pt x="19673" y="6066"/>
                  <a:pt x="18570" y="6214"/>
                  <a:pt x="17996" y="6873"/>
                </a:cubicBezTo>
                <a:lnTo>
                  <a:pt x="8617" y="17636"/>
                </a:lnTo>
                <a:lnTo>
                  <a:pt x="4782" y="14435"/>
                </a:lnTo>
                <a:cubicBezTo>
                  <a:pt x="4093" y="13859"/>
                  <a:pt x="2973" y="13859"/>
                  <a:pt x="2283" y="14435"/>
                </a:cubicBezTo>
                <a:cubicBezTo>
                  <a:pt x="1594" y="15011"/>
                  <a:pt x="1594" y="15945"/>
                  <a:pt x="2283" y="16521"/>
                </a:cubicBezTo>
                <a:lnTo>
                  <a:pt x="7580" y="20942"/>
                </a:lnTo>
                <a:cubicBezTo>
                  <a:pt x="7944" y="21246"/>
                  <a:pt x="8451" y="21403"/>
                  <a:pt x="8964" y="21371"/>
                </a:cubicBezTo>
                <a:cubicBezTo>
                  <a:pt x="9478" y="21339"/>
                  <a:pt x="9952" y="21117"/>
                  <a:pt x="10256" y="20767"/>
                </a:cubicBezTo>
                <a:lnTo>
                  <a:pt x="20849" y="8609"/>
                </a:ln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22" name="Text 57"/>
          <p:cNvSpPr txBox="1"/>
          <p:nvPr/>
        </p:nvSpPr>
        <p:spPr>
          <a:xfrm>
            <a:off x="8332840" y="6147370"/>
            <a:ext cx="3270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安全验证后的处方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Text 0"/>
          <p:cNvSpPr txBox="1"/>
          <p:nvPr/>
        </p:nvSpPr>
        <p:spPr>
          <a:xfrm>
            <a:off x="317500" y="336549"/>
            <a:ext cx="116205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pc="50" sz="1000">
                <a:solidFill>
                  <a:srgbClr val="5E8B7E"/>
                </a:solidFill>
                <a:latin typeface="Liter"/>
                <a:ea typeface="Liter"/>
                <a:cs typeface="Liter"/>
                <a:sym typeface="Liter"/>
              </a:defRPr>
            </a:lvl1pPr>
          </a:lstStyle>
          <a:p>
            <a:pPr/>
            <a:r>
              <a:t>SAFETY LAYER DEMO</a:t>
            </a:r>
          </a:p>
        </p:txBody>
      </p:sp>
      <p:sp>
        <p:nvSpPr>
          <p:cNvPr id="1125" name="Text 1"/>
          <p:cNvSpPr txBox="1"/>
          <p:nvPr/>
        </p:nvSpPr>
        <p:spPr>
          <a:xfrm>
            <a:off x="317500" y="495253"/>
            <a:ext cx="117475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80000"/>
              </a:lnSpc>
              <a:defRPr b="1" sz="3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安全防护Demo</a:t>
            </a:r>
          </a:p>
        </p:txBody>
      </p:sp>
      <p:sp>
        <p:nvSpPr>
          <p:cNvPr id="1126" name="Shape 2"/>
          <p:cNvSpPr/>
          <p:nvPr/>
        </p:nvSpPr>
        <p:spPr>
          <a:xfrm>
            <a:off x="317500" y="1079390"/>
            <a:ext cx="762000" cy="31751"/>
          </a:xfrm>
          <a:prstGeom prst="rect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27" name="Shape 3"/>
          <p:cNvSpPr/>
          <p:nvPr/>
        </p:nvSpPr>
        <p:spPr>
          <a:xfrm>
            <a:off x="331931" y="1238078"/>
            <a:ext cx="11539684" cy="17621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" y="0"/>
                </a:moveTo>
                <a:lnTo>
                  <a:pt x="21422" y="0"/>
                </a:lnTo>
                <a:cubicBezTo>
                  <a:pt x="21520" y="0"/>
                  <a:pt x="21600" y="523"/>
                  <a:pt x="21600" y="1167"/>
                </a:cubicBezTo>
                <a:lnTo>
                  <a:pt x="21600" y="20433"/>
                </a:lnTo>
                <a:cubicBezTo>
                  <a:pt x="21600" y="21077"/>
                  <a:pt x="21520" y="21600"/>
                  <a:pt x="21422" y="21600"/>
                </a:cubicBezTo>
                <a:lnTo>
                  <a:pt x="54" y="21600"/>
                </a:lnTo>
                <a:cubicBezTo>
                  <a:pt x="24" y="21600"/>
                  <a:pt x="0" y="21442"/>
                  <a:pt x="0" y="21246"/>
                </a:cubicBezTo>
                <a:lnTo>
                  <a:pt x="0" y="354"/>
                </a:lnTo>
                <a:cubicBezTo>
                  <a:pt x="0" y="158"/>
                  <a:pt x="24" y="0"/>
                  <a:pt x="54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28" name="Shape 4"/>
          <p:cNvSpPr/>
          <p:nvPr/>
        </p:nvSpPr>
        <p:spPr>
          <a:xfrm>
            <a:off x="331931" y="1238078"/>
            <a:ext cx="28865" cy="17621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442"/>
                  <a:pt x="0" y="21246"/>
                </a:cubicBezTo>
                <a:lnTo>
                  <a:pt x="0" y="354"/>
                </a:lnTo>
                <a:cubicBezTo>
                  <a:pt x="0" y="158"/>
                  <a:pt x="9671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29" name="Shape 5"/>
          <p:cNvSpPr/>
          <p:nvPr/>
        </p:nvSpPr>
        <p:spPr>
          <a:xfrm>
            <a:off x="502091" y="1404674"/>
            <a:ext cx="125038" cy="1428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50" h="21469" fill="norm" stroke="1" extrusionOk="0">
                <a:moveTo>
                  <a:pt x="1532" y="0"/>
                </a:moveTo>
                <a:cubicBezTo>
                  <a:pt x="684" y="0"/>
                  <a:pt x="0" y="599"/>
                  <a:pt x="0" y="1342"/>
                </a:cubicBezTo>
                <a:lnTo>
                  <a:pt x="0" y="12075"/>
                </a:lnTo>
                <a:cubicBezTo>
                  <a:pt x="0" y="12817"/>
                  <a:pt x="684" y="13416"/>
                  <a:pt x="1532" y="13416"/>
                </a:cubicBezTo>
                <a:cubicBezTo>
                  <a:pt x="2379" y="13416"/>
                  <a:pt x="3064" y="12817"/>
                  <a:pt x="3064" y="12075"/>
                </a:cubicBezTo>
                <a:lnTo>
                  <a:pt x="3064" y="9391"/>
                </a:lnTo>
                <a:lnTo>
                  <a:pt x="5491" y="9391"/>
                </a:lnTo>
                <a:lnTo>
                  <a:pt x="11619" y="14758"/>
                </a:lnTo>
                <a:lnTo>
                  <a:pt x="6573" y="19177"/>
                </a:lnTo>
                <a:cubicBezTo>
                  <a:pt x="5974" y="19701"/>
                  <a:pt x="5974" y="20552"/>
                  <a:pt x="6573" y="21076"/>
                </a:cubicBezTo>
                <a:cubicBezTo>
                  <a:pt x="7171" y="21600"/>
                  <a:pt x="8143" y="21600"/>
                  <a:pt x="8741" y="21076"/>
                </a:cubicBezTo>
                <a:lnTo>
                  <a:pt x="13787" y="16657"/>
                </a:lnTo>
                <a:lnTo>
                  <a:pt x="18833" y="21072"/>
                </a:lnTo>
                <a:cubicBezTo>
                  <a:pt x="19431" y="21596"/>
                  <a:pt x="20403" y="21596"/>
                  <a:pt x="21001" y="21072"/>
                </a:cubicBezTo>
                <a:cubicBezTo>
                  <a:pt x="21600" y="20548"/>
                  <a:pt x="21600" y="19697"/>
                  <a:pt x="21001" y="19173"/>
                </a:cubicBezTo>
                <a:lnTo>
                  <a:pt x="15956" y="14758"/>
                </a:lnTo>
                <a:lnTo>
                  <a:pt x="20997" y="10339"/>
                </a:lnTo>
                <a:cubicBezTo>
                  <a:pt x="21595" y="9815"/>
                  <a:pt x="21595" y="8964"/>
                  <a:pt x="20997" y="8440"/>
                </a:cubicBezTo>
                <a:cubicBezTo>
                  <a:pt x="20398" y="7916"/>
                  <a:pt x="19427" y="7916"/>
                  <a:pt x="18828" y="8440"/>
                </a:cubicBezTo>
                <a:lnTo>
                  <a:pt x="13787" y="12858"/>
                </a:lnTo>
                <a:lnTo>
                  <a:pt x="9680" y="9261"/>
                </a:lnTo>
                <a:cubicBezTo>
                  <a:pt x="12035" y="8767"/>
                  <a:pt x="13787" y="6909"/>
                  <a:pt x="13787" y="4696"/>
                </a:cubicBezTo>
                <a:cubicBezTo>
                  <a:pt x="13787" y="2101"/>
                  <a:pt x="11389" y="0"/>
                  <a:pt x="8425" y="0"/>
                </a:cubicBezTo>
                <a:lnTo>
                  <a:pt x="1532" y="0"/>
                </a:lnTo>
                <a:close/>
                <a:moveTo>
                  <a:pt x="8425" y="6708"/>
                </a:moveTo>
                <a:lnTo>
                  <a:pt x="3064" y="6708"/>
                </a:lnTo>
                <a:lnTo>
                  <a:pt x="3064" y="2683"/>
                </a:lnTo>
                <a:lnTo>
                  <a:pt x="8425" y="2683"/>
                </a:lnTo>
                <a:cubicBezTo>
                  <a:pt x="9694" y="2683"/>
                  <a:pt x="10723" y="3585"/>
                  <a:pt x="10723" y="4696"/>
                </a:cubicBezTo>
                <a:cubicBezTo>
                  <a:pt x="10723" y="5807"/>
                  <a:pt x="9694" y="6708"/>
                  <a:pt x="8425" y="6708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30" name="Text 6"/>
          <p:cNvSpPr txBox="1"/>
          <p:nvPr/>
        </p:nvSpPr>
        <p:spPr>
          <a:xfrm>
            <a:off x="655880" y="1374572"/>
            <a:ext cx="1116012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1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输入推荐处方</a:t>
            </a:r>
          </a:p>
        </p:txBody>
      </p:sp>
      <p:sp>
        <p:nvSpPr>
          <p:cNvPr id="1131" name="Shape 7"/>
          <p:cNvSpPr/>
          <p:nvPr/>
        </p:nvSpPr>
        <p:spPr>
          <a:xfrm>
            <a:off x="473318" y="1650689"/>
            <a:ext cx="11271251" cy="12223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2" y="0"/>
                </a:moveTo>
                <a:lnTo>
                  <a:pt x="21478" y="0"/>
                </a:lnTo>
                <a:cubicBezTo>
                  <a:pt x="21546" y="0"/>
                  <a:pt x="21600" y="502"/>
                  <a:pt x="21600" y="1122"/>
                </a:cubicBezTo>
                <a:lnTo>
                  <a:pt x="21600" y="20478"/>
                </a:lnTo>
                <a:cubicBezTo>
                  <a:pt x="21600" y="21098"/>
                  <a:pt x="21546" y="21600"/>
                  <a:pt x="21478" y="21600"/>
                </a:cubicBezTo>
                <a:lnTo>
                  <a:pt x="122" y="21600"/>
                </a:lnTo>
                <a:cubicBezTo>
                  <a:pt x="54" y="21600"/>
                  <a:pt x="0" y="21098"/>
                  <a:pt x="0" y="20478"/>
                </a:cubicBezTo>
                <a:lnTo>
                  <a:pt x="0" y="1122"/>
                </a:lnTo>
                <a:cubicBezTo>
                  <a:pt x="0" y="503"/>
                  <a:pt x="55" y="0"/>
                  <a:pt x="122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32" name="Shape 8"/>
          <p:cNvSpPr/>
          <p:nvPr/>
        </p:nvSpPr>
        <p:spPr>
          <a:xfrm>
            <a:off x="568535" y="1745908"/>
            <a:ext cx="11080751" cy="1031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2" y="0"/>
                </a:moveTo>
                <a:lnTo>
                  <a:pt x="21538" y="0"/>
                </a:lnTo>
                <a:cubicBezTo>
                  <a:pt x="21572" y="0"/>
                  <a:pt x="21600" y="298"/>
                  <a:pt x="21600" y="665"/>
                </a:cubicBezTo>
                <a:lnTo>
                  <a:pt x="21600" y="20935"/>
                </a:lnTo>
                <a:cubicBezTo>
                  <a:pt x="21600" y="21302"/>
                  <a:pt x="21572" y="21600"/>
                  <a:pt x="21538" y="21600"/>
                </a:cubicBezTo>
                <a:lnTo>
                  <a:pt x="62" y="21600"/>
                </a:lnTo>
                <a:cubicBezTo>
                  <a:pt x="28" y="21600"/>
                  <a:pt x="0" y="21302"/>
                  <a:pt x="0" y="20935"/>
                </a:cubicBezTo>
                <a:lnTo>
                  <a:pt x="0" y="665"/>
                </a:lnTo>
                <a:cubicBezTo>
                  <a:pt x="0" y="298"/>
                  <a:pt x="28" y="0"/>
                  <a:pt x="62" y="0"/>
                </a:cubicBezTo>
                <a:close/>
              </a:path>
            </a:pathLst>
          </a:custGeom>
          <a:solidFill>
            <a:srgbClr val="0D0E1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33" name="Text 9"/>
          <p:cNvSpPr txBox="1"/>
          <p:nvPr/>
        </p:nvSpPr>
        <p:spPr>
          <a:xfrm>
            <a:off x="632011" y="1837159"/>
            <a:ext cx="1100931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{</a:t>
            </a:r>
          </a:p>
        </p:txBody>
      </p:sp>
      <p:sp>
        <p:nvSpPr>
          <p:cNvPr id="1134" name="Text 10"/>
          <p:cNvSpPr txBox="1"/>
          <p:nvPr/>
        </p:nvSpPr>
        <p:spPr>
          <a:xfrm>
            <a:off x="758966" y="2011325"/>
            <a:ext cx="1088231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"prescription": ["二甲双胍", "依那普利", "氨氯地平", "阿托伐他汀", "阿司匹林"],</a:t>
            </a:r>
          </a:p>
        </p:txBody>
      </p:sp>
      <p:sp>
        <p:nvSpPr>
          <p:cNvPr id="1135" name="Text 11"/>
          <p:cNvSpPr txBox="1"/>
          <p:nvPr/>
        </p:nvSpPr>
        <p:spPr>
          <a:xfrm>
            <a:off x="758966" y="2198191"/>
            <a:ext cx="1088231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"confidence": 0.85,</a:t>
            </a:r>
          </a:p>
        </p:txBody>
      </p:sp>
      <p:sp>
        <p:nvSpPr>
          <p:cNvPr id="1136" name="Text 12"/>
          <p:cNvSpPr txBox="1"/>
          <p:nvPr/>
        </p:nvSpPr>
        <p:spPr>
          <a:xfrm>
            <a:off x="758966" y="2378692"/>
            <a:ext cx="1088231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"cot_chain": "..."</a:t>
            </a:r>
          </a:p>
        </p:txBody>
      </p:sp>
      <p:sp>
        <p:nvSpPr>
          <p:cNvPr id="1137" name="Text 13"/>
          <p:cNvSpPr txBox="1"/>
          <p:nvPr/>
        </p:nvSpPr>
        <p:spPr>
          <a:xfrm>
            <a:off x="632011" y="2559208"/>
            <a:ext cx="1100931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}</a:t>
            </a:r>
          </a:p>
        </p:txBody>
      </p:sp>
      <p:sp>
        <p:nvSpPr>
          <p:cNvPr id="1138" name="Shape 14"/>
          <p:cNvSpPr/>
          <p:nvPr/>
        </p:nvSpPr>
        <p:spPr>
          <a:xfrm>
            <a:off x="331931" y="3124537"/>
            <a:ext cx="3752996" cy="1841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6" y="0"/>
                </a:moveTo>
                <a:lnTo>
                  <a:pt x="21052" y="0"/>
                </a:lnTo>
                <a:cubicBezTo>
                  <a:pt x="21355" y="0"/>
                  <a:pt x="21600" y="500"/>
                  <a:pt x="21600" y="1117"/>
                </a:cubicBezTo>
                <a:lnTo>
                  <a:pt x="21600" y="20483"/>
                </a:lnTo>
                <a:cubicBezTo>
                  <a:pt x="21600" y="21100"/>
                  <a:pt x="21355" y="21600"/>
                  <a:pt x="21052" y="21600"/>
                </a:cubicBezTo>
                <a:lnTo>
                  <a:pt x="166" y="21600"/>
                </a:lnTo>
                <a:cubicBezTo>
                  <a:pt x="74" y="21600"/>
                  <a:pt x="0" y="21448"/>
                  <a:pt x="0" y="21261"/>
                </a:cubicBezTo>
                <a:lnTo>
                  <a:pt x="0" y="339"/>
                </a:lnTo>
                <a:cubicBezTo>
                  <a:pt x="0" y="152"/>
                  <a:pt x="74" y="0"/>
                  <a:pt x="166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39" name="Shape 15"/>
          <p:cNvSpPr/>
          <p:nvPr/>
        </p:nvSpPr>
        <p:spPr>
          <a:xfrm>
            <a:off x="331931" y="3124537"/>
            <a:ext cx="28865" cy="1841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448"/>
                  <a:pt x="0" y="21261"/>
                </a:cubicBezTo>
                <a:lnTo>
                  <a:pt x="0" y="339"/>
                </a:lnTo>
                <a:cubicBezTo>
                  <a:pt x="0" y="152"/>
                  <a:pt x="9671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40" name="Shape 16"/>
          <p:cNvSpPr/>
          <p:nvPr/>
        </p:nvSpPr>
        <p:spPr>
          <a:xfrm>
            <a:off x="493147" y="3308991"/>
            <a:ext cx="142884" cy="1250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88" h="21479" fill="norm" stroke="1" extrusionOk="0">
                <a:moveTo>
                  <a:pt x="1339" y="0"/>
                </a:moveTo>
                <a:cubicBezTo>
                  <a:pt x="801" y="0"/>
                  <a:pt x="312" y="374"/>
                  <a:pt x="103" y="949"/>
                </a:cubicBezTo>
                <a:cubicBezTo>
                  <a:pt x="-106" y="1525"/>
                  <a:pt x="11" y="2182"/>
                  <a:pt x="395" y="2618"/>
                </a:cubicBezTo>
                <a:lnTo>
                  <a:pt x="8023" y="11378"/>
                </a:lnTo>
                <a:lnTo>
                  <a:pt x="8023" y="16877"/>
                </a:lnTo>
                <a:cubicBezTo>
                  <a:pt x="8023" y="17285"/>
                  <a:pt x="8165" y="17673"/>
                  <a:pt x="8415" y="17961"/>
                </a:cubicBezTo>
                <a:lnTo>
                  <a:pt x="11089" y="21029"/>
                </a:lnTo>
                <a:cubicBezTo>
                  <a:pt x="11473" y="21470"/>
                  <a:pt x="12045" y="21600"/>
                  <a:pt x="12547" y="21360"/>
                </a:cubicBezTo>
                <a:cubicBezTo>
                  <a:pt x="13048" y="21120"/>
                  <a:pt x="13369" y="20564"/>
                  <a:pt x="13369" y="19946"/>
                </a:cubicBezTo>
                <a:lnTo>
                  <a:pt x="13369" y="11378"/>
                </a:lnTo>
                <a:lnTo>
                  <a:pt x="20997" y="2623"/>
                </a:lnTo>
                <a:cubicBezTo>
                  <a:pt x="21381" y="2182"/>
                  <a:pt x="21494" y="1525"/>
                  <a:pt x="21285" y="949"/>
                </a:cubicBezTo>
                <a:cubicBezTo>
                  <a:pt x="21076" y="374"/>
                  <a:pt x="20592" y="0"/>
                  <a:pt x="20053" y="0"/>
                </a:cubicBezTo>
                <a:lnTo>
                  <a:pt x="1339" y="0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41" name="Text 17"/>
          <p:cNvSpPr txBox="1"/>
          <p:nvPr/>
        </p:nvSpPr>
        <p:spPr>
          <a:xfrm>
            <a:off x="655881" y="3261016"/>
            <a:ext cx="337343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1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Layer 1: 置信度过滤</a:t>
            </a:r>
          </a:p>
        </p:txBody>
      </p:sp>
      <p:sp>
        <p:nvSpPr>
          <p:cNvPr id="1142" name="Text 18"/>
          <p:cNvSpPr txBox="1"/>
          <p:nvPr/>
        </p:nvSpPr>
        <p:spPr>
          <a:xfrm>
            <a:off x="473319" y="3575232"/>
            <a:ext cx="354806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✓</a:t>
            </a:r>
            <a:r>
              <a:rPr>
                <a:solidFill>
                  <a:srgbClr val="7D8A96"/>
                </a:solidFill>
              </a:rPr>
              <a:t> 推荐概率: 0.85 &gt;= 0.6</a:t>
            </a:r>
          </a:p>
        </p:txBody>
      </p:sp>
      <p:sp>
        <p:nvSpPr>
          <p:cNvPr id="1143" name="Text 19"/>
          <p:cNvSpPr txBox="1"/>
          <p:nvPr/>
        </p:nvSpPr>
        <p:spPr>
          <a:xfrm>
            <a:off x="473319" y="3829201"/>
            <a:ext cx="354806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✓</a:t>
            </a:r>
            <a:r>
              <a:rPr>
                <a:solidFill>
                  <a:srgbClr val="7D8A96"/>
                </a:solidFill>
              </a:rPr>
              <a:t> 置信度校准: 已校准</a:t>
            </a:r>
          </a:p>
        </p:txBody>
      </p:sp>
      <p:sp>
        <p:nvSpPr>
          <p:cNvPr id="1144" name="Text 20"/>
          <p:cNvSpPr txBox="1"/>
          <p:nvPr/>
        </p:nvSpPr>
        <p:spPr>
          <a:xfrm>
            <a:off x="473319" y="4083170"/>
            <a:ext cx="354806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✓</a:t>
            </a:r>
            <a:r>
              <a:rPr>
                <a:solidFill>
                  <a:srgbClr val="7D8A96"/>
                </a:solidFill>
              </a:rPr>
              <a:t> 不确定性估计: 低</a:t>
            </a:r>
          </a:p>
        </p:txBody>
      </p:sp>
      <p:sp>
        <p:nvSpPr>
          <p:cNvPr id="1145" name="Shape 21"/>
          <p:cNvSpPr/>
          <p:nvPr/>
        </p:nvSpPr>
        <p:spPr>
          <a:xfrm>
            <a:off x="473319" y="4362524"/>
            <a:ext cx="3484563" cy="317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7" y="0"/>
                </a:moveTo>
                <a:lnTo>
                  <a:pt x="21403" y="0"/>
                </a:lnTo>
                <a:cubicBezTo>
                  <a:pt x="21512" y="0"/>
                  <a:pt x="21600" y="968"/>
                  <a:pt x="21600" y="2160"/>
                </a:cubicBezTo>
                <a:lnTo>
                  <a:pt x="21600" y="19440"/>
                </a:lnTo>
                <a:cubicBezTo>
                  <a:pt x="21600" y="20632"/>
                  <a:pt x="21512" y="21600"/>
                  <a:pt x="21403" y="21600"/>
                </a:cubicBezTo>
                <a:lnTo>
                  <a:pt x="197" y="21600"/>
                </a:lnTo>
                <a:cubicBezTo>
                  <a:pt x="88" y="21600"/>
                  <a:pt x="0" y="20632"/>
                  <a:pt x="0" y="19440"/>
                </a:cubicBezTo>
                <a:lnTo>
                  <a:pt x="0" y="2160"/>
                </a:lnTo>
                <a:cubicBezTo>
                  <a:pt x="0" y="968"/>
                  <a:pt x="88" y="0"/>
                  <a:pt x="197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46" name="Text 22"/>
          <p:cNvSpPr txBox="1"/>
          <p:nvPr/>
        </p:nvSpPr>
        <p:spPr>
          <a:xfrm>
            <a:off x="505046" y="4432343"/>
            <a:ext cx="342106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通过 ✓</a:t>
            </a:r>
          </a:p>
        </p:txBody>
      </p:sp>
      <p:sp>
        <p:nvSpPr>
          <p:cNvPr id="1147" name="Shape 23"/>
          <p:cNvSpPr/>
          <p:nvPr/>
        </p:nvSpPr>
        <p:spPr>
          <a:xfrm>
            <a:off x="4226550" y="3124537"/>
            <a:ext cx="3752995" cy="1841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6" y="0"/>
                </a:moveTo>
                <a:lnTo>
                  <a:pt x="21052" y="0"/>
                </a:lnTo>
                <a:cubicBezTo>
                  <a:pt x="21355" y="0"/>
                  <a:pt x="21600" y="500"/>
                  <a:pt x="21600" y="1117"/>
                </a:cubicBezTo>
                <a:lnTo>
                  <a:pt x="21600" y="20483"/>
                </a:lnTo>
                <a:cubicBezTo>
                  <a:pt x="21600" y="21100"/>
                  <a:pt x="21355" y="21600"/>
                  <a:pt x="21052" y="21600"/>
                </a:cubicBezTo>
                <a:lnTo>
                  <a:pt x="166" y="21600"/>
                </a:lnTo>
                <a:cubicBezTo>
                  <a:pt x="74" y="21600"/>
                  <a:pt x="0" y="21448"/>
                  <a:pt x="0" y="21261"/>
                </a:cubicBezTo>
                <a:lnTo>
                  <a:pt x="0" y="339"/>
                </a:lnTo>
                <a:cubicBezTo>
                  <a:pt x="0" y="152"/>
                  <a:pt x="74" y="0"/>
                  <a:pt x="166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48" name="Shape 24"/>
          <p:cNvSpPr/>
          <p:nvPr/>
        </p:nvSpPr>
        <p:spPr>
          <a:xfrm>
            <a:off x="4226550" y="3124537"/>
            <a:ext cx="28865" cy="1841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448"/>
                  <a:pt x="0" y="21261"/>
                </a:cubicBezTo>
                <a:lnTo>
                  <a:pt x="0" y="339"/>
                </a:lnTo>
                <a:cubicBezTo>
                  <a:pt x="0" y="152"/>
                  <a:pt x="9671" y="0"/>
                  <a:pt x="21600" y="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49" name="Shape 25"/>
          <p:cNvSpPr/>
          <p:nvPr/>
        </p:nvSpPr>
        <p:spPr>
          <a:xfrm>
            <a:off x="4387852" y="3281427"/>
            <a:ext cx="152563" cy="1525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24" h="21326" fill="norm" stroke="1" extrusionOk="0">
                <a:moveTo>
                  <a:pt x="5356" y="7339"/>
                </a:moveTo>
                <a:lnTo>
                  <a:pt x="4627" y="6610"/>
                </a:lnTo>
                <a:cubicBezTo>
                  <a:pt x="4139" y="6122"/>
                  <a:pt x="4139" y="5331"/>
                  <a:pt x="4627" y="4843"/>
                </a:cubicBezTo>
                <a:lnTo>
                  <a:pt x="9100" y="366"/>
                </a:lnTo>
                <a:cubicBezTo>
                  <a:pt x="9588" y="-122"/>
                  <a:pt x="10380" y="-122"/>
                  <a:pt x="10867" y="366"/>
                </a:cubicBezTo>
                <a:lnTo>
                  <a:pt x="11597" y="1099"/>
                </a:lnTo>
                <a:cubicBezTo>
                  <a:pt x="12084" y="1586"/>
                  <a:pt x="12084" y="2378"/>
                  <a:pt x="11597" y="2866"/>
                </a:cubicBezTo>
                <a:lnTo>
                  <a:pt x="7123" y="7339"/>
                </a:lnTo>
                <a:cubicBezTo>
                  <a:pt x="6635" y="7827"/>
                  <a:pt x="5844" y="7827"/>
                  <a:pt x="5356" y="7339"/>
                </a:cubicBezTo>
                <a:close/>
                <a:moveTo>
                  <a:pt x="9506" y="9613"/>
                </a:moveTo>
                <a:lnTo>
                  <a:pt x="8281" y="8388"/>
                </a:lnTo>
                <a:lnTo>
                  <a:pt x="12650" y="4020"/>
                </a:lnTo>
                <a:lnTo>
                  <a:pt x="17307" y="8677"/>
                </a:lnTo>
                <a:lnTo>
                  <a:pt x="12938" y="13046"/>
                </a:lnTo>
                <a:lnTo>
                  <a:pt x="11714" y="11821"/>
                </a:lnTo>
                <a:lnTo>
                  <a:pt x="2665" y="20870"/>
                </a:lnTo>
                <a:cubicBezTo>
                  <a:pt x="2056" y="21478"/>
                  <a:pt x="1070" y="21478"/>
                  <a:pt x="457" y="20870"/>
                </a:cubicBezTo>
                <a:cubicBezTo>
                  <a:pt x="-155" y="20261"/>
                  <a:pt x="-151" y="19274"/>
                  <a:pt x="457" y="18662"/>
                </a:cubicBezTo>
                <a:lnTo>
                  <a:pt x="9506" y="9613"/>
                </a:lnTo>
                <a:close/>
                <a:moveTo>
                  <a:pt x="13988" y="15967"/>
                </a:moveTo>
                <a:cubicBezTo>
                  <a:pt x="13500" y="15479"/>
                  <a:pt x="13500" y="14688"/>
                  <a:pt x="13988" y="14200"/>
                </a:cubicBezTo>
                <a:lnTo>
                  <a:pt x="18461" y="9726"/>
                </a:lnTo>
                <a:cubicBezTo>
                  <a:pt x="18949" y="9239"/>
                  <a:pt x="19741" y="9239"/>
                  <a:pt x="20228" y="9726"/>
                </a:cubicBezTo>
                <a:lnTo>
                  <a:pt x="20957" y="10456"/>
                </a:lnTo>
                <a:cubicBezTo>
                  <a:pt x="21445" y="10943"/>
                  <a:pt x="21445" y="11735"/>
                  <a:pt x="20957" y="12223"/>
                </a:cubicBezTo>
                <a:lnTo>
                  <a:pt x="16484" y="16700"/>
                </a:lnTo>
                <a:cubicBezTo>
                  <a:pt x="15996" y="17188"/>
                  <a:pt x="15204" y="17188"/>
                  <a:pt x="14717" y="16700"/>
                </a:cubicBezTo>
                <a:lnTo>
                  <a:pt x="13988" y="15971"/>
                </a:ln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50" name="Text 26"/>
          <p:cNvSpPr txBox="1"/>
          <p:nvPr/>
        </p:nvSpPr>
        <p:spPr>
          <a:xfrm>
            <a:off x="4550498" y="3261016"/>
            <a:ext cx="337343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1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Layer 2: 规则引擎</a:t>
            </a:r>
          </a:p>
        </p:txBody>
      </p:sp>
      <p:sp>
        <p:nvSpPr>
          <p:cNvPr id="1151" name="Text 27"/>
          <p:cNvSpPr txBox="1"/>
          <p:nvPr/>
        </p:nvSpPr>
        <p:spPr>
          <a:xfrm>
            <a:off x="4367936" y="3578201"/>
            <a:ext cx="3540126" cy="140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8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✓</a:t>
            </a:r>
            <a:r>
              <a:rPr>
                <a:solidFill>
                  <a:srgbClr val="7D8A96"/>
                </a:solidFill>
              </a:rPr>
              <a:t> 二甲双胍: eGFR=85&gt;30, 剂量0.5g&lt;2.0g</a:t>
            </a:r>
          </a:p>
        </p:txBody>
      </p:sp>
      <p:sp>
        <p:nvSpPr>
          <p:cNvPr id="1152" name="Text 28"/>
          <p:cNvSpPr txBox="1"/>
          <p:nvPr/>
        </p:nvSpPr>
        <p:spPr>
          <a:xfrm>
            <a:off x="4367936" y="3768639"/>
            <a:ext cx="3540126" cy="140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8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✓</a:t>
            </a:r>
            <a:r>
              <a:rPr>
                <a:solidFill>
                  <a:srgbClr val="7D8A96"/>
                </a:solidFill>
              </a:rPr>
              <a:t> 依那普利: 无禁忌, 剂量5mg&lt;40mg</a:t>
            </a:r>
          </a:p>
        </p:txBody>
      </p:sp>
      <p:sp>
        <p:nvSpPr>
          <p:cNvPr id="1153" name="Text 29"/>
          <p:cNvSpPr txBox="1"/>
          <p:nvPr/>
        </p:nvSpPr>
        <p:spPr>
          <a:xfrm>
            <a:off x="4367936" y="3959061"/>
            <a:ext cx="3540126" cy="140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8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✓</a:t>
            </a:r>
            <a:r>
              <a:rPr>
                <a:solidFill>
                  <a:srgbClr val="7D8A96"/>
                </a:solidFill>
              </a:rPr>
              <a:t> 氨氯地平: 剂量5mg&lt;10mg</a:t>
            </a:r>
          </a:p>
        </p:txBody>
      </p:sp>
      <p:sp>
        <p:nvSpPr>
          <p:cNvPr id="1154" name="Text 30"/>
          <p:cNvSpPr txBox="1"/>
          <p:nvPr/>
        </p:nvSpPr>
        <p:spPr>
          <a:xfrm>
            <a:off x="4367936" y="4149499"/>
            <a:ext cx="3540126" cy="140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8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✓</a:t>
            </a:r>
            <a:r>
              <a:rPr>
                <a:solidFill>
                  <a:srgbClr val="7D8A96"/>
                </a:solidFill>
              </a:rPr>
              <a:t> 阿托伐他汀: 无禁忌, 剂量20mg&lt;80mg</a:t>
            </a:r>
          </a:p>
        </p:txBody>
      </p:sp>
      <p:sp>
        <p:nvSpPr>
          <p:cNvPr id="1155" name="Text 31"/>
          <p:cNvSpPr txBox="1"/>
          <p:nvPr/>
        </p:nvSpPr>
        <p:spPr>
          <a:xfrm>
            <a:off x="4367936" y="4339922"/>
            <a:ext cx="3540126" cy="140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8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✓</a:t>
            </a:r>
            <a:r>
              <a:rPr>
                <a:solidFill>
                  <a:srgbClr val="7D8A96"/>
                </a:solidFill>
              </a:rPr>
              <a:t> 阿司匹林: 无禁忌, 剂量100mg&lt;300mg</a:t>
            </a:r>
          </a:p>
        </p:txBody>
      </p:sp>
      <p:sp>
        <p:nvSpPr>
          <p:cNvPr id="1156" name="Shape 32"/>
          <p:cNvSpPr/>
          <p:nvPr/>
        </p:nvSpPr>
        <p:spPr>
          <a:xfrm>
            <a:off x="4367936" y="4552775"/>
            <a:ext cx="3484563" cy="285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7" y="0"/>
                </a:moveTo>
                <a:lnTo>
                  <a:pt x="21403" y="0"/>
                </a:lnTo>
                <a:cubicBezTo>
                  <a:pt x="21512" y="0"/>
                  <a:pt x="21600" y="1075"/>
                  <a:pt x="21600" y="2400"/>
                </a:cubicBezTo>
                <a:lnTo>
                  <a:pt x="21600" y="19200"/>
                </a:lnTo>
                <a:cubicBezTo>
                  <a:pt x="21600" y="20525"/>
                  <a:pt x="21512" y="21600"/>
                  <a:pt x="21403" y="21600"/>
                </a:cubicBezTo>
                <a:lnTo>
                  <a:pt x="197" y="21600"/>
                </a:lnTo>
                <a:cubicBezTo>
                  <a:pt x="88" y="21600"/>
                  <a:pt x="0" y="20525"/>
                  <a:pt x="0" y="19200"/>
                </a:cubicBezTo>
                <a:lnTo>
                  <a:pt x="0" y="2400"/>
                </a:lnTo>
                <a:cubicBezTo>
                  <a:pt x="0" y="1075"/>
                  <a:pt x="88" y="0"/>
                  <a:pt x="197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57" name="Text 33"/>
          <p:cNvSpPr txBox="1"/>
          <p:nvPr/>
        </p:nvSpPr>
        <p:spPr>
          <a:xfrm>
            <a:off x="4403631" y="4625579"/>
            <a:ext cx="3413126" cy="140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b="1" sz="8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通过 ✓</a:t>
            </a:r>
          </a:p>
        </p:txBody>
      </p:sp>
      <p:sp>
        <p:nvSpPr>
          <p:cNvPr id="1158" name="Shape 34"/>
          <p:cNvSpPr/>
          <p:nvPr/>
        </p:nvSpPr>
        <p:spPr>
          <a:xfrm>
            <a:off x="8121167" y="3124537"/>
            <a:ext cx="3752995" cy="1841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6" y="0"/>
                </a:moveTo>
                <a:lnTo>
                  <a:pt x="21052" y="0"/>
                </a:lnTo>
                <a:cubicBezTo>
                  <a:pt x="21355" y="0"/>
                  <a:pt x="21600" y="500"/>
                  <a:pt x="21600" y="1117"/>
                </a:cubicBezTo>
                <a:lnTo>
                  <a:pt x="21600" y="20483"/>
                </a:lnTo>
                <a:cubicBezTo>
                  <a:pt x="21600" y="21100"/>
                  <a:pt x="21355" y="21600"/>
                  <a:pt x="21052" y="21600"/>
                </a:cubicBezTo>
                <a:lnTo>
                  <a:pt x="166" y="21600"/>
                </a:lnTo>
                <a:cubicBezTo>
                  <a:pt x="74" y="21600"/>
                  <a:pt x="0" y="21448"/>
                  <a:pt x="0" y="21261"/>
                </a:cubicBezTo>
                <a:lnTo>
                  <a:pt x="0" y="339"/>
                </a:lnTo>
                <a:cubicBezTo>
                  <a:pt x="0" y="152"/>
                  <a:pt x="74" y="0"/>
                  <a:pt x="166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59" name="Shape 35"/>
          <p:cNvSpPr/>
          <p:nvPr/>
        </p:nvSpPr>
        <p:spPr>
          <a:xfrm>
            <a:off x="8121167" y="3124537"/>
            <a:ext cx="28865" cy="1841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448"/>
                  <a:pt x="0" y="21261"/>
                </a:cubicBezTo>
                <a:lnTo>
                  <a:pt x="0" y="339"/>
                </a:lnTo>
                <a:cubicBezTo>
                  <a:pt x="0" y="152"/>
                  <a:pt x="9671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60" name="Shape 36"/>
          <p:cNvSpPr/>
          <p:nvPr/>
        </p:nvSpPr>
        <p:spPr>
          <a:xfrm>
            <a:off x="8282382" y="3291132"/>
            <a:ext cx="142898" cy="1339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44" h="21600" fill="norm" stroke="1" extrusionOk="0">
                <a:moveTo>
                  <a:pt x="10723" y="0"/>
                </a:moveTo>
                <a:cubicBezTo>
                  <a:pt x="11339" y="0"/>
                  <a:pt x="11904" y="364"/>
                  <a:pt x="12197" y="945"/>
                </a:cubicBezTo>
                <a:lnTo>
                  <a:pt x="21243" y="18945"/>
                </a:lnTo>
                <a:cubicBezTo>
                  <a:pt x="21523" y="19503"/>
                  <a:pt x="21510" y="20178"/>
                  <a:pt x="21209" y="20723"/>
                </a:cubicBezTo>
                <a:cubicBezTo>
                  <a:pt x="20907" y="21267"/>
                  <a:pt x="20359" y="21600"/>
                  <a:pt x="19768" y="21600"/>
                </a:cubicBezTo>
                <a:lnTo>
                  <a:pt x="1678" y="21600"/>
                </a:lnTo>
                <a:cubicBezTo>
                  <a:pt x="1087" y="21600"/>
                  <a:pt x="543" y="21267"/>
                  <a:pt x="237" y="20723"/>
                </a:cubicBezTo>
                <a:cubicBezTo>
                  <a:pt x="-69" y="20178"/>
                  <a:pt x="-77" y="19503"/>
                  <a:pt x="203" y="18945"/>
                </a:cubicBezTo>
                <a:lnTo>
                  <a:pt x="9249" y="945"/>
                </a:lnTo>
                <a:cubicBezTo>
                  <a:pt x="9542" y="364"/>
                  <a:pt x="10107" y="0"/>
                  <a:pt x="10723" y="0"/>
                </a:cubicBezTo>
                <a:close/>
                <a:moveTo>
                  <a:pt x="10723" y="7560"/>
                </a:moveTo>
                <a:cubicBezTo>
                  <a:pt x="10166" y="7560"/>
                  <a:pt x="9718" y="8042"/>
                  <a:pt x="9718" y="8640"/>
                </a:cubicBezTo>
                <a:lnTo>
                  <a:pt x="9718" y="13680"/>
                </a:lnTo>
                <a:cubicBezTo>
                  <a:pt x="9718" y="14278"/>
                  <a:pt x="10166" y="14760"/>
                  <a:pt x="10723" y="14760"/>
                </a:cubicBezTo>
                <a:cubicBezTo>
                  <a:pt x="11280" y="14760"/>
                  <a:pt x="11728" y="14278"/>
                  <a:pt x="11728" y="13680"/>
                </a:cubicBezTo>
                <a:lnTo>
                  <a:pt x="11728" y="8640"/>
                </a:lnTo>
                <a:cubicBezTo>
                  <a:pt x="11728" y="8042"/>
                  <a:pt x="11280" y="7560"/>
                  <a:pt x="10723" y="7560"/>
                </a:cubicBezTo>
                <a:close/>
                <a:moveTo>
                  <a:pt x="11841" y="17280"/>
                </a:moveTo>
                <a:cubicBezTo>
                  <a:pt x="11867" y="16834"/>
                  <a:pt x="11659" y="16410"/>
                  <a:pt x="11304" y="16178"/>
                </a:cubicBezTo>
                <a:cubicBezTo>
                  <a:pt x="10948" y="15947"/>
                  <a:pt x="10502" y="15947"/>
                  <a:pt x="10146" y="16178"/>
                </a:cubicBezTo>
                <a:cubicBezTo>
                  <a:pt x="9791" y="16410"/>
                  <a:pt x="9584" y="16834"/>
                  <a:pt x="9609" y="17280"/>
                </a:cubicBezTo>
                <a:cubicBezTo>
                  <a:pt x="9584" y="17726"/>
                  <a:pt x="9791" y="18150"/>
                  <a:pt x="10146" y="18382"/>
                </a:cubicBezTo>
                <a:cubicBezTo>
                  <a:pt x="10502" y="18613"/>
                  <a:pt x="10948" y="18613"/>
                  <a:pt x="11304" y="18382"/>
                </a:cubicBezTo>
                <a:cubicBezTo>
                  <a:pt x="11659" y="18150"/>
                  <a:pt x="11867" y="17726"/>
                  <a:pt x="11841" y="1728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61" name="Text 37"/>
          <p:cNvSpPr txBox="1"/>
          <p:nvPr/>
        </p:nvSpPr>
        <p:spPr>
          <a:xfrm>
            <a:off x="8445116" y="3261016"/>
            <a:ext cx="337343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1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Layer 3: DDI检测</a:t>
            </a:r>
          </a:p>
        </p:txBody>
      </p:sp>
      <p:sp>
        <p:nvSpPr>
          <p:cNvPr id="1162" name="Text 38"/>
          <p:cNvSpPr txBox="1"/>
          <p:nvPr/>
        </p:nvSpPr>
        <p:spPr>
          <a:xfrm>
            <a:off x="8262553" y="3578201"/>
            <a:ext cx="3540126" cy="140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8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✓</a:t>
            </a:r>
            <a:r>
              <a:rPr>
                <a:solidFill>
                  <a:srgbClr val="7D8A96"/>
                </a:solidFill>
              </a:rPr>
              <a:t> 二甲双胍+依那普利: 无相互作用</a:t>
            </a:r>
          </a:p>
        </p:txBody>
      </p:sp>
      <p:sp>
        <p:nvSpPr>
          <p:cNvPr id="1163" name="Text 39"/>
          <p:cNvSpPr txBox="1"/>
          <p:nvPr/>
        </p:nvSpPr>
        <p:spPr>
          <a:xfrm>
            <a:off x="8262553" y="3768639"/>
            <a:ext cx="3540126" cy="140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8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✓</a:t>
            </a:r>
            <a:r>
              <a:rPr>
                <a:solidFill>
                  <a:srgbClr val="7D8A96"/>
                </a:solidFill>
              </a:rPr>
              <a:t> 二甲双胍+氨氯地平: 无相互作用</a:t>
            </a:r>
          </a:p>
        </p:txBody>
      </p:sp>
      <p:sp>
        <p:nvSpPr>
          <p:cNvPr id="1164" name="Text 40"/>
          <p:cNvSpPr txBox="1"/>
          <p:nvPr/>
        </p:nvSpPr>
        <p:spPr>
          <a:xfrm>
            <a:off x="8262553" y="3959061"/>
            <a:ext cx="3540126" cy="140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8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✓</a:t>
            </a:r>
            <a:r>
              <a:rPr>
                <a:solidFill>
                  <a:srgbClr val="7D8A96"/>
                </a:solidFill>
              </a:rPr>
              <a:t> 依那普利+氨氯地平: 无相互作用</a:t>
            </a:r>
          </a:p>
        </p:txBody>
      </p:sp>
      <p:sp>
        <p:nvSpPr>
          <p:cNvPr id="1165" name="Text 41"/>
          <p:cNvSpPr txBox="1"/>
          <p:nvPr/>
        </p:nvSpPr>
        <p:spPr>
          <a:xfrm>
            <a:off x="8262553" y="4149706"/>
            <a:ext cx="354012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8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⚠</a:t>
            </a:r>
            <a:r>
              <a:rPr>
                <a:solidFill>
                  <a:srgbClr val="7D8A96"/>
                </a:solidFill>
              </a:rPr>
              <a:t> 阿司匹林+依那普利: Moderate</a:t>
            </a:r>
          </a:p>
        </p:txBody>
      </p:sp>
      <p:sp>
        <p:nvSpPr>
          <p:cNvPr id="1166" name="Text 42"/>
          <p:cNvSpPr txBox="1"/>
          <p:nvPr/>
        </p:nvSpPr>
        <p:spPr>
          <a:xfrm>
            <a:off x="8389508" y="4330603"/>
            <a:ext cx="340518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7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可能增加肾功能损害风险</a:t>
            </a:r>
          </a:p>
        </p:txBody>
      </p:sp>
      <p:sp>
        <p:nvSpPr>
          <p:cNvPr id="1167" name="Shape 43"/>
          <p:cNvSpPr/>
          <p:nvPr/>
        </p:nvSpPr>
        <p:spPr>
          <a:xfrm>
            <a:off x="8262553" y="4521103"/>
            <a:ext cx="3484564" cy="285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7" y="0"/>
                </a:moveTo>
                <a:lnTo>
                  <a:pt x="21403" y="0"/>
                </a:lnTo>
                <a:cubicBezTo>
                  <a:pt x="21512" y="0"/>
                  <a:pt x="21600" y="1075"/>
                  <a:pt x="21600" y="2400"/>
                </a:cubicBezTo>
                <a:lnTo>
                  <a:pt x="21600" y="19200"/>
                </a:lnTo>
                <a:cubicBezTo>
                  <a:pt x="21600" y="20525"/>
                  <a:pt x="21512" y="21600"/>
                  <a:pt x="21403" y="21600"/>
                </a:cubicBezTo>
                <a:lnTo>
                  <a:pt x="197" y="21600"/>
                </a:lnTo>
                <a:cubicBezTo>
                  <a:pt x="88" y="21600"/>
                  <a:pt x="0" y="20525"/>
                  <a:pt x="0" y="19200"/>
                </a:cubicBezTo>
                <a:lnTo>
                  <a:pt x="0" y="2400"/>
                </a:lnTo>
                <a:cubicBezTo>
                  <a:pt x="0" y="1075"/>
                  <a:pt x="88" y="0"/>
                  <a:pt x="197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68" name="Text 44"/>
          <p:cNvSpPr txBox="1"/>
          <p:nvPr/>
        </p:nvSpPr>
        <p:spPr>
          <a:xfrm>
            <a:off x="8298250" y="4594097"/>
            <a:ext cx="341312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b="1" sz="8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通过(带警告) ⚠</a:t>
            </a:r>
          </a:p>
        </p:txBody>
      </p:sp>
      <p:sp>
        <p:nvSpPr>
          <p:cNvPr id="1169" name="Shape 45"/>
          <p:cNvSpPr/>
          <p:nvPr/>
        </p:nvSpPr>
        <p:spPr>
          <a:xfrm>
            <a:off x="324715" y="5099556"/>
            <a:ext cx="11539684" cy="21654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8" y="0"/>
                </a:moveTo>
                <a:lnTo>
                  <a:pt x="21422" y="0"/>
                </a:lnTo>
                <a:cubicBezTo>
                  <a:pt x="21520" y="0"/>
                  <a:pt x="21600" y="425"/>
                  <a:pt x="21600" y="950"/>
                </a:cubicBezTo>
                <a:lnTo>
                  <a:pt x="21600" y="20650"/>
                </a:lnTo>
                <a:cubicBezTo>
                  <a:pt x="21600" y="21175"/>
                  <a:pt x="21520" y="21600"/>
                  <a:pt x="21422" y="21600"/>
                </a:cubicBezTo>
                <a:lnTo>
                  <a:pt x="178" y="21600"/>
                </a:lnTo>
                <a:cubicBezTo>
                  <a:pt x="80" y="21600"/>
                  <a:pt x="0" y="21175"/>
                  <a:pt x="0" y="20650"/>
                </a:cubicBezTo>
                <a:lnTo>
                  <a:pt x="0" y="950"/>
                </a:lnTo>
                <a:cubicBezTo>
                  <a:pt x="0" y="426"/>
                  <a:pt x="80" y="0"/>
                  <a:pt x="178" y="0"/>
                </a:cubicBezTo>
                <a:close/>
              </a:path>
            </a:pathLst>
          </a:custGeom>
          <a:solidFill>
            <a:srgbClr val="5E8B7E">
              <a:alpha val="14902"/>
            </a:srgbClr>
          </a:solidFill>
          <a:ln w="23091">
            <a:solidFill>
              <a:srgbClr val="5E8B7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70" name="Shape 46"/>
          <p:cNvSpPr/>
          <p:nvPr/>
        </p:nvSpPr>
        <p:spPr>
          <a:xfrm>
            <a:off x="475247" y="5180500"/>
            <a:ext cx="107182" cy="1295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91" h="21374" fill="norm" stroke="1" extrusionOk="0">
                <a:moveTo>
                  <a:pt x="13792" y="2341"/>
                </a:moveTo>
                <a:cubicBezTo>
                  <a:pt x="14366" y="1682"/>
                  <a:pt x="14189" y="761"/>
                  <a:pt x="13400" y="282"/>
                </a:cubicBezTo>
                <a:cubicBezTo>
                  <a:pt x="12612" y="-197"/>
                  <a:pt x="11508" y="-50"/>
                  <a:pt x="10934" y="609"/>
                </a:cubicBezTo>
                <a:lnTo>
                  <a:pt x="5086" y="7319"/>
                </a:lnTo>
                <a:lnTo>
                  <a:pt x="3017" y="5592"/>
                </a:lnTo>
                <a:cubicBezTo>
                  <a:pt x="2327" y="5017"/>
                  <a:pt x="1207" y="5017"/>
                  <a:pt x="518" y="5592"/>
                </a:cubicBezTo>
                <a:cubicBezTo>
                  <a:pt x="-172" y="6168"/>
                  <a:pt x="-172" y="7103"/>
                  <a:pt x="518" y="7678"/>
                </a:cubicBezTo>
                <a:lnTo>
                  <a:pt x="4049" y="10626"/>
                </a:lnTo>
                <a:cubicBezTo>
                  <a:pt x="4413" y="10930"/>
                  <a:pt x="4921" y="11087"/>
                  <a:pt x="5434" y="11054"/>
                </a:cubicBezTo>
                <a:cubicBezTo>
                  <a:pt x="5947" y="11022"/>
                  <a:pt x="6421" y="10801"/>
                  <a:pt x="6725" y="10451"/>
                </a:cubicBezTo>
                <a:lnTo>
                  <a:pt x="13787" y="2345"/>
                </a:lnTo>
                <a:close/>
                <a:moveTo>
                  <a:pt x="20854" y="8604"/>
                </a:moveTo>
                <a:cubicBezTo>
                  <a:pt x="21428" y="7945"/>
                  <a:pt x="21251" y="7024"/>
                  <a:pt x="20463" y="6545"/>
                </a:cubicBezTo>
                <a:cubicBezTo>
                  <a:pt x="19673" y="6066"/>
                  <a:pt x="18570" y="6214"/>
                  <a:pt x="17996" y="6873"/>
                </a:cubicBezTo>
                <a:lnTo>
                  <a:pt x="8617" y="17636"/>
                </a:lnTo>
                <a:lnTo>
                  <a:pt x="4783" y="14435"/>
                </a:lnTo>
                <a:cubicBezTo>
                  <a:pt x="4093" y="13859"/>
                  <a:pt x="2973" y="13859"/>
                  <a:pt x="2283" y="14435"/>
                </a:cubicBezTo>
                <a:cubicBezTo>
                  <a:pt x="1594" y="15010"/>
                  <a:pt x="1594" y="15945"/>
                  <a:pt x="2283" y="16521"/>
                </a:cubicBezTo>
                <a:lnTo>
                  <a:pt x="7580" y="20942"/>
                </a:lnTo>
                <a:cubicBezTo>
                  <a:pt x="7944" y="21246"/>
                  <a:pt x="8451" y="21403"/>
                  <a:pt x="8965" y="21371"/>
                </a:cubicBezTo>
                <a:cubicBezTo>
                  <a:pt x="9478" y="21338"/>
                  <a:pt x="9952" y="21117"/>
                  <a:pt x="10256" y="20767"/>
                </a:cubicBezTo>
                <a:lnTo>
                  <a:pt x="20849" y="8609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71" name="Text 47"/>
          <p:cNvSpPr txBox="1"/>
          <p:nvPr/>
        </p:nvSpPr>
        <p:spPr>
          <a:xfrm>
            <a:off x="620127" y="5145938"/>
            <a:ext cx="1116012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1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最终输出</a:t>
            </a:r>
          </a:p>
        </p:txBody>
      </p:sp>
      <p:sp>
        <p:nvSpPr>
          <p:cNvPr id="1172" name="Shape 48"/>
          <p:cNvSpPr/>
          <p:nvPr/>
        </p:nvSpPr>
        <p:spPr>
          <a:xfrm>
            <a:off x="460374" y="5342568"/>
            <a:ext cx="11271251" cy="15795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2" y="0"/>
                </a:moveTo>
                <a:lnTo>
                  <a:pt x="21478" y="0"/>
                </a:lnTo>
                <a:cubicBezTo>
                  <a:pt x="21546" y="0"/>
                  <a:pt x="21600" y="389"/>
                  <a:pt x="21600" y="868"/>
                </a:cubicBezTo>
                <a:lnTo>
                  <a:pt x="21600" y="20732"/>
                </a:lnTo>
                <a:cubicBezTo>
                  <a:pt x="21600" y="21211"/>
                  <a:pt x="21546" y="21600"/>
                  <a:pt x="21478" y="21600"/>
                </a:cubicBezTo>
                <a:lnTo>
                  <a:pt x="122" y="21600"/>
                </a:lnTo>
                <a:cubicBezTo>
                  <a:pt x="54" y="21600"/>
                  <a:pt x="0" y="21211"/>
                  <a:pt x="0" y="20732"/>
                </a:cubicBezTo>
                <a:lnTo>
                  <a:pt x="0" y="868"/>
                </a:lnTo>
                <a:cubicBezTo>
                  <a:pt x="0" y="389"/>
                  <a:pt x="55" y="0"/>
                  <a:pt x="122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73" name="Shape 49"/>
          <p:cNvSpPr/>
          <p:nvPr/>
        </p:nvSpPr>
        <p:spPr>
          <a:xfrm>
            <a:off x="555590" y="5437787"/>
            <a:ext cx="11080751" cy="13890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2" y="0"/>
                </a:moveTo>
                <a:lnTo>
                  <a:pt x="21538" y="0"/>
                </a:lnTo>
                <a:cubicBezTo>
                  <a:pt x="21572" y="0"/>
                  <a:pt x="21600" y="221"/>
                  <a:pt x="21600" y="494"/>
                </a:cubicBezTo>
                <a:lnTo>
                  <a:pt x="21600" y="21106"/>
                </a:lnTo>
                <a:cubicBezTo>
                  <a:pt x="21600" y="21379"/>
                  <a:pt x="21572" y="21600"/>
                  <a:pt x="21538" y="21600"/>
                </a:cubicBezTo>
                <a:lnTo>
                  <a:pt x="62" y="21600"/>
                </a:lnTo>
                <a:cubicBezTo>
                  <a:pt x="28" y="21600"/>
                  <a:pt x="0" y="21379"/>
                  <a:pt x="0" y="21106"/>
                </a:cubicBezTo>
                <a:lnTo>
                  <a:pt x="0" y="494"/>
                </a:lnTo>
                <a:cubicBezTo>
                  <a:pt x="0" y="221"/>
                  <a:pt x="28" y="0"/>
                  <a:pt x="62" y="0"/>
                </a:cubicBezTo>
                <a:close/>
              </a:path>
            </a:pathLst>
          </a:custGeom>
          <a:solidFill>
            <a:srgbClr val="0D0E1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74" name="Text 50"/>
          <p:cNvSpPr txBox="1"/>
          <p:nvPr/>
        </p:nvSpPr>
        <p:spPr>
          <a:xfrm>
            <a:off x="619067" y="5529038"/>
            <a:ext cx="1100931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{</a:t>
            </a:r>
          </a:p>
        </p:txBody>
      </p:sp>
      <p:sp>
        <p:nvSpPr>
          <p:cNvPr id="1175" name="Text 51"/>
          <p:cNvSpPr txBox="1"/>
          <p:nvPr/>
        </p:nvSpPr>
        <p:spPr>
          <a:xfrm>
            <a:off x="746022" y="5709554"/>
            <a:ext cx="1088231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"status": "approved",</a:t>
            </a:r>
          </a:p>
        </p:txBody>
      </p:sp>
      <p:sp>
        <p:nvSpPr>
          <p:cNvPr id="1176" name="Text 52"/>
          <p:cNvSpPr txBox="1"/>
          <p:nvPr/>
        </p:nvSpPr>
        <p:spPr>
          <a:xfrm>
            <a:off x="746022" y="5883704"/>
            <a:ext cx="1088231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"prescription": ["二甲双胍", "依那普利", "氨氯地平", "阿托伐他汀", "阿司匹林"],</a:t>
            </a:r>
          </a:p>
        </p:txBody>
      </p:sp>
      <p:sp>
        <p:nvSpPr>
          <p:cNvPr id="1177" name="Text 53"/>
          <p:cNvSpPr txBox="1"/>
          <p:nvPr/>
        </p:nvSpPr>
        <p:spPr>
          <a:xfrm>
            <a:off x="746022" y="6064220"/>
            <a:ext cx="1088231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"warnings": ["阿司匹林 + 依那普利: 可能增加肾功能损害风险，需定期监测肾功能"],</a:t>
            </a:r>
          </a:p>
        </p:txBody>
      </p:sp>
      <p:sp>
        <p:nvSpPr>
          <p:cNvPr id="1178" name="Text 54"/>
          <p:cNvSpPr txBox="1"/>
          <p:nvPr/>
        </p:nvSpPr>
        <p:spPr>
          <a:xfrm>
            <a:off x="746022" y="6251086"/>
            <a:ext cx="1088231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"confidence": 0.85,</a:t>
            </a:r>
          </a:p>
        </p:txBody>
      </p:sp>
      <p:sp>
        <p:nvSpPr>
          <p:cNvPr id="1179" name="Text 55"/>
          <p:cNvSpPr txBox="1"/>
          <p:nvPr/>
        </p:nvSpPr>
        <p:spPr>
          <a:xfrm>
            <a:off x="746022" y="6431587"/>
            <a:ext cx="1088231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"cot_chain": "..."</a:t>
            </a:r>
          </a:p>
        </p:txBody>
      </p:sp>
      <p:sp>
        <p:nvSpPr>
          <p:cNvPr id="1180" name="Text 56"/>
          <p:cNvSpPr txBox="1"/>
          <p:nvPr/>
        </p:nvSpPr>
        <p:spPr>
          <a:xfrm>
            <a:off x="619067" y="6612103"/>
            <a:ext cx="1100931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Text 0"/>
          <p:cNvSpPr txBox="1"/>
          <p:nvPr/>
        </p:nvSpPr>
        <p:spPr>
          <a:xfrm>
            <a:off x="317500" y="336549"/>
            <a:ext cx="116205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pc="50" sz="1000">
                <a:solidFill>
                  <a:srgbClr val="5E8B7E"/>
                </a:solidFill>
                <a:latin typeface="Liter"/>
                <a:ea typeface="Liter"/>
                <a:cs typeface="Liter"/>
                <a:sym typeface="Liter"/>
              </a:defRPr>
            </a:lvl1pPr>
          </a:lstStyle>
          <a:p>
            <a:pPr/>
            <a:r>
              <a:t>INFERENCE PHASE</a:t>
            </a:r>
          </a:p>
        </p:txBody>
      </p:sp>
      <p:sp>
        <p:nvSpPr>
          <p:cNvPr id="1183" name="Text 1"/>
          <p:cNvSpPr txBox="1"/>
          <p:nvPr/>
        </p:nvSpPr>
        <p:spPr>
          <a:xfrm>
            <a:off x="317500" y="495268"/>
            <a:ext cx="117475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80000"/>
              </a:lnSpc>
              <a:defRPr b="1" sz="3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推理阶段总览</a:t>
            </a:r>
          </a:p>
        </p:txBody>
      </p:sp>
      <p:sp>
        <p:nvSpPr>
          <p:cNvPr id="1184" name="Shape 2"/>
          <p:cNvSpPr/>
          <p:nvPr/>
        </p:nvSpPr>
        <p:spPr>
          <a:xfrm>
            <a:off x="317500" y="1079390"/>
            <a:ext cx="762000" cy="31751"/>
          </a:xfrm>
          <a:prstGeom prst="rect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85" name="Shape 3"/>
          <p:cNvSpPr/>
          <p:nvPr/>
        </p:nvSpPr>
        <p:spPr>
          <a:xfrm>
            <a:off x="324715" y="1245311"/>
            <a:ext cx="11539684" cy="39038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8" y="0"/>
                </a:moveTo>
                <a:lnTo>
                  <a:pt x="21422" y="0"/>
                </a:lnTo>
                <a:cubicBezTo>
                  <a:pt x="21520" y="0"/>
                  <a:pt x="21600" y="236"/>
                  <a:pt x="21600" y="527"/>
                </a:cubicBezTo>
                <a:lnTo>
                  <a:pt x="21600" y="21073"/>
                </a:lnTo>
                <a:cubicBezTo>
                  <a:pt x="21600" y="21364"/>
                  <a:pt x="21520" y="21600"/>
                  <a:pt x="21422" y="21600"/>
                </a:cubicBezTo>
                <a:lnTo>
                  <a:pt x="178" y="21600"/>
                </a:lnTo>
                <a:cubicBezTo>
                  <a:pt x="80" y="21600"/>
                  <a:pt x="0" y="21364"/>
                  <a:pt x="0" y="21073"/>
                </a:cubicBezTo>
                <a:lnTo>
                  <a:pt x="0" y="527"/>
                </a:lnTo>
                <a:cubicBezTo>
                  <a:pt x="0" y="236"/>
                  <a:pt x="80" y="0"/>
                  <a:pt x="178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23091">
            <a:solidFill>
              <a:srgbClr val="4A6C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86" name="Shape 4"/>
          <p:cNvSpPr/>
          <p:nvPr/>
        </p:nvSpPr>
        <p:spPr>
          <a:xfrm>
            <a:off x="510525" y="1443012"/>
            <a:ext cx="168673" cy="1686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906"/>
                </a:moveTo>
                <a:cubicBezTo>
                  <a:pt x="0" y="854"/>
                  <a:pt x="854" y="0"/>
                  <a:pt x="1906" y="0"/>
                </a:cubicBezTo>
                <a:lnTo>
                  <a:pt x="3812" y="0"/>
                </a:lnTo>
                <a:cubicBezTo>
                  <a:pt x="4515" y="0"/>
                  <a:pt x="5082" y="568"/>
                  <a:pt x="5082" y="1271"/>
                </a:cubicBezTo>
                <a:cubicBezTo>
                  <a:pt x="5082" y="1973"/>
                  <a:pt x="4515" y="2541"/>
                  <a:pt x="3812" y="2541"/>
                </a:cubicBezTo>
                <a:lnTo>
                  <a:pt x="2541" y="2541"/>
                </a:lnTo>
                <a:lnTo>
                  <a:pt x="2541" y="7623"/>
                </a:lnTo>
                <a:cubicBezTo>
                  <a:pt x="2541" y="9728"/>
                  <a:pt x="4248" y="11435"/>
                  <a:pt x="6353" y="11435"/>
                </a:cubicBezTo>
                <a:cubicBezTo>
                  <a:pt x="8457" y="11435"/>
                  <a:pt x="10165" y="9728"/>
                  <a:pt x="10165" y="7623"/>
                </a:cubicBezTo>
                <a:lnTo>
                  <a:pt x="10165" y="2541"/>
                </a:lnTo>
                <a:lnTo>
                  <a:pt x="8894" y="2541"/>
                </a:lnTo>
                <a:cubicBezTo>
                  <a:pt x="8191" y="2541"/>
                  <a:pt x="7623" y="1973"/>
                  <a:pt x="7623" y="1271"/>
                </a:cubicBezTo>
                <a:cubicBezTo>
                  <a:pt x="7623" y="568"/>
                  <a:pt x="8191" y="0"/>
                  <a:pt x="8894" y="0"/>
                </a:cubicBezTo>
                <a:lnTo>
                  <a:pt x="10800" y="0"/>
                </a:lnTo>
                <a:cubicBezTo>
                  <a:pt x="11852" y="0"/>
                  <a:pt x="12706" y="854"/>
                  <a:pt x="12706" y="1906"/>
                </a:cubicBezTo>
                <a:lnTo>
                  <a:pt x="12706" y="7623"/>
                </a:lnTo>
                <a:cubicBezTo>
                  <a:pt x="12706" y="10697"/>
                  <a:pt x="10522" y="13262"/>
                  <a:pt x="7623" y="13849"/>
                </a:cubicBezTo>
                <a:lnTo>
                  <a:pt x="7623" y="14612"/>
                </a:lnTo>
                <a:cubicBezTo>
                  <a:pt x="7623" y="17070"/>
                  <a:pt x="9613" y="19059"/>
                  <a:pt x="12071" y="19059"/>
                </a:cubicBezTo>
                <a:cubicBezTo>
                  <a:pt x="14528" y="19059"/>
                  <a:pt x="16518" y="17070"/>
                  <a:pt x="16518" y="14612"/>
                </a:cubicBezTo>
                <a:lnTo>
                  <a:pt x="16518" y="11217"/>
                </a:lnTo>
                <a:cubicBezTo>
                  <a:pt x="15037" y="10693"/>
                  <a:pt x="13976" y="9283"/>
                  <a:pt x="13976" y="7623"/>
                </a:cubicBezTo>
                <a:cubicBezTo>
                  <a:pt x="13976" y="5519"/>
                  <a:pt x="15684" y="3812"/>
                  <a:pt x="17788" y="3812"/>
                </a:cubicBezTo>
                <a:cubicBezTo>
                  <a:pt x="19893" y="3812"/>
                  <a:pt x="21600" y="5519"/>
                  <a:pt x="21600" y="7623"/>
                </a:cubicBezTo>
                <a:cubicBezTo>
                  <a:pt x="21600" y="9283"/>
                  <a:pt x="20540" y="10697"/>
                  <a:pt x="19059" y="11217"/>
                </a:cubicBezTo>
                <a:lnTo>
                  <a:pt x="19059" y="14612"/>
                </a:lnTo>
                <a:cubicBezTo>
                  <a:pt x="19059" y="18471"/>
                  <a:pt x="15930" y="21600"/>
                  <a:pt x="12071" y="21600"/>
                </a:cubicBezTo>
                <a:cubicBezTo>
                  <a:pt x="8211" y="21600"/>
                  <a:pt x="5082" y="18471"/>
                  <a:pt x="5082" y="14612"/>
                </a:cubicBezTo>
                <a:lnTo>
                  <a:pt x="5082" y="13849"/>
                </a:lnTo>
                <a:cubicBezTo>
                  <a:pt x="2184" y="13262"/>
                  <a:pt x="0" y="10697"/>
                  <a:pt x="0" y="7623"/>
                </a:cubicBezTo>
                <a:lnTo>
                  <a:pt x="0" y="1906"/>
                </a:lnTo>
                <a:close/>
                <a:moveTo>
                  <a:pt x="17788" y="8894"/>
                </a:moveTo>
                <a:cubicBezTo>
                  <a:pt x="18489" y="8894"/>
                  <a:pt x="19059" y="8325"/>
                  <a:pt x="19059" y="7623"/>
                </a:cubicBezTo>
                <a:cubicBezTo>
                  <a:pt x="19059" y="6922"/>
                  <a:pt x="18489" y="6353"/>
                  <a:pt x="17788" y="6353"/>
                </a:cubicBezTo>
                <a:cubicBezTo>
                  <a:pt x="17087" y="6353"/>
                  <a:pt x="16518" y="6922"/>
                  <a:pt x="16518" y="7623"/>
                </a:cubicBezTo>
                <a:cubicBezTo>
                  <a:pt x="16518" y="8325"/>
                  <a:pt x="17087" y="8894"/>
                  <a:pt x="17788" y="8894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87" name="Text 5"/>
          <p:cNvSpPr txBox="1"/>
          <p:nvPr/>
        </p:nvSpPr>
        <p:spPr>
          <a:xfrm>
            <a:off x="689118" y="1414453"/>
            <a:ext cx="1108869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推理流程概述</a:t>
            </a:r>
          </a:p>
        </p:txBody>
      </p:sp>
      <p:sp>
        <p:nvSpPr>
          <p:cNvPr id="1188" name="Shape 6"/>
          <p:cNvSpPr/>
          <p:nvPr/>
        </p:nvSpPr>
        <p:spPr>
          <a:xfrm>
            <a:off x="490682" y="1760451"/>
            <a:ext cx="2143126" cy="7143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40" y="0"/>
                </a:moveTo>
                <a:lnTo>
                  <a:pt x="20960" y="0"/>
                </a:lnTo>
                <a:cubicBezTo>
                  <a:pt x="21313" y="0"/>
                  <a:pt x="21600" y="860"/>
                  <a:pt x="21600" y="1920"/>
                </a:cubicBezTo>
                <a:lnTo>
                  <a:pt x="21600" y="19680"/>
                </a:lnTo>
                <a:cubicBezTo>
                  <a:pt x="21600" y="20740"/>
                  <a:pt x="21313" y="21600"/>
                  <a:pt x="20960" y="21600"/>
                </a:cubicBezTo>
                <a:lnTo>
                  <a:pt x="640" y="21600"/>
                </a:lnTo>
                <a:cubicBezTo>
                  <a:pt x="287" y="21600"/>
                  <a:pt x="0" y="20740"/>
                  <a:pt x="0" y="19680"/>
                </a:cubicBezTo>
                <a:lnTo>
                  <a:pt x="0" y="1920"/>
                </a:lnTo>
                <a:cubicBezTo>
                  <a:pt x="0" y="860"/>
                  <a:pt x="287" y="0"/>
                  <a:pt x="64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89" name="Shape 7"/>
          <p:cNvSpPr/>
          <p:nvPr/>
        </p:nvSpPr>
        <p:spPr>
          <a:xfrm>
            <a:off x="1473634" y="1887403"/>
            <a:ext cx="178595" cy="2381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700"/>
                </a:moveTo>
                <a:cubicBezTo>
                  <a:pt x="0" y="1211"/>
                  <a:pt x="1614" y="0"/>
                  <a:pt x="3600" y="0"/>
                </a:cubicBezTo>
                <a:lnTo>
                  <a:pt x="12009" y="0"/>
                </a:lnTo>
                <a:cubicBezTo>
                  <a:pt x="12966" y="0"/>
                  <a:pt x="13883" y="283"/>
                  <a:pt x="14558" y="789"/>
                </a:cubicBezTo>
                <a:lnTo>
                  <a:pt x="20548" y="5286"/>
                </a:lnTo>
                <a:cubicBezTo>
                  <a:pt x="21223" y="5792"/>
                  <a:pt x="21600" y="6480"/>
                  <a:pt x="21600" y="7197"/>
                </a:cubicBezTo>
                <a:lnTo>
                  <a:pt x="21600" y="18900"/>
                </a:lnTo>
                <a:cubicBezTo>
                  <a:pt x="21600" y="20389"/>
                  <a:pt x="19986" y="21600"/>
                  <a:pt x="18000" y="21600"/>
                </a:cubicBezTo>
                <a:lnTo>
                  <a:pt x="3600" y="21600"/>
                </a:lnTo>
                <a:cubicBezTo>
                  <a:pt x="1614" y="21600"/>
                  <a:pt x="0" y="20389"/>
                  <a:pt x="0" y="18900"/>
                </a:cubicBezTo>
                <a:lnTo>
                  <a:pt x="0" y="2700"/>
                </a:lnTo>
                <a:close/>
                <a:moveTo>
                  <a:pt x="11700" y="2468"/>
                </a:moveTo>
                <a:lnTo>
                  <a:pt x="11700" y="6412"/>
                </a:lnTo>
                <a:cubicBezTo>
                  <a:pt x="11700" y="6974"/>
                  <a:pt x="12302" y="7425"/>
                  <a:pt x="13050" y="7425"/>
                </a:cubicBezTo>
                <a:lnTo>
                  <a:pt x="18309" y="7425"/>
                </a:lnTo>
                <a:lnTo>
                  <a:pt x="11700" y="2468"/>
                </a:lnTo>
                <a:close/>
                <a:moveTo>
                  <a:pt x="9000" y="11813"/>
                </a:moveTo>
                <a:lnTo>
                  <a:pt x="9000" y="13500"/>
                </a:lnTo>
                <a:lnTo>
                  <a:pt x="6750" y="13500"/>
                </a:lnTo>
                <a:cubicBezTo>
                  <a:pt x="6255" y="13500"/>
                  <a:pt x="5850" y="13804"/>
                  <a:pt x="5850" y="14175"/>
                </a:cubicBezTo>
                <a:lnTo>
                  <a:pt x="5850" y="15525"/>
                </a:lnTo>
                <a:cubicBezTo>
                  <a:pt x="5850" y="15896"/>
                  <a:pt x="6255" y="16200"/>
                  <a:pt x="6750" y="16200"/>
                </a:cubicBezTo>
                <a:lnTo>
                  <a:pt x="9000" y="16200"/>
                </a:lnTo>
                <a:lnTo>
                  <a:pt x="9000" y="17887"/>
                </a:lnTo>
                <a:cubicBezTo>
                  <a:pt x="9000" y="18259"/>
                  <a:pt x="9405" y="18563"/>
                  <a:pt x="9900" y="18563"/>
                </a:cubicBezTo>
                <a:lnTo>
                  <a:pt x="11700" y="18563"/>
                </a:lnTo>
                <a:cubicBezTo>
                  <a:pt x="12195" y="18563"/>
                  <a:pt x="12600" y="18259"/>
                  <a:pt x="12600" y="17887"/>
                </a:cubicBezTo>
                <a:lnTo>
                  <a:pt x="12600" y="16200"/>
                </a:lnTo>
                <a:lnTo>
                  <a:pt x="14850" y="16200"/>
                </a:lnTo>
                <a:cubicBezTo>
                  <a:pt x="15345" y="16200"/>
                  <a:pt x="15750" y="15896"/>
                  <a:pt x="15750" y="15525"/>
                </a:cubicBezTo>
                <a:lnTo>
                  <a:pt x="15750" y="14175"/>
                </a:lnTo>
                <a:cubicBezTo>
                  <a:pt x="15750" y="13804"/>
                  <a:pt x="15345" y="13500"/>
                  <a:pt x="14850" y="13500"/>
                </a:cubicBezTo>
                <a:lnTo>
                  <a:pt x="12600" y="13500"/>
                </a:lnTo>
                <a:lnTo>
                  <a:pt x="12600" y="11813"/>
                </a:lnTo>
                <a:cubicBezTo>
                  <a:pt x="12600" y="11441"/>
                  <a:pt x="12195" y="11137"/>
                  <a:pt x="11700" y="11137"/>
                </a:cubicBezTo>
                <a:lnTo>
                  <a:pt x="9900" y="11137"/>
                </a:lnTo>
                <a:cubicBezTo>
                  <a:pt x="9405" y="11137"/>
                  <a:pt x="9000" y="11441"/>
                  <a:pt x="9000" y="11813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90" name="Text 8"/>
          <p:cNvSpPr txBox="1"/>
          <p:nvPr/>
        </p:nvSpPr>
        <p:spPr>
          <a:xfrm>
            <a:off x="589854" y="2198539"/>
            <a:ext cx="194469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b="1" sz="8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新病历</a:t>
            </a:r>
          </a:p>
        </p:txBody>
      </p:sp>
      <p:sp>
        <p:nvSpPr>
          <p:cNvPr id="1191" name="Text 9"/>
          <p:cNvSpPr txBox="1"/>
          <p:nvPr/>
        </p:nvSpPr>
        <p:spPr>
          <a:xfrm>
            <a:off x="466868" y="2538140"/>
            <a:ext cx="219075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defRPr sz="7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输入数据</a:t>
            </a:r>
          </a:p>
        </p:txBody>
      </p:sp>
      <p:sp>
        <p:nvSpPr>
          <p:cNvPr id="1192" name="Shape 10"/>
          <p:cNvSpPr/>
          <p:nvPr/>
        </p:nvSpPr>
        <p:spPr>
          <a:xfrm>
            <a:off x="3758981" y="2143342"/>
            <a:ext cx="138907" cy="1389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343" y="1543"/>
                </a:moveTo>
                <a:cubicBezTo>
                  <a:pt x="12343" y="689"/>
                  <a:pt x="11653" y="0"/>
                  <a:pt x="10800" y="0"/>
                </a:cubicBezTo>
                <a:cubicBezTo>
                  <a:pt x="9947" y="0"/>
                  <a:pt x="9257" y="689"/>
                  <a:pt x="9257" y="1543"/>
                </a:cubicBezTo>
                <a:lnTo>
                  <a:pt x="9257" y="9257"/>
                </a:lnTo>
                <a:lnTo>
                  <a:pt x="1543" y="9257"/>
                </a:lnTo>
                <a:cubicBezTo>
                  <a:pt x="689" y="9257"/>
                  <a:pt x="0" y="9947"/>
                  <a:pt x="0" y="10800"/>
                </a:cubicBezTo>
                <a:cubicBezTo>
                  <a:pt x="0" y="11653"/>
                  <a:pt x="689" y="12343"/>
                  <a:pt x="1543" y="12343"/>
                </a:cubicBezTo>
                <a:lnTo>
                  <a:pt x="9257" y="12343"/>
                </a:lnTo>
                <a:lnTo>
                  <a:pt x="9257" y="20057"/>
                </a:lnTo>
                <a:cubicBezTo>
                  <a:pt x="9257" y="20911"/>
                  <a:pt x="9947" y="21600"/>
                  <a:pt x="10800" y="21600"/>
                </a:cubicBezTo>
                <a:cubicBezTo>
                  <a:pt x="11653" y="21600"/>
                  <a:pt x="12343" y="20911"/>
                  <a:pt x="12343" y="20057"/>
                </a:cubicBezTo>
                <a:lnTo>
                  <a:pt x="12343" y="12343"/>
                </a:lnTo>
                <a:lnTo>
                  <a:pt x="20057" y="12343"/>
                </a:lnTo>
                <a:cubicBezTo>
                  <a:pt x="20911" y="12343"/>
                  <a:pt x="21600" y="11653"/>
                  <a:pt x="21600" y="10800"/>
                </a:cubicBezTo>
                <a:cubicBezTo>
                  <a:pt x="21600" y="9947"/>
                  <a:pt x="20911" y="9257"/>
                  <a:pt x="20057" y="9257"/>
                </a:cubicBezTo>
                <a:lnTo>
                  <a:pt x="12343" y="9257"/>
                </a:lnTo>
                <a:lnTo>
                  <a:pt x="12343" y="1543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93" name="Shape 11"/>
          <p:cNvSpPr/>
          <p:nvPr/>
        </p:nvSpPr>
        <p:spPr>
          <a:xfrm>
            <a:off x="5025654" y="1760451"/>
            <a:ext cx="2143126" cy="7143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40" y="0"/>
                </a:moveTo>
                <a:lnTo>
                  <a:pt x="20960" y="0"/>
                </a:lnTo>
                <a:cubicBezTo>
                  <a:pt x="21313" y="0"/>
                  <a:pt x="21600" y="860"/>
                  <a:pt x="21600" y="1920"/>
                </a:cubicBezTo>
                <a:lnTo>
                  <a:pt x="21600" y="19680"/>
                </a:lnTo>
                <a:cubicBezTo>
                  <a:pt x="21600" y="20740"/>
                  <a:pt x="21313" y="21600"/>
                  <a:pt x="20960" y="21600"/>
                </a:cubicBezTo>
                <a:lnTo>
                  <a:pt x="640" y="21600"/>
                </a:lnTo>
                <a:cubicBezTo>
                  <a:pt x="287" y="21600"/>
                  <a:pt x="0" y="20740"/>
                  <a:pt x="0" y="19680"/>
                </a:cubicBezTo>
                <a:lnTo>
                  <a:pt x="0" y="1920"/>
                </a:lnTo>
                <a:cubicBezTo>
                  <a:pt x="0" y="860"/>
                  <a:pt x="287" y="0"/>
                  <a:pt x="64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94" name="Shape 12"/>
          <p:cNvSpPr/>
          <p:nvPr/>
        </p:nvSpPr>
        <p:spPr>
          <a:xfrm>
            <a:off x="5978842" y="1902286"/>
            <a:ext cx="238126" cy="2083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314"/>
                </a:moveTo>
                <a:cubicBezTo>
                  <a:pt x="0" y="1037"/>
                  <a:pt x="907" y="0"/>
                  <a:pt x="2025" y="0"/>
                </a:cubicBezTo>
                <a:lnTo>
                  <a:pt x="6075" y="0"/>
                </a:lnTo>
                <a:cubicBezTo>
                  <a:pt x="7193" y="0"/>
                  <a:pt x="8100" y="1037"/>
                  <a:pt x="8100" y="2314"/>
                </a:cubicBezTo>
                <a:lnTo>
                  <a:pt x="8100" y="3086"/>
                </a:lnTo>
                <a:lnTo>
                  <a:pt x="13500" y="3086"/>
                </a:lnTo>
                <a:lnTo>
                  <a:pt x="13500" y="2314"/>
                </a:lnTo>
                <a:cubicBezTo>
                  <a:pt x="13500" y="1037"/>
                  <a:pt x="14407" y="0"/>
                  <a:pt x="15525" y="0"/>
                </a:cubicBezTo>
                <a:lnTo>
                  <a:pt x="19575" y="0"/>
                </a:lnTo>
                <a:cubicBezTo>
                  <a:pt x="20693" y="0"/>
                  <a:pt x="21600" y="1037"/>
                  <a:pt x="21600" y="2314"/>
                </a:cubicBezTo>
                <a:lnTo>
                  <a:pt x="21600" y="6943"/>
                </a:lnTo>
                <a:cubicBezTo>
                  <a:pt x="21600" y="8220"/>
                  <a:pt x="20693" y="9257"/>
                  <a:pt x="19575" y="9257"/>
                </a:cubicBezTo>
                <a:lnTo>
                  <a:pt x="15525" y="9257"/>
                </a:lnTo>
                <a:cubicBezTo>
                  <a:pt x="14407" y="9257"/>
                  <a:pt x="13500" y="8220"/>
                  <a:pt x="13500" y="6943"/>
                </a:cubicBezTo>
                <a:lnTo>
                  <a:pt x="13500" y="6171"/>
                </a:lnTo>
                <a:lnTo>
                  <a:pt x="8100" y="6171"/>
                </a:lnTo>
                <a:lnTo>
                  <a:pt x="8100" y="6943"/>
                </a:lnTo>
                <a:cubicBezTo>
                  <a:pt x="8100" y="7295"/>
                  <a:pt x="8028" y="7632"/>
                  <a:pt x="7906" y="7931"/>
                </a:cubicBezTo>
                <a:lnTo>
                  <a:pt x="10800" y="12343"/>
                </a:lnTo>
                <a:lnTo>
                  <a:pt x="14175" y="12343"/>
                </a:lnTo>
                <a:cubicBezTo>
                  <a:pt x="15293" y="12343"/>
                  <a:pt x="16200" y="13379"/>
                  <a:pt x="16200" y="14657"/>
                </a:cubicBezTo>
                <a:lnTo>
                  <a:pt x="16200" y="19286"/>
                </a:lnTo>
                <a:cubicBezTo>
                  <a:pt x="16200" y="20563"/>
                  <a:pt x="15293" y="21600"/>
                  <a:pt x="14175" y="21600"/>
                </a:cubicBezTo>
                <a:lnTo>
                  <a:pt x="10125" y="21600"/>
                </a:lnTo>
                <a:cubicBezTo>
                  <a:pt x="9007" y="21600"/>
                  <a:pt x="8100" y="20563"/>
                  <a:pt x="8100" y="19286"/>
                </a:cubicBezTo>
                <a:lnTo>
                  <a:pt x="8100" y="14657"/>
                </a:lnTo>
                <a:cubicBezTo>
                  <a:pt x="8100" y="14305"/>
                  <a:pt x="8172" y="13968"/>
                  <a:pt x="8294" y="13669"/>
                </a:cubicBezTo>
                <a:lnTo>
                  <a:pt x="5400" y="9257"/>
                </a:lnTo>
                <a:lnTo>
                  <a:pt x="2025" y="9257"/>
                </a:lnTo>
                <a:cubicBezTo>
                  <a:pt x="907" y="9257"/>
                  <a:pt x="0" y="8220"/>
                  <a:pt x="0" y="6943"/>
                </a:cubicBezTo>
                <a:lnTo>
                  <a:pt x="0" y="2314"/>
                </a:ln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95" name="Text 13"/>
          <p:cNvSpPr txBox="1"/>
          <p:nvPr/>
        </p:nvSpPr>
        <p:spPr>
          <a:xfrm>
            <a:off x="5124829" y="2198539"/>
            <a:ext cx="194468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b="1" sz="8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RAG检索知识</a:t>
            </a:r>
          </a:p>
        </p:txBody>
      </p:sp>
      <p:sp>
        <p:nvSpPr>
          <p:cNvPr id="1196" name="Text 14"/>
          <p:cNvSpPr txBox="1"/>
          <p:nvPr/>
        </p:nvSpPr>
        <p:spPr>
          <a:xfrm>
            <a:off x="5001841" y="2538140"/>
            <a:ext cx="219075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defRPr sz="7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相关知识片段</a:t>
            </a:r>
          </a:p>
        </p:txBody>
      </p:sp>
      <p:sp>
        <p:nvSpPr>
          <p:cNvPr id="1197" name="Shape 15"/>
          <p:cNvSpPr/>
          <p:nvPr/>
        </p:nvSpPr>
        <p:spPr>
          <a:xfrm>
            <a:off x="8294010" y="2143342"/>
            <a:ext cx="138907" cy="1389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343" y="1543"/>
                </a:moveTo>
                <a:cubicBezTo>
                  <a:pt x="12343" y="689"/>
                  <a:pt x="11653" y="0"/>
                  <a:pt x="10800" y="0"/>
                </a:cubicBezTo>
                <a:cubicBezTo>
                  <a:pt x="9947" y="0"/>
                  <a:pt x="9257" y="689"/>
                  <a:pt x="9257" y="1543"/>
                </a:cubicBezTo>
                <a:lnTo>
                  <a:pt x="9257" y="9257"/>
                </a:lnTo>
                <a:lnTo>
                  <a:pt x="1543" y="9257"/>
                </a:lnTo>
                <a:cubicBezTo>
                  <a:pt x="689" y="9257"/>
                  <a:pt x="0" y="9947"/>
                  <a:pt x="0" y="10800"/>
                </a:cubicBezTo>
                <a:cubicBezTo>
                  <a:pt x="0" y="11653"/>
                  <a:pt x="689" y="12343"/>
                  <a:pt x="1543" y="12343"/>
                </a:cubicBezTo>
                <a:lnTo>
                  <a:pt x="9257" y="12343"/>
                </a:lnTo>
                <a:lnTo>
                  <a:pt x="9257" y="20057"/>
                </a:lnTo>
                <a:cubicBezTo>
                  <a:pt x="9257" y="20911"/>
                  <a:pt x="9947" y="21600"/>
                  <a:pt x="10800" y="21600"/>
                </a:cubicBezTo>
                <a:cubicBezTo>
                  <a:pt x="11653" y="21600"/>
                  <a:pt x="12343" y="20911"/>
                  <a:pt x="12343" y="20057"/>
                </a:cubicBezTo>
                <a:lnTo>
                  <a:pt x="12343" y="12343"/>
                </a:lnTo>
                <a:lnTo>
                  <a:pt x="20057" y="12343"/>
                </a:lnTo>
                <a:cubicBezTo>
                  <a:pt x="20911" y="12343"/>
                  <a:pt x="21600" y="11653"/>
                  <a:pt x="21600" y="10800"/>
                </a:cubicBezTo>
                <a:cubicBezTo>
                  <a:pt x="21600" y="9947"/>
                  <a:pt x="20911" y="9257"/>
                  <a:pt x="20057" y="9257"/>
                </a:cubicBezTo>
                <a:lnTo>
                  <a:pt x="12343" y="9257"/>
                </a:lnTo>
                <a:lnTo>
                  <a:pt x="12343" y="1543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98" name="Shape 16"/>
          <p:cNvSpPr/>
          <p:nvPr/>
        </p:nvSpPr>
        <p:spPr>
          <a:xfrm>
            <a:off x="9560684" y="1760451"/>
            <a:ext cx="2143126" cy="7143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40" y="0"/>
                </a:moveTo>
                <a:lnTo>
                  <a:pt x="20960" y="0"/>
                </a:lnTo>
                <a:cubicBezTo>
                  <a:pt x="21313" y="0"/>
                  <a:pt x="21600" y="860"/>
                  <a:pt x="21600" y="1920"/>
                </a:cubicBezTo>
                <a:lnTo>
                  <a:pt x="21600" y="19680"/>
                </a:lnTo>
                <a:cubicBezTo>
                  <a:pt x="21600" y="20740"/>
                  <a:pt x="21313" y="21600"/>
                  <a:pt x="20960" y="21600"/>
                </a:cubicBezTo>
                <a:lnTo>
                  <a:pt x="640" y="21600"/>
                </a:lnTo>
                <a:cubicBezTo>
                  <a:pt x="287" y="21600"/>
                  <a:pt x="0" y="20740"/>
                  <a:pt x="0" y="19680"/>
                </a:cubicBezTo>
                <a:lnTo>
                  <a:pt x="0" y="1920"/>
                </a:lnTo>
                <a:cubicBezTo>
                  <a:pt x="0" y="860"/>
                  <a:pt x="287" y="0"/>
                  <a:pt x="64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99" name="Shape 17"/>
          <p:cNvSpPr/>
          <p:nvPr/>
        </p:nvSpPr>
        <p:spPr>
          <a:xfrm>
            <a:off x="10517593" y="1887403"/>
            <a:ext cx="230684" cy="2381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877" y="2363"/>
                </a:moveTo>
                <a:cubicBezTo>
                  <a:pt x="4877" y="1059"/>
                  <a:pt x="5970" y="0"/>
                  <a:pt x="7316" y="0"/>
                </a:cubicBezTo>
                <a:lnTo>
                  <a:pt x="8361" y="0"/>
                </a:lnTo>
                <a:cubicBezTo>
                  <a:pt x="9132" y="0"/>
                  <a:pt x="9755" y="603"/>
                  <a:pt x="9755" y="1350"/>
                </a:cubicBezTo>
                <a:lnTo>
                  <a:pt x="9755" y="20250"/>
                </a:lnTo>
                <a:cubicBezTo>
                  <a:pt x="9755" y="20997"/>
                  <a:pt x="9132" y="21600"/>
                  <a:pt x="8361" y="21600"/>
                </a:cubicBezTo>
                <a:lnTo>
                  <a:pt x="6968" y="21600"/>
                </a:lnTo>
                <a:cubicBezTo>
                  <a:pt x="5670" y="21600"/>
                  <a:pt x="4577" y="20739"/>
                  <a:pt x="4268" y="19575"/>
                </a:cubicBezTo>
                <a:cubicBezTo>
                  <a:pt x="4237" y="19575"/>
                  <a:pt x="4211" y="19575"/>
                  <a:pt x="4181" y="19575"/>
                </a:cubicBezTo>
                <a:cubicBezTo>
                  <a:pt x="2256" y="19575"/>
                  <a:pt x="697" y="18065"/>
                  <a:pt x="697" y="16200"/>
                </a:cubicBezTo>
                <a:cubicBezTo>
                  <a:pt x="697" y="15441"/>
                  <a:pt x="958" y="14740"/>
                  <a:pt x="1394" y="14175"/>
                </a:cubicBezTo>
                <a:cubicBezTo>
                  <a:pt x="549" y="13559"/>
                  <a:pt x="0" y="12580"/>
                  <a:pt x="0" y="11475"/>
                </a:cubicBezTo>
                <a:cubicBezTo>
                  <a:pt x="0" y="10171"/>
                  <a:pt x="766" y="9037"/>
                  <a:pt x="1881" y="8475"/>
                </a:cubicBezTo>
                <a:cubicBezTo>
                  <a:pt x="1572" y="7969"/>
                  <a:pt x="1394" y="7379"/>
                  <a:pt x="1394" y="6750"/>
                </a:cubicBezTo>
                <a:cubicBezTo>
                  <a:pt x="1394" y="4885"/>
                  <a:pt x="2953" y="3375"/>
                  <a:pt x="4877" y="3375"/>
                </a:cubicBezTo>
                <a:lnTo>
                  <a:pt x="4877" y="2363"/>
                </a:lnTo>
                <a:close/>
                <a:moveTo>
                  <a:pt x="16723" y="2363"/>
                </a:moveTo>
                <a:lnTo>
                  <a:pt x="16723" y="3375"/>
                </a:lnTo>
                <a:cubicBezTo>
                  <a:pt x="18647" y="3375"/>
                  <a:pt x="20206" y="4885"/>
                  <a:pt x="20206" y="6750"/>
                </a:cubicBezTo>
                <a:cubicBezTo>
                  <a:pt x="20206" y="7383"/>
                  <a:pt x="20028" y="7973"/>
                  <a:pt x="19719" y="8475"/>
                </a:cubicBezTo>
                <a:cubicBezTo>
                  <a:pt x="20838" y="9037"/>
                  <a:pt x="21600" y="10167"/>
                  <a:pt x="21600" y="11475"/>
                </a:cubicBezTo>
                <a:cubicBezTo>
                  <a:pt x="21600" y="12580"/>
                  <a:pt x="21051" y="13559"/>
                  <a:pt x="20206" y="14175"/>
                </a:cubicBezTo>
                <a:cubicBezTo>
                  <a:pt x="20642" y="14740"/>
                  <a:pt x="20903" y="15441"/>
                  <a:pt x="20903" y="16200"/>
                </a:cubicBezTo>
                <a:cubicBezTo>
                  <a:pt x="20903" y="18065"/>
                  <a:pt x="19344" y="19575"/>
                  <a:pt x="17419" y="19575"/>
                </a:cubicBezTo>
                <a:cubicBezTo>
                  <a:pt x="17389" y="19575"/>
                  <a:pt x="17363" y="19575"/>
                  <a:pt x="17332" y="19575"/>
                </a:cubicBezTo>
                <a:cubicBezTo>
                  <a:pt x="17023" y="20739"/>
                  <a:pt x="15930" y="21600"/>
                  <a:pt x="14632" y="21600"/>
                </a:cubicBezTo>
                <a:lnTo>
                  <a:pt x="13239" y="21600"/>
                </a:lnTo>
                <a:cubicBezTo>
                  <a:pt x="12468" y="21600"/>
                  <a:pt x="11845" y="20997"/>
                  <a:pt x="11845" y="20250"/>
                </a:cubicBezTo>
                <a:lnTo>
                  <a:pt x="11845" y="1350"/>
                </a:lnTo>
                <a:cubicBezTo>
                  <a:pt x="11845" y="603"/>
                  <a:pt x="12468" y="0"/>
                  <a:pt x="13239" y="0"/>
                </a:cubicBezTo>
                <a:lnTo>
                  <a:pt x="14284" y="0"/>
                </a:lnTo>
                <a:cubicBezTo>
                  <a:pt x="15630" y="0"/>
                  <a:pt x="16723" y="1059"/>
                  <a:pt x="16723" y="2363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00" name="Text 18"/>
          <p:cNvSpPr txBox="1"/>
          <p:nvPr/>
        </p:nvSpPr>
        <p:spPr>
          <a:xfrm>
            <a:off x="9659857" y="2198539"/>
            <a:ext cx="194468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b="1" sz="8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CoT模型</a:t>
            </a:r>
          </a:p>
        </p:txBody>
      </p:sp>
      <p:sp>
        <p:nvSpPr>
          <p:cNvPr id="1201" name="Text 19"/>
          <p:cNvSpPr txBox="1"/>
          <p:nvPr/>
        </p:nvSpPr>
        <p:spPr>
          <a:xfrm>
            <a:off x="9536872" y="2538140"/>
            <a:ext cx="219075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defRPr sz="7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GLM-4-9B + LoRA</a:t>
            </a:r>
          </a:p>
        </p:txBody>
      </p:sp>
      <p:sp>
        <p:nvSpPr>
          <p:cNvPr id="1202" name="Shape 20"/>
          <p:cNvSpPr/>
          <p:nvPr/>
        </p:nvSpPr>
        <p:spPr>
          <a:xfrm>
            <a:off x="6024511" y="2760359"/>
            <a:ext cx="142933" cy="1904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4" h="21469" fill="norm" stroke="1" extrusionOk="0">
                <a:moveTo>
                  <a:pt x="9377" y="21076"/>
                </a:moveTo>
                <a:cubicBezTo>
                  <a:pt x="10068" y="21600"/>
                  <a:pt x="11191" y="21600"/>
                  <a:pt x="11883" y="21076"/>
                </a:cubicBezTo>
                <a:lnTo>
                  <a:pt x="20735" y="14366"/>
                </a:lnTo>
                <a:cubicBezTo>
                  <a:pt x="21427" y="13842"/>
                  <a:pt x="21427" y="12991"/>
                  <a:pt x="20735" y="12467"/>
                </a:cubicBezTo>
                <a:cubicBezTo>
                  <a:pt x="20044" y="11943"/>
                  <a:pt x="18921" y="11943"/>
                  <a:pt x="18229" y="12467"/>
                </a:cubicBezTo>
                <a:lnTo>
                  <a:pt x="12398" y="16887"/>
                </a:lnTo>
                <a:lnTo>
                  <a:pt x="12398" y="1342"/>
                </a:lnTo>
                <a:cubicBezTo>
                  <a:pt x="12398" y="600"/>
                  <a:pt x="11606" y="0"/>
                  <a:pt x="10627" y="0"/>
                </a:cubicBezTo>
                <a:cubicBezTo>
                  <a:pt x="9648" y="0"/>
                  <a:pt x="8856" y="600"/>
                  <a:pt x="8856" y="1342"/>
                </a:cubicBezTo>
                <a:lnTo>
                  <a:pt x="8856" y="16887"/>
                </a:lnTo>
                <a:lnTo>
                  <a:pt x="3025" y="12467"/>
                </a:lnTo>
                <a:cubicBezTo>
                  <a:pt x="2333" y="11943"/>
                  <a:pt x="1210" y="11943"/>
                  <a:pt x="519" y="12467"/>
                </a:cubicBezTo>
                <a:cubicBezTo>
                  <a:pt x="-173" y="12991"/>
                  <a:pt x="-173" y="13842"/>
                  <a:pt x="519" y="14366"/>
                </a:cubicBezTo>
                <a:lnTo>
                  <a:pt x="9371" y="21076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03" name="Shape 21"/>
          <p:cNvSpPr/>
          <p:nvPr/>
        </p:nvSpPr>
        <p:spPr>
          <a:xfrm>
            <a:off x="490682" y="3046078"/>
            <a:ext cx="11207751" cy="698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2" y="0"/>
                </a:moveTo>
                <a:lnTo>
                  <a:pt x="21478" y="0"/>
                </a:lnTo>
                <a:cubicBezTo>
                  <a:pt x="21545" y="0"/>
                  <a:pt x="21600" y="879"/>
                  <a:pt x="21600" y="1964"/>
                </a:cubicBezTo>
                <a:lnTo>
                  <a:pt x="21600" y="19636"/>
                </a:lnTo>
                <a:cubicBezTo>
                  <a:pt x="21600" y="20721"/>
                  <a:pt x="21545" y="21600"/>
                  <a:pt x="21478" y="21600"/>
                </a:cubicBezTo>
                <a:lnTo>
                  <a:pt x="122" y="21600"/>
                </a:lnTo>
                <a:cubicBezTo>
                  <a:pt x="55" y="21600"/>
                  <a:pt x="0" y="20721"/>
                  <a:pt x="0" y="19636"/>
                </a:cubicBezTo>
                <a:lnTo>
                  <a:pt x="0" y="1964"/>
                </a:lnTo>
                <a:cubicBezTo>
                  <a:pt x="0" y="879"/>
                  <a:pt x="55" y="0"/>
                  <a:pt x="12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04" name="Text 22"/>
          <p:cNvSpPr txBox="1"/>
          <p:nvPr/>
        </p:nvSpPr>
        <p:spPr>
          <a:xfrm>
            <a:off x="585887" y="3179381"/>
            <a:ext cx="11017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Prompt Engineering引导推理</a:t>
            </a:r>
          </a:p>
        </p:txBody>
      </p:sp>
      <p:sp>
        <p:nvSpPr>
          <p:cNvPr id="1205" name="Text 23"/>
          <p:cNvSpPr txBox="1"/>
          <p:nvPr/>
        </p:nvSpPr>
        <p:spPr>
          <a:xfrm>
            <a:off x="585887" y="3433335"/>
            <a:ext cx="11017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通过精心设计的Prompt，引导模型自动生成四阶段CoT推理链</a:t>
            </a:r>
          </a:p>
        </p:txBody>
      </p:sp>
      <p:sp>
        <p:nvSpPr>
          <p:cNvPr id="1206" name="Shape 24"/>
          <p:cNvSpPr/>
          <p:nvPr/>
        </p:nvSpPr>
        <p:spPr>
          <a:xfrm>
            <a:off x="6024511" y="3839657"/>
            <a:ext cx="142933" cy="1904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4" h="21469" fill="norm" stroke="1" extrusionOk="0">
                <a:moveTo>
                  <a:pt x="9377" y="21076"/>
                </a:moveTo>
                <a:cubicBezTo>
                  <a:pt x="10068" y="21600"/>
                  <a:pt x="11191" y="21600"/>
                  <a:pt x="11883" y="21076"/>
                </a:cubicBezTo>
                <a:lnTo>
                  <a:pt x="20735" y="14366"/>
                </a:lnTo>
                <a:cubicBezTo>
                  <a:pt x="21427" y="13842"/>
                  <a:pt x="21427" y="12991"/>
                  <a:pt x="20735" y="12467"/>
                </a:cubicBezTo>
                <a:cubicBezTo>
                  <a:pt x="20044" y="11943"/>
                  <a:pt x="18921" y="11943"/>
                  <a:pt x="18229" y="12467"/>
                </a:cubicBezTo>
                <a:lnTo>
                  <a:pt x="12398" y="16887"/>
                </a:lnTo>
                <a:lnTo>
                  <a:pt x="12398" y="1342"/>
                </a:lnTo>
                <a:cubicBezTo>
                  <a:pt x="12398" y="600"/>
                  <a:pt x="11606" y="0"/>
                  <a:pt x="10627" y="0"/>
                </a:cubicBezTo>
                <a:cubicBezTo>
                  <a:pt x="9648" y="0"/>
                  <a:pt x="8856" y="600"/>
                  <a:pt x="8856" y="1342"/>
                </a:cubicBezTo>
                <a:lnTo>
                  <a:pt x="8856" y="16887"/>
                </a:lnTo>
                <a:lnTo>
                  <a:pt x="3025" y="12467"/>
                </a:lnTo>
                <a:cubicBezTo>
                  <a:pt x="2333" y="11943"/>
                  <a:pt x="1210" y="11943"/>
                  <a:pt x="519" y="12467"/>
                </a:cubicBezTo>
                <a:cubicBezTo>
                  <a:pt x="-173" y="12991"/>
                  <a:pt x="-173" y="13842"/>
                  <a:pt x="519" y="14366"/>
                </a:cubicBezTo>
                <a:lnTo>
                  <a:pt x="9371" y="21076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07" name="Shape 25"/>
          <p:cNvSpPr/>
          <p:nvPr/>
        </p:nvSpPr>
        <p:spPr>
          <a:xfrm>
            <a:off x="490681" y="4125360"/>
            <a:ext cx="2706690" cy="857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7" y="0"/>
                </a:moveTo>
                <a:lnTo>
                  <a:pt x="21093" y="0"/>
                </a:lnTo>
                <a:cubicBezTo>
                  <a:pt x="21373" y="0"/>
                  <a:pt x="21600" y="716"/>
                  <a:pt x="21600" y="1600"/>
                </a:cubicBezTo>
                <a:lnTo>
                  <a:pt x="21600" y="20000"/>
                </a:lnTo>
                <a:cubicBezTo>
                  <a:pt x="21600" y="20884"/>
                  <a:pt x="21373" y="21600"/>
                  <a:pt x="21093" y="21600"/>
                </a:cubicBezTo>
                <a:lnTo>
                  <a:pt x="507" y="21600"/>
                </a:lnTo>
                <a:cubicBezTo>
                  <a:pt x="227" y="21600"/>
                  <a:pt x="0" y="20884"/>
                  <a:pt x="0" y="20000"/>
                </a:cubicBezTo>
                <a:lnTo>
                  <a:pt x="0" y="1600"/>
                </a:lnTo>
                <a:cubicBezTo>
                  <a:pt x="0" y="716"/>
                  <a:pt x="227" y="0"/>
                  <a:pt x="507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08" name="Shape 26"/>
          <p:cNvSpPr/>
          <p:nvPr/>
        </p:nvSpPr>
        <p:spPr>
          <a:xfrm>
            <a:off x="1685648" y="4220579"/>
            <a:ext cx="317501" cy="317501"/>
          </a:xfrm>
          <a:prstGeom prst="ellipse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09" name="Text 27"/>
          <p:cNvSpPr txBox="1"/>
          <p:nvPr/>
        </p:nvSpPr>
        <p:spPr>
          <a:xfrm>
            <a:off x="1653898" y="4303129"/>
            <a:ext cx="381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000">
                <a:solidFill>
                  <a:srgbClr val="1A1D21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210" name="Text 28"/>
          <p:cNvSpPr txBox="1"/>
          <p:nvPr/>
        </p:nvSpPr>
        <p:spPr>
          <a:xfrm>
            <a:off x="558116" y="4611073"/>
            <a:ext cx="257175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b="1" sz="8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诊断推理</a:t>
            </a:r>
          </a:p>
        </p:txBody>
      </p:sp>
      <p:sp>
        <p:nvSpPr>
          <p:cNvPr id="1211" name="Text 29"/>
          <p:cNvSpPr txBox="1"/>
          <p:nvPr/>
        </p:nvSpPr>
        <p:spPr>
          <a:xfrm>
            <a:off x="562084" y="4760236"/>
            <a:ext cx="256381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defRPr sz="7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症状→诊断</a:t>
            </a:r>
          </a:p>
        </p:txBody>
      </p:sp>
      <p:sp>
        <p:nvSpPr>
          <p:cNvPr id="1212" name="Shape 30"/>
          <p:cNvSpPr/>
          <p:nvPr/>
        </p:nvSpPr>
        <p:spPr>
          <a:xfrm>
            <a:off x="3325067" y="4125360"/>
            <a:ext cx="2706690" cy="857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7" y="0"/>
                </a:moveTo>
                <a:lnTo>
                  <a:pt x="21093" y="0"/>
                </a:lnTo>
                <a:cubicBezTo>
                  <a:pt x="21373" y="0"/>
                  <a:pt x="21600" y="716"/>
                  <a:pt x="21600" y="1600"/>
                </a:cubicBezTo>
                <a:lnTo>
                  <a:pt x="21600" y="20000"/>
                </a:lnTo>
                <a:cubicBezTo>
                  <a:pt x="21600" y="20884"/>
                  <a:pt x="21373" y="21600"/>
                  <a:pt x="21093" y="21600"/>
                </a:cubicBezTo>
                <a:lnTo>
                  <a:pt x="507" y="21600"/>
                </a:lnTo>
                <a:cubicBezTo>
                  <a:pt x="227" y="21600"/>
                  <a:pt x="0" y="20884"/>
                  <a:pt x="0" y="20000"/>
                </a:cubicBezTo>
                <a:lnTo>
                  <a:pt x="0" y="1600"/>
                </a:lnTo>
                <a:cubicBezTo>
                  <a:pt x="0" y="716"/>
                  <a:pt x="227" y="0"/>
                  <a:pt x="507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13" name="Shape 31"/>
          <p:cNvSpPr/>
          <p:nvPr/>
        </p:nvSpPr>
        <p:spPr>
          <a:xfrm>
            <a:off x="4520034" y="4220579"/>
            <a:ext cx="317501" cy="317501"/>
          </a:xfrm>
          <a:prstGeom prst="ellipse">
            <a:avLst/>
          </a:pr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14" name="Text 32"/>
          <p:cNvSpPr txBox="1"/>
          <p:nvPr/>
        </p:nvSpPr>
        <p:spPr>
          <a:xfrm>
            <a:off x="4488284" y="4303129"/>
            <a:ext cx="381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215" name="Text 33"/>
          <p:cNvSpPr txBox="1"/>
          <p:nvPr/>
        </p:nvSpPr>
        <p:spPr>
          <a:xfrm>
            <a:off x="3392503" y="4611073"/>
            <a:ext cx="257175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b="1" sz="8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用药推理</a:t>
            </a:r>
          </a:p>
        </p:txBody>
      </p:sp>
      <p:sp>
        <p:nvSpPr>
          <p:cNvPr id="1216" name="Text 34"/>
          <p:cNvSpPr txBox="1"/>
          <p:nvPr/>
        </p:nvSpPr>
        <p:spPr>
          <a:xfrm>
            <a:off x="3396472" y="4760236"/>
            <a:ext cx="256381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defRPr sz="7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诊断→候选药物</a:t>
            </a:r>
          </a:p>
        </p:txBody>
      </p:sp>
      <p:sp>
        <p:nvSpPr>
          <p:cNvPr id="1217" name="Shape 35"/>
          <p:cNvSpPr/>
          <p:nvPr/>
        </p:nvSpPr>
        <p:spPr>
          <a:xfrm>
            <a:off x="6159453" y="4125360"/>
            <a:ext cx="2706689" cy="857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7" y="0"/>
                </a:moveTo>
                <a:lnTo>
                  <a:pt x="21093" y="0"/>
                </a:lnTo>
                <a:cubicBezTo>
                  <a:pt x="21373" y="0"/>
                  <a:pt x="21600" y="716"/>
                  <a:pt x="21600" y="1600"/>
                </a:cubicBezTo>
                <a:lnTo>
                  <a:pt x="21600" y="20000"/>
                </a:lnTo>
                <a:cubicBezTo>
                  <a:pt x="21600" y="20884"/>
                  <a:pt x="21373" y="21600"/>
                  <a:pt x="21093" y="21600"/>
                </a:cubicBezTo>
                <a:lnTo>
                  <a:pt x="507" y="21600"/>
                </a:lnTo>
                <a:cubicBezTo>
                  <a:pt x="227" y="21600"/>
                  <a:pt x="0" y="20884"/>
                  <a:pt x="0" y="20000"/>
                </a:cubicBezTo>
                <a:lnTo>
                  <a:pt x="0" y="1600"/>
                </a:lnTo>
                <a:cubicBezTo>
                  <a:pt x="0" y="716"/>
                  <a:pt x="227" y="0"/>
                  <a:pt x="507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18" name="Shape 36"/>
          <p:cNvSpPr/>
          <p:nvPr/>
        </p:nvSpPr>
        <p:spPr>
          <a:xfrm>
            <a:off x="7354420" y="4220579"/>
            <a:ext cx="317501" cy="317501"/>
          </a:xfrm>
          <a:prstGeom prst="ellipse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19" name="Text 37"/>
          <p:cNvSpPr txBox="1"/>
          <p:nvPr/>
        </p:nvSpPr>
        <p:spPr>
          <a:xfrm>
            <a:off x="7322670" y="4303129"/>
            <a:ext cx="381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000">
                <a:solidFill>
                  <a:srgbClr val="1A1D21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220" name="Text 38"/>
          <p:cNvSpPr txBox="1"/>
          <p:nvPr/>
        </p:nvSpPr>
        <p:spPr>
          <a:xfrm>
            <a:off x="6226890" y="4611073"/>
            <a:ext cx="257175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b="1" sz="8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安全推理</a:t>
            </a:r>
          </a:p>
        </p:txBody>
      </p:sp>
      <p:sp>
        <p:nvSpPr>
          <p:cNvPr id="1221" name="Text 39"/>
          <p:cNvSpPr txBox="1"/>
          <p:nvPr/>
        </p:nvSpPr>
        <p:spPr>
          <a:xfrm>
            <a:off x="6230858" y="4760236"/>
            <a:ext cx="256381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defRPr sz="7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候选→安全药物</a:t>
            </a:r>
          </a:p>
        </p:txBody>
      </p:sp>
      <p:sp>
        <p:nvSpPr>
          <p:cNvPr id="1222" name="Shape 40"/>
          <p:cNvSpPr/>
          <p:nvPr/>
        </p:nvSpPr>
        <p:spPr>
          <a:xfrm>
            <a:off x="8993841" y="4125360"/>
            <a:ext cx="2706689" cy="857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7" y="0"/>
                </a:moveTo>
                <a:lnTo>
                  <a:pt x="21093" y="0"/>
                </a:lnTo>
                <a:cubicBezTo>
                  <a:pt x="21373" y="0"/>
                  <a:pt x="21600" y="716"/>
                  <a:pt x="21600" y="1600"/>
                </a:cubicBezTo>
                <a:lnTo>
                  <a:pt x="21600" y="20000"/>
                </a:lnTo>
                <a:cubicBezTo>
                  <a:pt x="21600" y="20884"/>
                  <a:pt x="21373" y="21600"/>
                  <a:pt x="21093" y="21600"/>
                </a:cubicBezTo>
                <a:lnTo>
                  <a:pt x="507" y="21600"/>
                </a:lnTo>
                <a:cubicBezTo>
                  <a:pt x="227" y="21600"/>
                  <a:pt x="0" y="20884"/>
                  <a:pt x="0" y="20000"/>
                </a:cubicBezTo>
                <a:lnTo>
                  <a:pt x="0" y="1600"/>
                </a:lnTo>
                <a:cubicBezTo>
                  <a:pt x="0" y="716"/>
                  <a:pt x="227" y="0"/>
                  <a:pt x="507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23" name="Shape 41"/>
          <p:cNvSpPr/>
          <p:nvPr/>
        </p:nvSpPr>
        <p:spPr>
          <a:xfrm>
            <a:off x="10188806" y="4220579"/>
            <a:ext cx="317501" cy="317501"/>
          </a:xfrm>
          <a:prstGeom prst="ellipse">
            <a:avLst/>
          </a:pr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24" name="Text 42"/>
          <p:cNvSpPr txBox="1"/>
          <p:nvPr/>
        </p:nvSpPr>
        <p:spPr>
          <a:xfrm>
            <a:off x="10157056" y="4303129"/>
            <a:ext cx="381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225" name="Text 43"/>
          <p:cNvSpPr txBox="1"/>
          <p:nvPr/>
        </p:nvSpPr>
        <p:spPr>
          <a:xfrm>
            <a:off x="9061276" y="4611073"/>
            <a:ext cx="257175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b="1" sz="8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处方推理</a:t>
            </a:r>
          </a:p>
        </p:txBody>
      </p:sp>
      <p:sp>
        <p:nvSpPr>
          <p:cNvPr id="1226" name="Text 44"/>
          <p:cNvSpPr txBox="1"/>
          <p:nvPr/>
        </p:nvSpPr>
        <p:spPr>
          <a:xfrm>
            <a:off x="9065245" y="4760236"/>
            <a:ext cx="256381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defRPr sz="7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安全→最终处方</a:t>
            </a:r>
          </a:p>
        </p:txBody>
      </p:sp>
      <p:sp>
        <p:nvSpPr>
          <p:cNvPr id="1227" name="Shape 45"/>
          <p:cNvSpPr/>
          <p:nvPr/>
        </p:nvSpPr>
        <p:spPr>
          <a:xfrm>
            <a:off x="324715" y="5289824"/>
            <a:ext cx="5697684" cy="15384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61" y="0"/>
                </a:moveTo>
                <a:lnTo>
                  <a:pt x="21239" y="0"/>
                </a:lnTo>
                <a:cubicBezTo>
                  <a:pt x="21438" y="0"/>
                  <a:pt x="21600" y="599"/>
                  <a:pt x="21600" y="1337"/>
                </a:cubicBezTo>
                <a:lnTo>
                  <a:pt x="21600" y="20263"/>
                </a:lnTo>
                <a:cubicBezTo>
                  <a:pt x="21600" y="21001"/>
                  <a:pt x="21438" y="21600"/>
                  <a:pt x="21239" y="21600"/>
                </a:cubicBezTo>
                <a:lnTo>
                  <a:pt x="361" y="21600"/>
                </a:lnTo>
                <a:cubicBezTo>
                  <a:pt x="162" y="21600"/>
                  <a:pt x="0" y="21001"/>
                  <a:pt x="0" y="20263"/>
                </a:cubicBezTo>
                <a:lnTo>
                  <a:pt x="0" y="1337"/>
                </a:lnTo>
                <a:cubicBezTo>
                  <a:pt x="0" y="599"/>
                  <a:pt x="162" y="0"/>
                  <a:pt x="361" y="0"/>
                </a:cubicBezTo>
                <a:close/>
              </a:path>
            </a:pathLst>
          </a:custGeom>
          <a:solidFill>
            <a:srgbClr val="5E8B7E">
              <a:alpha val="14902"/>
            </a:srgbClr>
          </a:solidFill>
          <a:ln w="23091">
            <a:solidFill>
              <a:srgbClr val="5E8B7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8" name="Shape 46"/>
          <p:cNvSpPr/>
          <p:nvPr/>
        </p:nvSpPr>
        <p:spPr>
          <a:xfrm>
            <a:off x="478870" y="5463619"/>
            <a:ext cx="151820" cy="142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7" h="21600" fill="norm" stroke="1" extrusionOk="0">
                <a:moveTo>
                  <a:pt x="2530" y="0"/>
                </a:moveTo>
                <a:cubicBezTo>
                  <a:pt x="1135" y="0"/>
                  <a:pt x="0" y="1211"/>
                  <a:pt x="0" y="2700"/>
                </a:cubicBezTo>
                <a:lnTo>
                  <a:pt x="0" y="18900"/>
                </a:lnTo>
                <a:cubicBezTo>
                  <a:pt x="0" y="20389"/>
                  <a:pt x="1135" y="21600"/>
                  <a:pt x="2530" y="21600"/>
                </a:cubicBezTo>
                <a:lnTo>
                  <a:pt x="12650" y="21600"/>
                </a:lnTo>
                <a:cubicBezTo>
                  <a:pt x="14046" y="21600"/>
                  <a:pt x="15180" y="20389"/>
                  <a:pt x="15180" y="18900"/>
                </a:cubicBezTo>
                <a:lnTo>
                  <a:pt x="15180" y="14850"/>
                </a:lnTo>
                <a:lnTo>
                  <a:pt x="18267" y="14850"/>
                </a:lnTo>
                <a:lnTo>
                  <a:pt x="17042" y="16158"/>
                </a:lnTo>
                <a:cubicBezTo>
                  <a:pt x="16670" y="16554"/>
                  <a:pt x="16670" y="17196"/>
                  <a:pt x="17042" y="17588"/>
                </a:cubicBezTo>
                <a:cubicBezTo>
                  <a:pt x="17414" y="17980"/>
                  <a:pt x="18015" y="17985"/>
                  <a:pt x="18382" y="17588"/>
                </a:cubicBezTo>
                <a:lnTo>
                  <a:pt x="21228" y="14550"/>
                </a:lnTo>
                <a:cubicBezTo>
                  <a:pt x="21600" y="14154"/>
                  <a:pt x="21600" y="13513"/>
                  <a:pt x="21228" y="13120"/>
                </a:cubicBezTo>
                <a:lnTo>
                  <a:pt x="18382" y="10083"/>
                </a:lnTo>
                <a:cubicBezTo>
                  <a:pt x="18011" y="9686"/>
                  <a:pt x="17410" y="9686"/>
                  <a:pt x="17042" y="10083"/>
                </a:cubicBezTo>
                <a:cubicBezTo>
                  <a:pt x="16674" y="10479"/>
                  <a:pt x="16670" y="11121"/>
                  <a:pt x="17042" y="11513"/>
                </a:cubicBezTo>
                <a:lnTo>
                  <a:pt x="18267" y="12821"/>
                </a:lnTo>
                <a:lnTo>
                  <a:pt x="15180" y="12821"/>
                </a:lnTo>
                <a:lnTo>
                  <a:pt x="15180" y="7189"/>
                </a:lnTo>
                <a:cubicBezTo>
                  <a:pt x="15180" y="6472"/>
                  <a:pt x="14915" y="5784"/>
                  <a:pt x="14441" y="5278"/>
                </a:cubicBezTo>
                <a:lnTo>
                  <a:pt x="10227" y="789"/>
                </a:lnTo>
                <a:cubicBezTo>
                  <a:pt x="9752" y="283"/>
                  <a:pt x="9112" y="0"/>
                  <a:pt x="8440" y="0"/>
                </a:cubicBezTo>
                <a:lnTo>
                  <a:pt x="2530" y="0"/>
                </a:lnTo>
                <a:close/>
                <a:moveTo>
                  <a:pt x="12867" y="7425"/>
                </a:moveTo>
                <a:lnTo>
                  <a:pt x="9171" y="7425"/>
                </a:lnTo>
                <a:cubicBezTo>
                  <a:pt x="8646" y="7425"/>
                  <a:pt x="8223" y="6974"/>
                  <a:pt x="8223" y="6412"/>
                </a:cubicBezTo>
                <a:lnTo>
                  <a:pt x="8223" y="2468"/>
                </a:lnTo>
                <a:lnTo>
                  <a:pt x="12867" y="7425"/>
                </a:lnTo>
                <a:close/>
                <a:moveTo>
                  <a:pt x="7590" y="13837"/>
                </a:moveTo>
                <a:cubicBezTo>
                  <a:pt x="7590" y="13276"/>
                  <a:pt x="8013" y="12825"/>
                  <a:pt x="8539" y="12825"/>
                </a:cubicBezTo>
                <a:lnTo>
                  <a:pt x="12650" y="12825"/>
                </a:lnTo>
                <a:lnTo>
                  <a:pt x="12650" y="14850"/>
                </a:lnTo>
                <a:lnTo>
                  <a:pt x="8539" y="14850"/>
                </a:lnTo>
                <a:cubicBezTo>
                  <a:pt x="8013" y="14850"/>
                  <a:pt x="7590" y="14399"/>
                  <a:pt x="7590" y="13837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29" name="Text 47"/>
          <p:cNvSpPr txBox="1"/>
          <p:nvPr/>
        </p:nvSpPr>
        <p:spPr>
          <a:xfrm>
            <a:off x="641448" y="5433519"/>
            <a:ext cx="531812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1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输出内容</a:t>
            </a:r>
          </a:p>
        </p:txBody>
      </p:sp>
      <p:sp>
        <p:nvSpPr>
          <p:cNvPr id="1230" name="Text 48"/>
          <p:cNvSpPr txBox="1"/>
          <p:nvPr/>
        </p:nvSpPr>
        <p:spPr>
          <a:xfrm>
            <a:off x="458887" y="5747735"/>
            <a:ext cx="54927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✓</a:t>
            </a:r>
            <a:r>
              <a:rPr>
                <a:solidFill>
                  <a:srgbClr val="7D8A96"/>
                </a:solidFill>
              </a:rPr>
              <a:t> 推荐处方(药物列表)</a:t>
            </a:r>
          </a:p>
        </p:txBody>
      </p:sp>
      <p:sp>
        <p:nvSpPr>
          <p:cNvPr id="1231" name="Text 49"/>
          <p:cNvSpPr txBox="1"/>
          <p:nvPr/>
        </p:nvSpPr>
        <p:spPr>
          <a:xfrm>
            <a:off x="458887" y="6001704"/>
            <a:ext cx="54927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✓</a:t>
            </a:r>
            <a:r>
              <a:rPr>
                <a:solidFill>
                  <a:srgbClr val="7D8A96"/>
                </a:solidFill>
              </a:rPr>
              <a:t> 完整CoT推理链</a:t>
            </a:r>
          </a:p>
        </p:txBody>
      </p:sp>
      <p:sp>
        <p:nvSpPr>
          <p:cNvPr id="1232" name="Text 50"/>
          <p:cNvSpPr txBox="1"/>
          <p:nvPr/>
        </p:nvSpPr>
        <p:spPr>
          <a:xfrm>
            <a:off x="458887" y="6255658"/>
            <a:ext cx="54927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✓</a:t>
            </a:r>
            <a:r>
              <a:rPr>
                <a:solidFill>
                  <a:srgbClr val="7D8A96"/>
                </a:solidFill>
              </a:rPr>
              <a:t> 置信度分数</a:t>
            </a:r>
          </a:p>
        </p:txBody>
      </p:sp>
      <p:sp>
        <p:nvSpPr>
          <p:cNvPr id="1233" name="Text 51"/>
          <p:cNvSpPr txBox="1"/>
          <p:nvPr/>
        </p:nvSpPr>
        <p:spPr>
          <a:xfrm>
            <a:off x="458887" y="6509626"/>
            <a:ext cx="54927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✓</a:t>
            </a:r>
            <a:r>
              <a:rPr>
                <a:solidFill>
                  <a:srgbClr val="7D8A96"/>
                </a:solidFill>
              </a:rPr>
              <a:t> 安全警告(如有)</a:t>
            </a:r>
          </a:p>
        </p:txBody>
      </p:sp>
      <p:sp>
        <p:nvSpPr>
          <p:cNvPr id="1234" name="Shape 52"/>
          <p:cNvSpPr/>
          <p:nvPr/>
        </p:nvSpPr>
        <p:spPr>
          <a:xfrm>
            <a:off x="6166670" y="5289824"/>
            <a:ext cx="5697683" cy="15384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61" y="0"/>
                </a:moveTo>
                <a:lnTo>
                  <a:pt x="21239" y="0"/>
                </a:lnTo>
                <a:cubicBezTo>
                  <a:pt x="21438" y="0"/>
                  <a:pt x="21600" y="599"/>
                  <a:pt x="21600" y="1337"/>
                </a:cubicBezTo>
                <a:lnTo>
                  <a:pt x="21600" y="20263"/>
                </a:lnTo>
                <a:cubicBezTo>
                  <a:pt x="21600" y="21001"/>
                  <a:pt x="21438" y="21600"/>
                  <a:pt x="21239" y="21600"/>
                </a:cubicBezTo>
                <a:lnTo>
                  <a:pt x="361" y="21600"/>
                </a:lnTo>
                <a:cubicBezTo>
                  <a:pt x="162" y="21600"/>
                  <a:pt x="0" y="21001"/>
                  <a:pt x="0" y="20263"/>
                </a:cubicBezTo>
                <a:lnTo>
                  <a:pt x="0" y="1337"/>
                </a:lnTo>
                <a:cubicBezTo>
                  <a:pt x="0" y="599"/>
                  <a:pt x="162" y="0"/>
                  <a:pt x="361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23091">
            <a:solidFill>
              <a:srgbClr val="4A6C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35" name="Shape 53"/>
          <p:cNvSpPr/>
          <p:nvPr/>
        </p:nvSpPr>
        <p:spPr>
          <a:xfrm>
            <a:off x="6329612" y="5459150"/>
            <a:ext cx="125022" cy="1518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44" h="21405" fill="norm" stroke="1" extrusionOk="0">
                <a:moveTo>
                  <a:pt x="16141" y="240"/>
                </a:moveTo>
                <a:cubicBezTo>
                  <a:pt x="16708" y="579"/>
                  <a:pt x="16918" y="1192"/>
                  <a:pt x="16660" y="1728"/>
                </a:cubicBezTo>
                <a:lnTo>
                  <a:pt x="12925" y="9443"/>
                </a:lnTo>
                <a:lnTo>
                  <a:pt x="19819" y="9443"/>
                </a:lnTo>
                <a:cubicBezTo>
                  <a:pt x="20462" y="9443"/>
                  <a:pt x="21034" y="9773"/>
                  <a:pt x="21253" y="10273"/>
                </a:cubicBezTo>
                <a:cubicBezTo>
                  <a:pt x="21472" y="10773"/>
                  <a:pt x="21286" y="11331"/>
                  <a:pt x="20796" y="11670"/>
                </a:cubicBezTo>
                <a:lnTo>
                  <a:pt x="7075" y="21113"/>
                </a:lnTo>
                <a:cubicBezTo>
                  <a:pt x="6537" y="21482"/>
                  <a:pt x="5770" y="21502"/>
                  <a:pt x="5203" y="21164"/>
                </a:cubicBezTo>
                <a:cubicBezTo>
                  <a:pt x="4636" y="20825"/>
                  <a:pt x="4426" y="20212"/>
                  <a:pt x="4684" y="19676"/>
                </a:cubicBezTo>
                <a:lnTo>
                  <a:pt x="8419" y="11961"/>
                </a:lnTo>
                <a:lnTo>
                  <a:pt x="1525" y="11961"/>
                </a:lnTo>
                <a:cubicBezTo>
                  <a:pt x="882" y="11961"/>
                  <a:pt x="310" y="11631"/>
                  <a:pt x="91" y="11131"/>
                </a:cubicBezTo>
                <a:cubicBezTo>
                  <a:pt x="-128" y="10631"/>
                  <a:pt x="58" y="10073"/>
                  <a:pt x="548" y="9734"/>
                </a:cubicBezTo>
                <a:lnTo>
                  <a:pt x="14269" y="291"/>
                </a:lnTo>
                <a:cubicBezTo>
                  <a:pt x="14807" y="-78"/>
                  <a:pt x="15574" y="-98"/>
                  <a:pt x="16141" y="24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36" name="Text 54"/>
          <p:cNvSpPr txBox="1"/>
          <p:nvPr/>
        </p:nvSpPr>
        <p:spPr>
          <a:xfrm>
            <a:off x="6483403" y="5433519"/>
            <a:ext cx="531812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1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推理特点</a:t>
            </a:r>
          </a:p>
        </p:txBody>
      </p:sp>
      <p:sp>
        <p:nvSpPr>
          <p:cNvPr id="1237" name="Text 55"/>
          <p:cNvSpPr txBox="1"/>
          <p:nvPr/>
        </p:nvSpPr>
        <p:spPr>
          <a:xfrm>
            <a:off x="6300840" y="5747735"/>
            <a:ext cx="54927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单次生成完成四阶段推理</a:t>
            </a:r>
          </a:p>
        </p:txBody>
      </p:sp>
      <p:sp>
        <p:nvSpPr>
          <p:cNvPr id="1238" name="Text 56"/>
          <p:cNvSpPr txBox="1"/>
          <p:nvPr/>
        </p:nvSpPr>
        <p:spPr>
          <a:xfrm>
            <a:off x="6300840" y="6001704"/>
            <a:ext cx="54927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不是单独的训练模块</a:t>
            </a:r>
          </a:p>
        </p:txBody>
      </p:sp>
      <p:sp>
        <p:nvSpPr>
          <p:cNvPr id="1239" name="Text 57"/>
          <p:cNvSpPr txBox="1"/>
          <p:nvPr/>
        </p:nvSpPr>
        <p:spPr>
          <a:xfrm>
            <a:off x="6300840" y="6255658"/>
            <a:ext cx="54927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通过Prompt引导产生</a:t>
            </a:r>
          </a:p>
        </p:txBody>
      </p:sp>
      <p:sp>
        <p:nvSpPr>
          <p:cNvPr id="1240" name="Text 58"/>
          <p:cNvSpPr txBox="1"/>
          <p:nvPr/>
        </p:nvSpPr>
        <p:spPr>
          <a:xfrm>
            <a:off x="6300840" y="6509626"/>
            <a:ext cx="54927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显式推理链提升可解释性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Text 0"/>
          <p:cNvSpPr txBox="1"/>
          <p:nvPr/>
        </p:nvSpPr>
        <p:spPr>
          <a:xfrm>
            <a:off x="381000" y="406399"/>
            <a:ext cx="115062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pc="60" sz="1200">
                <a:solidFill>
                  <a:srgbClr val="5E8B7E"/>
                </a:solidFill>
                <a:latin typeface="Liter"/>
                <a:ea typeface="Liter"/>
                <a:cs typeface="Liter"/>
                <a:sym typeface="Liter"/>
              </a:defRPr>
            </a:lvl1pPr>
          </a:lstStyle>
          <a:p>
            <a:pPr/>
            <a:r>
              <a:t>COMPLETE INFERENCE WORKFLOW</a:t>
            </a:r>
          </a:p>
        </p:txBody>
      </p:sp>
      <p:sp>
        <p:nvSpPr>
          <p:cNvPr id="1243" name="Text 1"/>
          <p:cNvSpPr txBox="1"/>
          <p:nvPr/>
        </p:nvSpPr>
        <p:spPr>
          <a:xfrm>
            <a:off x="381000" y="634962"/>
            <a:ext cx="11601450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90000"/>
              </a:lnSpc>
              <a:defRPr b="1" sz="27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完整推理流程</a:t>
            </a:r>
          </a:p>
        </p:txBody>
      </p:sp>
      <p:sp>
        <p:nvSpPr>
          <p:cNvPr id="1244" name="Shape 2"/>
          <p:cNvSpPr/>
          <p:nvPr/>
        </p:nvSpPr>
        <p:spPr>
          <a:xfrm>
            <a:off x="381000" y="1181025"/>
            <a:ext cx="914400" cy="38101"/>
          </a:xfrm>
          <a:prstGeom prst="rect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45" name="Shape 3"/>
          <p:cNvSpPr/>
          <p:nvPr/>
        </p:nvSpPr>
        <p:spPr>
          <a:xfrm>
            <a:off x="398317" y="1295287"/>
            <a:ext cx="1550845" cy="904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82" y="0"/>
                </a:moveTo>
                <a:lnTo>
                  <a:pt x="20008" y="0"/>
                </a:lnTo>
                <a:cubicBezTo>
                  <a:pt x="20887" y="0"/>
                  <a:pt x="21600" y="1222"/>
                  <a:pt x="21600" y="2729"/>
                </a:cubicBezTo>
                <a:lnTo>
                  <a:pt x="21600" y="18871"/>
                </a:lnTo>
                <a:cubicBezTo>
                  <a:pt x="21600" y="20378"/>
                  <a:pt x="20887" y="21600"/>
                  <a:pt x="20008" y="21600"/>
                </a:cubicBezTo>
                <a:lnTo>
                  <a:pt x="482" y="21600"/>
                </a:lnTo>
                <a:cubicBezTo>
                  <a:pt x="216" y="21600"/>
                  <a:pt x="0" y="21230"/>
                  <a:pt x="0" y="20773"/>
                </a:cubicBezTo>
                <a:lnTo>
                  <a:pt x="0" y="827"/>
                </a:lnTo>
                <a:cubicBezTo>
                  <a:pt x="0" y="370"/>
                  <a:pt x="216" y="0"/>
                  <a:pt x="482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46" name="Shape 4"/>
          <p:cNvSpPr/>
          <p:nvPr/>
        </p:nvSpPr>
        <p:spPr>
          <a:xfrm>
            <a:off x="398318" y="1295287"/>
            <a:ext cx="34637" cy="904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230"/>
                  <a:pt x="0" y="20773"/>
                </a:cubicBezTo>
                <a:lnTo>
                  <a:pt x="0" y="827"/>
                </a:lnTo>
                <a:cubicBezTo>
                  <a:pt x="0" y="370"/>
                  <a:pt x="9671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47" name="Shape 5"/>
          <p:cNvSpPr/>
          <p:nvPr/>
        </p:nvSpPr>
        <p:spPr>
          <a:xfrm>
            <a:off x="1029688" y="1371450"/>
            <a:ext cx="304801" cy="304801"/>
          </a:xfrm>
          <a:prstGeom prst="ellipse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48" name="Text 6"/>
          <p:cNvSpPr txBox="1"/>
          <p:nvPr/>
        </p:nvSpPr>
        <p:spPr>
          <a:xfrm>
            <a:off x="991588" y="1434950"/>
            <a:ext cx="381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200">
                <a:solidFill>
                  <a:srgbClr val="1A1D21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249" name="Text 7"/>
          <p:cNvSpPr txBox="1"/>
          <p:nvPr/>
        </p:nvSpPr>
        <p:spPr>
          <a:xfrm>
            <a:off x="453708" y="1720644"/>
            <a:ext cx="145732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数据预处理</a:t>
            </a:r>
          </a:p>
        </p:txBody>
      </p:sp>
      <p:sp>
        <p:nvSpPr>
          <p:cNvPr id="1250" name="Text 8"/>
          <p:cNvSpPr txBox="1"/>
          <p:nvPr/>
        </p:nvSpPr>
        <p:spPr>
          <a:xfrm>
            <a:off x="463233" y="1969864"/>
            <a:ext cx="143827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清洗/提取/识别</a:t>
            </a:r>
          </a:p>
        </p:txBody>
      </p:sp>
      <p:sp>
        <p:nvSpPr>
          <p:cNvPr id="1251" name="Shape 9"/>
          <p:cNvSpPr/>
          <p:nvPr/>
        </p:nvSpPr>
        <p:spPr>
          <a:xfrm>
            <a:off x="1117138" y="2238114"/>
            <a:ext cx="100052" cy="1333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4" h="21469" fill="norm" stroke="1" extrusionOk="0">
                <a:moveTo>
                  <a:pt x="9377" y="21076"/>
                </a:moveTo>
                <a:cubicBezTo>
                  <a:pt x="10068" y="21600"/>
                  <a:pt x="11191" y="21600"/>
                  <a:pt x="11883" y="21076"/>
                </a:cubicBezTo>
                <a:lnTo>
                  <a:pt x="20735" y="14367"/>
                </a:lnTo>
                <a:cubicBezTo>
                  <a:pt x="21427" y="13842"/>
                  <a:pt x="21427" y="12991"/>
                  <a:pt x="20735" y="12467"/>
                </a:cubicBezTo>
                <a:cubicBezTo>
                  <a:pt x="20044" y="11943"/>
                  <a:pt x="18921" y="11943"/>
                  <a:pt x="18229" y="12467"/>
                </a:cubicBezTo>
                <a:lnTo>
                  <a:pt x="12398" y="16887"/>
                </a:lnTo>
                <a:lnTo>
                  <a:pt x="12398" y="1342"/>
                </a:lnTo>
                <a:cubicBezTo>
                  <a:pt x="12398" y="600"/>
                  <a:pt x="11606" y="0"/>
                  <a:pt x="10627" y="0"/>
                </a:cubicBezTo>
                <a:cubicBezTo>
                  <a:pt x="9648" y="0"/>
                  <a:pt x="8856" y="600"/>
                  <a:pt x="8856" y="1342"/>
                </a:cubicBezTo>
                <a:lnTo>
                  <a:pt x="8856" y="16887"/>
                </a:lnTo>
                <a:lnTo>
                  <a:pt x="3025" y="12467"/>
                </a:lnTo>
                <a:cubicBezTo>
                  <a:pt x="2333" y="11943"/>
                  <a:pt x="1210" y="11943"/>
                  <a:pt x="518" y="12467"/>
                </a:cubicBezTo>
                <a:cubicBezTo>
                  <a:pt x="-173" y="12991"/>
                  <a:pt x="-173" y="13842"/>
                  <a:pt x="518" y="14367"/>
                </a:cubicBezTo>
                <a:lnTo>
                  <a:pt x="9371" y="21076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52" name="Shape 10"/>
          <p:cNvSpPr/>
          <p:nvPr/>
        </p:nvSpPr>
        <p:spPr>
          <a:xfrm>
            <a:off x="398317" y="2409526"/>
            <a:ext cx="1550845" cy="904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82" y="0"/>
                </a:moveTo>
                <a:lnTo>
                  <a:pt x="20008" y="0"/>
                </a:lnTo>
                <a:cubicBezTo>
                  <a:pt x="20887" y="0"/>
                  <a:pt x="21600" y="1222"/>
                  <a:pt x="21600" y="2729"/>
                </a:cubicBezTo>
                <a:lnTo>
                  <a:pt x="21600" y="18871"/>
                </a:lnTo>
                <a:cubicBezTo>
                  <a:pt x="21600" y="20378"/>
                  <a:pt x="20887" y="21600"/>
                  <a:pt x="20008" y="21600"/>
                </a:cubicBezTo>
                <a:lnTo>
                  <a:pt x="482" y="21600"/>
                </a:lnTo>
                <a:cubicBezTo>
                  <a:pt x="216" y="21600"/>
                  <a:pt x="0" y="21230"/>
                  <a:pt x="0" y="20773"/>
                </a:cubicBezTo>
                <a:lnTo>
                  <a:pt x="0" y="827"/>
                </a:lnTo>
                <a:cubicBezTo>
                  <a:pt x="0" y="370"/>
                  <a:pt x="216" y="0"/>
                  <a:pt x="482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53" name="Shape 11"/>
          <p:cNvSpPr/>
          <p:nvPr/>
        </p:nvSpPr>
        <p:spPr>
          <a:xfrm>
            <a:off x="398318" y="2409526"/>
            <a:ext cx="34637" cy="904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230"/>
                  <a:pt x="0" y="20773"/>
                </a:cubicBezTo>
                <a:lnTo>
                  <a:pt x="0" y="827"/>
                </a:lnTo>
                <a:cubicBezTo>
                  <a:pt x="0" y="370"/>
                  <a:pt x="9671" y="0"/>
                  <a:pt x="21600" y="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54" name="Shape 12"/>
          <p:cNvSpPr/>
          <p:nvPr/>
        </p:nvSpPr>
        <p:spPr>
          <a:xfrm>
            <a:off x="1029688" y="2485708"/>
            <a:ext cx="304801" cy="304801"/>
          </a:xfrm>
          <a:prstGeom prst="ellipse">
            <a:avLst/>
          </a:pr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55" name="Text 13"/>
          <p:cNvSpPr txBox="1"/>
          <p:nvPr/>
        </p:nvSpPr>
        <p:spPr>
          <a:xfrm>
            <a:off x="991588" y="2549208"/>
            <a:ext cx="381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256" name="Text 14"/>
          <p:cNvSpPr txBox="1"/>
          <p:nvPr/>
        </p:nvSpPr>
        <p:spPr>
          <a:xfrm>
            <a:off x="453708" y="2834902"/>
            <a:ext cx="145732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RAG检索</a:t>
            </a:r>
          </a:p>
        </p:txBody>
      </p:sp>
      <p:sp>
        <p:nvSpPr>
          <p:cNvPr id="1257" name="Text 15"/>
          <p:cNvSpPr txBox="1"/>
          <p:nvPr/>
        </p:nvSpPr>
        <p:spPr>
          <a:xfrm>
            <a:off x="463233" y="3084103"/>
            <a:ext cx="143827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图-向量混合</a:t>
            </a:r>
          </a:p>
        </p:txBody>
      </p:sp>
      <p:sp>
        <p:nvSpPr>
          <p:cNvPr id="1258" name="Shape 16"/>
          <p:cNvSpPr/>
          <p:nvPr/>
        </p:nvSpPr>
        <p:spPr>
          <a:xfrm>
            <a:off x="2760877" y="1600032"/>
            <a:ext cx="100053" cy="1333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4" h="21469" fill="norm" stroke="1" extrusionOk="0">
                <a:moveTo>
                  <a:pt x="9377" y="21076"/>
                </a:moveTo>
                <a:cubicBezTo>
                  <a:pt x="10068" y="21600"/>
                  <a:pt x="11191" y="21600"/>
                  <a:pt x="11883" y="21076"/>
                </a:cubicBezTo>
                <a:lnTo>
                  <a:pt x="20735" y="14367"/>
                </a:lnTo>
                <a:cubicBezTo>
                  <a:pt x="21427" y="13842"/>
                  <a:pt x="21427" y="12991"/>
                  <a:pt x="20735" y="12467"/>
                </a:cubicBezTo>
                <a:cubicBezTo>
                  <a:pt x="20044" y="11943"/>
                  <a:pt x="18921" y="11943"/>
                  <a:pt x="18229" y="12467"/>
                </a:cubicBezTo>
                <a:lnTo>
                  <a:pt x="12398" y="16887"/>
                </a:lnTo>
                <a:lnTo>
                  <a:pt x="12398" y="1342"/>
                </a:lnTo>
                <a:cubicBezTo>
                  <a:pt x="12398" y="600"/>
                  <a:pt x="11606" y="0"/>
                  <a:pt x="10627" y="0"/>
                </a:cubicBezTo>
                <a:cubicBezTo>
                  <a:pt x="9648" y="0"/>
                  <a:pt x="8856" y="600"/>
                  <a:pt x="8856" y="1342"/>
                </a:cubicBezTo>
                <a:lnTo>
                  <a:pt x="8856" y="16887"/>
                </a:lnTo>
                <a:lnTo>
                  <a:pt x="3025" y="12467"/>
                </a:lnTo>
                <a:cubicBezTo>
                  <a:pt x="2333" y="11943"/>
                  <a:pt x="1210" y="11943"/>
                  <a:pt x="518" y="12467"/>
                </a:cubicBezTo>
                <a:cubicBezTo>
                  <a:pt x="-173" y="12991"/>
                  <a:pt x="-173" y="13842"/>
                  <a:pt x="518" y="14367"/>
                </a:cubicBezTo>
                <a:lnTo>
                  <a:pt x="9371" y="21076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59" name="Shape 17"/>
          <p:cNvSpPr/>
          <p:nvPr/>
        </p:nvSpPr>
        <p:spPr>
          <a:xfrm>
            <a:off x="2042056" y="1961963"/>
            <a:ext cx="1550844" cy="904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82" y="0"/>
                </a:moveTo>
                <a:lnTo>
                  <a:pt x="20008" y="0"/>
                </a:lnTo>
                <a:cubicBezTo>
                  <a:pt x="20887" y="0"/>
                  <a:pt x="21600" y="1222"/>
                  <a:pt x="21600" y="2729"/>
                </a:cubicBezTo>
                <a:lnTo>
                  <a:pt x="21600" y="18871"/>
                </a:lnTo>
                <a:cubicBezTo>
                  <a:pt x="21600" y="20378"/>
                  <a:pt x="20887" y="21600"/>
                  <a:pt x="20008" y="21600"/>
                </a:cubicBezTo>
                <a:lnTo>
                  <a:pt x="482" y="21600"/>
                </a:lnTo>
                <a:cubicBezTo>
                  <a:pt x="216" y="21600"/>
                  <a:pt x="0" y="21230"/>
                  <a:pt x="0" y="20773"/>
                </a:cubicBezTo>
                <a:lnTo>
                  <a:pt x="0" y="827"/>
                </a:lnTo>
                <a:cubicBezTo>
                  <a:pt x="0" y="370"/>
                  <a:pt x="216" y="0"/>
                  <a:pt x="482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60" name="Shape 18"/>
          <p:cNvSpPr/>
          <p:nvPr/>
        </p:nvSpPr>
        <p:spPr>
          <a:xfrm>
            <a:off x="2042056" y="1961963"/>
            <a:ext cx="34637" cy="904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230"/>
                  <a:pt x="0" y="20773"/>
                </a:cubicBezTo>
                <a:lnTo>
                  <a:pt x="0" y="827"/>
                </a:lnTo>
                <a:cubicBezTo>
                  <a:pt x="0" y="370"/>
                  <a:pt x="9671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61" name="Shape 19"/>
          <p:cNvSpPr/>
          <p:nvPr/>
        </p:nvSpPr>
        <p:spPr>
          <a:xfrm>
            <a:off x="2673426" y="2038144"/>
            <a:ext cx="304801" cy="304801"/>
          </a:xfrm>
          <a:prstGeom prst="ellipse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62" name="Text 20"/>
          <p:cNvSpPr txBox="1"/>
          <p:nvPr/>
        </p:nvSpPr>
        <p:spPr>
          <a:xfrm>
            <a:off x="2635326" y="2101644"/>
            <a:ext cx="381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200">
                <a:solidFill>
                  <a:srgbClr val="1A1D21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263" name="Text 21"/>
          <p:cNvSpPr txBox="1"/>
          <p:nvPr/>
        </p:nvSpPr>
        <p:spPr>
          <a:xfrm>
            <a:off x="2097447" y="2387339"/>
            <a:ext cx="145732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加载模型</a:t>
            </a:r>
          </a:p>
        </p:txBody>
      </p:sp>
      <p:sp>
        <p:nvSpPr>
          <p:cNvPr id="1264" name="Text 22"/>
          <p:cNvSpPr txBox="1"/>
          <p:nvPr/>
        </p:nvSpPr>
        <p:spPr>
          <a:xfrm>
            <a:off x="2106972" y="2649239"/>
            <a:ext cx="143827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GLM-4-9B+LoRA</a:t>
            </a:r>
          </a:p>
        </p:txBody>
      </p:sp>
      <p:sp>
        <p:nvSpPr>
          <p:cNvPr id="1265" name="Shape 23"/>
          <p:cNvSpPr/>
          <p:nvPr/>
        </p:nvSpPr>
        <p:spPr>
          <a:xfrm>
            <a:off x="2760877" y="2904789"/>
            <a:ext cx="100053" cy="1333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4" h="21469" fill="norm" stroke="1" extrusionOk="0">
                <a:moveTo>
                  <a:pt x="9377" y="21076"/>
                </a:moveTo>
                <a:cubicBezTo>
                  <a:pt x="10068" y="21600"/>
                  <a:pt x="11191" y="21600"/>
                  <a:pt x="11883" y="21076"/>
                </a:cubicBezTo>
                <a:lnTo>
                  <a:pt x="20735" y="14367"/>
                </a:lnTo>
                <a:cubicBezTo>
                  <a:pt x="21427" y="13842"/>
                  <a:pt x="21427" y="12991"/>
                  <a:pt x="20735" y="12467"/>
                </a:cubicBezTo>
                <a:cubicBezTo>
                  <a:pt x="20044" y="11943"/>
                  <a:pt x="18921" y="11943"/>
                  <a:pt x="18229" y="12467"/>
                </a:cubicBezTo>
                <a:lnTo>
                  <a:pt x="12398" y="16887"/>
                </a:lnTo>
                <a:lnTo>
                  <a:pt x="12398" y="1342"/>
                </a:lnTo>
                <a:cubicBezTo>
                  <a:pt x="12398" y="600"/>
                  <a:pt x="11606" y="0"/>
                  <a:pt x="10627" y="0"/>
                </a:cubicBezTo>
                <a:cubicBezTo>
                  <a:pt x="9648" y="0"/>
                  <a:pt x="8856" y="600"/>
                  <a:pt x="8856" y="1342"/>
                </a:cubicBezTo>
                <a:lnTo>
                  <a:pt x="8856" y="16887"/>
                </a:lnTo>
                <a:lnTo>
                  <a:pt x="3025" y="12467"/>
                </a:lnTo>
                <a:cubicBezTo>
                  <a:pt x="2333" y="11943"/>
                  <a:pt x="1210" y="11943"/>
                  <a:pt x="518" y="12467"/>
                </a:cubicBezTo>
                <a:cubicBezTo>
                  <a:pt x="-173" y="12991"/>
                  <a:pt x="-173" y="13842"/>
                  <a:pt x="518" y="14367"/>
                </a:cubicBezTo>
                <a:lnTo>
                  <a:pt x="9371" y="21076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66" name="Shape 24"/>
          <p:cNvSpPr/>
          <p:nvPr/>
        </p:nvSpPr>
        <p:spPr>
          <a:xfrm>
            <a:off x="2042056" y="3076221"/>
            <a:ext cx="1550844" cy="904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82" y="0"/>
                </a:moveTo>
                <a:lnTo>
                  <a:pt x="20008" y="0"/>
                </a:lnTo>
                <a:cubicBezTo>
                  <a:pt x="20887" y="0"/>
                  <a:pt x="21600" y="1222"/>
                  <a:pt x="21600" y="2729"/>
                </a:cubicBezTo>
                <a:lnTo>
                  <a:pt x="21600" y="18871"/>
                </a:lnTo>
                <a:cubicBezTo>
                  <a:pt x="21600" y="20378"/>
                  <a:pt x="20887" y="21600"/>
                  <a:pt x="20008" y="21600"/>
                </a:cubicBezTo>
                <a:lnTo>
                  <a:pt x="482" y="21600"/>
                </a:lnTo>
                <a:cubicBezTo>
                  <a:pt x="216" y="21600"/>
                  <a:pt x="0" y="21230"/>
                  <a:pt x="0" y="20773"/>
                </a:cubicBezTo>
                <a:lnTo>
                  <a:pt x="0" y="827"/>
                </a:lnTo>
                <a:cubicBezTo>
                  <a:pt x="0" y="370"/>
                  <a:pt x="216" y="0"/>
                  <a:pt x="482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67" name="Shape 25"/>
          <p:cNvSpPr/>
          <p:nvPr/>
        </p:nvSpPr>
        <p:spPr>
          <a:xfrm>
            <a:off x="2042056" y="3076221"/>
            <a:ext cx="34637" cy="904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230"/>
                  <a:pt x="0" y="20773"/>
                </a:cubicBezTo>
                <a:lnTo>
                  <a:pt x="0" y="827"/>
                </a:lnTo>
                <a:cubicBezTo>
                  <a:pt x="0" y="370"/>
                  <a:pt x="9671" y="0"/>
                  <a:pt x="21600" y="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68" name="Shape 26"/>
          <p:cNvSpPr/>
          <p:nvPr/>
        </p:nvSpPr>
        <p:spPr>
          <a:xfrm>
            <a:off x="2673426" y="3152383"/>
            <a:ext cx="304801" cy="304801"/>
          </a:xfrm>
          <a:prstGeom prst="ellipse">
            <a:avLst/>
          </a:pr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69" name="Text 27"/>
          <p:cNvSpPr txBox="1"/>
          <p:nvPr/>
        </p:nvSpPr>
        <p:spPr>
          <a:xfrm>
            <a:off x="2635326" y="3215883"/>
            <a:ext cx="381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270" name="Text 28"/>
          <p:cNvSpPr txBox="1"/>
          <p:nvPr/>
        </p:nvSpPr>
        <p:spPr>
          <a:xfrm>
            <a:off x="2097447" y="3501578"/>
            <a:ext cx="145732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Prompt构建</a:t>
            </a:r>
          </a:p>
        </p:txBody>
      </p:sp>
      <p:sp>
        <p:nvSpPr>
          <p:cNvPr id="1271" name="Text 29"/>
          <p:cNvSpPr txBox="1"/>
          <p:nvPr/>
        </p:nvSpPr>
        <p:spPr>
          <a:xfrm>
            <a:off x="2106972" y="3750797"/>
            <a:ext cx="143827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角色/任务/RAG</a:t>
            </a:r>
          </a:p>
        </p:txBody>
      </p:sp>
      <p:sp>
        <p:nvSpPr>
          <p:cNvPr id="1272" name="Shape 30"/>
          <p:cNvSpPr/>
          <p:nvPr/>
        </p:nvSpPr>
        <p:spPr>
          <a:xfrm>
            <a:off x="4404616" y="2057287"/>
            <a:ext cx="100053" cy="1333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4" h="21469" fill="norm" stroke="1" extrusionOk="0">
                <a:moveTo>
                  <a:pt x="9377" y="21076"/>
                </a:moveTo>
                <a:cubicBezTo>
                  <a:pt x="10068" y="21600"/>
                  <a:pt x="11191" y="21600"/>
                  <a:pt x="11883" y="21076"/>
                </a:cubicBezTo>
                <a:lnTo>
                  <a:pt x="20735" y="14367"/>
                </a:lnTo>
                <a:cubicBezTo>
                  <a:pt x="21427" y="13842"/>
                  <a:pt x="21427" y="12991"/>
                  <a:pt x="20735" y="12467"/>
                </a:cubicBezTo>
                <a:cubicBezTo>
                  <a:pt x="20044" y="11943"/>
                  <a:pt x="18921" y="11943"/>
                  <a:pt x="18229" y="12467"/>
                </a:cubicBezTo>
                <a:lnTo>
                  <a:pt x="12398" y="16887"/>
                </a:lnTo>
                <a:lnTo>
                  <a:pt x="12398" y="1342"/>
                </a:lnTo>
                <a:cubicBezTo>
                  <a:pt x="12398" y="600"/>
                  <a:pt x="11606" y="0"/>
                  <a:pt x="10627" y="0"/>
                </a:cubicBezTo>
                <a:cubicBezTo>
                  <a:pt x="9648" y="0"/>
                  <a:pt x="8856" y="600"/>
                  <a:pt x="8856" y="1342"/>
                </a:cubicBezTo>
                <a:lnTo>
                  <a:pt x="8856" y="16887"/>
                </a:lnTo>
                <a:lnTo>
                  <a:pt x="3025" y="12467"/>
                </a:lnTo>
                <a:cubicBezTo>
                  <a:pt x="2333" y="11943"/>
                  <a:pt x="1210" y="11943"/>
                  <a:pt x="518" y="12467"/>
                </a:cubicBezTo>
                <a:cubicBezTo>
                  <a:pt x="-173" y="12991"/>
                  <a:pt x="-173" y="13842"/>
                  <a:pt x="518" y="14367"/>
                </a:cubicBezTo>
                <a:lnTo>
                  <a:pt x="9371" y="21076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73" name="Shape 31"/>
          <p:cNvSpPr/>
          <p:nvPr/>
        </p:nvSpPr>
        <p:spPr>
          <a:xfrm>
            <a:off x="3685795" y="2419200"/>
            <a:ext cx="1550844" cy="904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82" y="0"/>
                </a:moveTo>
                <a:lnTo>
                  <a:pt x="20008" y="0"/>
                </a:lnTo>
                <a:cubicBezTo>
                  <a:pt x="20887" y="0"/>
                  <a:pt x="21600" y="1222"/>
                  <a:pt x="21600" y="2729"/>
                </a:cubicBezTo>
                <a:lnTo>
                  <a:pt x="21600" y="18871"/>
                </a:lnTo>
                <a:cubicBezTo>
                  <a:pt x="21600" y="20378"/>
                  <a:pt x="20887" y="21600"/>
                  <a:pt x="20008" y="21600"/>
                </a:cubicBezTo>
                <a:lnTo>
                  <a:pt x="482" y="21600"/>
                </a:lnTo>
                <a:cubicBezTo>
                  <a:pt x="216" y="21600"/>
                  <a:pt x="0" y="21230"/>
                  <a:pt x="0" y="20773"/>
                </a:cubicBezTo>
                <a:lnTo>
                  <a:pt x="0" y="827"/>
                </a:lnTo>
                <a:cubicBezTo>
                  <a:pt x="0" y="370"/>
                  <a:pt x="216" y="0"/>
                  <a:pt x="482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74" name="Shape 32"/>
          <p:cNvSpPr/>
          <p:nvPr/>
        </p:nvSpPr>
        <p:spPr>
          <a:xfrm>
            <a:off x="3685795" y="2419200"/>
            <a:ext cx="34637" cy="904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230"/>
                  <a:pt x="0" y="20773"/>
                </a:cubicBezTo>
                <a:lnTo>
                  <a:pt x="0" y="827"/>
                </a:lnTo>
                <a:cubicBezTo>
                  <a:pt x="0" y="370"/>
                  <a:pt x="9671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75" name="Shape 33"/>
          <p:cNvSpPr/>
          <p:nvPr/>
        </p:nvSpPr>
        <p:spPr>
          <a:xfrm>
            <a:off x="4317165" y="2495382"/>
            <a:ext cx="304801" cy="304801"/>
          </a:xfrm>
          <a:prstGeom prst="ellipse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76" name="Text 34"/>
          <p:cNvSpPr txBox="1"/>
          <p:nvPr/>
        </p:nvSpPr>
        <p:spPr>
          <a:xfrm>
            <a:off x="4279065" y="2558882"/>
            <a:ext cx="381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200">
                <a:solidFill>
                  <a:srgbClr val="1A1D21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277" name="Text 35"/>
          <p:cNvSpPr txBox="1"/>
          <p:nvPr/>
        </p:nvSpPr>
        <p:spPr>
          <a:xfrm>
            <a:off x="3741187" y="2844576"/>
            <a:ext cx="145732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CoT推理</a:t>
            </a:r>
          </a:p>
        </p:txBody>
      </p:sp>
      <p:sp>
        <p:nvSpPr>
          <p:cNvPr id="1278" name="Text 36"/>
          <p:cNvSpPr txBox="1"/>
          <p:nvPr/>
        </p:nvSpPr>
        <p:spPr>
          <a:xfrm>
            <a:off x="3750712" y="3093777"/>
            <a:ext cx="143827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四阶段生成</a:t>
            </a:r>
          </a:p>
        </p:txBody>
      </p:sp>
      <p:sp>
        <p:nvSpPr>
          <p:cNvPr id="1279" name="Shape 37"/>
          <p:cNvSpPr/>
          <p:nvPr/>
        </p:nvSpPr>
        <p:spPr>
          <a:xfrm>
            <a:off x="4404616" y="3362026"/>
            <a:ext cx="100053" cy="1333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4" h="21469" fill="norm" stroke="1" extrusionOk="0">
                <a:moveTo>
                  <a:pt x="9377" y="21076"/>
                </a:moveTo>
                <a:cubicBezTo>
                  <a:pt x="10068" y="21600"/>
                  <a:pt x="11191" y="21600"/>
                  <a:pt x="11883" y="21076"/>
                </a:cubicBezTo>
                <a:lnTo>
                  <a:pt x="20735" y="14367"/>
                </a:lnTo>
                <a:cubicBezTo>
                  <a:pt x="21427" y="13842"/>
                  <a:pt x="21427" y="12991"/>
                  <a:pt x="20735" y="12467"/>
                </a:cubicBezTo>
                <a:cubicBezTo>
                  <a:pt x="20044" y="11943"/>
                  <a:pt x="18921" y="11943"/>
                  <a:pt x="18229" y="12467"/>
                </a:cubicBezTo>
                <a:lnTo>
                  <a:pt x="12398" y="16887"/>
                </a:lnTo>
                <a:lnTo>
                  <a:pt x="12398" y="1342"/>
                </a:lnTo>
                <a:cubicBezTo>
                  <a:pt x="12398" y="600"/>
                  <a:pt x="11606" y="0"/>
                  <a:pt x="10627" y="0"/>
                </a:cubicBezTo>
                <a:cubicBezTo>
                  <a:pt x="9648" y="0"/>
                  <a:pt x="8856" y="600"/>
                  <a:pt x="8856" y="1342"/>
                </a:cubicBezTo>
                <a:lnTo>
                  <a:pt x="8856" y="16887"/>
                </a:lnTo>
                <a:lnTo>
                  <a:pt x="3025" y="12467"/>
                </a:lnTo>
                <a:cubicBezTo>
                  <a:pt x="2333" y="11943"/>
                  <a:pt x="1210" y="11943"/>
                  <a:pt x="518" y="12467"/>
                </a:cubicBezTo>
                <a:cubicBezTo>
                  <a:pt x="-173" y="12991"/>
                  <a:pt x="-173" y="13842"/>
                  <a:pt x="518" y="14367"/>
                </a:cubicBezTo>
                <a:lnTo>
                  <a:pt x="9371" y="21076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80" name="Shape 38"/>
          <p:cNvSpPr/>
          <p:nvPr/>
        </p:nvSpPr>
        <p:spPr>
          <a:xfrm>
            <a:off x="3685795" y="3533459"/>
            <a:ext cx="1550844" cy="904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82" y="0"/>
                </a:moveTo>
                <a:lnTo>
                  <a:pt x="20008" y="0"/>
                </a:lnTo>
                <a:cubicBezTo>
                  <a:pt x="20887" y="0"/>
                  <a:pt x="21600" y="1222"/>
                  <a:pt x="21600" y="2729"/>
                </a:cubicBezTo>
                <a:lnTo>
                  <a:pt x="21600" y="18871"/>
                </a:lnTo>
                <a:cubicBezTo>
                  <a:pt x="21600" y="20378"/>
                  <a:pt x="20887" y="21600"/>
                  <a:pt x="20008" y="21600"/>
                </a:cubicBezTo>
                <a:lnTo>
                  <a:pt x="482" y="21600"/>
                </a:lnTo>
                <a:cubicBezTo>
                  <a:pt x="216" y="21600"/>
                  <a:pt x="0" y="21230"/>
                  <a:pt x="0" y="20773"/>
                </a:cubicBezTo>
                <a:lnTo>
                  <a:pt x="0" y="827"/>
                </a:lnTo>
                <a:cubicBezTo>
                  <a:pt x="0" y="370"/>
                  <a:pt x="216" y="0"/>
                  <a:pt x="482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81" name="Shape 39"/>
          <p:cNvSpPr/>
          <p:nvPr/>
        </p:nvSpPr>
        <p:spPr>
          <a:xfrm>
            <a:off x="3685795" y="3533459"/>
            <a:ext cx="34637" cy="904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230"/>
                  <a:pt x="0" y="20773"/>
                </a:cubicBezTo>
                <a:lnTo>
                  <a:pt x="0" y="827"/>
                </a:lnTo>
                <a:cubicBezTo>
                  <a:pt x="0" y="370"/>
                  <a:pt x="9671" y="0"/>
                  <a:pt x="21600" y="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82" name="Shape 40"/>
          <p:cNvSpPr/>
          <p:nvPr/>
        </p:nvSpPr>
        <p:spPr>
          <a:xfrm>
            <a:off x="4317165" y="3609621"/>
            <a:ext cx="304801" cy="304801"/>
          </a:xfrm>
          <a:prstGeom prst="ellipse">
            <a:avLst/>
          </a:pr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83" name="Text 41"/>
          <p:cNvSpPr txBox="1"/>
          <p:nvPr/>
        </p:nvSpPr>
        <p:spPr>
          <a:xfrm>
            <a:off x="4279065" y="3673121"/>
            <a:ext cx="381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284" name="Text 42"/>
          <p:cNvSpPr txBox="1"/>
          <p:nvPr/>
        </p:nvSpPr>
        <p:spPr>
          <a:xfrm>
            <a:off x="3741187" y="3958816"/>
            <a:ext cx="145732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安全防护</a:t>
            </a:r>
          </a:p>
        </p:txBody>
      </p:sp>
      <p:sp>
        <p:nvSpPr>
          <p:cNvPr id="1285" name="Text 43"/>
          <p:cNvSpPr txBox="1"/>
          <p:nvPr/>
        </p:nvSpPr>
        <p:spPr>
          <a:xfrm>
            <a:off x="3750712" y="4208034"/>
            <a:ext cx="143827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三层检查</a:t>
            </a:r>
          </a:p>
        </p:txBody>
      </p:sp>
      <p:sp>
        <p:nvSpPr>
          <p:cNvPr id="1286" name="Shape 45"/>
          <p:cNvSpPr/>
          <p:nvPr/>
        </p:nvSpPr>
        <p:spPr>
          <a:xfrm>
            <a:off x="6492592" y="1148330"/>
            <a:ext cx="4836969" cy="3141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0" y="0"/>
                </a:moveTo>
                <a:lnTo>
                  <a:pt x="21090" y="0"/>
                </a:lnTo>
                <a:cubicBezTo>
                  <a:pt x="21371" y="0"/>
                  <a:pt x="21600" y="352"/>
                  <a:pt x="21600" y="786"/>
                </a:cubicBezTo>
                <a:lnTo>
                  <a:pt x="21600" y="20814"/>
                </a:lnTo>
                <a:cubicBezTo>
                  <a:pt x="21600" y="21248"/>
                  <a:pt x="21371" y="21600"/>
                  <a:pt x="21090" y="21600"/>
                </a:cubicBezTo>
                <a:lnTo>
                  <a:pt x="510" y="21600"/>
                </a:lnTo>
                <a:cubicBezTo>
                  <a:pt x="229" y="21600"/>
                  <a:pt x="0" y="21248"/>
                  <a:pt x="0" y="20814"/>
                </a:cubicBezTo>
                <a:lnTo>
                  <a:pt x="0" y="786"/>
                </a:lnTo>
                <a:cubicBezTo>
                  <a:pt x="0" y="352"/>
                  <a:pt x="229" y="0"/>
                  <a:pt x="510" y="0"/>
                </a:cubicBezTo>
                <a:close/>
              </a:path>
            </a:pathLst>
          </a:custGeom>
          <a:solidFill>
            <a:srgbClr val="5E8B7E">
              <a:alpha val="14902"/>
            </a:srgbClr>
          </a:solidFill>
          <a:ln w="23091">
            <a:solidFill>
              <a:srgbClr val="5E8B7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87" name="Shape 46"/>
          <p:cNvSpPr/>
          <p:nvPr/>
        </p:nvSpPr>
        <p:spPr>
          <a:xfrm>
            <a:off x="6639490" y="1318805"/>
            <a:ext cx="182184" cy="1714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7" h="21600" fill="norm" stroke="1" extrusionOk="0">
                <a:moveTo>
                  <a:pt x="2530" y="0"/>
                </a:moveTo>
                <a:cubicBezTo>
                  <a:pt x="1135" y="0"/>
                  <a:pt x="0" y="1211"/>
                  <a:pt x="0" y="2700"/>
                </a:cubicBezTo>
                <a:lnTo>
                  <a:pt x="0" y="18900"/>
                </a:lnTo>
                <a:cubicBezTo>
                  <a:pt x="0" y="20389"/>
                  <a:pt x="1135" y="21600"/>
                  <a:pt x="2530" y="21600"/>
                </a:cubicBezTo>
                <a:lnTo>
                  <a:pt x="12650" y="21600"/>
                </a:lnTo>
                <a:cubicBezTo>
                  <a:pt x="14046" y="21600"/>
                  <a:pt x="15180" y="20389"/>
                  <a:pt x="15180" y="18900"/>
                </a:cubicBezTo>
                <a:lnTo>
                  <a:pt x="15180" y="14850"/>
                </a:lnTo>
                <a:lnTo>
                  <a:pt x="18267" y="14850"/>
                </a:lnTo>
                <a:lnTo>
                  <a:pt x="17042" y="16158"/>
                </a:lnTo>
                <a:cubicBezTo>
                  <a:pt x="16670" y="16554"/>
                  <a:pt x="16670" y="17196"/>
                  <a:pt x="17042" y="17588"/>
                </a:cubicBezTo>
                <a:cubicBezTo>
                  <a:pt x="17414" y="17980"/>
                  <a:pt x="18015" y="17985"/>
                  <a:pt x="18382" y="17588"/>
                </a:cubicBezTo>
                <a:lnTo>
                  <a:pt x="21228" y="14550"/>
                </a:lnTo>
                <a:cubicBezTo>
                  <a:pt x="21600" y="14154"/>
                  <a:pt x="21600" y="13513"/>
                  <a:pt x="21228" y="13120"/>
                </a:cubicBezTo>
                <a:lnTo>
                  <a:pt x="18382" y="10083"/>
                </a:lnTo>
                <a:cubicBezTo>
                  <a:pt x="18011" y="9686"/>
                  <a:pt x="17410" y="9686"/>
                  <a:pt x="17042" y="10083"/>
                </a:cubicBezTo>
                <a:cubicBezTo>
                  <a:pt x="16674" y="10479"/>
                  <a:pt x="16670" y="11121"/>
                  <a:pt x="17042" y="11513"/>
                </a:cubicBezTo>
                <a:lnTo>
                  <a:pt x="18267" y="12821"/>
                </a:lnTo>
                <a:lnTo>
                  <a:pt x="15180" y="12821"/>
                </a:lnTo>
                <a:lnTo>
                  <a:pt x="15180" y="7189"/>
                </a:lnTo>
                <a:cubicBezTo>
                  <a:pt x="15180" y="6472"/>
                  <a:pt x="14915" y="5784"/>
                  <a:pt x="14441" y="5278"/>
                </a:cubicBezTo>
                <a:lnTo>
                  <a:pt x="10227" y="789"/>
                </a:lnTo>
                <a:cubicBezTo>
                  <a:pt x="9752" y="283"/>
                  <a:pt x="9112" y="0"/>
                  <a:pt x="8440" y="0"/>
                </a:cubicBezTo>
                <a:lnTo>
                  <a:pt x="2530" y="0"/>
                </a:lnTo>
                <a:close/>
                <a:moveTo>
                  <a:pt x="12868" y="7425"/>
                </a:moveTo>
                <a:lnTo>
                  <a:pt x="9171" y="7425"/>
                </a:lnTo>
                <a:cubicBezTo>
                  <a:pt x="8646" y="7425"/>
                  <a:pt x="8223" y="6974"/>
                  <a:pt x="8223" y="6412"/>
                </a:cubicBezTo>
                <a:lnTo>
                  <a:pt x="8223" y="2468"/>
                </a:lnTo>
                <a:lnTo>
                  <a:pt x="12868" y="7425"/>
                </a:lnTo>
                <a:close/>
                <a:moveTo>
                  <a:pt x="7590" y="13837"/>
                </a:moveTo>
                <a:cubicBezTo>
                  <a:pt x="7590" y="13276"/>
                  <a:pt x="8013" y="12825"/>
                  <a:pt x="8539" y="12825"/>
                </a:cubicBezTo>
                <a:lnTo>
                  <a:pt x="12650" y="12825"/>
                </a:lnTo>
                <a:lnTo>
                  <a:pt x="12650" y="14850"/>
                </a:lnTo>
                <a:lnTo>
                  <a:pt x="8539" y="14850"/>
                </a:lnTo>
                <a:cubicBezTo>
                  <a:pt x="8013" y="14850"/>
                  <a:pt x="7590" y="14399"/>
                  <a:pt x="7590" y="13837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88" name="Text 47"/>
          <p:cNvSpPr txBox="1"/>
          <p:nvPr/>
        </p:nvSpPr>
        <p:spPr>
          <a:xfrm>
            <a:off x="6834585" y="1290285"/>
            <a:ext cx="44577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3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最终输出</a:t>
            </a:r>
          </a:p>
        </p:txBody>
      </p:sp>
      <p:sp>
        <p:nvSpPr>
          <p:cNvPr id="1289" name="Shape 48"/>
          <p:cNvSpPr/>
          <p:nvPr/>
        </p:nvSpPr>
        <p:spPr>
          <a:xfrm>
            <a:off x="6615510" y="1614024"/>
            <a:ext cx="4591051" cy="571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58" y="0"/>
                </a:moveTo>
                <a:lnTo>
                  <a:pt x="21242" y="0"/>
                </a:lnTo>
                <a:cubicBezTo>
                  <a:pt x="21439" y="0"/>
                  <a:pt x="21600" y="1289"/>
                  <a:pt x="21600" y="2880"/>
                </a:cubicBezTo>
                <a:lnTo>
                  <a:pt x="21600" y="18720"/>
                </a:lnTo>
                <a:cubicBezTo>
                  <a:pt x="21600" y="20311"/>
                  <a:pt x="21439" y="21600"/>
                  <a:pt x="21242" y="21600"/>
                </a:cubicBezTo>
                <a:lnTo>
                  <a:pt x="358" y="21600"/>
                </a:lnTo>
                <a:cubicBezTo>
                  <a:pt x="161" y="21600"/>
                  <a:pt x="0" y="20311"/>
                  <a:pt x="0" y="18720"/>
                </a:cubicBezTo>
                <a:lnTo>
                  <a:pt x="0" y="2880"/>
                </a:lnTo>
                <a:cubicBezTo>
                  <a:pt x="0" y="1289"/>
                  <a:pt x="161" y="0"/>
                  <a:pt x="358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90" name="Text 49"/>
          <p:cNvSpPr txBox="1"/>
          <p:nvPr/>
        </p:nvSpPr>
        <p:spPr>
          <a:xfrm>
            <a:off x="6691683" y="1696537"/>
            <a:ext cx="450532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推荐处方</a:t>
            </a:r>
          </a:p>
        </p:txBody>
      </p:sp>
      <p:sp>
        <p:nvSpPr>
          <p:cNvPr id="1291" name="Text 50"/>
          <p:cNvSpPr txBox="1"/>
          <p:nvPr/>
        </p:nvSpPr>
        <p:spPr>
          <a:xfrm>
            <a:off x="6691683" y="1925062"/>
            <a:ext cx="450532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["左甲状腺素钠片", "阿托伐他汀钙片", "阿卡波糖片"]</a:t>
            </a:r>
          </a:p>
        </p:txBody>
      </p:sp>
      <p:sp>
        <p:nvSpPr>
          <p:cNvPr id="1292" name="Shape 51"/>
          <p:cNvSpPr/>
          <p:nvPr/>
        </p:nvSpPr>
        <p:spPr>
          <a:xfrm>
            <a:off x="6615510" y="2261482"/>
            <a:ext cx="4591051" cy="1219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59" y="0"/>
                </a:moveTo>
                <a:lnTo>
                  <a:pt x="21241" y="0"/>
                </a:lnTo>
                <a:cubicBezTo>
                  <a:pt x="21439" y="0"/>
                  <a:pt x="21600" y="605"/>
                  <a:pt x="21600" y="1350"/>
                </a:cubicBezTo>
                <a:lnTo>
                  <a:pt x="21600" y="20250"/>
                </a:lnTo>
                <a:cubicBezTo>
                  <a:pt x="21600" y="20995"/>
                  <a:pt x="21439" y="21600"/>
                  <a:pt x="21241" y="21600"/>
                </a:cubicBezTo>
                <a:lnTo>
                  <a:pt x="359" y="21600"/>
                </a:lnTo>
                <a:cubicBezTo>
                  <a:pt x="161" y="21600"/>
                  <a:pt x="0" y="20995"/>
                  <a:pt x="0" y="20250"/>
                </a:cubicBezTo>
                <a:lnTo>
                  <a:pt x="0" y="1350"/>
                </a:lnTo>
                <a:cubicBezTo>
                  <a:pt x="0" y="605"/>
                  <a:pt x="161" y="0"/>
                  <a:pt x="359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93" name="Text 52"/>
          <p:cNvSpPr txBox="1"/>
          <p:nvPr/>
        </p:nvSpPr>
        <p:spPr>
          <a:xfrm>
            <a:off x="6691683" y="2344013"/>
            <a:ext cx="450532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完整CoT推理链</a:t>
            </a:r>
          </a:p>
        </p:txBody>
      </p:sp>
      <p:sp>
        <p:nvSpPr>
          <p:cNvPr id="1294" name="Shape 53"/>
          <p:cNvSpPr/>
          <p:nvPr/>
        </p:nvSpPr>
        <p:spPr>
          <a:xfrm>
            <a:off x="6691683" y="2566189"/>
            <a:ext cx="4438651" cy="838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5" y="0"/>
                </a:moveTo>
                <a:lnTo>
                  <a:pt x="21415" y="0"/>
                </a:lnTo>
                <a:cubicBezTo>
                  <a:pt x="21517" y="0"/>
                  <a:pt x="21600" y="440"/>
                  <a:pt x="21600" y="982"/>
                </a:cubicBezTo>
                <a:lnTo>
                  <a:pt x="21600" y="20618"/>
                </a:lnTo>
                <a:cubicBezTo>
                  <a:pt x="21600" y="21160"/>
                  <a:pt x="21517" y="21600"/>
                  <a:pt x="21415" y="21600"/>
                </a:cubicBezTo>
                <a:lnTo>
                  <a:pt x="185" y="21600"/>
                </a:lnTo>
                <a:cubicBezTo>
                  <a:pt x="83" y="21600"/>
                  <a:pt x="0" y="21160"/>
                  <a:pt x="0" y="20618"/>
                </a:cubicBezTo>
                <a:lnTo>
                  <a:pt x="0" y="982"/>
                </a:lnTo>
                <a:cubicBezTo>
                  <a:pt x="0" y="440"/>
                  <a:pt x="83" y="0"/>
                  <a:pt x="185" y="0"/>
                </a:cubicBezTo>
                <a:close/>
              </a:path>
            </a:pathLst>
          </a:custGeom>
          <a:solidFill>
            <a:srgbClr val="0D0E1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95" name="Text 54"/>
          <p:cNvSpPr txBox="1"/>
          <p:nvPr/>
        </p:nvSpPr>
        <p:spPr>
          <a:xfrm>
            <a:off x="6767856" y="2631239"/>
            <a:ext cx="4343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【阶段1: 诊断推理】...</a:t>
            </a:r>
          </a:p>
        </p:txBody>
      </p:sp>
      <p:sp>
        <p:nvSpPr>
          <p:cNvPr id="1296" name="Text 55"/>
          <p:cNvSpPr txBox="1"/>
          <p:nvPr/>
        </p:nvSpPr>
        <p:spPr>
          <a:xfrm>
            <a:off x="6767856" y="2812195"/>
            <a:ext cx="4343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【阶段2: 用药推理】...</a:t>
            </a:r>
          </a:p>
        </p:txBody>
      </p:sp>
      <p:sp>
        <p:nvSpPr>
          <p:cNvPr id="1297" name="Text 56"/>
          <p:cNvSpPr txBox="1"/>
          <p:nvPr/>
        </p:nvSpPr>
        <p:spPr>
          <a:xfrm>
            <a:off x="6767856" y="2993170"/>
            <a:ext cx="4343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【阶段3: 安全推理】...</a:t>
            </a:r>
          </a:p>
        </p:txBody>
      </p:sp>
      <p:sp>
        <p:nvSpPr>
          <p:cNvPr id="1298" name="Text 57"/>
          <p:cNvSpPr txBox="1"/>
          <p:nvPr/>
        </p:nvSpPr>
        <p:spPr>
          <a:xfrm>
            <a:off x="6767856" y="3174127"/>
            <a:ext cx="4343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【阶段4: 处方推理】...</a:t>
            </a:r>
          </a:p>
        </p:txBody>
      </p:sp>
      <p:sp>
        <p:nvSpPr>
          <p:cNvPr id="1299" name="Shape 58"/>
          <p:cNvSpPr/>
          <p:nvPr/>
        </p:nvSpPr>
        <p:spPr>
          <a:xfrm>
            <a:off x="6615510" y="3556640"/>
            <a:ext cx="2257426" cy="609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29" y="0"/>
                </a:moveTo>
                <a:lnTo>
                  <a:pt x="20871" y="0"/>
                </a:lnTo>
                <a:cubicBezTo>
                  <a:pt x="21273" y="0"/>
                  <a:pt x="21600" y="1210"/>
                  <a:pt x="21600" y="2700"/>
                </a:cubicBezTo>
                <a:lnTo>
                  <a:pt x="21600" y="18900"/>
                </a:lnTo>
                <a:cubicBezTo>
                  <a:pt x="21600" y="20390"/>
                  <a:pt x="21273" y="21600"/>
                  <a:pt x="20871" y="21600"/>
                </a:cubicBezTo>
                <a:lnTo>
                  <a:pt x="729" y="21600"/>
                </a:lnTo>
                <a:cubicBezTo>
                  <a:pt x="327" y="21600"/>
                  <a:pt x="0" y="20390"/>
                  <a:pt x="0" y="18900"/>
                </a:cubicBezTo>
                <a:lnTo>
                  <a:pt x="0" y="2700"/>
                </a:lnTo>
                <a:cubicBezTo>
                  <a:pt x="0" y="1210"/>
                  <a:pt x="327" y="0"/>
                  <a:pt x="729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00" name="Text 59"/>
          <p:cNvSpPr txBox="1"/>
          <p:nvPr/>
        </p:nvSpPr>
        <p:spPr>
          <a:xfrm>
            <a:off x="6663108" y="3626453"/>
            <a:ext cx="216217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defRPr sz="9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置信度</a:t>
            </a:r>
          </a:p>
        </p:txBody>
      </p:sp>
      <p:sp>
        <p:nvSpPr>
          <p:cNvPr id="1301" name="Text 60"/>
          <p:cNvSpPr txBox="1"/>
          <p:nvPr/>
        </p:nvSpPr>
        <p:spPr>
          <a:xfrm>
            <a:off x="6648821" y="3855053"/>
            <a:ext cx="219075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3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0.85</a:t>
            </a:r>
          </a:p>
        </p:txBody>
      </p:sp>
      <p:sp>
        <p:nvSpPr>
          <p:cNvPr id="1302" name="Shape 61"/>
          <p:cNvSpPr/>
          <p:nvPr/>
        </p:nvSpPr>
        <p:spPr>
          <a:xfrm>
            <a:off x="8949541" y="3556640"/>
            <a:ext cx="2257426" cy="609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29" y="0"/>
                </a:moveTo>
                <a:lnTo>
                  <a:pt x="20871" y="0"/>
                </a:lnTo>
                <a:cubicBezTo>
                  <a:pt x="21273" y="0"/>
                  <a:pt x="21600" y="1210"/>
                  <a:pt x="21600" y="2700"/>
                </a:cubicBezTo>
                <a:lnTo>
                  <a:pt x="21600" y="18900"/>
                </a:lnTo>
                <a:cubicBezTo>
                  <a:pt x="21600" y="20390"/>
                  <a:pt x="21273" y="21600"/>
                  <a:pt x="20871" y="21600"/>
                </a:cubicBezTo>
                <a:lnTo>
                  <a:pt x="729" y="21600"/>
                </a:lnTo>
                <a:cubicBezTo>
                  <a:pt x="327" y="21600"/>
                  <a:pt x="0" y="20390"/>
                  <a:pt x="0" y="18900"/>
                </a:cubicBezTo>
                <a:lnTo>
                  <a:pt x="0" y="2700"/>
                </a:lnTo>
                <a:cubicBezTo>
                  <a:pt x="0" y="1210"/>
                  <a:pt x="327" y="0"/>
                  <a:pt x="729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03" name="Text 62"/>
          <p:cNvSpPr txBox="1"/>
          <p:nvPr/>
        </p:nvSpPr>
        <p:spPr>
          <a:xfrm>
            <a:off x="8997139" y="3626453"/>
            <a:ext cx="216217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defRPr sz="9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风险提示</a:t>
            </a:r>
          </a:p>
        </p:txBody>
      </p:sp>
      <p:sp>
        <p:nvSpPr>
          <p:cNvPr id="1304" name="Text 63"/>
          <p:cNvSpPr txBox="1"/>
          <p:nvPr/>
        </p:nvSpPr>
        <p:spPr>
          <a:xfrm>
            <a:off x="8982852" y="3842353"/>
            <a:ext cx="219075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3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无</a:t>
            </a:r>
          </a:p>
        </p:txBody>
      </p:sp>
      <p:sp>
        <p:nvSpPr>
          <p:cNvPr id="1305" name="Shape 64"/>
          <p:cNvSpPr/>
          <p:nvPr/>
        </p:nvSpPr>
        <p:spPr>
          <a:xfrm>
            <a:off x="389658" y="4538112"/>
            <a:ext cx="2750995" cy="855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97" y="0"/>
                </a:moveTo>
                <a:lnTo>
                  <a:pt x="20703" y="0"/>
                </a:lnTo>
                <a:cubicBezTo>
                  <a:pt x="21198" y="0"/>
                  <a:pt x="21600" y="1292"/>
                  <a:pt x="21600" y="2886"/>
                </a:cubicBezTo>
                <a:lnTo>
                  <a:pt x="21600" y="18714"/>
                </a:lnTo>
                <a:cubicBezTo>
                  <a:pt x="21600" y="20308"/>
                  <a:pt x="21198" y="21600"/>
                  <a:pt x="20703" y="21600"/>
                </a:cubicBezTo>
                <a:lnTo>
                  <a:pt x="897" y="21600"/>
                </a:lnTo>
                <a:cubicBezTo>
                  <a:pt x="402" y="21600"/>
                  <a:pt x="0" y="20308"/>
                  <a:pt x="0" y="18714"/>
                </a:cubicBezTo>
                <a:lnTo>
                  <a:pt x="0" y="2886"/>
                </a:lnTo>
                <a:cubicBezTo>
                  <a:pt x="0" y="1292"/>
                  <a:pt x="402" y="0"/>
                  <a:pt x="897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23091">
            <a:solidFill>
              <a:srgbClr val="5E8B7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06" name="Shape 65"/>
          <p:cNvSpPr/>
          <p:nvPr/>
        </p:nvSpPr>
        <p:spPr>
          <a:xfrm>
            <a:off x="1671609" y="4627271"/>
            <a:ext cx="190501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9"/>
                  <a:pt x="4839" y="0"/>
                  <a:pt x="10800" y="0"/>
                </a:cubicBezTo>
                <a:cubicBezTo>
                  <a:pt x="16761" y="0"/>
                  <a:pt x="21600" y="4839"/>
                  <a:pt x="21600" y="10800"/>
                </a:cubicBezTo>
                <a:cubicBezTo>
                  <a:pt x="21600" y="16761"/>
                  <a:pt x="16761" y="21600"/>
                  <a:pt x="10800" y="21600"/>
                </a:cubicBezTo>
                <a:cubicBezTo>
                  <a:pt x="4839" y="21600"/>
                  <a:pt x="0" y="16761"/>
                  <a:pt x="0" y="10800"/>
                </a:cubicBezTo>
                <a:close/>
                <a:moveTo>
                  <a:pt x="12150" y="4050"/>
                </a:moveTo>
                <a:cubicBezTo>
                  <a:pt x="12150" y="3305"/>
                  <a:pt x="11545" y="2700"/>
                  <a:pt x="10800" y="2700"/>
                </a:cubicBezTo>
                <a:cubicBezTo>
                  <a:pt x="10055" y="2700"/>
                  <a:pt x="9450" y="3305"/>
                  <a:pt x="9450" y="4050"/>
                </a:cubicBezTo>
                <a:cubicBezTo>
                  <a:pt x="9450" y="4795"/>
                  <a:pt x="10055" y="5400"/>
                  <a:pt x="10800" y="5400"/>
                </a:cubicBezTo>
                <a:cubicBezTo>
                  <a:pt x="11545" y="5400"/>
                  <a:pt x="12150" y="4795"/>
                  <a:pt x="12150" y="4050"/>
                </a:cubicBezTo>
                <a:close/>
                <a:moveTo>
                  <a:pt x="10800" y="17550"/>
                </a:moveTo>
                <a:cubicBezTo>
                  <a:pt x="12289" y="17550"/>
                  <a:pt x="13500" y="16339"/>
                  <a:pt x="13500" y="14850"/>
                </a:cubicBezTo>
                <a:cubicBezTo>
                  <a:pt x="13500" y="14167"/>
                  <a:pt x="13247" y="13538"/>
                  <a:pt x="12825" y="13065"/>
                </a:cubicBezTo>
                <a:lnTo>
                  <a:pt x="15757" y="7206"/>
                </a:lnTo>
                <a:cubicBezTo>
                  <a:pt x="16006" y="6704"/>
                  <a:pt x="15803" y="6096"/>
                  <a:pt x="15306" y="5847"/>
                </a:cubicBezTo>
                <a:cubicBezTo>
                  <a:pt x="14808" y="5598"/>
                  <a:pt x="14196" y="5801"/>
                  <a:pt x="13947" y="6299"/>
                </a:cubicBezTo>
                <a:lnTo>
                  <a:pt x="11015" y="12158"/>
                </a:lnTo>
                <a:cubicBezTo>
                  <a:pt x="10943" y="12154"/>
                  <a:pt x="10872" y="12150"/>
                  <a:pt x="10800" y="12150"/>
                </a:cubicBezTo>
                <a:cubicBezTo>
                  <a:pt x="9311" y="12150"/>
                  <a:pt x="8100" y="13361"/>
                  <a:pt x="8100" y="14850"/>
                </a:cubicBezTo>
                <a:cubicBezTo>
                  <a:pt x="8100" y="16339"/>
                  <a:pt x="9311" y="17550"/>
                  <a:pt x="10800" y="17550"/>
                </a:cubicBezTo>
                <a:close/>
                <a:moveTo>
                  <a:pt x="7425" y="6075"/>
                </a:moveTo>
                <a:cubicBezTo>
                  <a:pt x="7425" y="5330"/>
                  <a:pt x="6820" y="4725"/>
                  <a:pt x="6075" y="4725"/>
                </a:cubicBezTo>
                <a:cubicBezTo>
                  <a:pt x="5330" y="4725"/>
                  <a:pt x="4725" y="5330"/>
                  <a:pt x="4725" y="6075"/>
                </a:cubicBezTo>
                <a:cubicBezTo>
                  <a:pt x="4725" y="6820"/>
                  <a:pt x="5330" y="7425"/>
                  <a:pt x="6075" y="7425"/>
                </a:cubicBezTo>
                <a:cubicBezTo>
                  <a:pt x="6820" y="7425"/>
                  <a:pt x="7425" y="6820"/>
                  <a:pt x="7425" y="6075"/>
                </a:cubicBezTo>
                <a:close/>
                <a:moveTo>
                  <a:pt x="4050" y="12150"/>
                </a:moveTo>
                <a:cubicBezTo>
                  <a:pt x="4795" y="12150"/>
                  <a:pt x="5400" y="11545"/>
                  <a:pt x="5400" y="10800"/>
                </a:cubicBezTo>
                <a:cubicBezTo>
                  <a:pt x="5400" y="10055"/>
                  <a:pt x="4795" y="9450"/>
                  <a:pt x="4050" y="9450"/>
                </a:cubicBezTo>
                <a:cubicBezTo>
                  <a:pt x="3305" y="9450"/>
                  <a:pt x="2700" y="10055"/>
                  <a:pt x="2700" y="10800"/>
                </a:cubicBezTo>
                <a:cubicBezTo>
                  <a:pt x="2700" y="11545"/>
                  <a:pt x="3305" y="12150"/>
                  <a:pt x="4050" y="12150"/>
                </a:cubicBezTo>
                <a:close/>
                <a:moveTo>
                  <a:pt x="18900" y="10800"/>
                </a:moveTo>
                <a:cubicBezTo>
                  <a:pt x="18900" y="10055"/>
                  <a:pt x="18295" y="9450"/>
                  <a:pt x="17550" y="9450"/>
                </a:cubicBezTo>
                <a:cubicBezTo>
                  <a:pt x="16805" y="9450"/>
                  <a:pt x="16200" y="10055"/>
                  <a:pt x="16200" y="10800"/>
                </a:cubicBezTo>
                <a:cubicBezTo>
                  <a:pt x="16200" y="11545"/>
                  <a:pt x="16805" y="12150"/>
                  <a:pt x="17550" y="12150"/>
                </a:cubicBezTo>
                <a:cubicBezTo>
                  <a:pt x="18295" y="12150"/>
                  <a:pt x="18900" y="11545"/>
                  <a:pt x="18900" y="1080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07" name="Text 66"/>
          <p:cNvSpPr txBox="1"/>
          <p:nvPr/>
        </p:nvSpPr>
        <p:spPr>
          <a:xfrm>
            <a:off x="445915" y="4849502"/>
            <a:ext cx="263842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defRPr sz="9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首字延迟</a:t>
            </a:r>
          </a:p>
        </p:txBody>
      </p:sp>
      <p:sp>
        <p:nvSpPr>
          <p:cNvPr id="1308" name="Text 67"/>
          <p:cNvSpPr txBox="1"/>
          <p:nvPr/>
        </p:nvSpPr>
        <p:spPr>
          <a:xfrm>
            <a:off x="431628" y="5078102"/>
            <a:ext cx="26670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3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&lt;300ms</a:t>
            </a:r>
          </a:p>
        </p:txBody>
      </p:sp>
      <p:sp>
        <p:nvSpPr>
          <p:cNvPr id="1309" name="Shape 68"/>
          <p:cNvSpPr/>
          <p:nvPr/>
        </p:nvSpPr>
        <p:spPr>
          <a:xfrm>
            <a:off x="3275707" y="4538112"/>
            <a:ext cx="2750994" cy="855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97" y="0"/>
                </a:moveTo>
                <a:lnTo>
                  <a:pt x="20703" y="0"/>
                </a:lnTo>
                <a:cubicBezTo>
                  <a:pt x="21198" y="0"/>
                  <a:pt x="21600" y="1292"/>
                  <a:pt x="21600" y="2886"/>
                </a:cubicBezTo>
                <a:lnTo>
                  <a:pt x="21600" y="18714"/>
                </a:lnTo>
                <a:cubicBezTo>
                  <a:pt x="21600" y="20308"/>
                  <a:pt x="21198" y="21600"/>
                  <a:pt x="20703" y="21600"/>
                </a:cubicBezTo>
                <a:lnTo>
                  <a:pt x="897" y="21600"/>
                </a:lnTo>
                <a:cubicBezTo>
                  <a:pt x="402" y="21600"/>
                  <a:pt x="0" y="20308"/>
                  <a:pt x="0" y="18714"/>
                </a:cubicBezTo>
                <a:lnTo>
                  <a:pt x="0" y="2886"/>
                </a:lnTo>
                <a:cubicBezTo>
                  <a:pt x="0" y="1292"/>
                  <a:pt x="402" y="0"/>
                  <a:pt x="897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23091">
            <a:solidFill>
              <a:srgbClr val="4A6C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10" name="Shape 69"/>
          <p:cNvSpPr/>
          <p:nvPr/>
        </p:nvSpPr>
        <p:spPr>
          <a:xfrm>
            <a:off x="4554859" y="4639173"/>
            <a:ext cx="181397" cy="1813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32" h="20931" fill="norm" stroke="1" extrusionOk="0">
                <a:moveTo>
                  <a:pt x="5819" y="12366"/>
                </a:moveTo>
                <a:lnTo>
                  <a:pt x="1375" y="12366"/>
                </a:lnTo>
                <a:cubicBezTo>
                  <a:pt x="306" y="12366"/>
                  <a:pt x="-351" y="11202"/>
                  <a:pt x="199" y="10283"/>
                </a:cubicBezTo>
                <a:lnTo>
                  <a:pt x="2470" y="6497"/>
                </a:lnTo>
                <a:cubicBezTo>
                  <a:pt x="2843" y="5874"/>
                  <a:pt x="3513" y="5496"/>
                  <a:pt x="4239" y="5496"/>
                </a:cubicBezTo>
                <a:lnTo>
                  <a:pt x="8317" y="5496"/>
                </a:lnTo>
                <a:cubicBezTo>
                  <a:pt x="11585" y="-38"/>
                  <a:pt x="16458" y="-317"/>
                  <a:pt x="19716" y="160"/>
                </a:cubicBezTo>
                <a:cubicBezTo>
                  <a:pt x="20266" y="241"/>
                  <a:pt x="20695" y="671"/>
                  <a:pt x="20772" y="1216"/>
                </a:cubicBezTo>
                <a:cubicBezTo>
                  <a:pt x="21249" y="4474"/>
                  <a:pt x="20970" y="9347"/>
                  <a:pt x="15436" y="12615"/>
                </a:cubicBezTo>
                <a:lnTo>
                  <a:pt x="15436" y="16693"/>
                </a:lnTo>
                <a:cubicBezTo>
                  <a:pt x="15436" y="17419"/>
                  <a:pt x="15058" y="18089"/>
                  <a:pt x="14435" y="18462"/>
                </a:cubicBezTo>
                <a:lnTo>
                  <a:pt x="10649" y="20733"/>
                </a:lnTo>
                <a:cubicBezTo>
                  <a:pt x="9734" y="21283"/>
                  <a:pt x="8566" y="20622"/>
                  <a:pt x="8566" y="19557"/>
                </a:cubicBezTo>
                <a:lnTo>
                  <a:pt x="8566" y="15113"/>
                </a:lnTo>
                <a:cubicBezTo>
                  <a:pt x="8566" y="13598"/>
                  <a:pt x="7334" y="12366"/>
                  <a:pt x="5819" y="12366"/>
                </a:cubicBezTo>
                <a:lnTo>
                  <a:pt x="5814" y="12366"/>
                </a:lnTo>
                <a:close/>
                <a:moveTo>
                  <a:pt x="17497" y="5496"/>
                </a:moveTo>
                <a:cubicBezTo>
                  <a:pt x="17497" y="4359"/>
                  <a:pt x="16573" y="3435"/>
                  <a:pt x="15436" y="3435"/>
                </a:cubicBezTo>
                <a:cubicBezTo>
                  <a:pt x="14298" y="3435"/>
                  <a:pt x="13375" y="4359"/>
                  <a:pt x="13375" y="5496"/>
                </a:cubicBezTo>
                <a:cubicBezTo>
                  <a:pt x="13375" y="6634"/>
                  <a:pt x="14298" y="7557"/>
                  <a:pt x="15436" y="7557"/>
                </a:cubicBezTo>
                <a:cubicBezTo>
                  <a:pt x="16573" y="7557"/>
                  <a:pt x="17497" y="6634"/>
                  <a:pt x="17497" y="5496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11" name="Text 70"/>
          <p:cNvSpPr txBox="1"/>
          <p:nvPr/>
        </p:nvSpPr>
        <p:spPr>
          <a:xfrm>
            <a:off x="3331964" y="4849502"/>
            <a:ext cx="263842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defRPr sz="9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吞吐提升</a:t>
            </a:r>
          </a:p>
        </p:txBody>
      </p:sp>
      <p:sp>
        <p:nvSpPr>
          <p:cNvPr id="1312" name="Text 71"/>
          <p:cNvSpPr txBox="1"/>
          <p:nvPr/>
        </p:nvSpPr>
        <p:spPr>
          <a:xfrm>
            <a:off x="3317676" y="5078102"/>
            <a:ext cx="26670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3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2-3x</a:t>
            </a:r>
          </a:p>
        </p:txBody>
      </p:sp>
      <p:sp>
        <p:nvSpPr>
          <p:cNvPr id="1313" name="Shape 72"/>
          <p:cNvSpPr/>
          <p:nvPr/>
        </p:nvSpPr>
        <p:spPr>
          <a:xfrm>
            <a:off x="6161754" y="4538112"/>
            <a:ext cx="2750995" cy="855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97" y="0"/>
                </a:moveTo>
                <a:lnTo>
                  <a:pt x="20703" y="0"/>
                </a:lnTo>
                <a:cubicBezTo>
                  <a:pt x="21198" y="0"/>
                  <a:pt x="21600" y="1292"/>
                  <a:pt x="21600" y="2886"/>
                </a:cubicBezTo>
                <a:lnTo>
                  <a:pt x="21600" y="18714"/>
                </a:lnTo>
                <a:cubicBezTo>
                  <a:pt x="21600" y="20308"/>
                  <a:pt x="21198" y="21600"/>
                  <a:pt x="20703" y="21600"/>
                </a:cubicBezTo>
                <a:lnTo>
                  <a:pt x="897" y="21600"/>
                </a:lnTo>
                <a:cubicBezTo>
                  <a:pt x="402" y="21600"/>
                  <a:pt x="0" y="20308"/>
                  <a:pt x="0" y="18714"/>
                </a:cubicBezTo>
                <a:lnTo>
                  <a:pt x="0" y="2886"/>
                </a:lnTo>
                <a:cubicBezTo>
                  <a:pt x="0" y="1292"/>
                  <a:pt x="402" y="0"/>
                  <a:pt x="897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23091">
            <a:solidFill>
              <a:srgbClr val="5E8B7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14" name="Shape 73"/>
          <p:cNvSpPr/>
          <p:nvPr/>
        </p:nvSpPr>
        <p:spPr>
          <a:xfrm>
            <a:off x="7443706" y="4651083"/>
            <a:ext cx="190501" cy="1428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700" y="0"/>
                </a:moveTo>
                <a:cubicBezTo>
                  <a:pt x="1211" y="0"/>
                  <a:pt x="0" y="1614"/>
                  <a:pt x="0" y="3600"/>
                </a:cubicBezTo>
                <a:lnTo>
                  <a:pt x="0" y="4016"/>
                </a:lnTo>
                <a:cubicBezTo>
                  <a:pt x="0" y="4399"/>
                  <a:pt x="186" y="4725"/>
                  <a:pt x="426" y="4933"/>
                </a:cubicBezTo>
                <a:cubicBezTo>
                  <a:pt x="983" y="5417"/>
                  <a:pt x="1350" y="6249"/>
                  <a:pt x="1350" y="7200"/>
                </a:cubicBezTo>
                <a:cubicBezTo>
                  <a:pt x="1350" y="8151"/>
                  <a:pt x="983" y="8983"/>
                  <a:pt x="426" y="9467"/>
                </a:cubicBezTo>
                <a:cubicBezTo>
                  <a:pt x="186" y="9675"/>
                  <a:pt x="0" y="10001"/>
                  <a:pt x="0" y="10384"/>
                </a:cubicBezTo>
                <a:lnTo>
                  <a:pt x="0" y="13500"/>
                </a:lnTo>
                <a:lnTo>
                  <a:pt x="21600" y="13500"/>
                </a:lnTo>
                <a:lnTo>
                  <a:pt x="21600" y="10384"/>
                </a:lnTo>
                <a:cubicBezTo>
                  <a:pt x="21600" y="10001"/>
                  <a:pt x="21414" y="9675"/>
                  <a:pt x="21174" y="9467"/>
                </a:cubicBezTo>
                <a:cubicBezTo>
                  <a:pt x="20617" y="8983"/>
                  <a:pt x="20250" y="8151"/>
                  <a:pt x="20250" y="7200"/>
                </a:cubicBezTo>
                <a:cubicBezTo>
                  <a:pt x="20250" y="6249"/>
                  <a:pt x="20617" y="5417"/>
                  <a:pt x="21174" y="4933"/>
                </a:cubicBezTo>
                <a:cubicBezTo>
                  <a:pt x="21414" y="4725"/>
                  <a:pt x="21600" y="4399"/>
                  <a:pt x="21600" y="4016"/>
                </a:cubicBezTo>
                <a:lnTo>
                  <a:pt x="21600" y="3600"/>
                </a:lnTo>
                <a:cubicBezTo>
                  <a:pt x="21600" y="1614"/>
                  <a:pt x="20389" y="0"/>
                  <a:pt x="18900" y="0"/>
                </a:cubicBezTo>
                <a:lnTo>
                  <a:pt x="2700" y="0"/>
                </a:lnTo>
                <a:close/>
                <a:moveTo>
                  <a:pt x="21600" y="19800"/>
                </a:moveTo>
                <a:lnTo>
                  <a:pt x="21600" y="16200"/>
                </a:lnTo>
                <a:lnTo>
                  <a:pt x="0" y="16200"/>
                </a:lnTo>
                <a:lnTo>
                  <a:pt x="0" y="19800"/>
                </a:lnTo>
                <a:cubicBezTo>
                  <a:pt x="0" y="20796"/>
                  <a:pt x="603" y="21600"/>
                  <a:pt x="1350" y="21600"/>
                </a:cubicBezTo>
                <a:lnTo>
                  <a:pt x="4050" y="21600"/>
                </a:lnTo>
                <a:lnTo>
                  <a:pt x="4050" y="20250"/>
                </a:lnTo>
                <a:cubicBezTo>
                  <a:pt x="4050" y="19502"/>
                  <a:pt x="4501" y="18900"/>
                  <a:pt x="5062" y="18900"/>
                </a:cubicBezTo>
                <a:cubicBezTo>
                  <a:pt x="5624" y="18900"/>
                  <a:pt x="6075" y="19502"/>
                  <a:pt x="6075" y="20250"/>
                </a:cubicBezTo>
                <a:lnTo>
                  <a:pt x="6075" y="21600"/>
                </a:lnTo>
                <a:lnTo>
                  <a:pt x="9787" y="21600"/>
                </a:lnTo>
                <a:lnTo>
                  <a:pt x="9787" y="20250"/>
                </a:lnTo>
                <a:cubicBezTo>
                  <a:pt x="9787" y="19502"/>
                  <a:pt x="10239" y="18900"/>
                  <a:pt x="10800" y="18900"/>
                </a:cubicBezTo>
                <a:cubicBezTo>
                  <a:pt x="11361" y="18900"/>
                  <a:pt x="11813" y="19502"/>
                  <a:pt x="11813" y="20250"/>
                </a:cubicBezTo>
                <a:lnTo>
                  <a:pt x="11813" y="21600"/>
                </a:lnTo>
                <a:lnTo>
                  <a:pt x="15525" y="21600"/>
                </a:lnTo>
                <a:lnTo>
                  <a:pt x="15525" y="20250"/>
                </a:lnTo>
                <a:cubicBezTo>
                  <a:pt x="15525" y="19502"/>
                  <a:pt x="15976" y="18900"/>
                  <a:pt x="16538" y="18900"/>
                </a:cubicBezTo>
                <a:cubicBezTo>
                  <a:pt x="17099" y="18900"/>
                  <a:pt x="17550" y="19502"/>
                  <a:pt x="17550" y="20250"/>
                </a:cubicBezTo>
                <a:lnTo>
                  <a:pt x="17550" y="21600"/>
                </a:lnTo>
                <a:lnTo>
                  <a:pt x="20250" y="21600"/>
                </a:lnTo>
                <a:cubicBezTo>
                  <a:pt x="20997" y="21600"/>
                  <a:pt x="21600" y="20796"/>
                  <a:pt x="21600" y="19800"/>
                </a:cubicBezTo>
                <a:close/>
                <a:moveTo>
                  <a:pt x="6750" y="5400"/>
                </a:moveTo>
                <a:lnTo>
                  <a:pt x="6750" y="9000"/>
                </a:lnTo>
                <a:cubicBezTo>
                  <a:pt x="6750" y="9996"/>
                  <a:pt x="6147" y="10800"/>
                  <a:pt x="5400" y="10800"/>
                </a:cubicBezTo>
                <a:cubicBezTo>
                  <a:pt x="4653" y="10800"/>
                  <a:pt x="4050" y="9996"/>
                  <a:pt x="4050" y="9000"/>
                </a:cubicBezTo>
                <a:lnTo>
                  <a:pt x="4050" y="5400"/>
                </a:lnTo>
                <a:cubicBezTo>
                  <a:pt x="4050" y="4404"/>
                  <a:pt x="4653" y="3600"/>
                  <a:pt x="5400" y="3600"/>
                </a:cubicBezTo>
                <a:cubicBezTo>
                  <a:pt x="6147" y="3600"/>
                  <a:pt x="6750" y="4404"/>
                  <a:pt x="6750" y="5400"/>
                </a:cubicBezTo>
                <a:close/>
                <a:moveTo>
                  <a:pt x="12150" y="5400"/>
                </a:moveTo>
                <a:lnTo>
                  <a:pt x="12150" y="9000"/>
                </a:lnTo>
                <a:cubicBezTo>
                  <a:pt x="12150" y="9996"/>
                  <a:pt x="11547" y="10800"/>
                  <a:pt x="10800" y="10800"/>
                </a:cubicBezTo>
                <a:cubicBezTo>
                  <a:pt x="10053" y="10800"/>
                  <a:pt x="9450" y="9996"/>
                  <a:pt x="9450" y="9000"/>
                </a:cubicBezTo>
                <a:lnTo>
                  <a:pt x="9450" y="5400"/>
                </a:lnTo>
                <a:cubicBezTo>
                  <a:pt x="9450" y="4404"/>
                  <a:pt x="10053" y="3600"/>
                  <a:pt x="10800" y="3600"/>
                </a:cubicBezTo>
                <a:cubicBezTo>
                  <a:pt x="11547" y="3600"/>
                  <a:pt x="12150" y="4404"/>
                  <a:pt x="12150" y="5400"/>
                </a:cubicBezTo>
                <a:close/>
                <a:moveTo>
                  <a:pt x="17550" y="5400"/>
                </a:moveTo>
                <a:lnTo>
                  <a:pt x="17550" y="9000"/>
                </a:lnTo>
                <a:cubicBezTo>
                  <a:pt x="17550" y="9996"/>
                  <a:pt x="16947" y="10800"/>
                  <a:pt x="16200" y="10800"/>
                </a:cubicBezTo>
                <a:cubicBezTo>
                  <a:pt x="15453" y="10800"/>
                  <a:pt x="14850" y="9996"/>
                  <a:pt x="14850" y="9000"/>
                </a:cubicBezTo>
                <a:lnTo>
                  <a:pt x="14850" y="5400"/>
                </a:lnTo>
                <a:cubicBezTo>
                  <a:pt x="14850" y="4404"/>
                  <a:pt x="15453" y="3600"/>
                  <a:pt x="16200" y="3600"/>
                </a:cubicBezTo>
                <a:cubicBezTo>
                  <a:pt x="16947" y="3600"/>
                  <a:pt x="17550" y="4404"/>
                  <a:pt x="17550" y="540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15" name="Text 74"/>
          <p:cNvSpPr txBox="1"/>
          <p:nvPr/>
        </p:nvSpPr>
        <p:spPr>
          <a:xfrm>
            <a:off x="6218011" y="4849502"/>
            <a:ext cx="263842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defRPr sz="9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GPU内存</a:t>
            </a:r>
          </a:p>
        </p:txBody>
      </p:sp>
      <p:sp>
        <p:nvSpPr>
          <p:cNvPr id="1316" name="Text 75"/>
          <p:cNvSpPr txBox="1"/>
          <p:nvPr/>
        </p:nvSpPr>
        <p:spPr>
          <a:xfrm>
            <a:off x="6203724" y="5078102"/>
            <a:ext cx="26670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3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~6GB</a:t>
            </a:r>
          </a:p>
        </p:txBody>
      </p:sp>
      <p:sp>
        <p:nvSpPr>
          <p:cNvPr id="1317" name="Shape 76"/>
          <p:cNvSpPr/>
          <p:nvPr/>
        </p:nvSpPr>
        <p:spPr>
          <a:xfrm>
            <a:off x="9047802" y="4538112"/>
            <a:ext cx="2750994" cy="855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97" y="0"/>
                </a:moveTo>
                <a:lnTo>
                  <a:pt x="20703" y="0"/>
                </a:lnTo>
                <a:cubicBezTo>
                  <a:pt x="21198" y="0"/>
                  <a:pt x="21600" y="1292"/>
                  <a:pt x="21600" y="2886"/>
                </a:cubicBezTo>
                <a:lnTo>
                  <a:pt x="21600" y="18714"/>
                </a:lnTo>
                <a:cubicBezTo>
                  <a:pt x="21600" y="20308"/>
                  <a:pt x="21198" y="21600"/>
                  <a:pt x="20703" y="21600"/>
                </a:cubicBezTo>
                <a:lnTo>
                  <a:pt x="897" y="21600"/>
                </a:lnTo>
                <a:cubicBezTo>
                  <a:pt x="402" y="21600"/>
                  <a:pt x="0" y="20308"/>
                  <a:pt x="0" y="18714"/>
                </a:cubicBezTo>
                <a:lnTo>
                  <a:pt x="0" y="2886"/>
                </a:lnTo>
                <a:cubicBezTo>
                  <a:pt x="0" y="1292"/>
                  <a:pt x="402" y="0"/>
                  <a:pt x="897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23091">
            <a:solidFill>
              <a:srgbClr val="4A6C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18" name="Shape 77"/>
          <p:cNvSpPr/>
          <p:nvPr/>
        </p:nvSpPr>
        <p:spPr>
          <a:xfrm>
            <a:off x="10353633" y="4627271"/>
            <a:ext cx="142876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700"/>
                </a:moveTo>
                <a:cubicBezTo>
                  <a:pt x="0" y="1211"/>
                  <a:pt x="1614" y="0"/>
                  <a:pt x="3600" y="0"/>
                </a:cubicBezTo>
                <a:lnTo>
                  <a:pt x="12009" y="0"/>
                </a:lnTo>
                <a:cubicBezTo>
                  <a:pt x="12966" y="0"/>
                  <a:pt x="13883" y="283"/>
                  <a:pt x="14558" y="789"/>
                </a:cubicBezTo>
                <a:lnTo>
                  <a:pt x="20548" y="5286"/>
                </a:lnTo>
                <a:cubicBezTo>
                  <a:pt x="21223" y="5792"/>
                  <a:pt x="21600" y="6480"/>
                  <a:pt x="21600" y="7197"/>
                </a:cubicBezTo>
                <a:lnTo>
                  <a:pt x="21600" y="18900"/>
                </a:lnTo>
                <a:cubicBezTo>
                  <a:pt x="21600" y="20389"/>
                  <a:pt x="19986" y="21600"/>
                  <a:pt x="18000" y="21600"/>
                </a:cubicBezTo>
                <a:lnTo>
                  <a:pt x="3600" y="21600"/>
                </a:lnTo>
                <a:cubicBezTo>
                  <a:pt x="1614" y="21600"/>
                  <a:pt x="0" y="20389"/>
                  <a:pt x="0" y="18900"/>
                </a:cubicBezTo>
                <a:lnTo>
                  <a:pt x="0" y="2700"/>
                </a:lnTo>
                <a:close/>
                <a:moveTo>
                  <a:pt x="11700" y="2468"/>
                </a:moveTo>
                <a:lnTo>
                  <a:pt x="11700" y="6413"/>
                </a:lnTo>
                <a:cubicBezTo>
                  <a:pt x="11700" y="6974"/>
                  <a:pt x="12302" y="7425"/>
                  <a:pt x="13050" y="7425"/>
                </a:cubicBezTo>
                <a:lnTo>
                  <a:pt x="18309" y="7425"/>
                </a:lnTo>
                <a:lnTo>
                  <a:pt x="11700" y="2468"/>
                </a:lnTo>
                <a:close/>
                <a:moveTo>
                  <a:pt x="6750" y="10800"/>
                </a:moveTo>
                <a:cubicBezTo>
                  <a:pt x="6002" y="10800"/>
                  <a:pt x="5400" y="11251"/>
                  <a:pt x="5400" y="11813"/>
                </a:cubicBezTo>
                <a:cubicBezTo>
                  <a:pt x="5400" y="12374"/>
                  <a:pt x="6002" y="12825"/>
                  <a:pt x="6750" y="12825"/>
                </a:cubicBezTo>
                <a:lnTo>
                  <a:pt x="14850" y="12825"/>
                </a:lnTo>
                <a:cubicBezTo>
                  <a:pt x="15598" y="12825"/>
                  <a:pt x="16200" y="12374"/>
                  <a:pt x="16200" y="11813"/>
                </a:cubicBezTo>
                <a:cubicBezTo>
                  <a:pt x="16200" y="11251"/>
                  <a:pt x="15598" y="10800"/>
                  <a:pt x="14850" y="10800"/>
                </a:cubicBezTo>
                <a:lnTo>
                  <a:pt x="6750" y="10800"/>
                </a:lnTo>
                <a:close/>
                <a:moveTo>
                  <a:pt x="6750" y="14850"/>
                </a:moveTo>
                <a:cubicBezTo>
                  <a:pt x="6002" y="14850"/>
                  <a:pt x="5400" y="15301"/>
                  <a:pt x="5400" y="15862"/>
                </a:cubicBezTo>
                <a:cubicBezTo>
                  <a:pt x="5400" y="16424"/>
                  <a:pt x="6002" y="16875"/>
                  <a:pt x="6750" y="16875"/>
                </a:cubicBezTo>
                <a:lnTo>
                  <a:pt x="14850" y="16875"/>
                </a:lnTo>
                <a:cubicBezTo>
                  <a:pt x="15598" y="16875"/>
                  <a:pt x="16200" y="16424"/>
                  <a:pt x="16200" y="15862"/>
                </a:cubicBezTo>
                <a:cubicBezTo>
                  <a:pt x="16200" y="15301"/>
                  <a:pt x="15598" y="14850"/>
                  <a:pt x="14850" y="14850"/>
                </a:cubicBezTo>
                <a:lnTo>
                  <a:pt x="6750" y="14850"/>
                </a:ln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19" name="Text 78"/>
          <p:cNvSpPr txBox="1"/>
          <p:nvPr/>
        </p:nvSpPr>
        <p:spPr>
          <a:xfrm>
            <a:off x="9104059" y="4849502"/>
            <a:ext cx="263842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defRPr sz="9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生成长度</a:t>
            </a:r>
          </a:p>
        </p:txBody>
      </p:sp>
      <p:sp>
        <p:nvSpPr>
          <p:cNvPr id="1320" name="Text 79"/>
          <p:cNvSpPr txBox="1"/>
          <p:nvPr/>
        </p:nvSpPr>
        <p:spPr>
          <a:xfrm>
            <a:off x="9089772" y="5078102"/>
            <a:ext cx="26670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3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6K tokens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Text 0"/>
          <p:cNvSpPr txBox="1"/>
          <p:nvPr/>
        </p:nvSpPr>
        <p:spPr>
          <a:xfrm>
            <a:off x="377460" y="408149"/>
            <a:ext cx="1151257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pc="58" sz="1100">
                <a:solidFill>
                  <a:srgbClr val="5E8B7E"/>
                </a:solidFill>
                <a:latin typeface="Liter"/>
                <a:ea typeface="Liter"/>
                <a:cs typeface="Liter"/>
                <a:sym typeface="Liter"/>
              </a:defRPr>
            </a:lvl1pPr>
          </a:lstStyle>
          <a:p>
            <a:pPr/>
            <a:r>
              <a:t>INFERENCE DEMO: TEST CASE</a:t>
            </a:r>
          </a:p>
        </p:txBody>
      </p:sp>
      <p:sp>
        <p:nvSpPr>
          <p:cNvPr id="1323" name="Text 1"/>
          <p:cNvSpPr txBox="1"/>
          <p:nvPr/>
        </p:nvSpPr>
        <p:spPr>
          <a:xfrm>
            <a:off x="377461" y="594719"/>
            <a:ext cx="1166355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80000"/>
              </a:lnSpc>
              <a:defRPr b="1" sz="35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推理Demo: 真实测试案例</a:t>
            </a:r>
          </a:p>
        </p:txBody>
      </p:sp>
      <p:sp>
        <p:nvSpPr>
          <p:cNvPr id="1324" name="Shape 2"/>
          <p:cNvSpPr/>
          <p:nvPr/>
        </p:nvSpPr>
        <p:spPr>
          <a:xfrm>
            <a:off x="377460" y="1283258"/>
            <a:ext cx="905909" cy="37747"/>
          </a:xfrm>
          <a:prstGeom prst="rect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25" name="Shape 3"/>
          <p:cNvSpPr/>
          <p:nvPr/>
        </p:nvSpPr>
        <p:spPr>
          <a:xfrm>
            <a:off x="394618" y="1471915"/>
            <a:ext cx="11425927" cy="27460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5" y="0"/>
                </a:moveTo>
                <a:lnTo>
                  <a:pt x="21386" y="0"/>
                </a:lnTo>
                <a:cubicBezTo>
                  <a:pt x="21504" y="0"/>
                  <a:pt x="21600" y="399"/>
                  <a:pt x="21600" y="891"/>
                </a:cubicBezTo>
                <a:lnTo>
                  <a:pt x="21600" y="20709"/>
                </a:lnTo>
                <a:cubicBezTo>
                  <a:pt x="21600" y="21201"/>
                  <a:pt x="21504" y="21600"/>
                  <a:pt x="21386" y="21600"/>
                </a:cubicBezTo>
                <a:lnTo>
                  <a:pt x="65" y="21600"/>
                </a:lnTo>
                <a:cubicBezTo>
                  <a:pt x="29" y="21600"/>
                  <a:pt x="0" y="21479"/>
                  <a:pt x="0" y="21330"/>
                </a:cubicBezTo>
                <a:lnTo>
                  <a:pt x="0" y="270"/>
                </a:lnTo>
                <a:cubicBezTo>
                  <a:pt x="0" y="121"/>
                  <a:pt x="29" y="0"/>
                  <a:pt x="65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26" name="Shape 4"/>
          <p:cNvSpPr/>
          <p:nvPr/>
        </p:nvSpPr>
        <p:spPr>
          <a:xfrm>
            <a:off x="394619" y="1471915"/>
            <a:ext cx="34316" cy="27460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0" y="21600"/>
                  <a:pt x="0" y="21479"/>
                  <a:pt x="0" y="21330"/>
                </a:cubicBezTo>
                <a:lnTo>
                  <a:pt x="0" y="270"/>
                </a:lnTo>
                <a:cubicBezTo>
                  <a:pt x="0" y="121"/>
                  <a:pt x="9679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27" name="Shape 5"/>
          <p:cNvSpPr/>
          <p:nvPr/>
        </p:nvSpPr>
        <p:spPr>
          <a:xfrm>
            <a:off x="607530" y="1669952"/>
            <a:ext cx="127394" cy="169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700"/>
                </a:moveTo>
                <a:cubicBezTo>
                  <a:pt x="0" y="1211"/>
                  <a:pt x="1614" y="0"/>
                  <a:pt x="3600" y="0"/>
                </a:cubicBezTo>
                <a:lnTo>
                  <a:pt x="12009" y="0"/>
                </a:lnTo>
                <a:cubicBezTo>
                  <a:pt x="12966" y="0"/>
                  <a:pt x="13883" y="283"/>
                  <a:pt x="14558" y="789"/>
                </a:cubicBezTo>
                <a:lnTo>
                  <a:pt x="20548" y="5286"/>
                </a:lnTo>
                <a:cubicBezTo>
                  <a:pt x="21223" y="5792"/>
                  <a:pt x="21600" y="6480"/>
                  <a:pt x="21600" y="7197"/>
                </a:cubicBezTo>
                <a:lnTo>
                  <a:pt x="21600" y="18900"/>
                </a:lnTo>
                <a:cubicBezTo>
                  <a:pt x="21600" y="20389"/>
                  <a:pt x="19986" y="21600"/>
                  <a:pt x="18000" y="21600"/>
                </a:cubicBezTo>
                <a:lnTo>
                  <a:pt x="3600" y="21600"/>
                </a:lnTo>
                <a:cubicBezTo>
                  <a:pt x="1614" y="21600"/>
                  <a:pt x="0" y="20389"/>
                  <a:pt x="0" y="18900"/>
                </a:cubicBezTo>
                <a:lnTo>
                  <a:pt x="0" y="2700"/>
                </a:lnTo>
                <a:close/>
                <a:moveTo>
                  <a:pt x="11700" y="2468"/>
                </a:moveTo>
                <a:lnTo>
                  <a:pt x="11700" y="6412"/>
                </a:lnTo>
                <a:cubicBezTo>
                  <a:pt x="11700" y="6974"/>
                  <a:pt x="12302" y="7425"/>
                  <a:pt x="13050" y="7425"/>
                </a:cubicBezTo>
                <a:lnTo>
                  <a:pt x="18309" y="7425"/>
                </a:lnTo>
                <a:lnTo>
                  <a:pt x="11700" y="2468"/>
                </a:lnTo>
                <a:close/>
                <a:moveTo>
                  <a:pt x="9000" y="11812"/>
                </a:moveTo>
                <a:lnTo>
                  <a:pt x="9000" y="13500"/>
                </a:lnTo>
                <a:lnTo>
                  <a:pt x="6750" y="13500"/>
                </a:lnTo>
                <a:cubicBezTo>
                  <a:pt x="6255" y="13500"/>
                  <a:pt x="5850" y="13804"/>
                  <a:pt x="5850" y="14175"/>
                </a:cubicBezTo>
                <a:lnTo>
                  <a:pt x="5850" y="15525"/>
                </a:lnTo>
                <a:cubicBezTo>
                  <a:pt x="5850" y="15896"/>
                  <a:pt x="6255" y="16200"/>
                  <a:pt x="6750" y="16200"/>
                </a:cubicBezTo>
                <a:lnTo>
                  <a:pt x="9000" y="16200"/>
                </a:lnTo>
                <a:lnTo>
                  <a:pt x="9000" y="17887"/>
                </a:lnTo>
                <a:cubicBezTo>
                  <a:pt x="9000" y="18259"/>
                  <a:pt x="9405" y="18562"/>
                  <a:pt x="9900" y="18562"/>
                </a:cubicBezTo>
                <a:lnTo>
                  <a:pt x="11700" y="18562"/>
                </a:lnTo>
                <a:cubicBezTo>
                  <a:pt x="12195" y="18562"/>
                  <a:pt x="12600" y="18259"/>
                  <a:pt x="12600" y="17887"/>
                </a:cubicBezTo>
                <a:lnTo>
                  <a:pt x="12600" y="16200"/>
                </a:lnTo>
                <a:lnTo>
                  <a:pt x="14850" y="16200"/>
                </a:lnTo>
                <a:cubicBezTo>
                  <a:pt x="15345" y="16200"/>
                  <a:pt x="15750" y="15896"/>
                  <a:pt x="15750" y="15525"/>
                </a:cubicBezTo>
                <a:lnTo>
                  <a:pt x="15750" y="14175"/>
                </a:lnTo>
                <a:cubicBezTo>
                  <a:pt x="15750" y="13804"/>
                  <a:pt x="15345" y="13500"/>
                  <a:pt x="14850" y="13500"/>
                </a:cubicBezTo>
                <a:lnTo>
                  <a:pt x="12600" y="13500"/>
                </a:lnTo>
                <a:lnTo>
                  <a:pt x="12600" y="11812"/>
                </a:lnTo>
                <a:cubicBezTo>
                  <a:pt x="12600" y="11441"/>
                  <a:pt x="12195" y="11137"/>
                  <a:pt x="11700" y="11137"/>
                </a:cubicBezTo>
                <a:lnTo>
                  <a:pt x="9900" y="11137"/>
                </a:lnTo>
                <a:cubicBezTo>
                  <a:pt x="9405" y="11137"/>
                  <a:pt x="9000" y="11441"/>
                  <a:pt x="9000" y="11812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28" name="Text 6"/>
          <p:cNvSpPr txBox="1"/>
          <p:nvPr/>
        </p:nvSpPr>
        <p:spPr>
          <a:xfrm>
            <a:off x="779746" y="1640655"/>
            <a:ext cx="1097468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3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测试病历(来自测试集)</a:t>
            </a:r>
          </a:p>
        </p:txBody>
      </p:sp>
      <p:sp>
        <p:nvSpPr>
          <p:cNvPr id="1329" name="Shape 7"/>
          <p:cNvSpPr/>
          <p:nvPr/>
        </p:nvSpPr>
        <p:spPr>
          <a:xfrm>
            <a:off x="562707" y="1962449"/>
            <a:ext cx="11106799" cy="21043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7" y="0"/>
                </a:moveTo>
                <a:lnTo>
                  <a:pt x="21453" y="0"/>
                </a:lnTo>
                <a:cubicBezTo>
                  <a:pt x="21534" y="0"/>
                  <a:pt x="21600" y="347"/>
                  <a:pt x="21600" y="775"/>
                </a:cubicBezTo>
                <a:lnTo>
                  <a:pt x="21600" y="20825"/>
                </a:lnTo>
                <a:cubicBezTo>
                  <a:pt x="21600" y="21253"/>
                  <a:pt x="21534" y="21600"/>
                  <a:pt x="21453" y="21600"/>
                </a:cubicBezTo>
                <a:lnTo>
                  <a:pt x="147" y="21600"/>
                </a:lnTo>
                <a:cubicBezTo>
                  <a:pt x="66" y="21600"/>
                  <a:pt x="0" y="21253"/>
                  <a:pt x="0" y="20825"/>
                </a:cubicBezTo>
                <a:lnTo>
                  <a:pt x="0" y="775"/>
                </a:lnTo>
                <a:cubicBezTo>
                  <a:pt x="0" y="347"/>
                  <a:pt x="66" y="0"/>
                  <a:pt x="147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30" name="Shape 8"/>
          <p:cNvSpPr/>
          <p:nvPr/>
        </p:nvSpPr>
        <p:spPr>
          <a:xfrm>
            <a:off x="675905" y="2075632"/>
            <a:ext cx="10880322" cy="18778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5" y="0"/>
                </a:moveTo>
                <a:lnTo>
                  <a:pt x="21525" y="0"/>
                </a:lnTo>
                <a:cubicBezTo>
                  <a:pt x="21566" y="0"/>
                  <a:pt x="21600" y="194"/>
                  <a:pt x="21600" y="434"/>
                </a:cubicBezTo>
                <a:lnTo>
                  <a:pt x="21600" y="21166"/>
                </a:lnTo>
                <a:cubicBezTo>
                  <a:pt x="21600" y="21406"/>
                  <a:pt x="21566" y="21600"/>
                  <a:pt x="21525" y="21600"/>
                </a:cubicBezTo>
                <a:lnTo>
                  <a:pt x="75" y="21600"/>
                </a:lnTo>
                <a:cubicBezTo>
                  <a:pt x="34" y="21600"/>
                  <a:pt x="0" y="21406"/>
                  <a:pt x="0" y="21166"/>
                </a:cubicBezTo>
                <a:lnTo>
                  <a:pt x="0" y="434"/>
                </a:lnTo>
                <a:cubicBezTo>
                  <a:pt x="0" y="195"/>
                  <a:pt x="34" y="0"/>
                  <a:pt x="75" y="0"/>
                </a:cubicBezTo>
                <a:close/>
              </a:path>
            </a:pathLst>
          </a:custGeom>
          <a:solidFill>
            <a:srgbClr val="0D0E1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31" name="Text 9"/>
          <p:cNvSpPr txBox="1"/>
          <p:nvPr/>
        </p:nvSpPr>
        <p:spPr>
          <a:xfrm>
            <a:off x="789102" y="2208452"/>
            <a:ext cx="1071990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病历ID:</a:t>
            </a:r>
            <a:r>
              <a:rPr b="0">
                <a:solidFill>
                  <a:srgbClr val="7D8A96"/>
                </a:solidFill>
              </a:rPr>
              <a:t> 1-1</a:t>
            </a:r>
          </a:p>
        </p:txBody>
      </p:sp>
      <p:sp>
        <p:nvSpPr>
          <p:cNvPr id="1332" name="Text 10"/>
          <p:cNvSpPr txBox="1"/>
          <p:nvPr/>
        </p:nvSpPr>
        <p:spPr>
          <a:xfrm>
            <a:off x="789102" y="2460787"/>
            <a:ext cx="1071990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主诉:</a:t>
            </a:r>
            <a:r>
              <a:rPr b="0">
                <a:solidFill>
                  <a:srgbClr val="7D8A96"/>
                </a:solidFill>
              </a:rPr>
              <a:t> 发现甲状腺功能减退10余年，颈部不适6个月，乏力1周</a:t>
            </a:r>
          </a:p>
        </p:txBody>
      </p:sp>
      <p:sp>
        <p:nvSpPr>
          <p:cNvPr id="1333" name="Text 11"/>
          <p:cNvSpPr txBox="1"/>
          <p:nvPr/>
        </p:nvSpPr>
        <p:spPr>
          <a:xfrm>
            <a:off x="789102" y="2816924"/>
            <a:ext cx="1071990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现病史:</a:t>
            </a:r>
            <a:r>
              <a:rPr b="0">
                <a:solidFill>
                  <a:srgbClr val="7D8A96"/>
                </a:solidFill>
              </a:rPr>
              <a:t> 患者10年前因发现颈部增粗，遂前往当地医院查颈部超声提示回声改变，抽血化验甲状腺功能提示：游离T4降低，游离T3正常，高敏促甲状腺激素升高，甲状腺相关抗体升高...</a:t>
            </a:r>
          </a:p>
        </p:txBody>
      </p:sp>
      <p:sp>
        <p:nvSpPr>
          <p:cNvPr id="1334" name="Text 12"/>
          <p:cNvSpPr txBox="1"/>
          <p:nvPr/>
        </p:nvSpPr>
        <p:spPr>
          <a:xfrm>
            <a:off x="789102" y="3180065"/>
            <a:ext cx="1071990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既往史:</a:t>
            </a:r>
            <a:r>
              <a:rPr b="0">
                <a:solidFill>
                  <a:srgbClr val="7D8A96"/>
                </a:solidFill>
              </a:rPr>
              <a:t> 否认高血压、冠心病、糖尿病等慢性病史；青霉素过敏，无食物过敏史...</a:t>
            </a:r>
          </a:p>
        </p:txBody>
      </p:sp>
      <p:sp>
        <p:nvSpPr>
          <p:cNvPr id="1335" name="Text 13"/>
          <p:cNvSpPr txBox="1"/>
          <p:nvPr/>
        </p:nvSpPr>
        <p:spPr>
          <a:xfrm>
            <a:off x="789102" y="3411724"/>
            <a:ext cx="10719903" cy="426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检查结果:</a:t>
            </a:r>
            <a:r>
              <a:rPr b="0">
                <a:solidFill>
                  <a:srgbClr val="7D8A96"/>
                </a:solidFill>
              </a:rPr>
              <a:t> 游离T3: 4.76pmol/l, 游离T4: 15.37pmol/l, 高敏促甲状腺激素: 6.39mIU/L↑, 甲状腺过氧化物酶抗体: &gt;1300.0U/ml↑, 甲状腺球蛋白抗体: 143.50U/ml↑, 胆固醇: 7.15mmol/L↑, 甘油三酯: 2.31mmol/L↑, 低密度脂蛋白: 4.82mmol/L↑, 糖化血红蛋白: 5.40%, OGTT餐后2小时血糖: 7.90mmol/L↑</a:t>
            </a:r>
          </a:p>
        </p:txBody>
      </p:sp>
      <p:sp>
        <p:nvSpPr>
          <p:cNvPr id="1336" name="Shape 14"/>
          <p:cNvSpPr/>
          <p:nvPr/>
        </p:nvSpPr>
        <p:spPr>
          <a:xfrm>
            <a:off x="394618" y="4370239"/>
            <a:ext cx="5631896" cy="2113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2" y="0"/>
                </a:moveTo>
                <a:lnTo>
                  <a:pt x="21166" y="0"/>
                </a:lnTo>
                <a:cubicBezTo>
                  <a:pt x="21406" y="0"/>
                  <a:pt x="21600" y="518"/>
                  <a:pt x="21600" y="1157"/>
                </a:cubicBezTo>
                <a:lnTo>
                  <a:pt x="21600" y="20443"/>
                </a:lnTo>
                <a:cubicBezTo>
                  <a:pt x="21600" y="21082"/>
                  <a:pt x="21406" y="21600"/>
                  <a:pt x="21166" y="21600"/>
                </a:cubicBezTo>
                <a:lnTo>
                  <a:pt x="132" y="21600"/>
                </a:lnTo>
                <a:cubicBezTo>
                  <a:pt x="59" y="21600"/>
                  <a:pt x="0" y="21443"/>
                  <a:pt x="0" y="21249"/>
                </a:cubicBezTo>
                <a:lnTo>
                  <a:pt x="0" y="351"/>
                </a:lnTo>
                <a:cubicBezTo>
                  <a:pt x="0" y="157"/>
                  <a:pt x="59" y="0"/>
                  <a:pt x="132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37" name="Shape 15"/>
          <p:cNvSpPr/>
          <p:nvPr/>
        </p:nvSpPr>
        <p:spPr>
          <a:xfrm>
            <a:off x="394619" y="4370239"/>
            <a:ext cx="34316" cy="2113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0" y="21600"/>
                  <a:pt x="0" y="21443"/>
                  <a:pt x="0" y="21249"/>
                </a:cubicBezTo>
                <a:lnTo>
                  <a:pt x="0" y="351"/>
                </a:lnTo>
                <a:cubicBezTo>
                  <a:pt x="0" y="157"/>
                  <a:pt x="9679" y="0"/>
                  <a:pt x="21600" y="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38" name="Shape 16"/>
          <p:cNvSpPr/>
          <p:nvPr/>
        </p:nvSpPr>
        <p:spPr>
          <a:xfrm>
            <a:off x="586297" y="4568276"/>
            <a:ext cx="169859" cy="169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763" y="3037"/>
                </a:moveTo>
                <a:cubicBezTo>
                  <a:pt x="7763" y="1361"/>
                  <a:pt x="9124" y="0"/>
                  <a:pt x="10800" y="0"/>
                </a:cubicBezTo>
                <a:cubicBezTo>
                  <a:pt x="12476" y="0"/>
                  <a:pt x="13837" y="1361"/>
                  <a:pt x="13837" y="3037"/>
                </a:cubicBezTo>
                <a:cubicBezTo>
                  <a:pt x="13837" y="4714"/>
                  <a:pt x="12476" y="6075"/>
                  <a:pt x="10800" y="6075"/>
                </a:cubicBezTo>
                <a:cubicBezTo>
                  <a:pt x="9124" y="6075"/>
                  <a:pt x="7763" y="4714"/>
                  <a:pt x="7763" y="3037"/>
                </a:cubicBezTo>
                <a:close/>
                <a:moveTo>
                  <a:pt x="6750" y="12627"/>
                </a:moveTo>
                <a:cubicBezTo>
                  <a:pt x="5911" y="13580"/>
                  <a:pt x="5400" y="14829"/>
                  <a:pt x="5400" y="16200"/>
                </a:cubicBezTo>
                <a:lnTo>
                  <a:pt x="5400" y="17550"/>
                </a:lnTo>
                <a:lnTo>
                  <a:pt x="2700" y="17550"/>
                </a:lnTo>
                <a:lnTo>
                  <a:pt x="2700" y="16200"/>
                </a:lnTo>
                <a:cubicBezTo>
                  <a:pt x="2700" y="11728"/>
                  <a:pt x="6328" y="8100"/>
                  <a:pt x="10800" y="8100"/>
                </a:cubicBezTo>
                <a:cubicBezTo>
                  <a:pt x="15272" y="8100"/>
                  <a:pt x="18900" y="11728"/>
                  <a:pt x="18900" y="16200"/>
                </a:cubicBezTo>
                <a:lnTo>
                  <a:pt x="18900" y="17550"/>
                </a:lnTo>
                <a:lnTo>
                  <a:pt x="16200" y="17550"/>
                </a:lnTo>
                <a:lnTo>
                  <a:pt x="16200" y="16200"/>
                </a:lnTo>
                <a:cubicBezTo>
                  <a:pt x="16200" y="14829"/>
                  <a:pt x="15689" y="13580"/>
                  <a:pt x="14850" y="12627"/>
                </a:cubicBezTo>
                <a:lnTo>
                  <a:pt x="14850" y="17550"/>
                </a:lnTo>
                <a:lnTo>
                  <a:pt x="6750" y="17550"/>
                </a:lnTo>
                <a:lnTo>
                  <a:pt x="6750" y="12627"/>
                </a:lnTo>
                <a:close/>
                <a:moveTo>
                  <a:pt x="9788" y="16200"/>
                </a:moveTo>
                <a:cubicBezTo>
                  <a:pt x="10346" y="16200"/>
                  <a:pt x="10800" y="15746"/>
                  <a:pt x="10800" y="15187"/>
                </a:cubicBezTo>
                <a:cubicBezTo>
                  <a:pt x="10800" y="14629"/>
                  <a:pt x="10346" y="14175"/>
                  <a:pt x="9788" y="14175"/>
                </a:cubicBezTo>
                <a:cubicBezTo>
                  <a:pt x="9229" y="14175"/>
                  <a:pt x="8775" y="14629"/>
                  <a:pt x="8775" y="15187"/>
                </a:cubicBezTo>
                <a:cubicBezTo>
                  <a:pt x="8775" y="15746"/>
                  <a:pt x="9229" y="16200"/>
                  <a:pt x="9788" y="16200"/>
                </a:cubicBezTo>
                <a:close/>
                <a:moveTo>
                  <a:pt x="13500" y="11812"/>
                </a:moveTo>
                <a:cubicBezTo>
                  <a:pt x="13500" y="11254"/>
                  <a:pt x="13046" y="10800"/>
                  <a:pt x="12487" y="10800"/>
                </a:cubicBezTo>
                <a:cubicBezTo>
                  <a:pt x="11929" y="10800"/>
                  <a:pt x="11475" y="11254"/>
                  <a:pt x="11475" y="11812"/>
                </a:cubicBezTo>
                <a:cubicBezTo>
                  <a:pt x="11475" y="12371"/>
                  <a:pt x="11929" y="12825"/>
                  <a:pt x="12487" y="12825"/>
                </a:cubicBezTo>
                <a:cubicBezTo>
                  <a:pt x="13046" y="12825"/>
                  <a:pt x="13500" y="12371"/>
                  <a:pt x="13500" y="11812"/>
                </a:cubicBezTo>
                <a:close/>
                <a:moveTo>
                  <a:pt x="1012" y="19575"/>
                </a:moveTo>
                <a:lnTo>
                  <a:pt x="20588" y="19575"/>
                </a:lnTo>
                <a:cubicBezTo>
                  <a:pt x="21149" y="19575"/>
                  <a:pt x="21600" y="20026"/>
                  <a:pt x="21600" y="20588"/>
                </a:cubicBezTo>
                <a:cubicBezTo>
                  <a:pt x="21600" y="21149"/>
                  <a:pt x="21149" y="21600"/>
                  <a:pt x="20588" y="21600"/>
                </a:cubicBezTo>
                <a:lnTo>
                  <a:pt x="1012" y="21600"/>
                </a:lnTo>
                <a:cubicBezTo>
                  <a:pt x="451" y="21600"/>
                  <a:pt x="0" y="21149"/>
                  <a:pt x="0" y="20588"/>
                </a:cubicBezTo>
                <a:cubicBezTo>
                  <a:pt x="0" y="20026"/>
                  <a:pt x="451" y="19575"/>
                  <a:pt x="1012" y="19575"/>
                </a:cubicBezTo>
                <a:close/>
                <a:moveTo>
                  <a:pt x="2700" y="7763"/>
                </a:moveTo>
                <a:cubicBezTo>
                  <a:pt x="2700" y="7204"/>
                  <a:pt x="3154" y="6750"/>
                  <a:pt x="3712" y="6750"/>
                </a:cubicBezTo>
                <a:cubicBezTo>
                  <a:pt x="4271" y="6750"/>
                  <a:pt x="4725" y="7204"/>
                  <a:pt x="4725" y="7763"/>
                </a:cubicBezTo>
                <a:cubicBezTo>
                  <a:pt x="4725" y="8321"/>
                  <a:pt x="4271" y="8775"/>
                  <a:pt x="3712" y="8775"/>
                </a:cubicBezTo>
                <a:cubicBezTo>
                  <a:pt x="3154" y="8775"/>
                  <a:pt x="2700" y="8321"/>
                  <a:pt x="2700" y="7763"/>
                </a:cubicBezTo>
                <a:close/>
                <a:moveTo>
                  <a:pt x="20588" y="10800"/>
                </a:moveTo>
                <a:cubicBezTo>
                  <a:pt x="21146" y="10800"/>
                  <a:pt x="21600" y="11254"/>
                  <a:pt x="21600" y="11812"/>
                </a:cubicBezTo>
                <a:cubicBezTo>
                  <a:pt x="21600" y="12371"/>
                  <a:pt x="21146" y="12825"/>
                  <a:pt x="20588" y="12825"/>
                </a:cubicBezTo>
                <a:cubicBezTo>
                  <a:pt x="20029" y="12825"/>
                  <a:pt x="19575" y="12371"/>
                  <a:pt x="19575" y="11812"/>
                </a:cubicBezTo>
                <a:cubicBezTo>
                  <a:pt x="19575" y="11254"/>
                  <a:pt x="20029" y="10800"/>
                  <a:pt x="20588" y="1080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39" name="Text 17"/>
          <p:cNvSpPr txBox="1"/>
          <p:nvPr/>
        </p:nvSpPr>
        <p:spPr>
          <a:xfrm>
            <a:off x="779746" y="4538979"/>
            <a:ext cx="5180658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3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诊断分析</a:t>
            </a:r>
          </a:p>
        </p:txBody>
      </p:sp>
      <p:sp>
        <p:nvSpPr>
          <p:cNvPr id="1340" name="Text 18"/>
          <p:cNvSpPr txBox="1"/>
          <p:nvPr/>
        </p:nvSpPr>
        <p:spPr>
          <a:xfrm>
            <a:off x="562706" y="4910120"/>
            <a:ext cx="538826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b="1" sz="11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1.</a:t>
            </a:r>
            <a:r>
              <a:rPr>
                <a:solidFill>
                  <a:srgbClr val="E0E2E5"/>
                </a:solidFill>
              </a:rPr>
              <a:t>甲状腺功能减退:</a:t>
            </a:r>
            <a:r>
              <a:rPr b="0">
                <a:solidFill>
                  <a:srgbClr val="7D8A96"/>
                </a:solidFill>
              </a:rPr>
              <a:t> TSH升高(6.39)、TPOAb显著升高(&gt;1300)、有甲减病史</a:t>
            </a:r>
          </a:p>
        </p:txBody>
      </p:sp>
      <p:sp>
        <p:nvSpPr>
          <p:cNvPr id="1341" name="Text 19"/>
          <p:cNvSpPr txBox="1"/>
          <p:nvPr/>
        </p:nvSpPr>
        <p:spPr>
          <a:xfrm>
            <a:off x="562706" y="5212052"/>
            <a:ext cx="538826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b="1" sz="11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2.</a:t>
            </a:r>
            <a:r>
              <a:rPr>
                <a:solidFill>
                  <a:srgbClr val="E0E2E5"/>
                </a:solidFill>
              </a:rPr>
              <a:t>桥本氏病:</a:t>
            </a:r>
            <a:r>
              <a:rPr b="0">
                <a:solidFill>
                  <a:srgbClr val="7D8A96"/>
                </a:solidFill>
              </a:rPr>
              <a:t> TPOAb显著升高(&gt;1300)，桥本氏病诊断明确</a:t>
            </a:r>
          </a:p>
        </p:txBody>
      </p:sp>
      <p:sp>
        <p:nvSpPr>
          <p:cNvPr id="1342" name="Text 20"/>
          <p:cNvSpPr txBox="1"/>
          <p:nvPr/>
        </p:nvSpPr>
        <p:spPr>
          <a:xfrm>
            <a:off x="562706" y="5513984"/>
            <a:ext cx="538826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b="1" sz="11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3.</a:t>
            </a:r>
            <a:r>
              <a:rPr>
                <a:solidFill>
                  <a:srgbClr val="E0E2E5"/>
                </a:solidFill>
              </a:rPr>
              <a:t>糖耐量减退:</a:t>
            </a:r>
            <a:r>
              <a:rPr b="0">
                <a:solidFill>
                  <a:srgbClr val="7D8A96"/>
                </a:solidFill>
              </a:rPr>
              <a:t> OGTT餐后2小时血糖偏高(7.90mmol/L)</a:t>
            </a:r>
          </a:p>
        </p:txBody>
      </p:sp>
      <p:sp>
        <p:nvSpPr>
          <p:cNvPr id="1343" name="Text 21"/>
          <p:cNvSpPr txBox="1"/>
          <p:nvPr/>
        </p:nvSpPr>
        <p:spPr>
          <a:xfrm>
            <a:off x="562706" y="5815916"/>
            <a:ext cx="538826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b="1" sz="11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4.</a:t>
            </a:r>
            <a:r>
              <a:rPr>
                <a:solidFill>
                  <a:srgbClr val="E0E2E5"/>
                </a:solidFill>
              </a:rPr>
              <a:t>混合型高脂血症:</a:t>
            </a:r>
            <a:r>
              <a:rPr b="0">
                <a:solidFill>
                  <a:srgbClr val="7D8A96"/>
                </a:solidFill>
              </a:rPr>
              <a:t> 胆固醇7.15↑, 甘油三酯2.31↑, LDL 4.82↑</a:t>
            </a:r>
          </a:p>
        </p:txBody>
      </p:sp>
      <p:sp>
        <p:nvSpPr>
          <p:cNvPr id="1344" name="Shape 22"/>
          <p:cNvSpPr/>
          <p:nvPr/>
        </p:nvSpPr>
        <p:spPr>
          <a:xfrm>
            <a:off x="6190713" y="4370239"/>
            <a:ext cx="5631896" cy="2113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2" y="0"/>
                </a:moveTo>
                <a:lnTo>
                  <a:pt x="21166" y="0"/>
                </a:lnTo>
                <a:cubicBezTo>
                  <a:pt x="21406" y="0"/>
                  <a:pt x="21600" y="518"/>
                  <a:pt x="21600" y="1157"/>
                </a:cubicBezTo>
                <a:lnTo>
                  <a:pt x="21600" y="20443"/>
                </a:lnTo>
                <a:cubicBezTo>
                  <a:pt x="21600" y="21082"/>
                  <a:pt x="21406" y="21600"/>
                  <a:pt x="21166" y="21600"/>
                </a:cubicBezTo>
                <a:lnTo>
                  <a:pt x="132" y="21600"/>
                </a:lnTo>
                <a:cubicBezTo>
                  <a:pt x="59" y="21600"/>
                  <a:pt x="0" y="21443"/>
                  <a:pt x="0" y="21249"/>
                </a:cubicBezTo>
                <a:lnTo>
                  <a:pt x="0" y="351"/>
                </a:lnTo>
                <a:cubicBezTo>
                  <a:pt x="0" y="157"/>
                  <a:pt x="59" y="0"/>
                  <a:pt x="132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45" name="Shape 23"/>
          <p:cNvSpPr/>
          <p:nvPr/>
        </p:nvSpPr>
        <p:spPr>
          <a:xfrm>
            <a:off x="6190713" y="4370239"/>
            <a:ext cx="34316" cy="2113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0" y="21600"/>
                  <a:pt x="0" y="21443"/>
                  <a:pt x="0" y="21249"/>
                </a:cubicBezTo>
                <a:lnTo>
                  <a:pt x="0" y="351"/>
                </a:lnTo>
                <a:cubicBezTo>
                  <a:pt x="0" y="157"/>
                  <a:pt x="9679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46" name="Shape 24"/>
          <p:cNvSpPr/>
          <p:nvPr/>
        </p:nvSpPr>
        <p:spPr>
          <a:xfrm>
            <a:off x="6382392" y="4568276"/>
            <a:ext cx="169859" cy="169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700" y="4725"/>
                </a:moveTo>
                <a:cubicBezTo>
                  <a:pt x="2700" y="3607"/>
                  <a:pt x="3607" y="2700"/>
                  <a:pt x="4725" y="2700"/>
                </a:cubicBezTo>
                <a:cubicBezTo>
                  <a:pt x="5843" y="2700"/>
                  <a:pt x="6750" y="3607"/>
                  <a:pt x="6750" y="4725"/>
                </a:cubicBezTo>
                <a:lnTo>
                  <a:pt x="6750" y="9450"/>
                </a:lnTo>
                <a:lnTo>
                  <a:pt x="2700" y="9450"/>
                </a:lnTo>
                <a:lnTo>
                  <a:pt x="2700" y="4725"/>
                </a:lnTo>
                <a:close/>
                <a:moveTo>
                  <a:pt x="7425" y="15525"/>
                </a:moveTo>
                <a:cubicBezTo>
                  <a:pt x="7425" y="13470"/>
                  <a:pt x="8189" y="11593"/>
                  <a:pt x="9450" y="10167"/>
                </a:cubicBezTo>
                <a:lnTo>
                  <a:pt x="9450" y="4725"/>
                </a:lnTo>
                <a:cubicBezTo>
                  <a:pt x="9450" y="2114"/>
                  <a:pt x="7336" y="0"/>
                  <a:pt x="4725" y="0"/>
                </a:cubicBezTo>
                <a:cubicBezTo>
                  <a:pt x="2114" y="0"/>
                  <a:pt x="0" y="2114"/>
                  <a:pt x="0" y="4725"/>
                </a:cubicBezTo>
                <a:lnTo>
                  <a:pt x="0" y="16875"/>
                </a:lnTo>
                <a:cubicBezTo>
                  <a:pt x="0" y="19486"/>
                  <a:pt x="2114" y="21600"/>
                  <a:pt x="4725" y="21600"/>
                </a:cubicBezTo>
                <a:cubicBezTo>
                  <a:pt x="6299" y="21600"/>
                  <a:pt x="7691" y="20832"/>
                  <a:pt x="8551" y="19647"/>
                </a:cubicBezTo>
                <a:cubicBezTo>
                  <a:pt x="7834" y="18440"/>
                  <a:pt x="7425" y="17031"/>
                  <a:pt x="7425" y="15525"/>
                </a:cubicBezTo>
                <a:close/>
                <a:moveTo>
                  <a:pt x="10155" y="18368"/>
                </a:moveTo>
                <a:cubicBezTo>
                  <a:pt x="10349" y="18735"/>
                  <a:pt x="10842" y="18778"/>
                  <a:pt x="11137" y="18482"/>
                </a:cubicBezTo>
                <a:lnTo>
                  <a:pt x="18482" y="11137"/>
                </a:lnTo>
                <a:cubicBezTo>
                  <a:pt x="18778" y="10842"/>
                  <a:pt x="18735" y="10349"/>
                  <a:pt x="18368" y="10155"/>
                </a:cubicBezTo>
                <a:cubicBezTo>
                  <a:pt x="17520" y="9703"/>
                  <a:pt x="16554" y="9450"/>
                  <a:pt x="15525" y="9450"/>
                </a:cubicBezTo>
                <a:cubicBezTo>
                  <a:pt x="12171" y="9450"/>
                  <a:pt x="9450" y="12171"/>
                  <a:pt x="9450" y="15525"/>
                </a:cubicBezTo>
                <a:cubicBezTo>
                  <a:pt x="9450" y="16550"/>
                  <a:pt x="9703" y="17520"/>
                  <a:pt x="10155" y="18368"/>
                </a:cubicBezTo>
                <a:close/>
                <a:moveTo>
                  <a:pt x="12568" y="19912"/>
                </a:moveTo>
                <a:cubicBezTo>
                  <a:pt x="12272" y="20208"/>
                  <a:pt x="12315" y="20701"/>
                  <a:pt x="12682" y="20895"/>
                </a:cubicBezTo>
                <a:cubicBezTo>
                  <a:pt x="13529" y="21347"/>
                  <a:pt x="14496" y="21600"/>
                  <a:pt x="15525" y="21600"/>
                </a:cubicBezTo>
                <a:cubicBezTo>
                  <a:pt x="18879" y="21600"/>
                  <a:pt x="21600" y="18879"/>
                  <a:pt x="21600" y="15525"/>
                </a:cubicBezTo>
                <a:cubicBezTo>
                  <a:pt x="21600" y="14500"/>
                  <a:pt x="21347" y="13529"/>
                  <a:pt x="20895" y="12682"/>
                </a:cubicBezTo>
                <a:cubicBezTo>
                  <a:pt x="20701" y="12315"/>
                  <a:pt x="20208" y="12272"/>
                  <a:pt x="19912" y="12568"/>
                </a:cubicBezTo>
                <a:lnTo>
                  <a:pt x="12568" y="19912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47" name="Text 25"/>
          <p:cNvSpPr txBox="1"/>
          <p:nvPr/>
        </p:nvSpPr>
        <p:spPr>
          <a:xfrm>
            <a:off x="6575842" y="4538979"/>
            <a:ext cx="518065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3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候选药物列表</a:t>
            </a:r>
          </a:p>
        </p:txBody>
      </p:sp>
      <p:sp>
        <p:nvSpPr>
          <p:cNvPr id="1348" name="Shape 26"/>
          <p:cNvSpPr/>
          <p:nvPr/>
        </p:nvSpPr>
        <p:spPr>
          <a:xfrm>
            <a:off x="6358802" y="4898482"/>
            <a:ext cx="5312769" cy="10191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07" y="0"/>
                </a:moveTo>
                <a:lnTo>
                  <a:pt x="21293" y="0"/>
                </a:lnTo>
                <a:cubicBezTo>
                  <a:pt x="21463" y="0"/>
                  <a:pt x="21600" y="716"/>
                  <a:pt x="21600" y="1600"/>
                </a:cubicBezTo>
                <a:lnTo>
                  <a:pt x="21600" y="20000"/>
                </a:lnTo>
                <a:cubicBezTo>
                  <a:pt x="21600" y="20884"/>
                  <a:pt x="21463" y="21600"/>
                  <a:pt x="21293" y="21600"/>
                </a:cubicBezTo>
                <a:lnTo>
                  <a:pt x="307" y="21600"/>
                </a:lnTo>
                <a:cubicBezTo>
                  <a:pt x="137" y="21600"/>
                  <a:pt x="0" y="20884"/>
                  <a:pt x="0" y="20000"/>
                </a:cubicBezTo>
                <a:lnTo>
                  <a:pt x="0" y="1600"/>
                </a:lnTo>
                <a:cubicBezTo>
                  <a:pt x="0" y="717"/>
                  <a:pt x="138" y="0"/>
                  <a:pt x="307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49" name="Shape 27"/>
          <p:cNvSpPr/>
          <p:nvPr/>
        </p:nvSpPr>
        <p:spPr>
          <a:xfrm>
            <a:off x="6471999" y="5011682"/>
            <a:ext cx="5086293" cy="7926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0" y="0"/>
                </a:moveTo>
                <a:lnTo>
                  <a:pt x="21440" y="0"/>
                </a:lnTo>
                <a:cubicBezTo>
                  <a:pt x="21528" y="0"/>
                  <a:pt x="21600" y="461"/>
                  <a:pt x="21600" y="1029"/>
                </a:cubicBezTo>
                <a:lnTo>
                  <a:pt x="21600" y="20571"/>
                </a:lnTo>
                <a:cubicBezTo>
                  <a:pt x="21600" y="21139"/>
                  <a:pt x="21528" y="21600"/>
                  <a:pt x="21440" y="21600"/>
                </a:cubicBezTo>
                <a:lnTo>
                  <a:pt x="160" y="21600"/>
                </a:lnTo>
                <a:cubicBezTo>
                  <a:pt x="72" y="21600"/>
                  <a:pt x="0" y="21139"/>
                  <a:pt x="0" y="20571"/>
                </a:cubicBezTo>
                <a:lnTo>
                  <a:pt x="0" y="1029"/>
                </a:lnTo>
                <a:cubicBezTo>
                  <a:pt x="0" y="461"/>
                  <a:pt x="72" y="0"/>
                  <a:pt x="160" y="0"/>
                </a:cubicBezTo>
                <a:close/>
              </a:path>
            </a:pathLst>
          </a:custGeom>
          <a:solidFill>
            <a:srgbClr val="0D0E1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50" name="Text 28"/>
          <p:cNvSpPr txBox="1"/>
          <p:nvPr/>
        </p:nvSpPr>
        <p:spPr>
          <a:xfrm>
            <a:off x="6547464" y="5106777"/>
            <a:ext cx="500136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["左甲状腺素钠片", "阿托伐他汀钙片", "阿卡波糖片",</a:t>
            </a:r>
          </a:p>
        </p:txBody>
      </p:sp>
      <p:sp>
        <p:nvSpPr>
          <p:cNvPr id="1351" name="Text 29"/>
          <p:cNvSpPr txBox="1"/>
          <p:nvPr/>
        </p:nvSpPr>
        <p:spPr>
          <a:xfrm>
            <a:off x="6547464" y="5321366"/>
            <a:ext cx="500136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"氨氯地平片", "辛伐他汀片", "瑞舒伐他汀钙片",</a:t>
            </a:r>
          </a:p>
        </p:txBody>
      </p:sp>
      <p:sp>
        <p:nvSpPr>
          <p:cNvPr id="1352" name="Text 30"/>
          <p:cNvSpPr txBox="1"/>
          <p:nvPr/>
        </p:nvSpPr>
        <p:spPr>
          <a:xfrm>
            <a:off x="6547464" y="5535974"/>
            <a:ext cx="500136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"格列美脲片", "二甲双胍片", ...]</a:t>
            </a:r>
          </a:p>
        </p:txBody>
      </p:sp>
      <p:sp>
        <p:nvSpPr>
          <p:cNvPr id="1353" name="Text 31"/>
          <p:cNvSpPr txBox="1"/>
          <p:nvPr/>
        </p:nvSpPr>
        <p:spPr>
          <a:xfrm>
            <a:off x="6321056" y="6056803"/>
            <a:ext cx="538826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20000"/>
              </a:lnSpc>
              <a:defRPr sz="11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共 </a:t>
            </a:r>
            <a:r>
              <a:rPr b="1" sz="1700">
                <a:solidFill>
                  <a:srgbClr val="5E8B7E"/>
                </a:solidFill>
              </a:rPr>
              <a:t>651</a:t>
            </a:r>
            <a:r>
              <a:t> 种候选药物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Text 0"/>
          <p:cNvSpPr txBox="1"/>
          <p:nvPr/>
        </p:nvSpPr>
        <p:spPr>
          <a:xfrm>
            <a:off x="317500" y="336549"/>
            <a:ext cx="116205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pc="50" sz="1000">
                <a:solidFill>
                  <a:srgbClr val="5E8B7E"/>
                </a:solidFill>
                <a:latin typeface="Liter"/>
                <a:ea typeface="Liter"/>
                <a:cs typeface="Liter"/>
                <a:sym typeface="Liter"/>
              </a:defRPr>
            </a:lvl1pPr>
          </a:lstStyle>
          <a:p>
            <a:pPr/>
            <a:r>
              <a:t>INFERENCE DEMO: 4-STAGE COT</a:t>
            </a:r>
          </a:p>
        </p:txBody>
      </p:sp>
      <p:sp>
        <p:nvSpPr>
          <p:cNvPr id="1356" name="Text 1"/>
          <p:cNvSpPr txBox="1"/>
          <p:nvPr/>
        </p:nvSpPr>
        <p:spPr>
          <a:xfrm>
            <a:off x="317500" y="539718"/>
            <a:ext cx="1169987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90000"/>
              </a:lnSpc>
              <a:defRPr b="1" sz="2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推理Demo: 四阶段CoT推理</a:t>
            </a:r>
          </a:p>
        </p:txBody>
      </p:sp>
      <p:sp>
        <p:nvSpPr>
          <p:cNvPr id="1357" name="Shape 2"/>
          <p:cNvSpPr/>
          <p:nvPr/>
        </p:nvSpPr>
        <p:spPr>
          <a:xfrm>
            <a:off x="317500" y="984187"/>
            <a:ext cx="762000" cy="31751"/>
          </a:xfrm>
          <a:prstGeom prst="rect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58" name="Shape 3"/>
          <p:cNvSpPr/>
          <p:nvPr/>
        </p:nvSpPr>
        <p:spPr>
          <a:xfrm>
            <a:off x="331931" y="1079390"/>
            <a:ext cx="5697684" cy="2413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9" y="0"/>
                </a:moveTo>
                <a:lnTo>
                  <a:pt x="21239" y="0"/>
                </a:lnTo>
                <a:cubicBezTo>
                  <a:pt x="21438" y="0"/>
                  <a:pt x="21600" y="382"/>
                  <a:pt x="21600" y="853"/>
                </a:cubicBezTo>
                <a:lnTo>
                  <a:pt x="21600" y="20747"/>
                </a:lnTo>
                <a:cubicBezTo>
                  <a:pt x="21600" y="21218"/>
                  <a:pt x="21438" y="21600"/>
                  <a:pt x="21239" y="21600"/>
                </a:cubicBezTo>
                <a:lnTo>
                  <a:pt x="109" y="21600"/>
                </a:lnTo>
                <a:cubicBezTo>
                  <a:pt x="49" y="21600"/>
                  <a:pt x="0" y="21484"/>
                  <a:pt x="0" y="21342"/>
                </a:cubicBezTo>
                <a:lnTo>
                  <a:pt x="0" y="258"/>
                </a:lnTo>
                <a:cubicBezTo>
                  <a:pt x="0" y="116"/>
                  <a:pt x="49" y="0"/>
                  <a:pt x="109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59" name="Shape 4"/>
          <p:cNvSpPr/>
          <p:nvPr/>
        </p:nvSpPr>
        <p:spPr>
          <a:xfrm>
            <a:off x="331931" y="1079390"/>
            <a:ext cx="28865" cy="2413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484"/>
                  <a:pt x="0" y="21342"/>
                </a:cubicBezTo>
                <a:lnTo>
                  <a:pt x="0" y="258"/>
                </a:lnTo>
                <a:cubicBezTo>
                  <a:pt x="0" y="116"/>
                  <a:pt x="9671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60" name="Text 5"/>
          <p:cNvSpPr txBox="1"/>
          <p:nvPr/>
        </p:nvSpPr>
        <p:spPr>
          <a:xfrm>
            <a:off x="473319" y="1231759"/>
            <a:ext cx="550068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100">
                <a:solidFill>
                  <a:srgbClr val="1A1D21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1 </a:t>
            </a:r>
            <a:r>
              <a:rPr>
                <a:solidFill>
                  <a:srgbClr val="E0E2E5"/>
                </a:solidFill>
              </a:rPr>
              <a:t>诊断推理</a:t>
            </a:r>
          </a:p>
        </p:txBody>
      </p:sp>
      <p:sp>
        <p:nvSpPr>
          <p:cNvPr id="1361" name="Shape 6"/>
          <p:cNvSpPr/>
          <p:nvPr/>
        </p:nvSpPr>
        <p:spPr>
          <a:xfrm>
            <a:off x="473318" y="1523797"/>
            <a:ext cx="5429251" cy="1841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53" y="0"/>
                </a:moveTo>
                <a:lnTo>
                  <a:pt x="21347" y="0"/>
                </a:lnTo>
                <a:cubicBezTo>
                  <a:pt x="21487" y="0"/>
                  <a:pt x="21600" y="333"/>
                  <a:pt x="21600" y="745"/>
                </a:cubicBezTo>
                <a:lnTo>
                  <a:pt x="21600" y="20855"/>
                </a:lnTo>
                <a:cubicBezTo>
                  <a:pt x="21600" y="21267"/>
                  <a:pt x="21487" y="21600"/>
                  <a:pt x="21347" y="21600"/>
                </a:cubicBezTo>
                <a:lnTo>
                  <a:pt x="253" y="21600"/>
                </a:lnTo>
                <a:cubicBezTo>
                  <a:pt x="113" y="21600"/>
                  <a:pt x="0" y="21267"/>
                  <a:pt x="0" y="20855"/>
                </a:cubicBezTo>
                <a:lnTo>
                  <a:pt x="0" y="745"/>
                </a:lnTo>
                <a:cubicBezTo>
                  <a:pt x="0" y="334"/>
                  <a:pt x="113" y="0"/>
                  <a:pt x="253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62" name="Shape 7"/>
          <p:cNvSpPr/>
          <p:nvPr/>
        </p:nvSpPr>
        <p:spPr>
          <a:xfrm>
            <a:off x="568535" y="1619016"/>
            <a:ext cx="5238751" cy="1651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1" y="0"/>
                </a:moveTo>
                <a:lnTo>
                  <a:pt x="21469" y="0"/>
                </a:lnTo>
                <a:cubicBezTo>
                  <a:pt x="21541" y="0"/>
                  <a:pt x="21600" y="186"/>
                  <a:pt x="21600" y="415"/>
                </a:cubicBezTo>
                <a:lnTo>
                  <a:pt x="21600" y="21185"/>
                </a:lnTo>
                <a:cubicBezTo>
                  <a:pt x="21600" y="21414"/>
                  <a:pt x="21541" y="21600"/>
                  <a:pt x="21469" y="21600"/>
                </a:cubicBezTo>
                <a:lnTo>
                  <a:pt x="131" y="21600"/>
                </a:lnTo>
                <a:cubicBezTo>
                  <a:pt x="59" y="21600"/>
                  <a:pt x="0" y="21414"/>
                  <a:pt x="0" y="21185"/>
                </a:cubicBezTo>
                <a:lnTo>
                  <a:pt x="0" y="415"/>
                </a:lnTo>
                <a:cubicBezTo>
                  <a:pt x="0" y="186"/>
                  <a:pt x="59" y="0"/>
                  <a:pt x="131" y="0"/>
                </a:cubicBezTo>
                <a:close/>
              </a:path>
            </a:pathLst>
          </a:custGeom>
          <a:solidFill>
            <a:srgbClr val="0D0E1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63" name="Text 8"/>
          <p:cNvSpPr txBox="1"/>
          <p:nvPr/>
        </p:nvSpPr>
        <p:spPr>
          <a:xfrm>
            <a:off x="632012" y="1680898"/>
            <a:ext cx="5175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关键症状:</a:t>
            </a:r>
            <a:r>
              <a:rPr b="0">
                <a:solidFill>
                  <a:srgbClr val="7D8A96"/>
                </a:solidFill>
              </a:rPr>
              <a:t> 乏力、颈部肿胀感、双小腿胀感</a:t>
            </a:r>
          </a:p>
        </p:txBody>
      </p:sp>
      <p:sp>
        <p:nvSpPr>
          <p:cNvPr id="1364" name="Text 9"/>
          <p:cNvSpPr txBox="1"/>
          <p:nvPr/>
        </p:nvSpPr>
        <p:spPr>
          <a:xfrm>
            <a:off x="632012" y="1887227"/>
            <a:ext cx="5175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关键检查:</a:t>
            </a:r>
            <a:r>
              <a:rPr b="0">
                <a:solidFill>
                  <a:srgbClr val="7D8A96"/>
                </a:solidFill>
              </a:rPr>
              <a:t> TSH 6.39↑, TPOAb &gt;1300↑, 血脂异常</a:t>
            </a:r>
          </a:p>
        </p:txBody>
      </p:sp>
      <p:sp>
        <p:nvSpPr>
          <p:cNvPr id="1365" name="Text 10"/>
          <p:cNvSpPr txBox="1"/>
          <p:nvPr/>
        </p:nvSpPr>
        <p:spPr>
          <a:xfrm>
            <a:off x="632012" y="2091030"/>
            <a:ext cx="60227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诊断分析:</a:t>
            </a:r>
          </a:p>
        </p:txBody>
      </p:sp>
      <p:sp>
        <p:nvSpPr>
          <p:cNvPr id="1366" name="Text 11"/>
          <p:cNvSpPr txBox="1"/>
          <p:nvPr/>
        </p:nvSpPr>
        <p:spPr>
          <a:xfrm>
            <a:off x="758966" y="2299899"/>
            <a:ext cx="5048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- 甲状腺功能减退: TSH升高、TPOAb升高、有甲减病史</a:t>
            </a:r>
          </a:p>
        </p:txBody>
      </p:sp>
      <p:sp>
        <p:nvSpPr>
          <p:cNvPr id="1367" name="Text 12"/>
          <p:cNvSpPr txBox="1"/>
          <p:nvPr/>
        </p:nvSpPr>
        <p:spPr>
          <a:xfrm>
            <a:off x="758966" y="2474478"/>
            <a:ext cx="5048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- 桥本氏病: TPOAb显著升高(&gt;1300)</a:t>
            </a:r>
          </a:p>
        </p:txBody>
      </p:sp>
      <p:sp>
        <p:nvSpPr>
          <p:cNvPr id="1368" name="Text 13"/>
          <p:cNvSpPr txBox="1"/>
          <p:nvPr/>
        </p:nvSpPr>
        <p:spPr>
          <a:xfrm>
            <a:off x="758966" y="2649072"/>
            <a:ext cx="5048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- 糖耐量减退: OGTT餐后2小时血糖偏高(7.90mmol/L)</a:t>
            </a:r>
          </a:p>
        </p:txBody>
      </p:sp>
      <p:sp>
        <p:nvSpPr>
          <p:cNvPr id="1369" name="Text 14"/>
          <p:cNvSpPr txBox="1"/>
          <p:nvPr/>
        </p:nvSpPr>
        <p:spPr>
          <a:xfrm>
            <a:off x="758966" y="2823666"/>
            <a:ext cx="5048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- 混合型高脂血症: 胆固醇7.15↑, 甘油三酯2.31↑, LDL 4.82↑</a:t>
            </a:r>
          </a:p>
        </p:txBody>
      </p:sp>
      <p:sp>
        <p:nvSpPr>
          <p:cNvPr id="1370" name="Text 15"/>
          <p:cNvSpPr txBox="1"/>
          <p:nvPr/>
        </p:nvSpPr>
        <p:spPr>
          <a:xfrm>
            <a:off x="632012" y="3029994"/>
            <a:ext cx="5175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可能诊断:</a:t>
            </a:r>
            <a:r>
              <a:rPr b="0">
                <a:solidFill>
                  <a:srgbClr val="7D8A96"/>
                </a:solidFill>
              </a:rPr>
              <a:t> [甲状腺功能减退, 桥本氏病, 糖耐量减退, 混合型高脂血症]</a:t>
            </a:r>
          </a:p>
        </p:txBody>
      </p:sp>
      <p:sp>
        <p:nvSpPr>
          <p:cNvPr id="1371" name="Shape 16"/>
          <p:cNvSpPr/>
          <p:nvPr/>
        </p:nvSpPr>
        <p:spPr>
          <a:xfrm>
            <a:off x="331931" y="3587036"/>
            <a:ext cx="5697684" cy="2555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9" y="0"/>
                </a:moveTo>
                <a:lnTo>
                  <a:pt x="21239" y="0"/>
                </a:lnTo>
                <a:cubicBezTo>
                  <a:pt x="21438" y="0"/>
                  <a:pt x="21600" y="360"/>
                  <a:pt x="21600" y="805"/>
                </a:cubicBezTo>
                <a:lnTo>
                  <a:pt x="21600" y="20795"/>
                </a:lnTo>
                <a:cubicBezTo>
                  <a:pt x="21600" y="21240"/>
                  <a:pt x="21438" y="21600"/>
                  <a:pt x="21239" y="21600"/>
                </a:cubicBezTo>
                <a:lnTo>
                  <a:pt x="109" y="21600"/>
                </a:lnTo>
                <a:cubicBezTo>
                  <a:pt x="49" y="21600"/>
                  <a:pt x="0" y="21491"/>
                  <a:pt x="0" y="21356"/>
                </a:cubicBezTo>
                <a:lnTo>
                  <a:pt x="0" y="244"/>
                </a:lnTo>
                <a:cubicBezTo>
                  <a:pt x="0" y="109"/>
                  <a:pt x="49" y="0"/>
                  <a:pt x="109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72" name="Shape 17"/>
          <p:cNvSpPr/>
          <p:nvPr/>
        </p:nvSpPr>
        <p:spPr>
          <a:xfrm>
            <a:off x="331931" y="3587036"/>
            <a:ext cx="28865" cy="2555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491"/>
                  <a:pt x="0" y="21356"/>
                </a:cubicBezTo>
                <a:lnTo>
                  <a:pt x="0" y="244"/>
                </a:lnTo>
                <a:cubicBezTo>
                  <a:pt x="0" y="109"/>
                  <a:pt x="9671" y="0"/>
                  <a:pt x="21600" y="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73" name="Text 18"/>
          <p:cNvSpPr txBox="1"/>
          <p:nvPr/>
        </p:nvSpPr>
        <p:spPr>
          <a:xfrm>
            <a:off x="473319" y="3739389"/>
            <a:ext cx="550068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1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2 用药推理</a:t>
            </a:r>
          </a:p>
        </p:txBody>
      </p:sp>
      <p:sp>
        <p:nvSpPr>
          <p:cNvPr id="1374" name="Shape 19"/>
          <p:cNvSpPr/>
          <p:nvPr/>
        </p:nvSpPr>
        <p:spPr>
          <a:xfrm>
            <a:off x="473318" y="4031443"/>
            <a:ext cx="5429251" cy="19843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53" y="0"/>
                </a:moveTo>
                <a:lnTo>
                  <a:pt x="21347" y="0"/>
                </a:lnTo>
                <a:cubicBezTo>
                  <a:pt x="21487" y="0"/>
                  <a:pt x="21600" y="310"/>
                  <a:pt x="21600" y="691"/>
                </a:cubicBezTo>
                <a:lnTo>
                  <a:pt x="21600" y="20909"/>
                </a:lnTo>
                <a:cubicBezTo>
                  <a:pt x="21600" y="21290"/>
                  <a:pt x="21487" y="21600"/>
                  <a:pt x="21347" y="21600"/>
                </a:cubicBezTo>
                <a:lnTo>
                  <a:pt x="253" y="21600"/>
                </a:lnTo>
                <a:cubicBezTo>
                  <a:pt x="113" y="21600"/>
                  <a:pt x="0" y="21290"/>
                  <a:pt x="0" y="20909"/>
                </a:cubicBezTo>
                <a:lnTo>
                  <a:pt x="0" y="691"/>
                </a:lnTo>
                <a:cubicBezTo>
                  <a:pt x="0" y="310"/>
                  <a:pt x="113" y="0"/>
                  <a:pt x="253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75" name="Shape 20"/>
          <p:cNvSpPr/>
          <p:nvPr/>
        </p:nvSpPr>
        <p:spPr>
          <a:xfrm>
            <a:off x="568535" y="4126646"/>
            <a:ext cx="5238751" cy="1793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1" y="0"/>
                </a:moveTo>
                <a:lnTo>
                  <a:pt x="21469" y="0"/>
                </a:lnTo>
                <a:cubicBezTo>
                  <a:pt x="21541" y="0"/>
                  <a:pt x="21600" y="171"/>
                  <a:pt x="21600" y="382"/>
                </a:cubicBezTo>
                <a:lnTo>
                  <a:pt x="21600" y="21218"/>
                </a:lnTo>
                <a:cubicBezTo>
                  <a:pt x="21600" y="21429"/>
                  <a:pt x="21541" y="21600"/>
                  <a:pt x="21469" y="21600"/>
                </a:cubicBezTo>
                <a:lnTo>
                  <a:pt x="131" y="21600"/>
                </a:lnTo>
                <a:cubicBezTo>
                  <a:pt x="59" y="21600"/>
                  <a:pt x="0" y="21429"/>
                  <a:pt x="0" y="21218"/>
                </a:cubicBezTo>
                <a:lnTo>
                  <a:pt x="0" y="382"/>
                </a:lnTo>
                <a:cubicBezTo>
                  <a:pt x="0" y="171"/>
                  <a:pt x="59" y="0"/>
                  <a:pt x="131" y="0"/>
                </a:cubicBezTo>
                <a:close/>
              </a:path>
            </a:pathLst>
          </a:custGeom>
          <a:solidFill>
            <a:srgbClr val="0D0E1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76" name="Text 21"/>
          <p:cNvSpPr txBox="1"/>
          <p:nvPr/>
        </p:nvSpPr>
        <p:spPr>
          <a:xfrm>
            <a:off x="632012" y="4186018"/>
            <a:ext cx="72928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适应症匹配:</a:t>
            </a:r>
          </a:p>
        </p:txBody>
      </p:sp>
      <p:sp>
        <p:nvSpPr>
          <p:cNvPr id="1377" name="Text 22"/>
          <p:cNvSpPr txBox="1"/>
          <p:nvPr/>
        </p:nvSpPr>
        <p:spPr>
          <a:xfrm>
            <a:off x="758966" y="4394872"/>
            <a:ext cx="5048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- 甲状腺功能减退: 左甲状腺素钠片</a:t>
            </a:r>
          </a:p>
        </p:txBody>
      </p:sp>
      <p:sp>
        <p:nvSpPr>
          <p:cNvPr id="1378" name="Text 23"/>
          <p:cNvSpPr txBox="1"/>
          <p:nvPr/>
        </p:nvSpPr>
        <p:spPr>
          <a:xfrm>
            <a:off x="758966" y="4569466"/>
            <a:ext cx="5048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- 高脂血症: 阿托伐他汀钙片</a:t>
            </a:r>
          </a:p>
        </p:txBody>
      </p:sp>
      <p:sp>
        <p:nvSpPr>
          <p:cNvPr id="1379" name="Text 24"/>
          <p:cNvSpPr txBox="1"/>
          <p:nvPr/>
        </p:nvSpPr>
        <p:spPr>
          <a:xfrm>
            <a:off x="758966" y="4744060"/>
            <a:ext cx="5048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- 糖耐量减退: 阿卡波糖片</a:t>
            </a:r>
          </a:p>
        </p:txBody>
      </p:sp>
      <p:sp>
        <p:nvSpPr>
          <p:cNvPr id="1380" name="Text 25"/>
          <p:cNvSpPr txBox="1"/>
          <p:nvPr/>
        </p:nvSpPr>
        <p:spPr>
          <a:xfrm>
            <a:off x="632012" y="4916128"/>
            <a:ext cx="60227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药理分析:</a:t>
            </a:r>
          </a:p>
        </p:txBody>
      </p:sp>
      <p:sp>
        <p:nvSpPr>
          <p:cNvPr id="1381" name="Text 26"/>
          <p:cNvSpPr txBox="1"/>
          <p:nvPr/>
        </p:nvSpPr>
        <p:spPr>
          <a:xfrm>
            <a:off x="758966" y="5124983"/>
            <a:ext cx="5048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- 左甲状腺素: 甲状腺激素替代治疗，补充T4</a:t>
            </a:r>
          </a:p>
        </p:txBody>
      </p:sp>
      <p:sp>
        <p:nvSpPr>
          <p:cNvPr id="1382" name="Text 27"/>
          <p:cNvSpPr txBox="1"/>
          <p:nvPr/>
        </p:nvSpPr>
        <p:spPr>
          <a:xfrm>
            <a:off x="758966" y="5299561"/>
            <a:ext cx="5048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- 阿托伐他汀: HMG-CoA还原酶抑制剂，降低胆固醇</a:t>
            </a:r>
          </a:p>
        </p:txBody>
      </p:sp>
      <p:sp>
        <p:nvSpPr>
          <p:cNvPr id="1383" name="Text 28"/>
          <p:cNvSpPr txBox="1"/>
          <p:nvPr/>
        </p:nvSpPr>
        <p:spPr>
          <a:xfrm>
            <a:off x="758966" y="5474155"/>
            <a:ext cx="5048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- 阿卡波糖: α-糖苷酶抑制剂，延缓碳水化合物吸收</a:t>
            </a:r>
          </a:p>
        </p:txBody>
      </p:sp>
      <p:sp>
        <p:nvSpPr>
          <p:cNvPr id="1384" name="Text 29"/>
          <p:cNvSpPr txBox="1"/>
          <p:nvPr/>
        </p:nvSpPr>
        <p:spPr>
          <a:xfrm>
            <a:off x="632012" y="5680484"/>
            <a:ext cx="5175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b="1"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推荐药物:</a:t>
            </a:r>
            <a:r>
              <a:rPr b="0">
                <a:solidFill>
                  <a:srgbClr val="7D8A96"/>
                </a:solidFill>
              </a:rPr>
              <a:t> [左甲状腺素钠片, 阿托伐他汀钙片, 阿卡波糖片]</a:t>
            </a:r>
          </a:p>
        </p:txBody>
      </p:sp>
      <p:sp>
        <p:nvSpPr>
          <p:cNvPr id="1385" name="Shape 30"/>
          <p:cNvSpPr/>
          <p:nvPr/>
        </p:nvSpPr>
        <p:spPr>
          <a:xfrm>
            <a:off x="6173885" y="1079390"/>
            <a:ext cx="5697684" cy="2936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9" y="0"/>
                </a:moveTo>
                <a:lnTo>
                  <a:pt x="21239" y="0"/>
                </a:lnTo>
                <a:cubicBezTo>
                  <a:pt x="21438" y="0"/>
                  <a:pt x="21600" y="314"/>
                  <a:pt x="21600" y="700"/>
                </a:cubicBezTo>
                <a:lnTo>
                  <a:pt x="21600" y="20900"/>
                </a:lnTo>
                <a:cubicBezTo>
                  <a:pt x="21600" y="21286"/>
                  <a:pt x="21438" y="21600"/>
                  <a:pt x="21239" y="21600"/>
                </a:cubicBezTo>
                <a:lnTo>
                  <a:pt x="109" y="21600"/>
                </a:lnTo>
                <a:cubicBezTo>
                  <a:pt x="49" y="21600"/>
                  <a:pt x="0" y="21505"/>
                  <a:pt x="0" y="21388"/>
                </a:cubicBezTo>
                <a:lnTo>
                  <a:pt x="0" y="212"/>
                </a:lnTo>
                <a:cubicBezTo>
                  <a:pt x="0" y="95"/>
                  <a:pt x="49" y="0"/>
                  <a:pt x="109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86" name="Shape 31"/>
          <p:cNvSpPr/>
          <p:nvPr/>
        </p:nvSpPr>
        <p:spPr>
          <a:xfrm>
            <a:off x="6173885" y="1079390"/>
            <a:ext cx="28865" cy="2936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505"/>
                  <a:pt x="0" y="21388"/>
                </a:cubicBezTo>
                <a:lnTo>
                  <a:pt x="0" y="212"/>
                </a:lnTo>
                <a:cubicBezTo>
                  <a:pt x="0" y="95"/>
                  <a:pt x="9671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87" name="Text 32"/>
          <p:cNvSpPr txBox="1"/>
          <p:nvPr/>
        </p:nvSpPr>
        <p:spPr>
          <a:xfrm>
            <a:off x="6315273" y="1231759"/>
            <a:ext cx="550068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100">
                <a:solidFill>
                  <a:srgbClr val="1A1D21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3 </a:t>
            </a:r>
            <a:r>
              <a:rPr>
                <a:solidFill>
                  <a:srgbClr val="E0E2E5"/>
                </a:solidFill>
              </a:rPr>
              <a:t>安全推理</a:t>
            </a:r>
          </a:p>
        </p:txBody>
      </p:sp>
      <p:sp>
        <p:nvSpPr>
          <p:cNvPr id="1388" name="Shape 33"/>
          <p:cNvSpPr/>
          <p:nvPr/>
        </p:nvSpPr>
        <p:spPr>
          <a:xfrm>
            <a:off x="6315273" y="1523797"/>
            <a:ext cx="5429251" cy="23653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53" y="0"/>
                </a:moveTo>
                <a:lnTo>
                  <a:pt x="21347" y="0"/>
                </a:lnTo>
                <a:cubicBezTo>
                  <a:pt x="21487" y="0"/>
                  <a:pt x="21600" y="260"/>
                  <a:pt x="21600" y="580"/>
                </a:cubicBezTo>
                <a:lnTo>
                  <a:pt x="21600" y="21020"/>
                </a:lnTo>
                <a:cubicBezTo>
                  <a:pt x="21600" y="21340"/>
                  <a:pt x="21487" y="21600"/>
                  <a:pt x="21347" y="21600"/>
                </a:cubicBezTo>
                <a:lnTo>
                  <a:pt x="253" y="21600"/>
                </a:lnTo>
                <a:cubicBezTo>
                  <a:pt x="113" y="21600"/>
                  <a:pt x="0" y="21340"/>
                  <a:pt x="0" y="21020"/>
                </a:cubicBezTo>
                <a:lnTo>
                  <a:pt x="0" y="580"/>
                </a:lnTo>
                <a:cubicBezTo>
                  <a:pt x="0" y="260"/>
                  <a:pt x="113" y="0"/>
                  <a:pt x="253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89" name="Shape 34"/>
          <p:cNvSpPr/>
          <p:nvPr/>
        </p:nvSpPr>
        <p:spPr>
          <a:xfrm>
            <a:off x="6410490" y="1619016"/>
            <a:ext cx="5238751" cy="2174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1" y="0"/>
                </a:moveTo>
                <a:lnTo>
                  <a:pt x="21469" y="0"/>
                </a:lnTo>
                <a:cubicBezTo>
                  <a:pt x="21541" y="0"/>
                  <a:pt x="21600" y="141"/>
                  <a:pt x="21600" y="315"/>
                </a:cubicBezTo>
                <a:lnTo>
                  <a:pt x="21600" y="21285"/>
                </a:lnTo>
                <a:cubicBezTo>
                  <a:pt x="21600" y="21459"/>
                  <a:pt x="21541" y="21600"/>
                  <a:pt x="21469" y="21600"/>
                </a:cubicBezTo>
                <a:lnTo>
                  <a:pt x="131" y="21600"/>
                </a:lnTo>
                <a:cubicBezTo>
                  <a:pt x="59" y="21600"/>
                  <a:pt x="0" y="21459"/>
                  <a:pt x="0" y="21285"/>
                </a:cubicBezTo>
                <a:lnTo>
                  <a:pt x="0" y="315"/>
                </a:lnTo>
                <a:cubicBezTo>
                  <a:pt x="0" y="141"/>
                  <a:pt x="59" y="0"/>
                  <a:pt x="131" y="0"/>
                </a:cubicBezTo>
                <a:close/>
              </a:path>
            </a:pathLst>
          </a:custGeom>
          <a:solidFill>
            <a:srgbClr val="0D0E1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90" name="Text 35"/>
          <p:cNvSpPr txBox="1"/>
          <p:nvPr/>
        </p:nvSpPr>
        <p:spPr>
          <a:xfrm>
            <a:off x="6473966" y="1678373"/>
            <a:ext cx="72928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禁忌症检查:</a:t>
            </a:r>
          </a:p>
        </p:txBody>
      </p:sp>
      <p:sp>
        <p:nvSpPr>
          <p:cNvPr id="1391" name="Text 36"/>
          <p:cNvSpPr txBox="1"/>
          <p:nvPr/>
        </p:nvSpPr>
        <p:spPr>
          <a:xfrm>
            <a:off x="6600921" y="1887227"/>
            <a:ext cx="5048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- 左甲状腺素: 无禁忌</a:t>
            </a:r>
          </a:p>
        </p:txBody>
      </p:sp>
      <p:sp>
        <p:nvSpPr>
          <p:cNvPr id="1392" name="Text 37"/>
          <p:cNvSpPr txBox="1"/>
          <p:nvPr/>
        </p:nvSpPr>
        <p:spPr>
          <a:xfrm>
            <a:off x="6600921" y="2061821"/>
            <a:ext cx="5048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- 阿托伐他汀: 无禁忌</a:t>
            </a:r>
          </a:p>
        </p:txBody>
      </p:sp>
      <p:sp>
        <p:nvSpPr>
          <p:cNvPr id="1393" name="Text 38"/>
          <p:cNvSpPr txBox="1"/>
          <p:nvPr/>
        </p:nvSpPr>
        <p:spPr>
          <a:xfrm>
            <a:off x="6600921" y="2236415"/>
            <a:ext cx="5048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- 阿卡波糖: 无禁忌</a:t>
            </a:r>
          </a:p>
        </p:txBody>
      </p:sp>
      <p:sp>
        <p:nvSpPr>
          <p:cNvPr id="1394" name="Text 39"/>
          <p:cNvSpPr txBox="1"/>
          <p:nvPr/>
        </p:nvSpPr>
        <p:spPr>
          <a:xfrm>
            <a:off x="6473966" y="2408483"/>
            <a:ext cx="85623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药物相互作用:</a:t>
            </a:r>
          </a:p>
        </p:txBody>
      </p:sp>
      <p:sp>
        <p:nvSpPr>
          <p:cNvPr id="1395" name="Text 40"/>
          <p:cNvSpPr txBox="1"/>
          <p:nvPr/>
        </p:nvSpPr>
        <p:spPr>
          <a:xfrm>
            <a:off x="6600921" y="2617337"/>
            <a:ext cx="5048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- 左甲状腺素与阿托伐他汀: 无相互作用</a:t>
            </a:r>
          </a:p>
        </p:txBody>
      </p:sp>
      <p:sp>
        <p:nvSpPr>
          <p:cNvPr id="1396" name="Text 41"/>
          <p:cNvSpPr txBox="1"/>
          <p:nvPr/>
        </p:nvSpPr>
        <p:spPr>
          <a:xfrm>
            <a:off x="6600921" y="2791931"/>
            <a:ext cx="5048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- 左甲状腺素与阿卡波糖: 无相互作用</a:t>
            </a:r>
          </a:p>
        </p:txBody>
      </p:sp>
      <p:sp>
        <p:nvSpPr>
          <p:cNvPr id="1397" name="Text 42"/>
          <p:cNvSpPr txBox="1"/>
          <p:nvPr/>
        </p:nvSpPr>
        <p:spPr>
          <a:xfrm>
            <a:off x="6600921" y="2966525"/>
            <a:ext cx="5048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- 阿托伐他汀与阿卡波糖: 无相互作用</a:t>
            </a:r>
          </a:p>
        </p:txBody>
      </p:sp>
      <p:sp>
        <p:nvSpPr>
          <p:cNvPr id="1398" name="Text 43"/>
          <p:cNvSpPr txBox="1"/>
          <p:nvPr/>
        </p:nvSpPr>
        <p:spPr>
          <a:xfrm>
            <a:off x="6473966" y="3138579"/>
            <a:ext cx="60227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特殊人群:</a:t>
            </a:r>
          </a:p>
        </p:txBody>
      </p:sp>
      <p:sp>
        <p:nvSpPr>
          <p:cNvPr id="1399" name="Text 44"/>
          <p:cNvSpPr txBox="1"/>
          <p:nvPr/>
        </p:nvSpPr>
        <p:spPr>
          <a:xfrm>
            <a:off x="6600921" y="3347432"/>
            <a:ext cx="5048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- 青霉素过敏: 不涉及抗生素</a:t>
            </a:r>
          </a:p>
        </p:txBody>
      </p:sp>
      <p:sp>
        <p:nvSpPr>
          <p:cNvPr id="1400" name="Text 45"/>
          <p:cNvSpPr txBox="1"/>
          <p:nvPr/>
        </p:nvSpPr>
        <p:spPr>
          <a:xfrm>
            <a:off x="6473966" y="3553776"/>
            <a:ext cx="5175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安全评估:</a:t>
            </a:r>
            <a:r>
              <a:rPr b="0">
                <a:solidFill>
                  <a:srgbClr val="7D8A96"/>
                </a:solidFill>
              </a:rPr>
              <a:t> 所有药物均安全可用</a:t>
            </a:r>
          </a:p>
        </p:txBody>
      </p:sp>
      <p:sp>
        <p:nvSpPr>
          <p:cNvPr id="1401" name="Shape 46"/>
          <p:cNvSpPr/>
          <p:nvPr/>
        </p:nvSpPr>
        <p:spPr>
          <a:xfrm>
            <a:off x="6173885" y="4110818"/>
            <a:ext cx="5697684" cy="2762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9" y="0"/>
                </a:moveTo>
                <a:lnTo>
                  <a:pt x="21239" y="0"/>
                </a:lnTo>
                <a:cubicBezTo>
                  <a:pt x="21438" y="0"/>
                  <a:pt x="21600" y="333"/>
                  <a:pt x="21600" y="745"/>
                </a:cubicBezTo>
                <a:lnTo>
                  <a:pt x="21600" y="20855"/>
                </a:lnTo>
                <a:cubicBezTo>
                  <a:pt x="21600" y="21267"/>
                  <a:pt x="21438" y="21600"/>
                  <a:pt x="21239" y="21600"/>
                </a:cubicBezTo>
                <a:lnTo>
                  <a:pt x="109" y="21600"/>
                </a:lnTo>
                <a:cubicBezTo>
                  <a:pt x="49" y="21600"/>
                  <a:pt x="0" y="21499"/>
                  <a:pt x="0" y="21374"/>
                </a:cubicBezTo>
                <a:lnTo>
                  <a:pt x="0" y="226"/>
                </a:lnTo>
                <a:cubicBezTo>
                  <a:pt x="0" y="101"/>
                  <a:pt x="49" y="0"/>
                  <a:pt x="109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02" name="Shape 47"/>
          <p:cNvSpPr/>
          <p:nvPr/>
        </p:nvSpPr>
        <p:spPr>
          <a:xfrm>
            <a:off x="6173885" y="4110818"/>
            <a:ext cx="28865" cy="2762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499"/>
                  <a:pt x="0" y="21374"/>
                </a:cubicBezTo>
                <a:lnTo>
                  <a:pt x="0" y="226"/>
                </a:lnTo>
                <a:cubicBezTo>
                  <a:pt x="0" y="101"/>
                  <a:pt x="9671" y="0"/>
                  <a:pt x="21600" y="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03" name="Text 48"/>
          <p:cNvSpPr txBox="1"/>
          <p:nvPr/>
        </p:nvSpPr>
        <p:spPr>
          <a:xfrm>
            <a:off x="6315273" y="4263171"/>
            <a:ext cx="550068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1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4 处方推理</a:t>
            </a:r>
          </a:p>
        </p:txBody>
      </p:sp>
      <p:sp>
        <p:nvSpPr>
          <p:cNvPr id="1404" name="Shape 49"/>
          <p:cNvSpPr/>
          <p:nvPr/>
        </p:nvSpPr>
        <p:spPr>
          <a:xfrm>
            <a:off x="6315273" y="4555209"/>
            <a:ext cx="5429251" cy="2190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53" y="0"/>
                </a:moveTo>
                <a:lnTo>
                  <a:pt x="21347" y="0"/>
                </a:lnTo>
                <a:cubicBezTo>
                  <a:pt x="21487" y="0"/>
                  <a:pt x="21600" y="280"/>
                  <a:pt x="21600" y="626"/>
                </a:cubicBezTo>
                <a:lnTo>
                  <a:pt x="21600" y="20974"/>
                </a:lnTo>
                <a:cubicBezTo>
                  <a:pt x="21600" y="21320"/>
                  <a:pt x="21487" y="21600"/>
                  <a:pt x="21347" y="21600"/>
                </a:cubicBezTo>
                <a:lnTo>
                  <a:pt x="253" y="21600"/>
                </a:lnTo>
                <a:cubicBezTo>
                  <a:pt x="113" y="21600"/>
                  <a:pt x="0" y="21320"/>
                  <a:pt x="0" y="20974"/>
                </a:cubicBezTo>
                <a:lnTo>
                  <a:pt x="0" y="626"/>
                </a:lnTo>
                <a:cubicBezTo>
                  <a:pt x="0" y="280"/>
                  <a:pt x="113" y="0"/>
                  <a:pt x="253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05" name="Shape 50"/>
          <p:cNvSpPr/>
          <p:nvPr/>
        </p:nvSpPr>
        <p:spPr>
          <a:xfrm>
            <a:off x="6410490" y="4650428"/>
            <a:ext cx="5238751" cy="2000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1" y="0"/>
                </a:moveTo>
                <a:lnTo>
                  <a:pt x="21469" y="0"/>
                </a:lnTo>
                <a:cubicBezTo>
                  <a:pt x="21541" y="0"/>
                  <a:pt x="21600" y="153"/>
                  <a:pt x="21600" y="343"/>
                </a:cubicBezTo>
                <a:lnTo>
                  <a:pt x="21600" y="21257"/>
                </a:lnTo>
                <a:cubicBezTo>
                  <a:pt x="21600" y="21447"/>
                  <a:pt x="21541" y="21600"/>
                  <a:pt x="21469" y="21600"/>
                </a:cubicBezTo>
                <a:lnTo>
                  <a:pt x="131" y="21600"/>
                </a:lnTo>
                <a:cubicBezTo>
                  <a:pt x="59" y="21600"/>
                  <a:pt x="0" y="21447"/>
                  <a:pt x="0" y="21257"/>
                </a:cubicBezTo>
                <a:lnTo>
                  <a:pt x="0" y="343"/>
                </a:lnTo>
                <a:cubicBezTo>
                  <a:pt x="0" y="154"/>
                  <a:pt x="59" y="0"/>
                  <a:pt x="131" y="0"/>
                </a:cubicBezTo>
                <a:close/>
              </a:path>
            </a:pathLst>
          </a:custGeom>
          <a:solidFill>
            <a:srgbClr val="0D0E1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06" name="Text 51"/>
          <p:cNvSpPr txBox="1"/>
          <p:nvPr/>
        </p:nvSpPr>
        <p:spPr>
          <a:xfrm>
            <a:off x="6473966" y="4709784"/>
            <a:ext cx="72928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个体化剂量:</a:t>
            </a:r>
          </a:p>
        </p:txBody>
      </p:sp>
      <p:sp>
        <p:nvSpPr>
          <p:cNvPr id="1407" name="Text 52"/>
          <p:cNvSpPr txBox="1"/>
          <p:nvPr/>
        </p:nvSpPr>
        <p:spPr>
          <a:xfrm>
            <a:off x="6600921" y="4918654"/>
            <a:ext cx="5048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- 左甲状腺素钠片: 37.5ug，每日1次(继续当前剂量)</a:t>
            </a:r>
          </a:p>
        </p:txBody>
      </p:sp>
      <p:sp>
        <p:nvSpPr>
          <p:cNvPr id="1408" name="Text 53"/>
          <p:cNvSpPr txBox="1"/>
          <p:nvPr/>
        </p:nvSpPr>
        <p:spPr>
          <a:xfrm>
            <a:off x="6600921" y="5093233"/>
            <a:ext cx="5048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- 阿托伐他汀钙片: 20mg，每晚1次</a:t>
            </a:r>
          </a:p>
        </p:txBody>
      </p:sp>
      <p:sp>
        <p:nvSpPr>
          <p:cNvPr id="1409" name="Text 54"/>
          <p:cNvSpPr txBox="1"/>
          <p:nvPr/>
        </p:nvSpPr>
        <p:spPr>
          <a:xfrm>
            <a:off x="6600921" y="5267827"/>
            <a:ext cx="5048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- 阿卡波糖片: 50mg，每日3次(餐时服用)</a:t>
            </a:r>
          </a:p>
        </p:txBody>
      </p:sp>
      <p:sp>
        <p:nvSpPr>
          <p:cNvPr id="1410" name="Text 55"/>
          <p:cNvSpPr txBox="1"/>
          <p:nvPr/>
        </p:nvSpPr>
        <p:spPr>
          <a:xfrm>
            <a:off x="6473966" y="5442421"/>
            <a:ext cx="5175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给药方案:</a:t>
            </a:r>
            <a:r>
              <a:rPr b="0">
                <a:solidFill>
                  <a:srgbClr val="7D8A96"/>
                </a:solidFill>
              </a:rPr>
              <a:t> 口服，长期服用</a:t>
            </a:r>
          </a:p>
        </p:txBody>
      </p:sp>
      <p:sp>
        <p:nvSpPr>
          <p:cNvPr id="1411" name="Text 56"/>
          <p:cNvSpPr txBox="1"/>
          <p:nvPr/>
        </p:nvSpPr>
        <p:spPr>
          <a:xfrm>
            <a:off x="6473966" y="5646223"/>
            <a:ext cx="60227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用药指导:</a:t>
            </a:r>
          </a:p>
        </p:txBody>
      </p:sp>
      <p:sp>
        <p:nvSpPr>
          <p:cNvPr id="1412" name="Text 57"/>
          <p:cNvSpPr txBox="1"/>
          <p:nvPr/>
        </p:nvSpPr>
        <p:spPr>
          <a:xfrm>
            <a:off x="6600921" y="5855078"/>
            <a:ext cx="5048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- 左甲状腺素: 空腹服用，定期监测甲功</a:t>
            </a:r>
          </a:p>
        </p:txBody>
      </p:sp>
      <p:sp>
        <p:nvSpPr>
          <p:cNvPr id="1413" name="Text 58"/>
          <p:cNvSpPr txBox="1"/>
          <p:nvPr/>
        </p:nvSpPr>
        <p:spPr>
          <a:xfrm>
            <a:off x="6600921" y="6029672"/>
            <a:ext cx="5048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- 阿托伐他汀: 晚间服用，定期监测肝功能和血脂</a:t>
            </a:r>
          </a:p>
        </p:txBody>
      </p:sp>
      <p:sp>
        <p:nvSpPr>
          <p:cNvPr id="1414" name="Text 59"/>
          <p:cNvSpPr txBox="1"/>
          <p:nvPr/>
        </p:nvSpPr>
        <p:spPr>
          <a:xfrm>
            <a:off x="6600921" y="6204266"/>
            <a:ext cx="5048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- 阿卡波糖: 餐时嚼服，注意胃肠道反应</a:t>
            </a:r>
          </a:p>
        </p:txBody>
      </p:sp>
      <p:sp>
        <p:nvSpPr>
          <p:cNvPr id="1415" name="Text 60"/>
          <p:cNvSpPr txBox="1"/>
          <p:nvPr/>
        </p:nvSpPr>
        <p:spPr>
          <a:xfrm>
            <a:off x="6473966" y="6410594"/>
            <a:ext cx="51752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最终出院带药列表: ["左甲状腺素钠片", "阿托伐他汀钙片", "阿卡波糖片"]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Text 0"/>
          <p:cNvSpPr txBox="1"/>
          <p:nvPr/>
        </p:nvSpPr>
        <p:spPr>
          <a:xfrm>
            <a:off x="324254" y="345331"/>
            <a:ext cx="116083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pc="51" sz="1000">
                <a:solidFill>
                  <a:srgbClr val="5E8B7E"/>
                </a:solidFill>
                <a:latin typeface="Liter"/>
                <a:ea typeface="Liter"/>
                <a:cs typeface="Liter"/>
                <a:sym typeface="Liter"/>
              </a:defRPr>
            </a:lvl1pPr>
          </a:lstStyle>
          <a:p>
            <a:pPr/>
            <a:r>
              <a:t>ENGINEERING: TRAINING</a:t>
            </a:r>
          </a:p>
        </p:txBody>
      </p:sp>
      <p:sp>
        <p:nvSpPr>
          <p:cNvPr id="1418" name="Text 1"/>
          <p:cNvSpPr txBox="1"/>
          <p:nvPr/>
        </p:nvSpPr>
        <p:spPr>
          <a:xfrm>
            <a:off x="324254" y="511480"/>
            <a:ext cx="11738045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80000"/>
              </a:lnSpc>
              <a:defRPr b="1" sz="3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工程实现: 训练配置详解</a:t>
            </a:r>
          </a:p>
        </p:txBody>
      </p:sp>
      <p:sp>
        <p:nvSpPr>
          <p:cNvPr id="1419" name="Shape 2"/>
          <p:cNvSpPr/>
          <p:nvPr/>
        </p:nvSpPr>
        <p:spPr>
          <a:xfrm>
            <a:off x="324254" y="1102373"/>
            <a:ext cx="778215" cy="32427"/>
          </a:xfrm>
          <a:prstGeom prst="rect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20" name="Shape 3"/>
          <p:cNvSpPr/>
          <p:nvPr/>
        </p:nvSpPr>
        <p:spPr>
          <a:xfrm>
            <a:off x="338993" y="1264436"/>
            <a:ext cx="5672996" cy="34371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2" y="0"/>
                </a:moveTo>
                <a:lnTo>
                  <a:pt x="21230" y="0"/>
                </a:lnTo>
                <a:cubicBezTo>
                  <a:pt x="21434" y="0"/>
                  <a:pt x="21600" y="274"/>
                  <a:pt x="21600" y="611"/>
                </a:cubicBezTo>
                <a:lnTo>
                  <a:pt x="21600" y="20989"/>
                </a:lnTo>
                <a:cubicBezTo>
                  <a:pt x="21600" y="21326"/>
                  <a:pt x="21434" y="21600"/>
                  <a:pt x="21230" y="21600"/>
                </a:cubicBezTo>
                <a:lnTo>
                  <a:pt x="112" y="21600"/>
                </a:lnTo>
                <a:cubicBezTo>
                  <a:pt x="50" y="21600"/>
                  <a:pt x="0" y="21517"/>
                  <a:pt x="0" y="21415"/>
                </a:cubicBezTo>
                <a:lnTo>
                  <a:pt x="0" y="185"/>
                </a:lnTo>
                <a:cubicBezTo>
                  <a:pt x="0" y="83"/>
                  <a:pt x="50" y="0"/>
                  <a:pt x="112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21" name="Shape 4"/>
          <p:cNvSpPr/>
          <p:nvPr/>
        </p:nvSpPr>
        <p:spPr>
          <a:xfrm>
            <a:off x="338993" y="1264436"/>
            <a:ext cx="29479" cy="34371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517"/>
                  <a:pt x="0" y="21415"/>
                </a:cubicBezTo>
                <a:lnTo>
                  <a:pt x="0" y="185"/>
                </a:lnTo>
                <a:cubicBezTo>
                  <a:pt x="0" y="83"/>
                  <a:pt x="9679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22" name="Shape 5"/>
          <p:cNvSpPr/>
          <p:nvPr/>
        </p:nvSpPr>
        <p:spPr>
          <a:xfrm>
            <a:off x="532556" y="1455372"/>
            <a:ext cx="169538" cy="1695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0" h="21353" fill="norm" stroke="1" extrusionOk="0">
                <a:moveTo>
                  <a:pt x="8080" y="4326"/>
                </a:moveTo>
                <a:lnTo>
                  <a:pt x="8080" y="6304"/>
                </a:lnTo>
                <a:lnTo>
                  <a:pt x="8100" y="6324"/>
                </a:lnTo>
                <a:cubicBezTo>
                  <a:pt x="8358" y="3038"/>
                  <a:pt x="11095" y="453"/>
                  <a:pt x="14436" y="453"/>
                </a:cubicBezTo>
                <a:cubicBezTo>
                  <a:pt x="15235" y="453"/>
                  <a:pt x="16001" y="601"/>
                  <a:pt x="16705" y="872"/>
                </a:cubicBezTo>
                <a:cubicBezTo>
                  <a:pt x="17102" y="1024"/>
                  <a:pt x="17173" y="1530"/>
                  <a:pt x="16875" y="1833"/>
                </a:cubicBezTo>
                <a:lnTo>
                  <a:pt x="13352" y="5371"/>
                </a:lnTo>
                <a:cubicBezTo>
                  <a:pt x="13232" y="5491"/>
                  <a:pt x="13165" y="5654"/>
                  <a:pt x="13165" y="5822"/>
                </a:cubicBezTo>
                <a:lnTo>
                  <a:pt x="13165" y="7473"/>
                </a:lnTo>
                <a:cubicBezTo>
                  <a:pt x="13165" y="7824"/>
                  <a:pt x="13451" y="8111"/>
                  <a:pt x="13800" y="8111"/>
                </a:cubicBezTo>
                <a:lnTo>
                  <a:pt x="15445" y="8111"/>
                </a:lnTo>
                <a:cubicBezTo>
                  <a:pt x="15612" y="8111"/>
                  <a:pt x="15775" y="8043"/>
                  <a:pt x="15894" y="7923"/>
                </a:cubicBezTo>
                <a:lnTo>
                  <a:pt x="19418" y="4386"/>
                </a:lnTo>
                <a:cubicBezTo>
                  <a:pt x="19720" y="4083"/>
                  <a:pt x="20224" y="4158"/>
                  <a:pt x="20375" y="4557"/>
                </a:cubicBezTo>
                <a:cubicBezTo>
                  <a:pt x="20646" y="5263"/>
                  <a:pt x="20793" y="6033"/>
                  <a:pt x="20793" y="6835"/>
                </a:cubicBezTo>
                <a:cubicBezTo>
                  <a:pt x="20793" y="9251"/>
                  <a:pt x="19454" y="11357"/>
                  <a:pt x="17475" y="12438"/>
                </a:cubicBezTo>
                <a:lnTo>
                  <a:pt x="20713" y="15688"/>
                </a:lnTo>
                <a:cubicBezTo>
                  <a:pt x="21456" y="16434"/>
                  <a:pt x="21456" y="17646"/>
                  <a:pt x="20713" y="18396"/>
                </a:cubicBezTo>
                <a:lnTo>
                  <a:pt x="18325" y="20793"/>
                </a:lnTo>
                <a:cubicBezTo>
                  <a:pt x="17583" y="21539"/>
                  <a:pt x="16375" y="21539"/>
                  <a:pt x="15628" y="20793"/>
                </a:cubicBezTo>
                <a:lnTo>
                  <a:pt x="10622" y="15768"/>
                </a:lnTo>
                <a:cubicBezTo>
                  <a:pt x="9534" y="14675"/>
                  <a:pt x="9287" y="13060"/>
                  <a:pt x="9887" y="11728"/>
                </a:cubicBezTo>
                <a:lnTo>
                  <a:pt x="6284" y="8111"/>
                </a:lnTo>
                <a:lnTo>
                  <a:pt x="4314" y="8111"/>
                </a:lnTo>
                <a:cubicBezTo>
                  <a:pt x="3888" y="8111"/>
                  <a:pt x="3491" y="7899"/>
                  <a:pt x="3257" y="7544"/>
                </a:cubicBezTo>
                <a:lnTo>
                  <a:pt x="106" y="2803"/>
                </a:lnTo>
                <a:cubicBezTo>
                  <a:pt x="-61" y="2551"/>
                  <a:pt x="-29" y="2212"/>
                  <a:pt x="186" y="1997"/>
                </a:cubicBezTo>
                <a:lnTo>
                  <a:pt x="1989" y="186"/>
                </a:lnTo>
                <a:cubicBezTo>
                  <a:pt x="2204" y="-29"/>
                  <a:pt x="2538" y="-61"/>
                  <a:pt x="2792" y="107"/>
                </a:cubicBezTo>
                <a:lnTo>
                  <a:pt x="7516" y="3265"/>
                </a:lnTo>
                <a:cubicBezTo>
                  <a:pt x="7869" y="3500"/>
                  <a:pt x="8080" y="3899"/>
                  <a:pt x="8080" y="4326"/>
                </a:cubicBezTo>
                <a:close/>
                <a:moveTo>
                  <a:pt x="7742" y="12282"/>
                </a:moveTo>
                <a:cubicBezTo>
                  <a:pt x="7492" y="13758"/>
                  <a:pt x="7837" y="15317"/>
                  <a:pt x="8791" y="16566"/>
                </a:cubicBezTo>
                <a:lnTo>
                  <a:pt x="5017" y="20350"/>
                </a:lnTo>
                <a:cubicBezTo>
                  <a:pt x="3900" y="21471"/>
                  <a:pt x="2089" y="21471"/>
                  <a:pt x="972" y="20350"/>
                </a:cubicBezTo>
                <a:cubicBezTo>
                  <a:pt x="-144" y="19230"/>
                  <a:pt x="-144" y="17411"/>
                  <a:pt x="972" y="16291"/>
                </a:cubicBezTo>
                <a:lnTo>
                  <a:pt x="6351" y="10891"/>
                </a:lnTo>
                <a:lnTo>
                  <a:pt x="7742" y="12286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23" name="Text 6"/>
          <p:cNvSpPr txBox="1"/>
          <p:nvPr/>
        </p:nvSpPr>
        <p:spPr>
          <a:xfrm>
            <a:off x="718520" y="1432104"/>
            <a:ext cx="521240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训练工具栈</a:t>
            </a:r>
          </a:p>
        </p:txBody>
      </p:sp>
      <p:sp>
        <p:nvSpPr>
          <p:cNvPr id="1424" name="Shape 7"/>
          <p:cNvSpPr/>
          <p:nvPr/>
        </p:nvSpPr>
        <p:spPr>
          <a:xfrm>
            <a:off x="515861" y="1783183"/>
            <a:ext cx="5334001" cy="6160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63" y="0"/>
                </a:moveTo>
                <a:lnTo>
                  <a:pt x="21337" y="0"/>
                </a:lnTo>
                <a:cubicBezTo>
                  <a:pt x="21482" y="0"/>
                  <a:pt x="21600" y="1018"/>
                  <a:pt x="21600" y="2274"/>
                </a:cubicBezTo>
                <a:lnTo>
                  <a:pt x="21600" y="19326"/>
                </a:lnTo>
                <a:cubicBezTo>
                  <a:pt x="21600" y="20582"/>
                  <a:pt x="21482" y="21600"/>
                  <a:pt x="21337" y="21600"/>
                </a:cubicBezTo>
                <a:lnTo>
                  <a:pt x="263" y="21600"/>
                </a:lnTo>
                <a:cubicBezTo>
                  <a:pt x="118" y="21600"/>
                  <a:pt x="0" y="20582"/>
                  <a:pt x="0" y="19326"/>
                </a:cubicBezTo>
                <a:lnTo>
                  <a:pt x="0" y="2274"/>
                </a:lnTo>
                <a:cubicBezTo>
                  <a:pt x="0" y="1018"/>
                  <a:pt x="118" y="0"/>
                  <a:pt x="263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25" name="Text 8"/>
          <p:cNvSpPr txBox="1"/>
          <p:nvPr/>
        </p:nvSpPr>
        <p:spPr>
          <a:xfrm>
            <a:off x="613102" y="1901488"/>
            <a:ext cx="52043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Unsloth</a:t>
            </a:r>
          </a:p>
        </p:txBody>
      </p:sp>
      <p:sp>
        <p:nvSpPr>
          <p:cNvPr id="1426" name="Text 9"/>
          <p:cNvSpPr txBox="1"/>
          <p:nvPr/>
        </p:nvSpPr>
        <p:spPr>
          <a:xfrm>
            <a:off x="613102" y="2115751"/>
            <a:ext cx="52043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高效的LLM微调框架，支持4-bit量化和LoRA</a:t>
            </a:r>
          </a:p>
        </p:txBody>
      </p:sp>
      <p:sp>
        <p:nvSpPr>
          <p:cNvPr id="1427" name="Shape 10"/>
          <p:cNvSpPr/>
          <p:nvPr/>
        </p:nvSpPr>
        <p:spPr>
          <a:xfrm>
            <a:off x="515861" y="2496402"/>
            <a:ext cx="5334001" cy="6160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63" y="0"/>
                </a:moveTo>
                <a:lnTo>
                  <a:pt x="21337" y="0"/>
                </a:lnTo>
                <a:cubicBezTo>
                  <a:pt x="21482" y="0"/>
                  <a:pt x="21600" y="1018"/>
                  <a:pt x="21600" y="2274"/>
                </a:cubicBezTo>
                <a:lnTo>
                  <a:pt x="21600" y="19326"/>
                </a:lnTo>
                <a:cubicBezTo>
                  <a:pt x="21600" y="20582"/>
                  <a:pt x="21482" y="21600"/>
                  <a:pt x="21337" y="21600"/>
                </a:cubicBezTo>
                <a:lnTo>
                  <a:pt x="263" y="21600"/>
                </a:lnTo>
                <a:cubicBezTo>
                  <a:pt x="118" y="21600"/>
                  <a:pt x="0" y="20582"/>
                  <a:pt x="0" y="19326"/>
                </a:cubicBezTo>
                <a:lnTo>
                  <a:pt x="0" y="2274"/>
                </a:lnTo>
                <a:cubicBezTo>
                  <a:pt x="0" y="1018"/>
                  <a:pt x="118" y="0"/>
                  <a:pt x="263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28" name="Text 11"/>
          <p:cNvSpPr txBox="1"/>
          <p:nvPr/>
        </p:nvSpPr>
        <p:spPr>
          <a:xfrm>
            <a:off x="613102" y="2614723"/>
            <a:ext cx="52043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Transformers</a:t>
            </a:r>
          </a:p>
        </p:txBody>
      </p:sp>
      <p:sp>
        <p:nvSpPr>
          <p:cNvPr id="1429" name="Text 12"/>
          <p:cNvSpPr txBox="1"/>
          <p:nvPr/>
        </p:nvSpPr>
        <p:spPr>
          <a:xfrm>
            <a:off x="613102" y="2828970"/>
            <a:ext cx="52043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Hugging Face模型库，加载GLM-4-9B</a:t>
            </a:r>
          </a:p>
        </p:txBody>
      </p:sp>
      <p:sp>
        <p:nvSpPr>
          <p:cNvPr id="1430" name="Shape 13"/>
          <p:cNvSpPr/>
          <p:nvPr/>
        </p:nvSpPr>
        <p:spPr>
          <a:xfrm>
            <a:off x="515861" y="3209620"/>
            <a:ext cx="5334001" cy="6160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63" y="0"/>
                </a:moveTo>
                <a:lnTo>
                  <a:pt x="21337" y="0"/>
                </a:lnTo>
                <a:cubicBezTo>
                  <a:pt x="21482" y="0"/>
                  <a:pt x="21600" y="1018"/>
                  <a:pt x="21600" y="2274"/>
                </a:cubicBezTo>
                <a:lnTo>
                  <a:pt x="21600" y="19326"/>
                </a:lnTo>
                <a:cubicBezTo>
                  <a:pt x="21600" y="20582"/>
                  <a:pt x="21482" y="21600"/>
                  <a:pt x="21337" y="21600"/>
                </a:cubicBezTo>
                <a:lnTo>
                  <a:pt x="263" y="21600"/>
                </a:lnTo>
                <a:cubicBezTo>
                  <a:pt x="118" y="21600"/>
                  <a:pt x="0" y="20582"/>
                  <a:pt x="0" y="19326"/>
                </a:cubicBezTo>
                <a:lnTo>
                  <a:pt x="0" y="2274"/>
                </a:lnTo>
                <a:cubicBezTo>
                  <a:pt x="0" y="1018"/>
                  <a:pt x="118" y="0"/>
                  <a:pt x="263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31" name="Text 14"/>
          <p:cNvSpPr txBox="1"/>
          <p:nvPr/>
        </p:nvSpPr>
        <p:spPr>
          <a:xfrm>
            <a:off x="613102" y="3327942"/>
            <a:ext cx="52043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BitsAndBytes</a:t>
            </a:r>
          </a:p>
        </p:txBody>
      </p:sp>
      <p:sp>
        <p:nvSpPr>
          <p:cNvPr id="1432" name="Text 15"/>
          <p:cNvSpPr txBox="1"/>
          <p:nvPr/>
        </p:nvSpPr>
        <p:spPr>
          <a:xfrm>
            <a:off x="613102" y="3542205"/>
            <a:ext cx="52043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4-bit NF4量化，减少75%内存占用</a:t>
            </a:r>
          </a:p>
        </p:txBody>
      </p:sp>
      <p:sp>
        <p:nvSpPr>
          <p:cNvPr id="1433" name="Shape 16"/>
          <p:cNvSpPr/>
          <p:nvPr/>
        </p:nvSpPr>
        <p:spPr>
          <a:xfrm>
            <a:off x="515861" y="3922840"/>
            <a:ext cx="5334001" cy="6160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63" y="0"/>
                </a:moveTo>
                <a:lnTo>
                  <a:pt x="21337" y="0"/>
                </a:lnTo>
                <a:cubicBezTo>
                  <a:pt x="21482" y="0"/>
                  <a:pt x="21600" y="1018"/>
                  <a:pt x="21600" y="2274"/>
                </a:cubicBezTo>
                <a:lnTo>
                  <a:pt x="21600" y="19326"/>
                </a:lnTo>
                <a:cubicBezTo>
                  <a:pt x="21600" y="20582"/>
                  <a:pt x="21482" y="21600"/>
                  <a:pt x="21337" y="21600"/>
                </a:cubicBezTo>
                <a:lnTo>
                  <a:pt x="263" y="21600"/>
                </a:lnTo>
                <a:cubicBezTo>
                  <a:pt x="118" y="21600"/>
                  <a:pt x="0" y="20582"/>
                  <a:pt x="0" y="19326"/>
                </a:cubicBezTo>
                <a:lnTo>
                  <a:pt x="0" y="2274"/>
                </a:lnTo>
                <a:cubicBezTo>
                  <a:pt x="0" y="1018"/>
                  <a:pt x="118" y="0"/>
                  <a:pt x="263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34" name="Text 17"/>
          <p:cNvSpPr txBox="1"/>
          <p:nvPr/>
        </p:nvSpPr>
        <p:spPr>
          <a:xfrm>
            <a:off x="613102" y="4041161"/>
            <a:ext cx="52043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Flash Attention 2</a:t>
            </a:r>
          </a:p>
        </p:txBody>
      </p:sp>
      <p:sp>
        <p:nvSpPr>
          <p:cNvPr id="1435" name="Text 18"/>
          <p:cNvSpPr txBox="1"/>
          <p:nvPr/>
        </p:nvSpPr>
        <p:spPr>
          <a:xfrm>
            <a:off x="613102" y="4255424"/>
            <a:ext cx="52043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加速注意力计算，提升训练速度</a:t>
            </a:r>
          </a:p>
        </p:txBody>
      </p:sp>
      <p:sp>
        <p:nvSpPr>
          <p:cNvPr id="1436" name="Shape 19"/>
          <p:cNvSpPr/>
          <p:nvPr/>
        </p:nvSpPr>
        <p:spPr>
          <a:xfrm>
            <a:off x="6191768" y="1264436"/>
            <a:ext cx="5672995" cy="34371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2" y="0"/>
                </a:moveTo>
                <a:lnTo>
                  <a:pt x="21230" y="0"/>
                </a:lnTo>
                <a:cubicBezTo>
                  <a:pt x="21434" y="0"/>
                  <a:pt x="21600" y="274"/>
                  <a:pt x="21600" y="611"/>
                </a:cubicBezTo>
                <a:lnTo>
                  <a:pt x="21600" y="20989"/>
                </a:lnTo>
                <a:cubicBezTo>
                  <a:pt x="21600" y="21326"/>
                  <a:pt x="21434" y="21600"/>
                  <a:pt x="21230" y="21600"/>
                </a:cubicBezTo>
                <a:lnTo>
                  <a:pt x="112" y="21600"/>
                </a:lnTo>
                <a:cubicBezTo>
                  <a:pt x="50" y="21600"/>
                  <a:pt x="0" y="21517"/>
                  <a:pt x="0" y="21415"/>
                </a:cubicBezTo>
                <a:lnTo>
                  <a:pt x="0" y="185"/>
                </a:lnTo>
                <a:cubicBezTo>
                  <a:pt x="0" y="83"/>
                  <a:pt x="50" y="0"/>
                  <a:pt x="112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37" name="Shape 20"/>
          <p:cNvSpPr/>
          <p:nvPr/>
        </p:nvSpPr>
        <p:spPr>
          <a:xfrm>
            <a:off x="6191768" y="1264436"/>
            <a:ext cx="29479" cy="34371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517"/>
                  <a:pt x="0" y="21415"/>
                </a:cubicBezTo>
                <a:lnTo>
                  <a:pt x="0" y="185"/>
                </a:lnTo>
                <a:cubicBezTo>
                  <a:pt x="0" y="83"/>
                  <a:pt x="9679" y="0"/>
                  <a:pt x="21600" y="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38" name="Shape 21"/>
          <p:cNvSpPr/>
          <p:nvPr/>
        </p:nvSpPr>
        <p:spPr>
          <a:xfrm>
            <a:off x="6399033" y="1458974"/>
            <a:ext cx="141863" cy="1621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8682"/>
                </a:moveTo>
                <a:cubicBezTo>
                  <a:pt x="20886" y="9096"/>
                  <a:pt x="20067" y="9429"/>
                  <a:pt x="19213" y="9695"/>
                </a:cubicBezTo>
                <a:cubicBezTo>
                  <a:pt x="16947" y="10403"/>
                  <a:pt x="13973" y="10800"/>
                  <a:pt x="10800" y="10800"/>
                </a:cubicBezTo>
                <a:cubicBezTo>
                  <a:pt x="7627" y="10800"/>
                  <a:pt x="4648" y="10399"/>
                  <a:pt x="2387" y="9695"/>
                </a:cubicBezTo>
                <a:cubicBezTo>
                  <a:pt x="1538" y="9429"/>
                  <a:pt x="714" y="9096"/>
                  <a:pt x="0" y="8682"/>
                </a:cubicBezTo>
                <a:lnTo>
                  <a:pt x="0" y="12150"/>
                </a:lnTo>
                <a:cubicBezTo>
                  <a:pt x="0" y="14015"/>
                  <a:pt x="4836" y="15525"/>
                  <a:pt x="10800" y="15525"/>
                </a:cubicBezTo>
                <a:cubicBezTo>
                  <a:pt x="16764" y="15525"/>
                  <a:pt x="21600" y="14015"/>
                  <a:pt x="21600" y="12150"/>
                </a:cubicBezTo>
                <a:lnTo>
                  <a:pt x="21600" y="8682"/>
                </a:lnTo>
                <a:close/>
                <a:moveTo>
                  <a:pt x="21600" y="5400"/>
                </a:moveTo>
                <a:lnTo>
                  <a:pt x="21600" y="3375"/>
                </a:lnTo>
                <a:cubicBezTo>
                  <a:pt x="21600" y="1510"/>
                  <a:pt x="16764" y="0"/>
                  <a:pt x="10800" y="0"/>
                </a:cubicBezTo>
                <a:cubicBezTo>
                  <a:pt x="4836" y="0"/>
                  <a:pt x="0" y="1510"/>
                  <a:pt x="0" y="3375"/>
                </a:cubicBezTo>
                <a:lnTo>
                  <a:pt x="0" y="5400"/>
                </a:lnTo>
                <a:cubicBezTo>
                  <a:pt x="0" y="7265"/>
                  <a:pt x="4836" y="8775"/>
                  <a:pt x="10800" y="8775"/>
                </a:cubicBezTo>
                <a:cubicBezTo>
                  <a:pt x="16764" y="8775"/>
                  <a:pt x="21600" y="7265"/>
                  <a:pt x="21600" y="5400"/>
                </a:cubicBezTo>
                <a:close/>
                <a:moveTo>
                  <a:pt x="19213" y="16445"/>
                </a:moveTo>
                <a:cubicBezTo>
                  <a:pt x="16952" y="17149"/>
                  <a:pt x="13977" y="17550"/>
                  <a:pt x="10800" y="17550"/>
                </a:cubicBezTo>
                <a:cubicBezTo>
                  <a:pt x="7623" y="17550"/>
                  <a:pt x="4648" y="17149"/>
                  <a:pt x="2387" y="16445"/>
                </a:cubicBezTo>
                <a:cubicBezTo>
                  <a:pt x="1538" y="16179"/>
                  <a:pt x="714" y="15846"/>
                  <a:pt x="0" y="15432"/>
                </a:cubicBezTo>
                <a:lnTo>
                  <a:pt x="0" y="18225"/>
                </a:lnTo>
                <a:cubicBezTo>
                  <a:pt x="0" y="20090"/>
                  <a:pt x="4836" y="21600"/>
                  <a:pt x="10800" y="21600"/>
                </a:cubicBezTo>
                <a:cubicBezTo>
                  <a:pt x="16764" y="21600"/>
                  <a:pt x="21600" y="20090"/>
                  <a:pt x="21600" y="18225"/>
                </a:cubicBezTo>
                <a:lnTo>
                  <a:pt x="21600" y="15432"/>
                </a:lnTo>
                <a:cubicBezTo>
                  <a:pt x="20886" y="15846"/>
                  <a:pt x="20067" y="16179"/>
                  <a:pt x="19213" y="16445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39" name="Text 22"/>
          <p:cNvSpPr txBox="1"/>
          <p:nvPr/>
        </p:nvSpPr>
        <p:spPr>
          <a:xfrm>
            <a:off x="6571294" y="1432104"/>
            <a:ext cx="5212405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知识图谱工具</a:t>
            </a:r>
          </a:p>
        </p:txBody>
      </p:sp>
      <p:sp>
        <p:nvSpPr>
          <p:cNvPr id="1440" name="Shape 23"/>
          <p:cNvSpPr/>
          <p:nvPr/>
        </p:nvSpPr>
        <p:spPr>
          <a:xfrm>
            <a:off x="6368634" y="1783183"/>
            <a:ext cx="5334001" cy="6160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63" y="0"/>
                </a:moveTo>
                <a:lnTo>
                  <a:pt x="21337" y="0"/>
                </a:lnTo>
                <a:cubicBezTo>
                  <a:pt x="21482" y="0"/>
                  <a:pt x="21600" y="1018"/>
                  <a:pt x="21600" y="2274"/>
                </a:cubicBezTo>
                <a:lnTo>
                  <a:pt x="21600" y="19326"/>
                </a:lnTo>
                <a:cubicBezTo>
                  <a:pt x="21600" y="20582"/>
                  <a:pt x="21482" y="21600"/>
                  <a:pt x="21337" y="21600"/>
                </a:cubicBezTo>
                <a:lnTo>
                  <a:pt x="263" y="21600"/>
                </a:lnTo>
                <a:cubicBezTo>
                  <a:pt x="118" y="21600"/>
                  <a:pt x="0" y="20582"/>
                  <a:pt x="0" y="19326"/>
                </a:cubicBezTo>
                <a:lnTo>
                  <a:pt x="0" y="2274"/>
                </a:lnTo>
                <a:cubicBezTo>
                  <a:pt x="0" y="1018"/>
                  <a:pt x="118" y="0"/>
                  <a:pt x="263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41" name="Text 24"/>
          <p:cNvSpPr txBox="1"/>
          <p:nvPr/>
        </p:nvSpPr>
        <p:spPr>
          <a:xfrm>
            <a:off x="6465875" y="1901488"/>
            <a:ext cx="52043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Neo4j</a:t>
            </a:r>
          </a:p>
        </p:txBody>
      </p:sp>
      <p:sp>
        <p:nvSpPr>
          <p:cNvPr id="1442" name="Text 25"/>
          <p:cNvSpPr txBox="1"/>
          <p:nvPr/>
        </p:nvSpPr>
        <p:spPr>
          <a:xfrm>
            <a:off x="6465875" y="2115751"/>
            <a:ext cx="52043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图数据库，存储651种药物知识图谱</a:t>
            </a:r>
          </a:p>
        </p:txBody>
      </p:sp>
      <p:sp>
        <p:nvSpPr>
          <p:cNvPr id="1443" name="Shape 26"/>
          <p:cNvSpPr/>
          <p:nvPr/>
        </p:nvSpPr>
        <p:spPr>
          <a:xfrm>
            <a:off x="6368634" y="2496402"/>
            <a:ext cx="5334001" cy="6160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63" y="0"/>
                </a:moveTo>
                <a:lnTo>
                  <a:pt x="21337" y="0"/>
                </a:lnTo>
                <a:cubicBezTo>
                  <a:pt x="21482" y="0"/>
                  <a:pt x="21600" y="1018"/>
                  <a:pt x="21600" y="2274"/>
                </a:cubicBezTo>
                <a:lnTo>
                  <a:pt x="21600" y="19326"/>
                </a:lnTo>
                <a:cubicBezTo>
                  <a:pt x="21600" y="20582"/>
                  <a:pt x="21482" y="21600"/>
                  <a:pt x="21337" y="21600"/>
                </a:cubicBezTo>
                <a:lnTo>
                  <a:pt x="263" y="21600"/>
                </a:lnTo>
                <a:cubicBezTo>
                  <a:pt x="118" y="21600"/>
                  <a:pt x="0" y="20582"/>
                  <a:pt x="0" y="19326"/>
                </a:cubicBezTo>
                <a:lnTo>
                  <a:pt x="0" y="2274"/>
                </a:lnTo>
                <a:cubicBezTo>
                  <a:pt x="0" y="1018"/>
                  <a:pt x="118" y="0"/>
                  <a:pt x="263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44" name="Text 27"/>
          <p:cNvSpPr txBox="1"/>
          <p:nvPr/>
        </p:nvSpPr>
        <p:spPr>
          <a:xfrm>
            <a:off x="6465875" y="2614723"/>
            <a:ext cx="52043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NetworkX</a:t>
            </a:r>
          </a:p>
        </p:txBody>
      </p:sp>
      <p:sp>
        <p:nvSpPr>
          <p:cNvPr id="1445" name="Text 28"/>
          <p:cNvSpPr txBox="1"/>
          <p:nvPr/>
        </p:nvSpPr>
        <p:spPr>
          <a:xfrm>
            <a:off x="6465875" y="2828970"/>
            <a:ext cx="52043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图计算库，图嵌入学习</a:t>
            </a:r>
          </a:p>
        </p:txBody>
      </p:sp>
      <p:sp>
        <p:nvSpPr>
          <p:cNvPr id="1446" name="Shape 29"/>
          <p:cNvSpPr/>
          <p:nvPr/>
        </p:nvSpPr>
        <p:spPr>
          <a:xfrm>
            <a:off x="6368634" y="3209620"/>
            <a:ext cx="5334001" cy="6160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63" y="0"/>
                </a:moveTo>
                <a:lnTo>
                  <a:pt x="21337" y="0"/>
                </a:lnTo>
                <a:cubicBezTo>
                  <a:pt x="21482" y="0"/>
                  <a:pt x="21600" y="1018"/>
                  <a:pt x="21600" y="2274"/>
                </a:cubicBezTo>
                <a:lnTo>
                  <a:pt x="21600" y="19326"/>
                </a:lnTo>
                <a:cubicBezTo>
                  <a:pt x="21600" y="20582"/>
                  <a:pt x="21482" y="21600"/>
                  <a:pt x="21337" y="21600"/>
                </a:cubicBezTo>
                <a:lnTo>
                  <a:pt x="263" y="21600"/>
                </a:lnTo>
                <a:cubicBezTo>
                  <a:pt x="118" y="21600"/>
                  <a:pt x="0" y="20582"/>
                  <a:pt x="0" y="19326"/>
                </a:cubicBezTo>
                <a:lnTo>
                  <a:pt x="0" y="2274"/>
                </a:lnTo>
                <a:cubicBezTo>
                  <a:pt x="0" y="1018"/>
                  <a:pt x="118" y="0"/>
                  <a:pt x="263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47" name="Text 30"/>
          <p:cNvSpPr txBox="1"/>
          <p:nvPr/>
        </p:nvSpPr>
        <p:spPr>
          <a:xfrm>
            <a:off x="6465875" y="3327942"/>
            <a:ext cx="52043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FAISS</a:t>
            </a:r>
          </a:p>
        </p:txBody>
      </p:sp>
      <p:sp>
        <p:nvSpPr>
          <p:cNvPr id="1448" name="Text 31"/>
          <p:cNvSpPr txBox="1"/>
          <p:nvPr/>
        </p:nvSpPr>
        <p:spPr>
          <a:xfrm>
            <a:off x="6465875" y="3542205"/>
            <a:ext cx="52043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Facebook AI Similarity Search，向量检索</a:t>
            </a:r>
          </a:p>
        </p:txBody>
      </p:sp>
      <p:sp>
        <p:nvSpPr>
          <p:cNvPr id="1449" name="Shape 32"/>
          <p:cNvSpPr/>
          <p:nvPr/>
        </p:nvSpPr>
        <p:spPr>
          <a:xfrm>
            <a:off x="6368634" y="3922840"/>
            <a:ext cx="5334001" cy="6160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63" y="0"/>
                </a:moveTo>
                <a:lnTo>
                  <a:pt x="21337" y="0"/>
                </a:lnTo>
                <a:cubicBezTo>
                  <a:pt x="21482" y="0"/>
                  <a:pt x="21600" y="1018"/>
                  <a:pt x="21600" y="2274"/>
                </a:cubicBezTo>
                <a:lnTo>
                  <a:pt x="21600" y="19326"/>
                </a:lnTo>
                <a:cubicBezTo>
                  <a:pt x="21600" y="20582"/>
                  <a:pt x="21482" y="21600"/>
                  <a:pt x="21337" y="21600"/>
                </a:cubicBezTo>
                <a:lnTo>
                  <a:pt x="263" y="21600"/>
                </a:lnTo>
                <a:cubicBezTo>
                  <a:pt x="118" y="21600"/>
                  <a:pt x="0" y="20582"/>
                  <a:pt x="0" y="19326"/>
                </a:cubicBezTo>
                <a:lnTo>
                  <a:pt x="0" y="2274"/>
                </a:lnTo>
                <a:cubicBezTo>
                  <a:pt x="0" y="1018"/>
                  <a:pt x="118" y="0"/>
                  <a:pt x="263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50" name="Text 33"/>
          <p:cNvSpPr txBox="1"/>
          <p:nvPr/>
        </p:nvSpPr>
        <p:spPr>
          <a:xfrm>
            <a:off x="6465875" y="4041161"/>
            <a:ext cx="52043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BGE-M3/M3E</a:t>
            </a:r>
          </a:p>
        </p:txBody>
      </p:sp>
      <p:sp>
        <p:nvSpPr>
          <p:cNvPr id="1451" name="Text 34"/>
          <p:cNvSpPr txBox="1"/>
          <p:nvPr/>
        </p:nvSpPr>
        <p:spPr>
          <a:xfrm>
            <a:off x="6465875" y="4255424"/>
            <a:ext cx="52043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Embedding生成模型</a:t>
            </a:r>
          </a:p>
        </p:txBody>
      </p:sp>
      <p:sp>
        <p:nvSpPr>
          <p:cNvPr id="1452" name="Shape 35"/>
          <p:cNvSpPr/>
          <p:nvPr/>
        </p:nvSpPr>
        <p:spPr>
          <a:xfrm>
            <a:off x="331624" y="4837981"/>
            <a:ext cx="11525805" cy="16846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2" y="0"/>
                </a:moveTo>
                <a:lnTo>
                  <a:pt x="21418" y="0"/>
                </a:lnTo>
                <a:cubicBezTo>
                  <a:pt x="21518" y="0"/>
                  <a:pt x="21600" y="558"/>
                  <a:pt x="21600" y="1247"/>
                </a:cubicBezTo>
                <a:lnTo>
                  <a:pt x="21600" y="20353"/>
                </a:lnTo>
                <a:cubicBezTo>
                  <a:pt x="21600" y="21042"/>
                  <a:pt x="21518" y="21600"/>
                  <a:pt x="21418" y="21600"/>
                </a:cubicBezTo>
                <a:lnTo>
                  <a:pt x="182" y="21600"/>
                </a:lnTo>
                <a:cubicBezTo>
                  <a:pt x="82" y="21600"/>
                  <a:pt x="0" y="21042"/>
                  <a:pt x="0" y="20353"/>
                </a:cubicBezTo>
                <a:lnTo>
                  <a:pt x="0" y="1247"/>
                </a:lnTo>
                <a:cubicBezTo>
                  <a:pt x="0" y="559"/>
                  <a:pt x="82" y="0"/>
                  <a:pt x="182" y="0"/>
                </a:cubicBezTo>
                <a:close/>
              </a:path>
            </a:pathLst>
          </a:custGeom>
          <a:solidFill>
            <a:srgbClr val="5E8B7E">
              <a:alpha val="14902"/>
            </a:srgbClr>
          </a:solidFill>
          <a:ln w="23091">
            <a:solidFill>
              <a:srgbClr val="5E8B7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53" name="Shape 36"/>
          <p:cNvSpPr/>
          <p:nvPr/>
        </p:nvSpPr>
        <p:spPr>
          <a:xfrm>
            <a:off x="521387" y="5050023"/>
            <a:ext cx="162129" cy="1418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700" y="1543"/>
                </a:moveTo>
                <a:cubicBezTo>
                  <a:pt x="2700" y="689"/>
                  <a:pt x="2097" y="0"/>
                  <a:pt x="1350" y="0"/>
                </a:cubicBezTo>
                <a:cubicBezTo>
                  <a:pt x="603" y="0"/>
                  <a:pt x="0" y="689"/>
                  <a:pt x="0" y="1543"/>
                </a:cubicBezTo>
                <a:lnTo>
                  <a:pt x="0" y="17743"/>
                </a:lnTo>
                <a:cubicBezTo>
                  <a:pt x="0" y="19874"/>
                  <a:pt x="1510" y="21600"/>
                  <a:pt x="3375" y="21600"/>
                </a:cubicBezTo>
                <a:lnTo>
                  <a:pt x="20250" y="21600"/>
                </a:lnTo>
                <a:cubicBezTo>
                  <a:pt x="20997" y="21600"/>
                  <a:pt x="21600" y="20911"/>
                  <a:pt x="21600" y="20057"/>
                </a:cubicBezTo>
                <a:cubicBezTo>
                  <a:pt x="21600" y="19204"/>
                  <a:pt x="20997" y="18514"/>
                  <a:pt x="20250" y="18514"/>
                </a:cubicBezTo>
                <a:lnTo>
                  <a:pt x="3375" y="18514"/>
                </a:lnTo>
                <a:cubicBezTo>
                  <a:pt x="3004" y="18514"/>
                  <a:pt x="2700" y="18167"/>
                  <a:pt x="2700" y="17743"/>
                </a:cubicBezTo>
                <a:lnTo>
                  <a:pt x="2700" y="1543"/>
                </a:lnTo>
                <a:close/>
                <a:moveTo>
                  <a:pt x="19853" y="5718"/>
                </a:moveTo>
                <a:cubicBezTo>
                  <a:pt x="20381" y="5116"/>
                  <a:pt x="20381" y="4137"/>
                  <a:pt x="19853" y="3534"/>
                </a:cubicBezTo>
                <a:cubicBezTo>
                  <a:pt x="19326" y="2931"/>
                  <a:pt x="18470" y="2931"/>
                  <a:pt x="17942" y="3534"/>
                </a:cubicBezTo>
                <a:lnTo>
                  <a:pt x="13500" y="8616"/>
                </a:lnTo>
                <a:lnTo>
                  <a:pt x="11078" y="5853"/>
                </a:lnTo>
                <a:cubicBezTo>
                  <a:pt x="10551" y="5251"/>
                  <a:pt x="9695" y="5251"/>
                  <a:pt x="9167" y="5853"/>
                </a:cubicBezTo>
                <a:lnTo>
                  <a:pt x="5117" y="10482"/>
                </a:lnTo>
                <a:cubicBezTo>
                  <a:pt x="4590" y="11084"/>
                  <a:pt x="4590" y="12063"/>
                  <a:pt x="5117" y="12666"/>
                </a:cubicBezTo>
                <a:cubicBezTo>
                  <a:pt x="5645" y="13269"/>
                  <a:pt x="6501" y="13269"/>
                  <a:pt x="7028" y="12666"/>
                </a:cubicBezTo>
                <a:lnTo>
                  <a:pt x="10125" y="9127"/>
                </a:lnTo>
                <a:lnTo>
                  <a:pt x="12546" y="11894"/>
                </a:lnTo>
                <a:cubicBezTo>
                  <a:pt x="13074" y="12497"/>
                  <a:pt x="13930" y="12497"/>
                  <a:pt x="14458" y="11894"/>
                </a:cubicBezTo>
                <a:lnTo>
                  <a:pt x="19858" y="5723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54" name="Text 37"/>
          <p:cNvSpPr txBox="1"/>
          <p:nvPr/>
        </p:nvSpPr>
        <p:spPr>
          <a:xfrm>
            <a:off x="703780" y="5013020"/>
            <a:ext cx="1106521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监控工具</a:t>
            </a:r>
          </a:p>
        </p:txBody>
      </p:sp>
      <p:sp>
        <p:nvSpPr>
          <p:cNvPr id="1455" name="Shape 38"/>
          <p:cNvSpPr/>
          <p:nvPr/>
        </p:nvSpPr>
        <p:spPr>
          <a:xfrm>
            <a:off x="501121" y="5364098"/>
            <a:ext cx="3639767" cy="9889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5" y="0"/>
                </a:moveTo>
                <a:lnTo>
                  <a:pt x="21215" y="0"/>
                </a:lnTo>
                <a:cubicBezTo>
                  <a:pt x="21428" y="0"/>
                  <a:pt x="21600" y="634"/>
                  <a:pt x="21600" y="1416"/>
                </a:cubicBezTo>
                <a:lnTo>
                  <a:pt x="21600" y="20184"/>
                </a:lnTo>
                <a:cubicBezTo>
                  <a:pt x="21600" y="20966"/>
                  <a:pt x="21428" y="21600"/>
                  <a:pt x="21215" y="21600"/>
                </a:cubicBezTo>
                <a:lnTo>
                  <a:pt x="385" y="21600"/>
                </a:lnTo>
                <a:cubicBezTo>
                  <a:pt x="172" y="21600"/>
                  <a:pt x="0" y="20966"/>
                  <a:pt x="0" y="20184"/>
                </a:cubicBezTo>
                <a:lnTo>
                  <a:pt x="0" y="1416"/>
                </a:lnTo>
                <a:cubicBezTo>
                  <a:pt x="0" y="635"/>
                  <a:pt x="172" y="0"/>
                  <a:pt x="385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56" name="Shape 39"/>
          <p:cNvSpPr/>
          <p:nvPr/>
        </p:nvSpPr>
        <p:spPr>
          <a:xfrm>
            <a:off x="2188008" y="5508952"/>
            <a:ext cx="273662" cy="2127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8" h="21600" fill="norm" stroke="1" extrusionOk="0">
                <a:moveTo>
                  <a:pt x="10769" y="0"/>
                </a:moveTo>
                <a:cubicBezTo>
                  <a:pt x="7748" y="0"/>
                  <a:pt x="5330" y="1774"/>
                  <a:pt x="3569" y="3886"/>
                </a:cubicBezTo>
                <a:cubicBezTo>
                  <a:pt x="1819" y="5983"/>
                  <a:pt x="649" y="8486"/>
                  <a:pt x="92" y="10207"/>
                </a:cubicBezTo>
                <a:cubicBezTo>
                  <a:pt x="-31" y="10588"/>
                  <a:pt x="-31" y="11012"/>
                  <a:pt x="92" y="11393"/>
                </a:cubicBezTo>
                <a:cubicBezTo>
                  <a:pt x="649" y="13114"/>
                  <a:pt x="1819" y="15621"/>
                  <a:pt x="3569" y="17714"/>
                </a:cubicBezTo>
                <a:cubicBezTo>
                  <a:pt x="5330" y="19821"/>
                  <a:pt x="7748" y="21600"/>
                  <a:pt x="10769" y="21600"/>
                </a:cubicBezTo>
                <a:cubicBezTo>
                  <a:pt x="13790" y="21600"/>
                  <a:pt x="16208" y="19826"/>
                  <a:pt x="17969" y="17714"/>
                </a:cubicBezTo>
                <a:cubicBezTo>
                  <a:pt x="19719" y="15617"/>
                  <a:pt x="20889" y="13114"/>
                  <a:pt x="21446" y="11393"/>
                </a:cubicBezTo>
                <a:cubicBezTo>
                  <a:pt x="21569" y="11012"/>
                  <a:pt x="21569" y="10588"/>
                  <a:pt x="21446" y="10207"/>
                </a:cubicBezTo>
                <a:cubicBezTo>
                  <a:pt x="20889" y="8486"/>
                  <a:pt x="19719" y="5979"/>
                  <a:pt x="17969" y="3886"/>
                </a:cubicBezTo>
                <a:cubicBezTo>
                  <a:pt x="16208" y="1779"/>
                  <a:pt x="13790" y="0"/>
                  <a:pt x="10769" y="0"/>
                </a:cubicBezTo>
                <a:close/>
                <a:moveTo>
                  <a:pt x="5386" y="10800"/>
                </a:moveTo>
                <a:cubicBezTo>
                  <a:pt x="5386" y="6968"/>
                  <a:pt x="7798" y="3857"/>
                  <a:pt x="10769" y="3857"/>
                </a:cubicBezTo>
                <a:cubicBezTo>
                  <a:pt x="13740" y="3857"/>
                  <a:pt x="16152" y="6968"/>
                  <a:pt x="16152" y="10800"/>
                </a:cubicBezTo>
                <a:cubicBezTo>
                  <a:pt x="16152" y="14632"/>
                  <a:pt x="13740" y="17743"/>
                  <a:pt x="10769" y="17743"/>
                </a:cubicBezTo>
                <a:cubicBezTo>
                  <a:pt x="7798" y="17743"/>
                  <a:pt x="5386" y="14632"/>
                  <a:pt x="5386" y="10800"/>
                </a:cubicBezTo>
                <a:close/>
                <a:moveTo>
                  <a:pt x="10769" y="7714"/>
                </a:moveTo>
                <a:cubicBezTo>
                  <a:pt x="10769" y="9416"/>
                  <a:pt x="9696" y="10800"/>
                  <a:pt x="8376" y="10800"/>
                </a:cubicBezTo>
                <a:cubicBezTo>
                  <a:pt x="7947" y="10800"/>
                  <a:pt x="7543" y="10655"/>
                  <a:pt x="7191" y="10395"/>
                </a:cubicBezTo>
                <a:cubicBezTo>
                  <a:pt x="7154" y="10921"/>
                  <a:pt x="7188" y="11461"/>
                  <a:pt x="7300" y="11996"/>
                </a:cubicBezTo>
                <a:cubicBezTo>
                  <a:pt x="7812" y="14464"/>
                  <a:pt x="9782" y="15930"/>
                  <a:pt x="11696" y="15270"/>
                </a:cubicBezTo>
                <a:cubicBezTo>
                  <a:pt x="13610" y="14609"/>
                  <a:pt x="14747" y="12068"/>
                  <a:pt x="14234" y="9600"/>
                </a:cubicBezTo>
                <a:cubicBezTo>
                  <a:pt x="13778" y="7396"/>
                  <a:pt x="12160" y="5993"/>
                  <a:pt x="10455" y="6186"/>
                </a:cubicBezTo>
                <a:cubicBezTo>
                  <a:pt x="10653" y="6634"/>
                  <a:pt x="10769" y="7155"/>
                  <a:pt x="10769" y="7714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57" name="Text 40"/>
          <p:cNvSpPr txBox="1"/>
          <p:nvPr/>
        </p:nvSpPr>
        <p:spPr>
          <a:xfrm>
            <a:off x="598351" y="5822840"/>
            <a:ext cx="344521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SwanLab</a:t>
            </a:r>
          </a:p>
        </p:txBody>
      </p:sp>
      <p:sp>
        <p:nvSpPr>
          <p:cNvPr id="1458" name="Text 41"/>
          <p:cNvSpPr txBox="1"/>
          <p:nvPr/>
        </p:nvSpPr>
        <p:spPr>
          <a:xfrm>
            <a:off x="598351" y="6037103"/>
            <a:ext cx="344521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实验跟踪与可视化</a:t>
            </a:r>
          </a:p>
        </p:txBody>
      </p:sp>
      <p:sp>
        <p:nvSpPr>
          <p:cNvPr id="1459" name="Shape 42"/>
          <p:cNvSpPr/>
          <p:nvPr/>
        </p:nvSpPr>
        <p:spPr>
          <a:xfrm>
            <a:off x="4274217" y="5364098"/>
            <a:ext cx="3639766" cy="9889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5" y="0"/>
                </a:moveTo>
                <a:lnTo>
                  <a:pt x="21215" y="0"/>
                </a:lnTo>
                <a:cubicBezTo>
                  <a:pt x="21428" y="0"/>
                  <a:pt x="21600" y="634"/>
                  <a:pt x="21600" y="1416"/>
                </a:cubicBezTo>
                <a:lnTo>
                  <a:pt x="21600" y="20184"/>
                </a:lnTo>
                <a:cubicBezTo>
                  <a:pt x="21600" y="20966"/>
                  <a:pt x="21428" y="21600"/>
                  <a:pt x="21215" y="21600"/>
                </a:cubicBezTo>
                <a:lnTo>
                  <a:pt x="385" y="21600"/>
                </a:lnTo>
                <a:cubicBezTo>
                  <a:pt x="172" y="21600"/>
                  <a:pt x="0" y="20966"/>
                  <a:pt x="0" y="20184"/>
                </a:cubicBezTo>
                <a:lnTo>
                  <a:pt x="0" y="1416"/>
                </a:lnTo>
                <a:cubicBezTo>
                  <a:pt x="0" y="635"/>
                  <a:pt x="172" y="0"/>
                  <a:pt x="385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60" name="Shape 43"/>
          <p:cNvSpPr/>
          <p:nvPr/>
        </p:nvSpPr>
        <p:spPr>
          <a:xfrm>
            <a:off x="5976396" y="5508952"/>
            <a:ext cx="243192" cy="2127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50" y="0"/>
                </a:moveTo>
                <a:cubicBezTo>
                  <a:pt x="2097" y="0"/>
                  <a:pt x="2700" y="690"/>
                  <a:pt x="2700" y="1543"/>
                </a:cubicBezTo>
                <a:lnTo>
                  <a:pt x="2700" y="17743"/>
                </a:lnTo>
                <a:cubicBezTo>
                  <a:pt x="2700" y="18167"/>
                  <a:pt x="3004" y="18514"/>
                  <a:pt x="3375" y="18514"/>
                </a:cubicBezTo>
                <a:lnTo>
                  <a:pt x="20250" y="18514"/>
                </a:lnTo>
                <a:cubicBezTo>
                  <a:pt x="20997" y="18514"/>
                  <a:pt x="21600" y="19204"/>
                  <a:pt x="21600" y="20057"/>
                </a:cubicBezTo>
                <a:cubicBezTo>
                  <a:pt x="21600" y="20911"/>
                  <a:pt x="20997" y="21600"/>
                  <a:pt x="20250" y="21600"/>
                </a:cubicBezTo>
                <a:lnTo>
                  <a:pt x="3375" y="21600"/>
                </a:lnTo>
                <a:cubicBezTo>
                  <a:pt x="1510" y="21600"/>
                  <a:pt x="0" y="19874"/>
                  <a:pt x="0" y="17743"/>
                </a:cubicBezTo>
                <a:lnTo>
                  <a:pt x="0" y="1543"/>
                </a:lnTo>
                <a:cubicBezTo>
                  <a:pt x="0" y="690"/>
                  <a:pt x="603" y="0"/>
                  <a:pt x="1350" y="0"/>
                </a:cubicBezTo>
                <a:close/>
                <a:moveTo>
                  <a:pt x="5400" y="3086"/>
                </a:moveTo>
                <a:cubicBezTo>
                  <a:pt x="5400" y="2232"/>
                  <a:pt x="6003" y="1543"/>
                  <a:pt x="6750" y="1543"/>
                </a:cubicBezTo>
                <a:lnTo>
                  <a:pt x="14850" y="1543"/>
                </a:lnTo>
                <a:cubicBezTo>
                  <a:pt x="15597" y="1543"/>
                  <a:pt x="16200" y="2232"/>
                  <a:pt x="16200" y="3086"/>
                </a:cubicBezTo>
                <a:cubicBezTo>
                  <a:pt x="16200" y="3939"/>
                  <a:pt x="15597" y="4629"/>
                  <a:pt x="14850" y="4629"/>
                </a:cubicBezTo>
                <a:lnTo>
                  <a:pt x="6750" y="4629"/>
                </a:lnTo>
                <a:cubicBezTo>
                  <a:pt x="6003" y="4629"/>
                  <a:pt x="5400" y="3939"/>
                  <a:pt x="5400" y="3086"/>
                </a:cubicBezTo>
                <a:close/>
                <a:moveTo>
                  <a:pt x="6750" y="6943"/>
                </a:moveTo>
                <a:lnTo>
                  <a:pt x="12150" y="6943"/>
                </a:lnTo>
                <a:cubicBezTo>
                  <a:pt x="12897" y="6943"/>
                  <a:pt x="13500" y="7632"/>
                  <a:pt x="13500" y="8486"/>
                </a:cubicBezTo>
                <a:cubicBezTo>
                  <a:pt x="13500" y="9339"/>
                  <a:pt x="12897" y="10029"/>
                  <a:pt x="12150" y="10029"/>
                </a:cubicBezTo>
                <a:lnTo>
                  <a:pt x="6750" y="10029"/>
                </a:lnTo>
                <a:cubicBezTo>
                  <a:pt x="6003" y="10029"/>
                  <a:pt x="5400" y="9339"/>
                  <a:pt x="5400" y="8486"/>
                </a:cubicBezTo>
                <a:cubicBezTo>
                  <a:pt x="5400" y="7632"/>
                  <a:pt x="6003" y="6943"/>
                  <a:pt x="6750" y="6943"/>
                </a:cubicBezTo>
                <a:close/>
                <a:moveTo>
                  <a:pt x="6750" y="12343"/>
                </a:moveTo>
                <a:lnTo>
                  <a:pt x="17550" y="12343"/>
                </a:lnTo>
                <a:cubicBezTo>
                  <a:pt x="18297" y="12343"/>
                  <a:pt x="18900" y="13032"/>
                  <a:pt x="18900" y="13886"/>
                </a:cubicBezTo>
                <a:cubicBezTo>
                  <a:pt x="18900" y="14739"/>
                  <a:pt x="18297" y="15429"/>
                  <a:pt x="17550" y="15429"/>
                </a:cubicBezTo>
                <a:lnTo>
                  <a:pt x="6750" y="15429"/>
                </a:lnTo>
                <a:cubicBezTo>
                  <a:pt x="6003" y="15429"/>
                  <a:pt x="5400" y="14739"/>
                  <a:pt x="5400" y="13886"/>
                </a:cubicBezTo>
                <a:cubicBezTo>
                  <a:pt x="5400" y="13032"/>
                  <a:pt x="6003" y="12343"/>
                  <a:pt x="6750" y="12343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61" name="Text 44"/>
          <p:cNvSpPr txBox="1"/>
          <p:nvPr/>
        </p:nvSpPr>
        <p:spPr>
          <a:xfrm>
            <a:off x="4371447" y="5822840"/>
            <a:ext cx="344521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Weights &amp; Biases</a:t>
            </a:r>
          </a:p>
        </p:txBody>
      </p:sp>
      <p:sp>
        <p:nvSpPr>
          <p:cNvPr id="1462" name="Text 45"/>
          <p:cNvSpPr txBox="1"/>
          <p:nvPr/>
        </p:nvSpPr>
        <p:spPr>
          <a:xfrm>
            <a:off x="4371447" y="6037103"/>
            <a:ext cx="344521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实验管理</a:t>
            </a:r>
          </a:p>
        </p:txBody>
      </p:sp>
      <p:sp>
        <p:nvSpPr>
          <p:cNvPr id="1463" name="Shape 46"/>
          <p:cNvSpPr/>
          <p:nvPr/>
        </p:nvSpPr>
        <p:spPr>
          <a:xfrm>
            <a:off x="8047370" y="5364098"/>
            <a:ext cx="3639766" cy="9889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5" y="0"/>
                </a:moveTo>
                <a:lnTo>
                  <a:pt x="21215" y="0"/>
                </a:lnTo>
                <a:cubicBezTo>
                  <a:pt x="21428" y="0"/>
                  <a:pt x="21600" y="634"/>
                  <a:pt x="21600" y="1416"/>
                </a:cubicBezTo>
                <a:lnTo>
                  <a:pt x="21600" y="20184"/>
                </a:lnTo>
                <a:cubicBezTo>
                  <a:pt x="21600" y="20966"/>
                  <a:pt x="21428" y="21600"/>
                  <a:pt x="21215" y="21600"/>
                </a:cubicBezTo>
                <a:lnTo>
                  <a:pt x="385" y="21600"/>
                </a:lnTo>
                <a:cubicBezTo>
                  <a:pt x="172" y="21600"/>
                  <a:pt x="0" y="20966"/>
                  <a:pt x="0" y="20184"/>
                </a:cubicBezTo>
                <a:lnTo>
                  <a:pt x="0" y="1416"/>
                </a:lnTo>
                <a:cubicBezTo>
                  <a:pt x="0" y="635"/>
                  <a:pt x="172" y="0"/>
                  <a:pt x="385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64" name="Shape 47"/>
          <p:cNvSpPr/>
          <p:nvPr/>
        </p:nvSpPr>
        <p:spPr>
          <a:xfrm>
            <a:off x="9749548" y="5508952"/>
            <a:ext cx="243192" cy="2127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314"/>
                </a:moveTo>
                <a:cubicBezTo>
                  <a:pt x="0" y="1037"/>
                  <a:pt x="907" y="0"/>
                  <a:pt x="2025" y="0"/>
                </a:cubicBezTo>
                <a:lnTo>
                  <a:pt x="6075" y="0"/>
                </a:lnTo>
                <a:cubicBezTo>
                  <a:pt x="7193" y="0"/>
                  <a:pt x="8100" y="1037"/>
                  <a:pt x="8100" y="2314"/>
                </a:cubicBezTo>
                <a:lnTo>
                  <a:pt x="8100" y="3086"/>
                </a:lnTo>
                <a:lnTo>
                  <a:pt x="13500" y="3086"/>
                </a:lnTo>
                <a:lnTo>
                  <a:pt x="13500" y="2314"/>
                </a:lnTo>
                <a:cubicBezTo>
                  <a:pt x="13500" y="1037"/>
                  <a:pt x="14407" y="0"/>
                  <a:pt x="15525" y="0"/>
                </a:cubicBezTo>
                <a:lnTo>
                  <a:pt x="19575" y="0"/>
                </a:lnTo>
                <a:cubicBezTo>
                  <a:pt x="20693" y="0"/>
                  <a:pt x="21600" y="1037"/>
                  <a:pt x="21600" y="2314"/>
                </a:cubicBezTo>
                <a:lnTo>
                  <a:pt x="21600" y="6943"/>
                </a:lnTo>
                <a:cubicBezTo>
                  <a:pt x="21600" y="8221"/>
                  <a:pt x="20693" y="9257"/>
                  <a:pt x="19575" y="9257"/>
                </a:cubicBezTo>
                <a:lnTo>
                  <a:pt x="15525" y="9257"/>
                </a:lnTo>
                <a:cubicBezTo>
                  <a:pt x="14407" y="9257"/>
                  <a:pt x="13500" y="8221"/>
                  <a:pt x="13500" y="6943"/>
                </a:cubicBezTo>
                <a:lnTo>
                  <a:pt x="13500" y="6171"/>
                </a:lnTo>
                <a:lnTo>
                  <a:pt x="8100" y="6171"/>
                </a:lnTo>
                <a:lnTo>
                  <a:pt x="8100" y="6943"/>
                </a:lnTo>
                <a:cubicBezTo>
                  <a:pt x="8100" y="7295"/>
                  <a:pt x="8028" y="7632"/>
                  <a:pt x="7906" y="7931"/>
                </a:cubicBezTo>
                <a:lnTo>
                  <a:pt x="10800" y="12343"/>
                </a:lnTo>
                <a:lnTo>
                  <a:pt x="14175" y="12343"/>
                </a:lnTo>
                <a:cubicBezTo>
                  <a:pt x="15293" y="12343"/>
                  <a:pt x="16200" y="13379"/>
                  <a:pt x="16200" y="14657"/>
                </a:cubicBezTo>
                <a:lnTo>
                  <a:pt x="16200" y="19286"/>
                </a:lnTo>
                <a:cubicBezTo>
                  <a:pt x="16200" y="20563"/>
                  <a:pt x="15293" y="21600"/>
                  <a:pt x="14175" y="21600"/>
                </a:cubicBezTo>
                <a:lnTo>
                  <a:pt x="10125" y="21600"/>
                </a:lnTo>
                <a:cubicBezTo>
                  <a:pt x="9007" y="21600"/>
                  <a:pt x="8100" y="20563"/>
                  <a:pt x="8100" y="19286"/>
                </a:cubicBezTo>
                <a:lnTo>
                  <a:pt x="8100" y="14657"/>
                </a:lnTo>
                <a:cubicBezTo>
                  <a:pt x="8100" y="14305"/>
                  <a:pt x="8172" y="13968"/>
                  <a:pt x="8294" y="13669"/>
                </a:cubicBezTo>
                <a:lnTo>
                  <a:pt x="5400" y="9257"/>
                </a:lnTo>
                <a:lnTo>
                  <a:pt x="2025" y="9257"/>
                </a:lnTo>
                <a:cubicBezTo>
                  <a:pt x="907" y="9257"/>
                  <a:pt x="0" y="8221"/>
                  <a:pt x="0" y="6943"/>
                </a:cubicBezTo>
                <a:lnTo>
                  <a:pt x="0" y="2314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65" name="Text 48"/>
          <p:cNvSpPr txBox="1"/>
          <p:nvPr/>
        </p:nvSpPr>
        <p:spPr>
          <a:xfrm>
            <a:off x="8144599" y="5822840"/>
            <a:ext cx="344521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b="1" sz="1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TensorBoard</a:t>
            </a:r>
          </a:p>
        </p:txBody>
      </p:sp>
      <p:sp>
        <p:nvSpPr>
          <p:cNvPr id="1466" name="Text 49"/>
          <p:cNvSpPr txBox="1"/>
          <p:nvPr/>
        </p:nvSpPr>
        <p:spPr>
          <a:xfrm>
            <a:off x="8144599" y="6037103"/>
            <a:ext cx="344521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训练可视化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Text 0"/>
          <p:cNvSpPr txBox="1"/>
          <p:nvPr/>
        </p:nvSpPr>
        <p:spPr>
          <a:xfrm>
            <a:off x="332886" y="356552"/>
            <a:ext cx="11592805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pc="52" sz="1000">
                <a:solidFill>
                  <a:srgbClr val="5E8B7E"/>
                </a:solidFill>
                <a:latin typeface="Liter"/>
                <a:ea typeface="Liter"/>
                <a:cs typeface="Liter"/>
                <a:sym typeface="Liter"/>
              </a:defRPr>
            </a:lvl1pPr>
          </a:lstStyle>
          <a:p>
            <a:pPr/>
            <a:r>
              <a:t>ENGINEERING: INFERENCE OPTIMIZATION</a:t>
            </a:r>
          </a:p>
        </p:txBody>
      </p:sp>
      <p:sp>
        <p:nvSpPr>
          <p:cNvPr id="1469" name="Text 1"/>
          <p:cNvSpPr txBox="1"/>
          <p:nvPr/>
        </p:nvSpPr>
        <p:spPr>
          <a:xfrm>
            <a:off x="332887" y="519497"/>
            <a:ext cx="1172595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80000"/>
              </a:lnSpc>
              <a:defRPr b="1" sz="31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工程实现: 推理优化</a:t>
            </a:r>
          </a:p>
        </p:txBody>
      </p:sp>
      <p:sp>
        <p:nvSpPr>
          <p:cNvPr id="1470" name="Shape 2"/>
          <p:cNvSpPr/>
          <p:nvPr/>
        </p:nvSpPr>
        <p:spPr>
          <a:xfrm>
            <a:off x="332886" y="1131719"/>
            <a:ext cx="798932" cy="33290"/>
          </a:xfrm>
          <a:prstGeom prst="rect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71" name="Shape 3"/>
          <p:cNvSpPr/>
          <p:nvPr/>
        </p:nvSpPr>
        <p:spPr>
          <a:xfrm>
            <a:off x="348018" y="1298097"/>
            <a:ext cx="5665896" cy="32456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5" y="0"/>
                </a:moveTo>
                <a:lnTo>
                  <a:pt x="21219" y="0"/>
                </a:lnTo>
                <a:cubicBezTo>
                  <a:pt x="21430" y="0"/>
                  <a:pt x="21600" y="298"/>
                  <a:pt x="21600" y="665"/>
                </a:cubicBezTo>
                <a:lnTo>
                  <a:pt x="21600" y="20935"/>
                </a:lnTo>
                <a:cubicBezTo>
                  <a:pt x="21600" y="21302"/>
                  <a:pt x="21430" y="21600"/>
                  <a:pt x="21219" y="21600"/>
                </a:cubicBezTo>
                <a:lnTo>
                  <a:pt x="115" y="21600"/>
                </a:lnTo>
                <a:cubicBezTo>
                  <a:pt x="52" y="21600"/>
                  <a:pt x="0" y="21510"/>
                  <a:pt x="0" y="21399"/>
                </a:cubicBezTo>
                <a:lnTo>
                  <a:pt x="0" y="201"/>
                </a:lnTo>
                <a:cubicBezTo>
                  <a:pt x="0" y="90"/>
                  <a:pt x="52" y="0"/>
                  <a:pt x="115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72" name="Shape 4"/>
          <p:cNvSpPr/>
          <p:nvPr/>
        </p:nvSpPr>
        <p:spPr>
          <a:xfrm>
            <a:off x="348018" y="1298097"/>
            <a:ext cx="30263" cy="32456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510"/>
                  <a:pt x="0" y="21399"/>
                </a:cubicBezTo>
                <a:lnTo>
                  <a:pt x="0" y="201"/>
                </a:lnTo>
                <a:cubicBezTo>
                  <a:pt x="0" y="90"/>
                  <a:pt x="9679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73" name="Shape 5"/>
          <p:cNvSpPr/>
          <p:nvPr/>
        </p:nvSpPr>
        <p:spPr>
          <a:xfrm>
            <a:off x="547954" y="1508213"/>
            <a:ext cx="158490" cy="1584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32" h="20931" fill="norm" stroke="1" extrusionOk="0">
                <a:moveTo>
                  <a:pt x="5819" y="12366"/>
                </a:moveTo>
                <a:lnTo>
                  <a:pt x="1375" y="12366"/>
                </a:lnTo>
                <a:cubicBezTo>
                  <a:pt x="306" y="12366"/>
                  <a:pt x="-351" y="11202"/>
                  <a:pt x="199" y="10283"/>
                </a:cubicBezTo>
                <a:lnTo>
                  <a:pt x="2470" y="6497"/>
                </a:lnTo>
                <a:cubicBezTo>
                  <a:pt x="2843" y="5874"/>
                  <a:pt x="3513" y="5496"/>
                  <a:pt x="4239" y="5496"/>
                </a:cubicBezTo>
                <a:lnTo>
                  <a:pt x="8317" y="5496"/>
                </a:lnTo>
                <a:cubicBezTo>
                  <a:pt x="11585" y="-38"/>
                  <a:pt x="16458" y="-317"/>
                  <a:pt x="19716" y="160"/>
                </a:cubicBezTo>
                <a:cubicBezTo>
                  <a:pt x="20266" y="241"/>
                  <a:pt x="20695" y="670"/>
                  <a:pt x="20772" y="1216"/>
                </a:cubicBezTo>
                <a:cubicBezTo>
                  <a:pt x="21249" y="4474"/>
                  <a:pt x="20970" y="9347"/>
                  <a:pt x="15436" y="12615"/>
                </a:cubicBezTo>
                <a:lnTo>
                  <a:pt x="15436" y="16693"/>
                </a:lnTo>
                <a:cubicBezTo>
                  <a:pt x="15436" y="17419"/>
                  <a:pt x="15058" y="18089"/>
                  <a:pt x="14435" y="18462"/>
                </a:cubicBezTo>
                <a:lnTo>
                  <a:pt x="10649" y="20733"/>
                </a:lnTo>
                <a:cubicBezTo>
                  <a:pt x="9734" y="21283"/>
                  <a:pt x="8566" y="20622"/>
                  <a:pt x="8566" y="19557"/>
                </a:cubicBezTo>
                <a:lnTo>
                  <a:pt x="8566" y="15113"/>
                </a:lnTo>
                <a:cubicBezTo>
                  <a:pt x="8566" y="13598"/>
                  <a:pt x="7334" y="12366"/>
                  <a:pt x="5819" y="12366"/>
                </a:cubicBezTo>
                <a:lnTo>
                  <a:pt x="5814" y="12366"/>
                </a:lnTo>
                <a:close/>
                <a:moveTo>
                  <a:pt x="17497" y="5496"/>
                </a:moveTo>
                <a:cubicBezTo>
                  <a:pt x="17497" y="4359"/>
                  <a:pt x="16573" y="3435"/>
                  <a:pt x="15436" y="3435"/>
                </a:cubicBezTo>
                <a:cubicBezTo>
                  <a:pt x="14298" y="3435"/>
                  <a:pt x="13375" y="4359"/>
                  <a:pt x="13375" y="5496"/>
                </a:cubicBezTo>
                <a:cubicBezTo>
                  <a:pt x="13375" y="6634"/>
                  <a:pt x="14298" y="7557"/>
                  <a:pt x="15436" y="7557"/>
                </a:cubicBezTo>
                <a:cubicBezTo>
                  <a:pt x="16573" y="7557"/>
                  <a:pt x="17497" y="6634"/>
                  <a:pt x="17497" y="5496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74" name="Text 6"/>
          <p:cNvSpPr txBox="1"/>
          <p:nvPr/>
        </p:nvSpPr>
        <p:spPr>
          <a:xfrm>
            <a:off x="737647" y="1466752"/>
            <a:ext cx="519304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3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推理工具栈</a:t>
            </a:r>
          </a:p>
        </p:txBody>
      </p:sp>
      <p:sp>
        <p:nvSpPr>
          <p:cNvPr id="1475" name="Shape 7"/>
          <p:cNvSpPr/>
          <p:nvPr/>
        </p:nvSpPr>
        <p:spPr>
          <a:xfrm>
            <a:off x="529593" y="1830652"/>
            <a:ext cx="5317878" cy="6324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70" y="0"/>
                </a:moveTo>
                <a:lnTo>
                  <a:pt x="21330" y="0"/>
                </a:lnTo>
                <a:cubicBezTo>
                  <a:pt x="21479" y="0"/>
                  <a:pt x="21600" y="1019"/>
                  <a:pt x="21600" y="2274"/>
                </a:cubicBezTo>
                <a:lnTo>
                  <a:pt x="21600" y="19326"/>
                </a:lnTo>
                <a:cubicBezTo>
                  <a:pt x="21600" y="20581"/>
                  <a:pt x="21479" y="21600"/>
                  <a:pt x="21330" y="21600"/>
                </a:cubicBezTo>
                <a:lnTo>
                  <a:pt x="270" y="21600"/>
                </a:lnTo>
                <a:cubicBezTo>
                  <a:pt x="121" y="21600"/>
                  <a:pt x="0" y="20581"/>
                  <a:pt x="0" y="19326"/>
                </a:cubicBezTo>
                <a:lnTo>
                  <a:pt x="0" y="2274"/>
                </a:lnTo>
                <a:cubicBezTo>
                  <a:pt x="0" y="1019"/>
                  <a:pt x="121" y="0"/>
                  <a:pt x="270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76" name="Text 8"/>
          <p:cNvSpPr txBox="1"/>
          <p:nvPr/>
        </p:nvSpPr>
        <p:spPr>
          <a:xfrm>
            <a:off x="629423" y="1954153"/>
            <a:ext cx="518472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vLLM</a:t>
            </a:r>
          </a:p>
        </p:txBody>
      </p:sp>
      <p:sp>
        <p:nvSpPr>
          <p:cNvPr id="1477" name="Text 9"/>
          <p:cNvSpPr txBox="1"/>
          <p:nvPr/>
        </p:nvSpPr>
        <p:spPr>
          <a:xfrm>
            <a:off x="629423" y="2174440"/>
            <a:ext cx="518472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高效推理引擎，首字延迟&lt;300ms，吞吐提升2-3倍</a:t>
            </a:r>
          </a:p>
        </p:txBody>
      </p:sp>
      <p:sp>
        <p:nvSpPr>
          <p:cNvPr id="1478" name="Shape 10"/>
          <p:cNvSpPr/>
          <p:nvPr/>
        </p:nvSpPr>
        <p:spPr>
          <a:xfrm>
            <a:off x="529593" y="2562859"/>
            <a:ext cx="5317878" cy="6324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70" y="0"/>
                </a:moveTo>
                <a:lnTo>
                  <a:pt x="21330" y="0"/>
                </a:lnTo>
                <a:cubicBezTo>
                  <a:pt x="21479" y="0"/>
                  <a:pt x="21600" y="1019"/>
                  <a:pt x="21600" y="2274"/>
                </a:cubicBezTo>
                <a:lnTo>
                  <a:pt x="21600" y="19326"/>
                </a:lnTo>
                <a:cubicBezTo>
                  <a:pt x="21600" y="20581"/>
                  <a:pt x="21479" y="21600"/>
                  <a:pt x="21330" y="21600"/>
                </a:cubicBezTo>
                <a:lnTo>
                  <a:pt x="270" y="21600"/>
                </a:lnTo>
                <a:cubicBezTo>
                  <a:pt x="121" y="21600"/>
                  <a:pt x="0" y="20581"/>
                  <a:pt x="0" y="19326"/>
                </a:cubicBezTo>
                <a:lnTo>
                  <a:pt x="0" y="2274"/>
                </a:lnTo>
                <a:cubicBezTo>
                  <a:pt x="0" y="1019"/>
                  <a:pt x="121" y="0"/>
                  <a:pt x="270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79" name="Text 11"/>
          <p:cNvSpPr txBox="1"/>
          <p:nvPr/>
        </p:nvSpPr>
        <p:spPr>
          <a:xfrm>
            <a:off x="629423" y="2686359"/>
            <a:ext cx="518472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TensorRT-LLM</a:t>
            </a:r>
          </a:p>
        </p:txBody>
      </p:sp>
      <p:sp>
        <p:nvSpPr>
          <p:cNvPr id="1480" name="Text 12"/>
          <p:cNvSpPr txBox="1"/>
          <p:nvPr/>
        </p:nvSpPr>
        <p:spPr>
          <a:xfrm>
            <a:off x="629423" y="2906647"/>
            <a:ext cx="518472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NVIDIA推理优化</a:t>
            </a:r>
          </a:p>
        </p:txBody>
      </p:sp>
      <p:sp>
        <p:nvSpPr>
          <p:cNvPr id="1481" name="Shape 13"/>
          <p:cNvSpPr/>
          <p:nvPr/>
        </p:nvSpPr>
        <p:spPr>
          <a:xfrm>
            <a:off x="529593" y="3295065"/>
            <a:ext cx="5317878" cy="6324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70" y="0"/>
                </a:moveTo>
                <a:lnTo>
                  <a:pt x="21330" y="0"/>
                </a:lnTo>
                <a:cubicBezTo>
                  <a:pt x="21479" y="0"/>
                  <a:pt x="21600" y="1019"/>
                  <a:pt x="21600" y="2274"/>
                </a:cubicBezTo>
                <a:lnTo>
                  <a:pt x="21600" y="19326"/>
                </a:lnTo>
                <a:cubicBezTo>
                  <a:pt x="21600" y="20581"/>
                  <a:pt x="21479" y="21600"/>
                  <a:pt x="21330" y="21600"/>
                </a:cubicBezTo>
                <a:lnTo>
                  <a:pt x="270" y="21600"/>
                </a:lnTo>
                <a:cubicBezTo>
                  <a:pt x="121" y="21600"/>
                  <a:pt x="0" y="20581"/>
                  <a:pt x="0" y="19326"/>
                </a:cubicBezTo>
                <a:lnTo>
                  <a:pt x="0" y="2274"/>
                </a:lnTo>
                <a:cubicBezTo>
                  <a:pt x="0" y="1019"/>
                  <a:pt x="121" y="0"/>
                  <a:pt x="270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82" name="Text 14"/>
          <p:cNvSpPr txBox="1"/>
          <p:nvPr/>
        </p:nvSpPr>
        <p:spPr>
          <a:xfrm>
            <a:off x="629423" y="3418564"/>
            <a:ext cx="518472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ONNX Runtime</a:t>
            </a:r>
          </a:p>
        </p:txBody>
      </p:sp>
      <p:sp>
        <p:nvSpPr>
          <p:cNvPr id="1483" name="Text 15"/>
          <p:cNvSpPr txBox="1"/>
          <p:nvPr/>
        </p:nvSpPr>
        <p:spPr>
          <a:xfrm>
            <a:off x="629423" y="3638868"/>
            <a:ext cx="518472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跨平台推理</a:t>
            </a:r>
          </a:p>
        </p:txBody>
      </p:sp>
      <p:sp>
        <p:nvSpPr>
          <p:cNvPr id="1484" name="Shape 16"/>
          <p:cNvSpPr/>
          <p:nvPr/>
        </p:nvSpPr>
        <p:spPr>
          <a:xfrm>
            <a:off x="6193880" y="1298097"/>
            <a:ext cx="5665895" cy="32456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5" y="0"/>
                </a:moveTo>
                <a:lnTo>
                  <a:pt x="21219" y="0"/>
                </a:lnTo>
                <a:cubicBezTo>
                  <a:pt x="21430" y="0"/>
                  <a:pt x="21600" y="298"/>
                  <a:pt x="21600" y="665"/>
                </a:cubicBezTo>
                <a:lnTo>
                  <a:pt x="21600" y="20935"/>
                </a:lnTo>
                <a:cubicBezTo>
                  <a:pt x="21600" y="21302"/>
                  <a:pt x="21430" y="21600"/>
                  <a:pt x="21219" y="21600"/>
                </a:cubicBezTo>
                <a:lnTo>
                  <a:pt x="115" y="21600"/>
                </a:lnTo>
                <a:cubicBezTo>
                  <a:pt x="52" y="21600"/>
                  <a:pt x="0" y="21510"/>
                  <a:pt x="0" y="21399"/>
                </a:cubicBezTo>
                <a:lnTo>
                  <a:pt x="0" y="201"/>
                </a:lnTo>
                <a:cubicBezTo>
                  <a:pt x="0" y="90"/>
                  <a:pt x="52" y="0"/>
                  <a:pt x="115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85" name="Shape 17"/>
          <p:cNvSpPr/>
          <p:nvPr/>
        </p:nvSpPr>
        <p:spPr>
          <a:xfrm>
            <a:off x="6193880" y="1298097"/>
            <a:ext cx="30263" cy="32456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510"/>
                  <a:pt x="0" y="21399"/>
                </a:cubicBezTo>
                <a:lnTo>
                  <a:pt x="0" y="201"/>
                </a:lnTo>
                <a:cubicBezTo>
                  <a:pt x="0" y="90"/>
                  <a:pt x="9679" y="0"/>
                  <a:pt x="21600" y="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86" name="Shape 18"/>
          <p:cNvSpPr/>
          <p:nvPr/>
        </p:nvSpPr>
        <p:spPr>
          <a:xfrm>
            <a:off x="6381312" y="1482735"/>
            <a:ext cx="196613" cy="1966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34" h="21433" fill="norm" stroke="1" extrusionOk="0">
                <a:moveTo>
                  <a:pt x="14101" y="9104"/>
                </a:moveTo>
                <a:cubicBezTo>
                  <a:pt x="14533" y="8987"/>
                  <a:pt x="14987" y="9192"/>
                  <a:pt x="15182" y="9593"/>
                </a:cubicBezTo>
                <a:lnTo>
                  <a:pt x="15841" y="10925"/>
                </a:lnTo>
                <a:cubicBezTo>
                  <a:pt x="16206" y="10975"/>
                  <a:pt x="16564" y="11074"/>
                  <a:pt x="16900" y="11212"/>
                </a:cubicBezTo>
                <a:lnTo>
                  <a:pt x="18141" y="10387"/>
                </a:lnTo>
                <a:cubicBezTo>
                  <a:pt x="18513" y="10139"/>
                  <a:pt x="19005" y="10188"/>
                  <a:pt x="19321" y="10504"/>
                </a:cubicBezTo>
                <a:lnTo>
                  <a:pt x="20001" y="11184"/>
                </a:lnTo>
                <a:cubicBezTo>
                  <a:pt x="20317" y="11499"/>
                  <a:pt x="20366" y="11996"/>
                  <a:pt x="20118" y="12364"/>
                </a:cubicBezTo>
                <a:lnTo>
                  <a:pt x="19292" y="13601"/>
                </a:lnTo>
                <a:cubicBezTo>
                  <a:pt x="19360" y="13768"/>
                  <a:pt x="19420" y="13941"/>
                  <a:pt x="19470" y="14122"/>
                </a:cubicBezTo>
                <a:cubicBezTo>
                  <a:pt x="19519" y="14303"/>
                  <a:pt x="19551" y="14480"/>
                  <a:pt x="19576" y="14661"/>
                </a:cubicBezTo>
                <a:lnTo>
                  <a:pt x="20912" y="15320"/>
                </a:lnTo>
                <a:cubicBezTo>
                  <a:pt x="21313" y="15518"/>
                  <a:pt x="21518" y="15972"/>
                  <a:pt x="21401" y="16401"/>
                </a:cubicBezTo>
                <a:lnTo>
                  <a:pt x="21153" y="17329"/>
                </a:lnTo>
                <a:cubicBezTo>
                  <a:pt x="21036" y="17758"/>
                  <a:pt x="20636" y="18049"/>
                  <a:pt x="20189" y="18020"/>
                </a:cubicBezTo>
                <a:lnTo>
                  <a:pt x="18701" y="17924"/>
                </a:lnTo>
                <a:cubicBezTo>
                  <a:pt x="18477" y="18212"/>
                  <a:pt x="18219" y="18477"/>
                  <a:pt x="17925" y="18704"/>
                </a:cubicBezTo>
                <a:lnTo>
                  <a:pt x="18020" y="20189"/>
                </a:lnTo>
                <a:cubicBezTo>
                  <a:pt x="18049" y="20636"/>
                  <a:pt x="17758" y="21040"/>
                  <a:pt x="17329" y="21153"/>
                </a:cubicBezTo>
                <a:lnTo>
                  <a:pt x="16401" y="21401"/>
                </a:lnTo>
                <a:cubicBezTo>
                  <a:pt x="15968" y="21518"/>
                  <a:pt x="15518" y="21312"/>
                  <a:pt x="15320" y="20912"/>
                </a:cubicBezTo>
                <a:lnTo>
                  <a:pt x="14661" y="19580"/>
                </a:lnTo>
                <a:cubicBezTo>
                  <a:pt x="14296" y="19530"/>
                  <a:pt x="13938" y="19431"/>
                  <a:pt x="13601" y="19292"/>
                </a:cubicBezTo>
                <a:lnTo>
                  <a:pt x="12361" y="20118"/>
                </a:lnTo>
                <a:cubicBezTo>
                  <a:pt x="11989" y="20366"/>
                  <a:pt x="11496" y="20317"/>
                  <a:pt x="11180" y="20001"/>
                </a:cubicBezTo>
                <a:lnTo>
                  <a:pt x="10500" y="19321"/>
                </a:lnTo>
                <a:cubicBezTo>
                  <a:pt x="10185" y="19005"/>
                  <a:pt x="10135" y="18513"/>
                  <a:pt x="10383" y="18141"/>
                </a:cubicBezTo>
                <a:lnTo>
                  <a:pt x="11209" y="16900"/>
                </a:lnTo>
                <a:cubicBezTo>
                  <a:pt x="11141" y="16734"/>
                  <a:pt x="11081" y="16560"/>
                  <a:pt x="11032" y="16379"/>
                </a:cubicBezTo>
                <a:cubicBezTo>
                  <a:pt x="10982" y="16199"/>
                  <a:pt x="10950" y="16018"/>
                  <a:pt x="10925" y="15841"/>
                </a:cubicBezTo>
                <a:lnTo>
                  <a:pt x="9589" y="15182"/>
                </a:lnTo>
                <a:cubicBezTo>
                  <a:pt x="9189" y="14983"/>
                  <a:pt x="8987" y="14529"/>
                  <a:pt x="9100" y="14101"/>
                </a:cubicBezTo>
                <a:lnTo>
                  <a:pt x="9348" y="13172"/>
                </a:lnTo>
                <a:cubicBezTo>
                  <a:pt x="9465" y="12743"/>
                  <a:pt x="9866" y="12453"/>
                  <a:pt x="10312" y="12481"/>
                </a:cubicBezTo>
                <a:lnTo>
                  <a:pt x="11797" y="12577"/>
                </a:lnTo>
                <a:cubicBezTo>
                  <a:pt x="12020" y="12290"/>
                  <a:pt x="12279" y="12024"/>
                  <a:pt x="12573" y="11797"/>
                </a:cubicBezTo>
                <a:lnTo>
                  <a:pt x="12478" y="10316"/>
                </a:lnTo>
                <a:cubicBezTo>
                  <a:pt x="12449" y="9869"/>
                  <a:pt x="12740" y="9465"/>
                  <a:pt x="13169" y="9352"/>
                </a:cubicBezTo>
                <a:lnTo>
                  <a:pt x="14097" y="9104"/>
                </a:lnTo>
                <a:close/>
                <a:moveTo>
                  <a:pt x="15252" y="13693"/>
                </a:moveTo>
                <a:cubicBezTo>
                  <a:pt x="14392" y="13694"/>
                  <a:pt x="13694" y="14394"/>
                  <a:pt x="13695" y="15254"/>
                </a:cubicBezTo>
                <a:cubicBezTo>
                  <a:pt x="13696" y="16115"/>
                  <a:pt x="14395" y="16813"/>
                  <a:pt x="15256" y="16812"/>
                </a:cubicBezTo>
                <a:cubicBezTo>
                  <a:pt x="16117" y="16811"/>
                  <a:pt x="16814" y="16111"/>
                  <a:pt x="16813" y="15251"/>
                </a:cubicBezTo>
                <a:cubicBezTo>
                  <a:pt x="16813" y="14390"/>
                  <a:pt x="16113" y="13692"/>
                  <a:pt x="15252" y="13693"/>
                </a:cubicBezTo>
                <a:close/>
                <a:moveTo>
                  <a:pt x="7332" y="31"/>
                </a:moveTo>
                <a:lnTo>
                  <a:pt x="8260" y="279"/>
                </a:lnTo>
                <a:cubicBezTo>
                  <a:pt x="8689" y="396"/>
                  <a:pt x="8980" y="800"/>
                  <a:pt x="8951" y="1243"/>
                </a:cubicBezTo>
                <a:lnTo>
                  <a:pt x="8856" y="2725"/>
                </a:lnTo>
                <a:cubicBezTo>
                  <a:pt x="9150" y="2952"/>
                  <a:pt x="9409" y="3214"/>
                  <a:pt x="9632" y="3504"/>
                </a:cubicBezTo>
                <a:lnTo>
                  <a:pt x="11120" y="3409"/>
                </a:lnTo>
                <a:cubicBezTo>
                  <a:pt x="11563" y="3380"/>
                  <a:pt x="11967" y="3671"/>
                  <a:pt x="12084" y="4100"/>
                </a:cubicBezTo>
                <a:lnTo>
                  <a:pt x="12332" y="5028"/>
                </a:lnTo>
                <a:cubicBezTo>
                  <a:pt x="12446" y="5457"/>
                  <a:pt x="12244" y="5911"/>
                  <a:pt x="11843" y="6109"/>
                </a:cubicBezTo>
                <a:lnTo>
                  <a:pt x="10507" y="6768"/>
                </a:lnTo>
                <a:cubicBezTo>
                  <a:pt x="10482" y="6949"/>
                  <a:pt x="10447" y="7130"/>
                  <a:pt x="10401" y="7307"/>
                </a:cubicBezTo>
                <a:cubicBezTo>
                  <a:pt x="10355" y="7484"/>
                  <a:pt x="10291" y="7661"/>
                  <a:pt x="10224" y="7828"/>
                </a:cubicBezTo>
                <a:lnTo>
                  <a:pt x="11049" y="9068"/>
                </a:lnTo>
                <a:cubicBezTo>
                  <a:pt x="11297" y="9440"/>
                  <a:pt x="11248" y="9933"/>
                  <a:pt x="10932" y="10248"/>
                </a:cubicBezTo>
                <a:lnTo>
                  <a:pt x="10252" y="10929"/>
                </a:lnTo>
                <a:cubicBezTo>
                  <a:pt x="9937" y="11244"/>
                  <a:pt x="9444" y="11294"/>
                  <a:pt x="9072" y="11046"/>
                </a:cubicBezTo>
                <a:lnTo>
                  <a:pt x="7831" y="10220"/>
                </a:lnTo>
                <a:cubicBezTo>
                  <a:pt x="7495" y="10358"/>
                  <a:pt x="7137" y="10458"/>
                  <a:pt x="6772" y="10507"/>
                </a:cubicBezTo>
                <a:lnTo>
                  <a:pt x="6113" y="11840"/>
                </a:lnTo>
                <a:cubicBezTo>
                  <a:pt x="5914" y="12240"/>
                  <a:pt x="5461" y="12442"/>
                  <a:pt x="5032" y="12329"/>
                </a:cubicBezTo>
                <a:lnTo>
                  <a:pt x="4103" y="12081"/>
                </a:lnTo>
                <a:cubicBezTo>
                  <a:pt x="3671" y="11964"/>
                  <a:pt x="3384" y="11560"/>
                  <a:pt x="3412" y="11117"/>
                </a:cubicBezTo>
                <a:lnTo>
                  <a:pt x="3508" y="9632"/>
                </a:lnTo>
                <a:cubicBezTo>
                  <a:pt x="3214" y="9405"/>
                  <a:pt x="2955" y="9143"/>
                  <a:pt x="2732" y="8852"/>
                </a:cubicBezTo>
                <a:lnTo>
                  <a:pt x="1243" y="8948"/>
                </a:lnTo>
                <a:cubicBezTo>
                  <a:pt x="800" y="8976"/>
                  <a:pt x="396" y="8686"/>
                  <a:pt x="279" y="8257"/>
                </a:cubicBezTo>
                <a:lnTo>
                  <a:pt x="31" y="7328"/>
                </a:lnTo>
                <a:cubicBezTo>
                  <a:pt x="-82" y="6899"/>
                  <a:pt x="120" y="6446"/>
                  <a:pt x="520" y="6247"/>
                </a:cubicBezTo>
                <a:lnTo>
                  <a:pt x="1856" y="5588"/>
                </a:lnTo>
                <a:cubicBezTo>
                  <a:pt x="1881" y="5408"/>
                  <a:pt x="1917" y="5230"/>
                  <a:pt x="1963" y="5050"/>
                </a:cubicBezTo>
                <a:cubicBezTo>
                  <a:pt x="2012" y="4869"/>
                  <a:pt x="2069" y="4695"/>
                  <a:pt x="2140" y="4529"/>
                </a:cubicBezTo>
                <a:lnTo>
                  <a:pt x="1314" y="3292"/>
                </a:lnTo>
                <a:cubicBezTo>
                  <a:pt x="1066" y="2920"/>
                  <a:pt x="1116" y="2427"/>
                  <a:pt x="1431" y="2112"/>
                </a:cubicBezTo>
                <a:lnTo>
                  <a:pt x="2112" y="1431"/>
                </a:lnTo>
                <a:cubicBezTo>
                  <a:pt x="2427" y="1116"/>
                  <a:pt x="2920" y="1066"/>
                  <a:pt x="3292" y="1314"/>
                </a:cubicBezTo>
                <a:lnTo>
                  <a:pt x="4532" y="2140"/>
                </a:lnTo>
                <a:cubicBezTo>
                  <a:pt x="4869" y="2002"/>
                  <a:pt x="5227" y="1903"/>
                  <a:pt x="5592" y="1853"/>
                </a:cubicBezTo>
                <a:lnTo>
                  <a:pt x="6251" y="521"/>
                </a:lnTo>
                <a:cubicBezTo>
                  <a:pt x="6449" y="120"/>
                  <a:pt x="6899" y="-82"/>
                  <a:pt x="7332" y="31"/>
                </a:cubicBezTo>
                <a:close/>
                <a:moveTo>
                  <a:pt x="6180" y="4621"/>
                </a:moveTo>
                <a:cubicBezTo>
                  <a:pt x="5319" y="4621"/>
                  <a:pt x="4621" y="5319"/>
                  <a:pt x="4621" y="6180"/>
                </a:cubicBezTo>
                <a:cubicBezTo>
                  <a:pt x="4621" y="7041"/>
                  <a:pt x="5319" y="7739"/>
                  <a:pt x="6180" y="7739"/>
                </a:cubicBezTo>
                <a:cubicBezTo>
                  <a:pt x="7041" y="7739"/>
                  <a:pt x="7739" y="7041"/>
                  <a:pt x="7739" y="6180"/>
                </a:cubicBezTo>
                <a:cubicBezTo>
                  <a:pt x="7739" y="5319"/>
                  <a:pt x="7041" y="4621"/>
                  <a:pt x="6180" y="4621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87" name="Text 19"/>
          <p:cNvSpPr txBox="1"/>
          <p:nvPr/>
        </p:nvSpPr>
        <p:spPr>
          <a:xfrm>
            <a:off x="6583509" y="1466752"/>
            <a:ext cx="5193044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3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推理配置参数</a:t>
            </a:r>
          </a:p>
        </p:txBody>
      </p:sp>
      <p:sp>
        <p:nvSpPr>
          <p:cNvPr id="1488" name="Shape 20"/>
          <p:cNvSpPr/>
          <p:nvPr/>
        </p:nvSpPr>
        <p:spPr>
          <a:xfrm>
            <a:off x="6375455" y="1830652"/>
            <a:ext cx="5317877" cy="25465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70" y="0"/>
                </a:moveTo>
                <a:lnTo>
                  <a:pt x="21330" y="0"/>
                </a:lnTo>
                <a:cubicBezTo>
                  <a:pt x="21479" y="0"/>
                  <a:pt x="21600" y="253"/>
                  <a:pt x="21600" y="565"/>
                </a:cubicBezTo>
                <a:lnTo>
                  <a:pt x="21600" y="21035"/>
                </a:lnTo>
                <a:cubicBezTo>
                  <a:pt x="21600" y="21347"/>
                  <a:pt x="21479" y="21600"/>
                  <a:pt x="21330" y="21600"/>
                </a:cubicBezTo>
                <a:lnTo>
                  <a:pt x="270" y="21600"/>
                </a:lnTo>
                <a:cubicBezTo>
                  <a:pt x="121" y="21600"/>
                  <a:pt x="0" y="21347"/>
                  <a:pt x="0" y="21035"/>
                </a:cubicBezTo>
                <a:lnTo>
                  <a:pt x="0" y="565"/>
                </a:lnTo>
                <a:cubicBezTo>
                  <a:pt x="0" y="253"/>
                  <a:pt x="121" y="0"/>
                  <a:pt x="270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89" name="Shape 21"/>
          <p:cNvSpPr/>
          <p:nvPr/>
        </p:nvSpPr>
        <p:spPr>
          <a:xfrm>
            <a:off x="6475286" y="1930487"/>
            <a:ext cx="5118144" cy="23468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0" y="0"/>
                </a:moveTo>
                <a:lnTo>
                  <a:pt x="21460" y="0"/>
                </a:lnTo>
                <a:cubicBezTo>
                  <a:pt x="21537" y="0"/>
                  <a:pt x="21600" y="137"/>
                  <a:pt x="21600" y="306"/>
                </a:cubicBezTo>
                <a:lnTo>
                  <a:pt x="21600" y="21294"/>
                </a:lnTo>
                <a:cubicBezTo>
                  <a:pt x="21600" y="21463"/>
                  <a:pt x="21537" y="21600"/>
                  <a:pt x="21460" y="21600"/>
                </a:cubicBezTo>
                <a:lnTo>
                  <a:pt x="140" y="21600"/>
                </a:lnTo>
                <a:cubicBezTo>
                  <a:pt x="63" y="21600"/>
                  <a:pt x="0" y="21463"/>
                  <a:pt x="0" y="21294"/>
                </a:cubicBezTo>
                <a:lnTo>
                  <a:pt x="0" y="306"/>
                </a:lnTo>
                <a:cubicBezTo>
                  <a:pt x="0" y="137"/>
                  <a:pt x="63" y="0"/>
                  <a:pt x="140" y="0"/>
                </a:cubicBezTo>
                <a:close/>
              </a:path>
            </a:pathLst>
          </a:custGeom>
          <a:solidFill>
            <a:srgbClr val="0D0E1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90" name="Text 22"/>
          <p:cNvSpPr txBox="1"/>
          <p:nvPr/>
        </p:nvSpPr>
        <p:spPr>
          <a:xfrm>
            <a:off x="6541838" y="2022886"/>
            <a:ext cx="504324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9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### generation</a:t>
            </a:r>
          </a:p>
        </p:txBody>
      </p:sp>
      <p:sp>
        <p:nvSpPr>
          <p:cNvPr id="1491" name="Text 23"/>
          <p:cNvSpPr txBox="1"/>
          <p:nvPr/>
        </p:nvSpPr>
        <p:spPr>
          <a:xfrm>
            <a:off x="6541838" y="2245423"/>
            <a:ext cx="504324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9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max_new_tokens: 6000</a:t>
            </a:r>
          </a:p>
        </p:txBody>
      </p:sp>
      <p:sp>
        <p:nvSpPr>
          <p:cNvPr id="1492" name="Text 24"/>
          <p:cNvSpPr txBox="1"/>
          <p:nvPr/>
        </p:nvSpPr>
        <p:spPr>
          <a:xfrm>
            <a:off x="6541838" y="2434688"/>
            <a:ext cx="504324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9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temperature: 0.7</a:t>
            </a:r>
          </a:p>
        </p:txBody>
      </p:sp>
      <p:sp>
        <p:nvSpPr>
          <p:cNvPr id="1493" name="Text 25"/>
          <p:cNvSpPr txBox="1"/>
          <p:nvPr/>
        </p:nvSpPr>
        <p:spPr>
          <a:xfrm>
            <a:off x="6541838" y="2623936"/>
            <a:ext cx="504324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9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top_p: 0.9</a:t>
            </a:r>
          </a:p>
        </p:txBody>
      </p:sp>
      <p:sp>
        <p:nvSpPr>
          <p:cNvPr id="1494" name="Text 26"/>
          <p:cNvSpPr txBox="1"/>
          <p:nvPr/>
        </p:nvSpPr>
        <p:spPr>
          <a:xfrm>
            <a:off x="6541838" y="2813201"/>
            <a:ext cx="504324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9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top_k: 50</a:t>
            </a:r>
          </a:p>
        </p:txBody>
      </p:sp>
      <p:sp>
        <p:nvSpPr>
          <p:cNvPr id="1495" name="Text 27"/>
          <p:cNvSpPr txBox="1"/>
          <p:nvPr/>
        </p:nvSpPr>
        <p:spPr>
          <a:xfrm>
            <a:off x="6541838" y="3002465"/>
            <a:ext cx="504324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9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repetition_penalty: 1.1</a:t>
            </a:r>
          </a:p>
        </p:txBody>
      </p:sp>
      <p:sp>
        <p:nvSpPr>
          <p:cNvPr id="1496" name="Text 28"/>
          <p:cNvSpPr txBox="1"/>
          <p:nvPr/>
        </p:nvSpPr>
        <p:spPr>
          <a:xfrm>
            <a:off x="6541838" y="3258275"/>
            <a:ext cx="504324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9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### vllm</a:t>
            </a:r>
          </a:p>
        </p:txBody>
      </p:sp>
      <p:sp>
        <p:nvSpPr>
          <p:cNvPr id="1497" name="Text 29"/>
          <p:cNvSpPr txBox="1"/>
          <p:nvPr/>
        </p:nvSpPr>
        <p:spPr>
          <a:xfrm>
            <a:off x="6541838" y="3480813"/>
            <a:ext cx="504324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9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tensor_parallel_size: 1</a:t>
            </a:r>
          </a:p>
        </p:txBody>
      </p:sp>
      <p:sp>
        <p:nvSpPr>
          <p:cNvPr id="1498" name="Text 30"/>
          <p:cNvSpPr txBox="1"/>
          <p:nvPr/>
        </p:nvSpPr>
        <p:spPr>
          <a:xfrm>
            <a:off x="6541838" y="3670060"/>
            <a:ext cx="504324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9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gpu_memory_utilization: 0.9</a:t>
            </a:r>
          </a:p>
        </p:txBody>
      </p:sp>
      <p:sp>
        <p:nvSpPr>
          <p:cNvPr id="1499" name="Text 31"/>
          <p:cNvSpPr txBox="1"/>
          <p:nvPr/>
        </p:nvSpPr>
        <p:spPr>
          <a:xfrm>
            <a:off x="6541838" y="3859326"/>
            <a:ext cx="504324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9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max_model_len: 14336</a:t>
            </a:r>
          </a:p>
        </p:txBody>
      </p:sp>
      <p:sp>
        <p:nvSpPr>
          <p:cNvPr id="1500" name="Text 32"/>
          <p:cNvSpPr txBox="1"/>
          <p:nvPr/>
        </p:nvSpPr>
        <p:spPr>
          <a:xfrm>
            <a:off x="6541838" y="4048590"/>
            <a:ext cx="504324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40000"/>
              </a:lnSpc>
              <a:defRPr sz="9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enable_prefix_caching: true</a:t>
            </a:r>
          </a:p>
        </p:txBody>
      </p:sp>
      <p:sp>
        <p:nvSpPr>
          <p:cNvPr id="1501" name="Shape 33"/>
          <p:cNvSpPr/>
          <p:nvPr/>
        </p:nvSpPr>
        <p:spPr>
          <a:xfrm>
            <a:off x="340452" y="4685495"/>
            <a:ext cx="11508070" cy="18293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7" y="0"/>
                </a:moveTo>
                <a:lnTo>
                  <a:pt x="21413" y="0"/>
                </a:lnTo>
                <a:cubicBezTo>
                  <a:pt x="21516" y="0"/>
                  <a:pt x="21600" y="528"/>
                  <a:pt x="21600" y="1179"/>
                </a:cubicBezTo>
                <a:lnTo>
                  <a:pt x="21600" y="20421"/>
                </a:lnTo>
                <a:cubicBezTo>
                  <a:pt x="21600" y="21072"/>
                  <a:pt x="21516" y="21600"/>
                  <a:pt x="21413" y="21600"/>
                </a:cubicBezTo>
                <a:lnTo>
                  <a:pt x="187" y="21600"/>
                </a:lnTo>
                <a:cubicBezTo>
                  <a:pt x="84" y="21600"/>
                  <a:pt x="0" y="21072"/>
                  <a:pt x="0" y="20421"/>
                </a:cubicBezTo>
                <a:lnTo>
                  <a:pt x="0" y="1179"/>
                </a:lnTo>
                <a:cubicBezTo>
                  <a:pt x="0" y="528"/>
                  <a:pt x="84" y="0"/>
                  <a:pt x="187" y="0"/>
                </a:cubicBezTo>
                <a:close/>
              </a:path>
            </a:pathLst>
          </a:custGeom>
          <a:solidFill>
            <a:srgbClr val="5E8B7E">
              <a:alpha val="14902"/>
            </a:srgbClr>
          </a:solidFill>
          <a:ln w="23091">
            <a:solidFill>
              <a:srgbClr val="5E8B7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02" name="Shape 34"/>
          <p:cNvSpPr/>
          <p:nvPr/>
        </p:nvSpPr>
        <p:spPr>
          <a:xfrm>
            <a:off x="535268" y="4892778"/>
            <a:ext cx="166445" cy="1664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9"/>
                  <a:pt x="4839" y="0"/>
                  <a:pt x="10800" y="0"/>
                </a:cubicBezTo>
                <a:cubicBezTo>
                  <a:pt x="16761" y="0"/>
                  <a:pt x="21600" y="4839"/>
                  <a:pt x="21600" y="10800"/>
                </a:cubicBezTo>
                <a:cubicBezTo>
                  <a:pt x="21600" y="16761"/>
                  <a:pt x="16761" y="21600"/>
                  <a:pt x="10800" y="21600"/>
                </a:cubicBezTo>
                <a:cubicBezTo>
                  <a:pt x="4839" y="21600"/>
                  <a:pt x="0" y="16761"/>
                  <a:pt x="0" y="10800"/>
                </a:cubicBezTo>
                <a:close/>
                <a:moveTo>
                  <a:pt x="12150" y="4050"/>
                </a:moveTo>
                <a:cubicBezTo>
                  <a:pt x="12150" y="3305"/>
                  <a:pt x="11545" y="2700"/>
                  <a:pt x="10800" y="2700"/>
                </a:cubicBezTo>
                <a:cubicBezTo>
                  <a:pt x="10055" y="2700"/>
                  <a:pt x="9450" y="3305"/>
                  <a:pt x="9450" y="4050"/>
                </a:cubicBezTo>
                <a:cubicBezTo>
                  <a:pt x="9450" y="4795"/>
                  <a:pt x="10055" y="5400"/>
                  <a:pt x="10800" y="5400"/>
                </a:cubicBezTo>
                <a:cubicBezTo>
                  <a:pt x="11545" y="5400"/>
                  <a:pt x="12150" y="4795"/>
                  <a:pt x="12150" y="4050"/>
                </a:cubicBezTo>
                <a:close/>
                <a:moveTo>
                  <a:pt x="10800" y="17550"/>
                </a:moveTo>
                <a:cubicBezTo>
                  <a:pt x="12289" y="17550"/>
                  <a:pt x="13500" y="16339"/>
                  <a:pt x="13500" y="14850"/>
                </a:cubicBezTo>
                <a:cubicBezTo>
                  <a:pt x="13500" y="14167"/>
                  <a:pt x="13247" y="13538"/>
                  <a:pt x="12825" y="13065"/>
                </a:cubicBezTo>
                <a:lnTo>
                  <a:pt x="15757" y="7206"/>
                </a:lnTo>
                <a:cubicBezTo>
                  <a:pt x="16006" y="6704"/>
                  <a:pt x="15803" y="6096"/>
                  <a:pt x="15306" y="5847"/>
                </a:cubicBezTo>
                <a:cubicBezTo>
                  <a:pt x="14808" y="5598"/>
                  <a:pt x="14196" y="5801"/>
                  <a:pt x="13947" y="6299"/>
                </a:cubicBezTo>
                <a:lnTo>
                  <a:pt x="11015" y="12158"/>
                </a:lnTo>
                <a:cubicBezTo>
                  <a:pt x="10943" y="12154"/>
                  <a:pt x="10872" y="12150"/>
                  <a:pt x="10800" y="12150"/>
                </a:cubicBezTo>
                <a:cubicBezTo>
                  <a:pt x="9311" y="12150"/>
                  <a:pt x="8100" y="13361"/>
                  <a:pt x="8100" y="14850"/>
                </a:cubicBezTo>
                <a:cubicBezTo>
                  <a:pt x="8100" y="16339"/>
                  <a:pt x="9311" y="17550"/>
                  <a:pt x="10800" y="17550"/>
                </a:cubicBezTo>
                <a:close/>
                <a:moveTo>
                  <a:pt x="7425" y="6075"/>
                </a:moveTo>
                <a:cubicBezTo>
                  <a:pt x="7425" y="5330"/>
                  <a:pt x="6820" y="4725"/>
                  <a:pt x="6075" y="4725"/>
                </a:cubicBezTo>
                <a:cubicBezTo>
                  <a:pt x="5330" y="4725"/>
                  <a:pt x="4725" y="5330"/>
                  <a:pt x="4725" y="6075"/>
                </a:cubicBezTo>
                <a:cubicBezTo>
                  <a:pt x="4725" y="6820"/>
                  <a:pt x="5330" y="7425"/>
                  <a:pt x="6075" y="7425"/>
                </a:cubicBezTo>
                <a:cubicBezTo>
                  <a:pt x="6820" y="7425"/>
                  <a:pt x="7425" y="6820"/>
                  <a:pt x="7425" y="6075"/>
                </a:cubicBezTo>
                <a:close/>
                <a:moveTo>
                  <a:pt x="4050" y="12150"/>
                </a:moveTo>
                <a:cubicBezTo>
                  <a:pt x="4795" y="12150"/>
                  <a:pt x="5400" y="11545"/>
                  <a:pt x="5400" y="10800"/>
                </a:cubicBezTo>
                <a:cubicBezTo>
                  <a:pt x="5400" y="10055"/>
                  <a:pt x="4795" y="9450"/>
                  <a:pt x="4050" y="9450"/>
                </a:cubicBezTo>
                <a:cubicBezTo>
                  <a:pt x="3305" y="9450"/>
                  <a:pt x="2700" y="10055"/>
                  <a:pt x="2700" y="10800"/>
                </a:cubicBezTo>
                <a:cubicBezTo>
                  <a:pt x="2700" y="11545"/>
                  <a:pt x="3305" y="12150"/>
                  <a:pt x="4050" y="12150"/>
                </a:cubicBezTo>
                <a:close/>
                <a:moveTo>
                  <a:pt x="18900" y="10800"/>
                </a:moveTo>
                <a:cubicBezTo>
                  <a:pt x="18900" y="10055"/>
                  <a:pt x="18295" y="9450"/>
                  <a:pt x="17550" y="9450"/>
                </a:cubicBezTo>
                <a:cubicBezTo>
                  <a:pt x="16805" y="9450"/>
                  <a:pt x="16200" y="10055"/>
                  <a:pt x="16200" y="10800"/>
                </a:cubicBezTo>
                <a:cubicBezTo>
                  <a:pt x="16200" y="11545"/>
                  <a:pt x="16805" y="12150"/>
                  <a:pt x="17550" y="12150"/>
                </a:cubicBezTo>
                <a:cubicBezTo>
                  <a:pt x="18295" y="12150"/>
                  <a:pt x="18900" y="11545"/>
                  <a:pt x="18900" y="1080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03" name="Text 35"/>
          <p:cNvSpPr txBox="1"/>
          <p:nvPr/>
        </p:nvSpPr>
        <p:spPr>
          <a:xfrm>
            <a:off x="722516" y="4861715"/>
            <a:ext cx="11035218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3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推理性能指标</a:t>
            </a:r>
          </a:p>
        </p:txBody>
      </p:sp>
      <p:sp>
        <p:nvSpPr>
          <p:cNvPr id="1504" name="Shape 36"/>
          <p:cNvSpPr/>
          <p:nvPr/>
        </p:nvSpPr>
        <p:spPr>
          <a:xfrm>
            <a:off x="514462" y="5225600"/>
            <a:ext cx="2688066" cy="1115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35" y="0"/>
                </a:moveTo>
                <a:lnTo>
                  <a:pt x="21065" y="0"/>
                </a:lnTo>
                <a:cubicBezTo>
                  <a:pt x="21360" y="0"/>
                  <a:pt x="21600" y="577"/>
                  <a:pt x="21600" y="1290"/>
                </a:cubicBezTo>
                <a:lnTo>
                  <a:pt x="21600" y="20310"/>
                </a:lnTo>
                <a:cubicBezTo>
                  <a:pt x="21600" y="21023"/>
                  <a:pt x="21360" y="21600"/>
                  <a:pt x="21065" y="21600"/>
                </a:cubicBezTo>
                <a:lnTo>
                  <a:pt x="535" y="21600"/>
                </a:lnTo>
                <a:cubicBezTo>
                  <a:pt x="240" y="21600"/>
                  <a:pt x="0" y="21022"/>
                  <a:pt x="0" y="20310"/>
                </a:cubicBezTo>
                <a:lnTo>
                  <a:pt x="0" y="1290"/>
                </a:lnTo>
                <a:cubicBezTo>
                  <a:pt x="0" y="578"/>
                  <a:pt x="240" y="0"/>
                  <a:pt x="535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05" name="Shape 37"/>
          <p:cNvSpPr/>
          <p:nvPr/>
        </p:nvSpPr>
        <p:spPr>
          <a:xfrm>
            <a:off x="1752629" y="5350895"/>
            <a:ext cx="218469" cy="2652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44" h="21405" fill="norm" stroke="1" extrusionOk="0">
                <a:moveTo>
                  <a:pt x="16141" y="240"/>
                </a:moveTo>
                <a:cubicBezTo>
                  <a:pt x="16708" y="579"/>
                  <a:pt x="16918" y="1192"/>
                  <a:pt x="16660" y="1728"/>
                </a:cubicBezTo>
                <a:lnTo>
                  <a:pt x="12925" y="9443"/>
                </a:lnTo>
                <a:lnTo>
                  <a:pt x="19819" y="9443"/>
                </a:lnTo>
                <a:cubicBezTo>
                  <a:pt x="20462" y="9443"/>
                  <a:pt x="21034" y="9773"/>
                  <a:pt x="21253" y="10273"/>
                </a:cubicBezTo>
                <a:cubicBezTo>
                  <a:pt x="21472" y="10773"/>
                  <a:pt x="21286" y="11332"/>
                  <a:pt x="20796" y="11670"/>
                </a:cubicBezTo>
                <a:lnTo>
                  <a:pt x="7075" y="21112"/>
                </a:lnTo>
                <a:cubicBezTo>
                  <a:pt x="6537" y="21482"/>
                  <a:pt x="5770" y="21502"/>
                  <a:pt x="5203" y="21164"/>
                </a:cubicBezTo>
                <a:cubicBezTo>
                  <a:pt x="4636" y="20825"/>
                  <a:pt x="4426" y="20211"/>
                  <a:pt x="4684" y="19676"/>
                </a:cubicBezTo>
                <a:lnTo>
                  <a:pt x="8419" y="11961"/>
                </a:lnTo>
                <a:lnTo>
                  <a:pt x="1525" y="11961"/>
                </a:lnTo>
                <a:cubicBezTo>
                  <a:pt x="882" y="11961"/>
                  <a:pt x="310" y="11631"/>
                  <a:pt x="91" y="11131"/>
                </a:cubicBezTo>
                <a:cubicBezTo>
                  <a:pt x="-128" y="10631"/>
                  <a:pt x="58" y="10072"/>
                  <a:pt x="549" y="9734"/>
                </a:cubicBezTo>
                <a:lnTo>
                  <a:pt x="14269" y="291"/>
                </a:lnTo>
                <a:cubicBezTo>
                  <a:pt x="14807" y="-78"/>
                  <a:pt x="15574" y="-98"/>
                  <a:pt x="16141" y="24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06" name="Text 38"/>
          <p:cNvSpPr txBox="1"/>
          <p:nvPr/>
        </p:nvSpPr>
        <p:spPr>
          <a:xfrm>
            <a:off x="614281" y="5685899"/>
            <a:ext cx="248833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首字延迟</a:t>
            </a:r>
          </a:p>
        </p:txBody>
      </p:sp>
      <p:sp>
        <p:nvSpPr>
          <p:cNvPr id="1507" name="Text 39"/>
          <p:cNvSpPr txBox="1"/>
          <p:nvPr/>
        </p:nvSpPr>
        <p:spPr>
          <a:xfrm>
            <a:off x="585154" y="5911671"/>
            <a:ext cx="2546588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9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&lt;300ms</a:t>
            </a:r>
          </a:p>
        </p:txBody>
      </p:sp>
      <p:sp>
        <p:nvSpPr>
          <p:cNvPr id="1508" name="Shape 40"/>
          <p:cNvSpPr/>
          <p:nvPr/>
        </p:nvSpPr>
        <p:spPr>
          <a:xfrm>
            <a:off x="3338271" y="5225600"/>
            <a:ext cx="2688067" cy="1115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35" y="0"/>
                </a:moveTo>
                <a:lnTo>
                  <a:pt x="21065" y="0"/>
                </a:lnTo>
                <a:cubicBezTo>
                  <a:pt x="21360" y="0"/>
                  <a:pt x="21600" y="577"/>
                  <a:pt x="21600" y="1290"/>
                </a:cubicBezTo>
                <a:lnTo>
                  <a:pt x="21600" y="20310"/>
                </a:lnTo>
                <a:cubicBezTo>
                  <a:pt x="21600" y="21023"/>
                  <a:pt x="21360" y="21600"/>
                  <a:pt x="21065" y="21600"/>
                </a:cubicBezTo>
                <a:lnTo>
                  <a:pt x="535" y="21600"/>
                </a:lnTo>
                <a:cubicBezTo>
                  <a:pt x="240" y="21600"/>
                  <a:pt x="0" y="21022"/>
                  <a:pt x="0" y="20310"/>
                </a:cubicBezTo>
                <a:lnTo>
                  <a:pt x="0" y="1290"/>
                </a:lnTo>
                <a:cubicBezTo>
                  <a:pt x="0" y="578"/>
                  <a:pt x="240" y="0"/>
                  <a:pt x="535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09" name="Shape 41"/>
          <p:cNvSpPr/>
          <p:nvPr/>
        </p:nvSpPr>
        <p:spPr>
          <a:xfrm>
            <a:off x="4560839" y="5374309"/>
            <a:ext cx="249667" cy="2184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700" y="1543"/>
                </a:moveTo>
                <a:cubicBezTo>
                  <a:pt x="2700" y="689"/>
                  <a:pt x="2097" y="0"/>
                  <a:pt x="1350" y="0"/>
                </a:cubicBezTo>
                <a:cubicBezTo>
                  <a:pt x="603" y="0"/>
                  <a:pt x="0" y="689"/>
                  <a:pt x="0" y="1543"/>
                </a:cubicBezTo>
                <a:lnTo>
                  <a:pt x="0" y="17743"/>
                </a:lnTo>
                <a:cubicBezTo>
                  <a:pt x="0" y="19874"/>
                  <a:pt x="1510" y="21600"/>
                  <a:pt x="3375" y="21600"/>
                </a:cubicBezTo>
                <a:lnTo>
                  <a:pt x="20250" y="21600"/>
                </a:lnTo>
                <a:cubicBezTo>
                  <a:pt x="20997" y="21600"/>
                  <a:pt x="21600" y="20911"/>
                  <a:pt x="21600" y="20057"/>
                </a:cubicBezTo>
                <a:cubicBezTo>
                  <a:pt x="21600" y="19204"/>
                  <a:pt x="20997" y="18514"/>
                  <a:pt x="20250" y="18514"/>
                </a:cubicBezTo>
                <a:lnTo>
                  <a:pt x="3375" y="18514"/>
                </a:lnTo>
                <a:cubicBezTo>
                  <a:pt x="3004" y="18514"/>
                  <a:pt x="2700" y="18167"/>
                  <a:pt x="2700" y="17743"/>
                </a:cubicBezTo>
                <a:lnTo>
                  <a:pt x="2700" y="1543"/>
                </a:lnTo>
                <a:close/>
                <a:moveTo>
                  <a:pt x="19853" y="5718"/>
                </a:moveTo>
                <a:cubicBezTo>
                  <a:pt x="20381" y="5116"/>
                  <a:pt x="20381" y="4137"/>
                  <a:pt x="19853" y="3534"/>
                </a:cubicBezTo>
                <a:cubicBezTo>
                  <a:pt x="19326" y="2931"/>
                  <a:pt x="18470" y="2931"/>
                  <a:pt x="17942" y="3534"/>
                </a:cubicBezTo>
                <a:lnTo>
                  <a:pt x="13500" y="8616"/>
                </a:lnTo>
                <a:lnTo>
                  <a:pt x="11078" y="5853"/>
                </a:lnTo>
                <a:cubicBezTo>
                  <a:pt x="10551" y="5251"/>
                  <a:pt x="9695" y="5251"/>
                  <a:pt x="9167" y="5853"/>
                </a:cubicBezTo>
                <a:lnTo>
                  <a:pt x="5117" y="10482"/>
                </a:lnTo>
                <a:cubicBezTo>
                  <a:pt x="4590" y="11085"/>
                  <a:pt x="4590" y="12063"/>
                  <a:pt x="5117" y="12666"/>
                </a:cubicBezTo>
                <a:cubicBezTo>
                  <a:pt x="5645" y="13269"/>
                  <a:pt x="6501" y="13269"/>
                  <a:pt x="7028" y="12666"/>
                </a:cubicBezTo>
                <a:lnTo>
                  <a:pt x="10125" y="9127"/>
                </a:lnTo>
                <a:lnTo>
                  <a:pt x="12547" y="11895"/>
                </a:lnTo>
                <a:cubicBezTo>
                  <a:pt x="13074" y="12497"/>
                  <a:pt x="13930" y="12497"/>
                  <a:pt x="14458" y="11895"/>
                </a:cubicBezTo>
                <a:lnTo>
                  <a:pt x="19858" y="5723"/>
                </a:ln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10" name="Text 42"/>
          <p:cNvSpPr txBox="1"/>
          <p:nvPr/>
        </p:nvSpPr>
        <p:spPr>
          <a:xfrm>
            <a:off x="3438090" y="5685899"/>
            <a:ext cx="248833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吞吐提升</a:t>
            </a:r>
          </a:p>
        </p:txBody>
      </p:sp>
      <p:sp>
        <p:nvSpPr>
          <p:cNvPr id="1511" name="Text 43"/>
          <p:cNvSpPr txBox="1"/>
          <p:nvPr/>
        </p:nvSpPr>
        <p:spPr>
          <a:xfrm>
            <a:off x="3408962" y="5911671"/>
            <a:ext cx="2546589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9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2-3x</a:t>
            </a:r>
          </a:p>
        </p:txBody>
      </p:sp>
      <p:sp>
        <p:nvSpPr>
          <p:cNvPr id="1512" name="Shape 44"/>
          <p:cNvSpPr/>
          <p:nvPr/>
        </p:nvSpPr>
        <p:spPr>
          <a:xfrm>
            <a:off x="6162080" y="5225600"/>
            <a:ext cx="2688067" cy="1115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35" y="0"/>
                </a:moveTo>
                <a:lnTo>
                  <a:pt x="21065" y="0"/>
                </a:lnTo>
                <a:cubicBezTo>
                  <a:pt x="21360" y="0"/>
                  <a:pt x="21600" y="577"/>
                  <a:pt x="21600" y="1290"/>
                </a:cubicBezTo>
                <a:lnTo>
                  <a:pt x="21600" y="20310"/>
                </a:lnTo>
                <a:cubicBezTo>
                  <a:pt x="21600" y="21023"/>
                  <a:pt x="21360" y="21600"/>
                  <a:pt x="21065" y="21600"/>
                </a:cubicBezTo>
                <a:lnTo>
                  <a:pt x="535" y="21600"/>
                </a:lnTo>
                <a:cubicBezTo>
                  <a:pt x="240" y="21600"/>
                  <a:pt x="0" y="21022"/>
                  <a:pt x="0" y="20310"/>
                </a:cubicBezTo>
                <a:lnTo>
                  <a:pt x="0" y="1290"/>
                </a:lnTo>
                <a:cubicBezTo>
                  <a:pt x="0" y="578"/>
                  <a:pt x="240" y="0"/>
                  <a:pt x="535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13" name="Shape 45"/>
          <p:cNvSpPr/>
          <p:nvPr/>
        </p:nvSpPr>
        <p:spPr>
          <a:xfrm>
            <a:off x="7384650" y="5389914"/>
            <a:ext cx="249667" cy="1872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700" y="0"/>
                </a:moveTo>
                <a:cubicBezTo>
                  <a:pt x="1211" y="0"/>
                  <a:pt x="0" y="1614"/>
                  <a:pt x="0" y="3600"/>
                </a:cubicBezTo>
                <a:lnTo>
                  <a:pt x="0" y="4016"/>
                </a:lnTo>
                <a:cubicBezTo>
                  <a:pt x="0" y="4399"/>
                  <a:pt x="186" y="4725"/>
                  <a:pt x="426" y="4933"/>
                </a:cubicBezTo>
                <a:cubicBezTo>
                  <a:pt x="983" y="5417"/>
                  <a:pt x="1350" y="6249"/>
                  <a:pt x="1350" y="7200"/>
                </a:cubicBezTo>
                <a:cubicBezTo>
                  <a:pt x="1350" y="8151"/>
                  <a:pt x="983" y="8983"/>
                  <a:pt x="426" y="9467"/>
                </a:cubicBezTo>
                <a:cubicBezTo>
                  <a:pt x="186" y="9675"/>
                  <a:pt x="0" y="10001"/>
                  <a:pt x="0" y="10384"/>
                </a:cubicBezTo>
                <a:lnTo>
                  <a:pt x="0" y="13500"/>
                </a:lnTo>
                <a:lnTo>
                  <a:pt x="21600" y="13500"/>
                </a:lnTo>
                <a:lnTo>
                  <a:pt x="21600" y="10384"/>
                </a:lnTo>
                <a:cubicBezTo>
                  <a:pt x="21600" y="10001"/>
                  <a:pt x="21414" y="9675"/>
                  <a:pt x="21174" y="9467"/>
                </a:cubicBezTo>
                <a:cubicBezTo>
                  <a:pt x="20617" y="8983"/>
                  <a:pt x="20250" y="8151"/>
                  <a:pt x="20250" y="7200"/>
                </a:cubicBezTo>
                <a:cubicBezTo>
                  <a:pt x="20250" y="6249"/>
                  <a:pt x="20617" y="5417"/>
                  <a:pt x="21174" y="4933"/>
                </a:cubicBezTo>
                <a:cubicBezTo>
                  <a:pt x="21414" y="4725"/>
                  <a:pt x="21600" y="4399"/>
                  <a:pt x="21600" y="4016"/>
                </a:cubicBezTo>
                <a:lnTo>
                  <a:pt x="21600" y="3600"/>
                </a:lnTo>
                <a:cubicBezTo>
                  <a:pt x="21600" y="1614"/>
                  <a:pt x="20389" y="0"/>
                  <a:pt x="18900" y="0"/>
                </a:cubicBezTo>
                <a:lnTo>
                  <a:pt x="2700" y="0"/>
                </a:lnTo>
                <a:close/>
                <a:moveTo>
                  <a:pt x="21600" y="19800"/>
                </a:moveTo>
                <a:lnTo>
                  <a:pt x="21600" y="16200"/>
                </a:lnTo>
                <a:lnTo>
                  <a:pt x="0" y="16200"/>
                </a:lnTo>
                <a:lnTo>
                  <a:pt x="0" y="19800"/>
                </a:lnTo>
                <a:cubicBezTo>
                  <a:pt x="0" y="20796"/>
                  <a:pt x="603" y="21600"/>
                  <a:pt x="1350" y="21600"/>
                </a:cubicBezTo>
                <a:lnTo>
                  <a:pt x="4050" y="21600"/>
                </a:lnTo>
                <a:lnTo>
                  <a:pt x="4050" y="20250"/>
                </a:lnTo>
                <a:cubicBezTo>
                  <a:pt x="4050" y="19502"/>
                  <a:pt x="4501" y="18900"/>
                  <a:pt x="5062" y="18900"/>
                </a:cubicBezTo>
                <a:cubicBezTo>
                  <a:pt x="5624" y="18900"/>
                  <a:pt x="6075" y="19502"/>
                  <a:pt x="6075" y="20250"/>
                </a:cubicBezTo>
                <a:lnTo>
                  <a:pt x="6075" y="21600"/>
                </a:lnTo>
                <a:lnTo>
                  <a:pt x="9788" y="21600"/>
                </a:lnTo>
                <a:lnTo>
                  <a:pt x="9788" y="20250"/>
                </a:lnTo>
                <a:cubicBezTo>
                  <a:pt x="9788" y="19502"/>
                  <a:pt x="10239" y="18900"/>
                  <a:pt x="10800" y="18900"/>
                </a:cubicBezTo>
                <a:cubicBezTo>
                  <a:pt x="11361" y="18900"/>
                  <a:pt x="11812" y="19502"/>
                  <a:pt x="11812" y="20250"/>
                </a:cubicBezTo>
                <a:lnTo>
                  <a:pt x="11812" y="21600"/>
                </a:lnTo>
                <a:lnTo>
                  <a:pt x="15525" y="21600"/>
                </a:lnTo>
                <a:lnTo>
                  <a:pt x="15525" y="20250"/>
                </a:lnTo>
                <a:cubicBezTo>
                  <a:pt x="15525" y="19502"/>
                  <a:pt x="15976" y="18900"/>
                  <a:pt x="16537" y="18900"/>
                </a:cubicBezTo>
                <a:cubicBezTo>
                  <a:pt x="17099" y="18900"/>
                  <a:pt x="17550" y="19502"/>
                  <a:pt x="17550" y="20250"/>
                </a:cubicBezTo>
                <a:lnTo>
                  <a:pt x="17550" y="21600"/>
                </a:lnTo>
                <a:lnTo>
                  <a:pt x="20250" y="21600"/>
                </a:lnTo>
                <a:cubicBezTo>
                  <a:pt x="20997" y="21600"/>
                  <a:pt x="21600" y="20796"/>
                  <a:pt x="21600" y="19800"/>
                </a:cubicBezTo>
                <a:close/>
                <a:moveTo>
                  <a:pt x="6750" y="5400"/>
                </a:moveTo>
                <a:lnTo>
                  <a:pt x="6750" y="9000"/>
                </a:lnTo>
                <a:cubicBezTo>
                  <a:pt x="6750" y="9996"/>
                  <a:pt x="6147" y="10800"/>
                  <a:pt x="5400" y="10800"/>
                </a:cubicBezTo>
                <a:cubicBezTo>
                  <a:pt x="4653" y="10800"/>
                  <a:pt x="4050" y="9996"/>
                  <a:pt x="4050" y="9000"/>
                </a:cubicBezTo>
                <a:lnTo>
                  <a:pt x="4050" y="5400"/>
                </a:lnTo>
                <a:cubicBezTo>
                  <a:pt x="4050" y="4404"/>
                  <a:pt x="4653" y="3600"/>
                  <a:pt x="5400" y="3600"/>
                </a:cubicBezTo>
                <a:cubicBezTo>
                  <a:pt x="6147" y="3600"/>
                  <a:pt x="6750" y="4404"/>
                  <a:pt x="6750" y="5400"/>
                </a:cubicBezTo>
                <a:close/>
                <a:moveTo>
                  <a:pt x="12150" y="5400"/>
                </a:moveTo>
                <a:lnTo>
                  <a:pt x="12150" y="9000"/>
                </a:lnTo>
                <a:cubicBezTo>
                  <a:pt x="12150" y="9996"/>
                  <a:pt x="11547" y="10800"/>
                  <a:pt x="10800" y="10800"/>
                </a:cubicBezTo>
                <a:cubicBezTo>
                  <a:pt x="10053" y="10800"/>
                  <a:pt x="9450" y="9996"/>
                  <a:pt x="9450" y="9000"/>
                </a:cubicBezTo>
                <a:lnTo>
                  <a:pt x="9450" y="5400"/>
                </a:lnTo>
                <a:cubicBezTo>
                  <a:pt x="9450" y="4404"/>
                  <a:pt x="10053" y="3600"/>
                  <a:pt x="10800" y="3600"/>
                </a:cubicBezTo>
                <a:cubicBezTo>
                  <a:pt x="11547" y="3600"/>
                  <a:pt x="12150" y="4404"/>
                  <a:pt x="12150" y="5400"/>
                </a:cubicBezTo>
                <a:close/>
                <a:moveTo>
                  <a:pt x="17550" y="5400"/>
                </a:moveTo>
                <a:lnTo>
                  <a:pt x="17550" y="9000"/>
                </a:lnTo>
                <a:cubicBezTo>
                  <a:pt x="17550" y="9996"/>
                  <a:pt x="16947" y="10800"/>
                  <a:pt x="16200" y="10800"/>
                </a:cubicBezTo>
                <a:cubicBezTo>
                  <a:pt x="15453" y="10800"/>
                  <a:pt x="14850" y="9996"/>
                  <a:pt x="14850" y="9000"/>
                </a:cubicBezTo>
                <a:lnTo>
                  <a:pt x="14850" y="5400"/>
                </a:lnTo>
                <a:cubicBezTo>
                  <a:pt x="14850" y="4404"/>
                  <a:pt x="15453" y="3600"/>
                  <a:pt x="16200" y="3600"/>
                </a:cubicBezTo>
                <a:cubicBezTo>
                  <a:pt x="16947" y="3600"/>
                  <a:pt x="17550" y="4404"/>
                  <a:pt x="17550" y="540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14" name="Text 46"/>
          <p:cNvSpPr txBox="1"/>
          <p:nvPr/>
        </p:nvSpPr>
        <p:spPr>
          <a:xfrm>
            <a:off x="6261899" y="5685899"/>
            <a:ext cx="248833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GPU内存</a:t>
            </a:r>
          </a:p>
        </p:txBody>
      </p:sp>
      <p:sp>
        <p:nvSpPr>
          <p:cNvPr id="1515" name="Text 47"/>
          <p:cNvSpPr txBox="1"/>
          <p:nvPr/>
        </p:nvSpPr>
        <p:spPr>
          <a:xfrm>
            <a:off x="6232771" y="5911671"/>
            <a:ext cx="2546589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9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~6GB</a:t>
            </a:r>
          </a:p>
        </p:txBody>
      </p:sp>
      <p:sp>
        <p:nvSpPr>
          <p:cNvPr id="1516" name="Shape 48"/>
          <p:cNvSpPr/>
          <p:nvPr/>
        </p:nvSpPr>
        <p:spPr>
          <a:xfrm>
            <a:off x="8985890" y="5225600"/>
            <a:ext cx="2688067" cy="1115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35" y="0"/>
                </a:moveTo>
                <a:lnTo>
                  <a:pt x="21065" y="0"/>
                </a:lnTo>
                <a:cubicBezTo>
                  <a:pt x="21360" y="0"/>
                  <a:pt x="21600" y="577"/>
                  <a:pt x="21600" y="1290"/>
                </a:cubicBezTo>
                <a:lnTo>
                  <a:pt x="21600" y="20310"/>
                </a:lnTo>
                <a:cubicBezTo>
                  <a:pt x="21600" y="21023"/>
                  <a:pt x="21360" y="21600"/>
                  <a:pt x="21065" y="21600"/>
                </a:cubicBezTo>
                <a:lnTo>
                  <a:pt x="535" y="21600"/>
                </a:lnTo>
                <a:cubicBezTo>
                  <a:pt x="240" y="21600"/>
                  <a:pt x="0" y="21022"/>
                  <a:pt x="0" y="20310"/>
                </a:cubicBezTo>
                <a:lnTo>
                  <a:pt x="0" y="1290"/>
                </a:lnTo>
                <a:cubicBezTo>
                  <a:pt x="0" y="578"/>
                  <a:pt x="240" y="0"/>
                  <a:pt x="535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17" name="Shape 49"/>
          <p:cNvSpPr/>
          <p:nvPr/>
        </p:nvSpPr>
        <p:spPr>
          <a:xfrm>
            <a:off x="10239668" y="5358705"/>
            <a:ext cx="187250" cy="2496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700"/>
                </a:moveTo>
                <a:cubicBezTo>
                  <a:pt x="0" y="1211"/>
                  <a:pt x="1614" y="0"/>
                  <a:pt x="3600" y="0"/>
                </a:cubicBezTo>
                <a:lnTo>
                  <a:pt x="12009" y="0"/>
                </a:lnTo>
                <a:cubicBezTo>
                  <a:pt x="12966" y="0"/>
                  <a:pt x="13883" y="283"/>
                  <a:pt x="14557" y="789"/>
                </a:cubicBezTo>
                <a:lnTo>
                  <a:pt x="20548" y="5286"/>
                </a:lnTo>
                <a:cubicBezTo>
                  <a:pt x="21223" y="5792"/>
                  <a:pt x="21600" y="6480"/>
                  <a:pt x="21600" y="7197"/>
                </a:cubicBezTo>
                <a:lnTo>
                  <a:pt x="21600" y="18900"/>
                </a:lnTo>
                <a:cubicBezTo>
                  <a:pt x="21600" y="20389"/>
                  <a:pt x="19986" y="21600"/>
                  <a:pt x="18000" y="21600"/>
                </a:cubicBezTo>
                <a:lnTo>
                  <a:pt x="3600" y="21600"/>
                </a:lnTo>
                <a:cubicBezTo>
                  <a:pt x="1614" y="21600"/>
                  <a:pt x="0" y="20389"/>
                  <a:pt x="0" y="18900"/>
                </a:cubicBezTo>
                <a:lnTo>
                  <a:pt x="0" y="2700"/>
                </a:lnTo>
                <a:close/>
                <a:moveTo>
                  <a:pt x="11700" y="2468"/>
                </a:moveTo>
                <a:lnTo>
                  <a:pt x="11700" y="6412"/>
                </a:lnTo>
                <a:cubicBezTo>
                  <a:pt x="11700" y="6974"/>
                  <a:pt x="12302" y="7425"/>
                  <a:pt x="13050" y="7425"/>
                </a:cubicBezTo>
                <a:lnTo>
                  <a:pt x="18309" y="7425"/>
                </a:lnTo>
                <a:lnTo>
                  <a:pt x="11700" y="2468"/>
                </a:lnTo>
                <a:close/>
                <a:moveTo>
                  <a:pt x="6750" y="10800"/>
                </a:moveTo>
                <a:cubicBezTo>
                  <a:pt x="6002" y="10800"/>
                  <a:pt x="5400" y="11251"/>
                  <a:pt x="5400" y="11812"/>
                </a:cubicBezTo>
                <a:cubicBezTo>
                  <a:pt x="5400" y="12374"/>
                  <a:pt x="6002" y="12825"/>
                  <a:pt x="6750" y="12825"/>
                </a:cubicBezTo>
                <a:lnTo>
                  <a:pt x="14850" y="12825"/>
                </a:lnTo>
                <a:cubicBezTo>
                  <a:pt x="15598" y="12825"/>
                  <a:pt x="16200" y="12374"/>
                  <a:pt x="16200" y="11812"/>
                </a:cubicBezTo>
                <a:cubicBezTo>
                  <a:pt x="16200" y="11251"/>
                  <a:pt x="15598" y="10800"/>
                  <a:pt x="14850" y="10800"/>
                </a:cubicBezTo>
                <a:lnTo>
                  <a:pt x="6750" y="10800"/>
                </a:lnTo>
                <a:close/>
                <a:moveTo>
                  <a:pt x="6750" y="14850"/>
                </a:moveTo>
                <a:cubicBezTo>
                  <a:pt x="6002" y="14850"/>
                  <a:pt x="5400" y="15301"/>
                  <a:pt x="5400" y="15862"/>
                </a:cubicBezTo>
                <a:cubicBezTo>
                  <a:pt x="5400" y="16424"/>
                  <a:pt x="6002" y="16875"/>
                  <a:pt x="6750" y="16875"/>
                </a:cubicBezTo>
                <a:lnTo>
                  <a:pt x="14850" y="16875"/>
                </a:lnTo>
                <a:cubicBezTo>
                  <a:pt x="15598" y="16875"/>
                  <a:pt x="16200" y="16424"/>
                  <a:pt x="16200" y="15862"/>
                </a:cubicBezTo>
                <a:cubicBezTo>
                  <a:pt x="16200" y="15301"/>
                  <a:pt x="15598" y="14850"/>
                  <a:pt x="14850" y="14850"/>
                </a:cubicBezTo>
                <a:lnTo>
                  <a:pt x="6750" y="14850"/>
                </a:ln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18" name="Text 50"/>
          <p:cNvSpPr txBox="1"/>
          <p:nvPr/>
        </p:nvSpPr>
        <p:spPr>
          <a:xfrm>
            <a:off x="9085708" y="5685899"/>
            <a:ext cx="248833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生成长度</a:t>
            </a:r>
          </a:p>
        </p:txBody>
      </p:sp>
      <p:sp>
        <p:nvSpPr>
          <p:cNvPr id="1519" name="Text 51"/>
          <p:cNvSpPr txBox="1"/>
          <p:nvPr/>
        </p:nvSpPr>
        <p:spPr>
          <a:xfrm>
            <a:off x="9056582" y="5911671"/>
            <a:ext cx="2546589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9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6K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Text 0"/>
          <p:cNvSpPr txBox="1"/>
          <p:nvPr/>
        </p:nvSpPr>
        <p:spPr>
          <a:xfrm>
            <a:off x="317500" y="336549"/>
            <a:ext cx="116205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pc="50" sz="1000">
                <a:solidFill>
                  <a:srgbClr val="5E8B7E"/>
                </a:solidFill>
                <a:latin typeface="Liter"/>
                <a:ea typeface="Liter"/>
                <a:cs typeface="Liter"/>
                <a:sym typeface="Liter"/>
              </a:defRPr>
            </a:lvl1pPr>
          </a:lstStyle>
          <a:p>
            <a:pPr/>
            <a:r>
              <a:t>PERFORMANCE METRICS</a:t>
            </a:r>
          </a:p>
        </p:txBody>
      </p:sp>
      <p:sp>
        <p:nvSpPr>
          <p:cNvPr id="1522" name="Text 1"/>
          <p:cNvSpPr txBox="1"/>
          <p:nvPr/>
        </p:nvSpPr>
        <p:spPr>
          <a:xfrm>
            <a:off x="317500" y="495253"/>
            <a:ext cx="117475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80000"/>
              </a:lnSpc>
              <a:defRPr b="1" sz="30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性能指标与成果总结</a:t>
            </a:r>
          </a:p>
        </p:txBody>
      </p:sp>
      <p:sp>
        <p:nvSpPr>
          <p:cNvPr id="1523" name="Shape 2"/>
          <p:cNvSpPr/>
          <p:nvPr/>
        </p:nvSpPr>
        <p:spPr>
          <a:xfrm>
            <a:off x="317500" y="1079390"/>
            <a:ext cx="762000" cy="31751"/>
          </a:xfrm>
          <a:prstGeom prst="rect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24" name="Shape 3"/>
          <p:cNvSpPr/>
          <p:nvPr/>
        </p:nvSpPr>
        <p:spPr>
          <a:xfrm>
            <a:off x="331931" y="1238078"/>
            <a:ext cx="3752996" cy="3365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6" y="0"/>
                </a:moveTo>
                <a:lnTo>
                  <a:pt x="21052" y="0"/>
                </a:lnTo>
                <a:cubicBezTo>
                  <a:pt x="21355" y="0"/>
                  <a:pt x="21600" y="274"/>
                  <a:pt x="21600" y="611"/>
                </a:cubicBezTo>
                <a:lnTo>
                  <a:pt x="21600" y="20989"/>
                </a:lnTo>
                <a:cubicBezTo>
                  <a:pt x="21600" y="21326"/>
                  <a:pt x="21355" y="21600"/>
                  <a:pt x="21052" y="21600"/>
                </a:cubicBezTo>
                <a:lnTo>
                  <a:pt x="166" y="21600"/>
                </a:lnTo>
                <a:cubicBezTo>
                  <a:pt x="74" y="21600"/>
                  <a:pt x="0" y="21517"/>
                  <a:pt x="0" y="21415"/>
                </a:cubicBezTo>
                <a:lnTo>
                  <a:pt x="0" y="185"/>
                </a:lnTo>
                <a:cubicBezTo>
                  <a:pt x="0" y="83"/>
                  <a:pt x="74" y="0"/>
                  <a:pt x="166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25" name="Shape 4"/>
          <p:cNvSpPr/>
          <p:nvPr/>
        </p:nvSpPr>
        <p:spPr>
          <a:xfrm>
            <a:off x="331931" y="1238078"/>
            <a:ext cx="28865" cy="3365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517"/>
                  <a:pt x="0" y="21415"/>
                </a:cubicBezTo>
                <a:lnTo>
                  <a:pt x="0" y="185"/>
                </a:lnTo>
                <a:cubicBezTo>
                  <a:pt x="0" y="83"/>
                  <a:pt x="9671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26" name="Shape 5"/>
          <p:cNvSpPr/>
          <p:nvPr/>
        </p:nvSpPr>
        <p:spPr>
          <a:xfrm>
            <a:off x="524957" y="1438500"/>
            <a:ext cx="158751" cy="1389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50" y="0"/>
                </a:moveTo>
                <a:cubicBezTo>
                  <a:pt x="2097" y="0"/>
                  <a:pt x="2700" y="689"/>
                  <a:pt x="2700" y="1543"/>
                </a:cubicBezTo>
                <a:lnTo>
                  <a:pt x="2700" y="17743"/>
                </a:lnTo>
                <a:cubicBezTo>
                  <a:pt x="2700" y="18167"/>
                  <a:pt x="3004" y="18514"/>
                  <a:pt x="3375" y="18514"/>
                </a:cubicBezTo>
                <a:lnTo>
                  <a:pt x="20250" y="18514"/>
                </a:lnTo>
                <a:cubicBezTo>
                  <a:pt x="20997" y="18514"/>
                  <a:pt x="21600" y="19204"/>
                  <a:pt x="21600" y="20057"/>
                </a:cubicBezTo>
                <a:cubicBezTo>
                  <a:pt x="21600" y="20911"/>
                  <a:pt x="20997" y="21600"/>
                  <a:pt x="20250" y="21600"/>
                </a:cubicBezTo>
                <a:lnTo>
                  <a:pt x="3375" y="21600"/>
                </a:lnTo>
                <a:cubicBezTo>
                  <a:pt x="1510" y="21600"/>
                  <a:pt x="0" y="19874"/>
                  <a:pt x="0" y="17743"/>
                </a:cubicBezTo>
                <a:lnTo>
                  <a:pt x="0" y="1543"/>
                </a:lnTo>
                <a:cubicBezTo>
                  <a:pt x="0" y="689"/>
                  <a:pt x="603" y="0"/>
                  <a:pt x="1350" y="0"/>
                </a:cubicBezTo>
                <a:close/>
                <a:moveTo>
                  <a:pt x="5400" y="3086"/>
                </a:moveTo>
                <a:cubicBezTo>
                  <a:pt x="5400" y="2232"/>
                  <a:pt x="6003" y="1543"/>
                  <a:pt x="6750" y="1543"/>
                </a:cubicBezTo>
                <a:lnTo>
                  <a:pt x="14850" y="1543"/>
                </a:lnTo>
                <a:cubicBezTo>
                  <a:pt x="15597" y="1543"/>
                  <a:pt x="16200" y="2232"/>
                  <a:pt x="16200" y="3086"/>
                </a:cubicBezTo>
                <a:cubicBezTo>
                  <a:pt x="16200" y="3939"/>
                  <a:pt x="15597" y="4629"/>
                  <a:pt x="14850" y="4629"/>
                </a:cubicBezTo>
                <a:lnTo>
                  <a:pt x="6750" y="4629"/>
                </a:lnTo>
                <a:cubicBezTo>
                  <a:pt x="6003" y="4629"/>
                  <a:pt x="5400" y="3939"/>
                  <a:pt x="5400" y="3086"/>
                </a:cubicBezTo>
                <a:close/>
                <a:moveTo>
                  <a:pt x="6750" y="6943"/>
                </a:moveTo>
                <a:lnTo>
                  <a:pt x="12150" y="6943"/>
                </a:lnTo>
                <a:cubicBezTo>
                  <a:pt x="12897" y="6943"/>
                  <a:pt x="13500" y="7632"/>
                  <a:pt x="13500" y="8486"/>
                </a:cubicBezTo>
                <a:cubicBezTo>
                  <a:pt x="13500" y="9339"/>
                  <a:pt x="12897" y="10029"/>
                  <a:pt x="12150" y="10029"/>
                </a:cubicBezTo>
                <a:lnTo>
                  <a:pt x="6750" y="10029"/>
                </a:lnTo>
                <a:cubicBezTo>
                  <a:pt x="6003" y="10029"/>
                  <a:pt x="5400" y="9339"/>
                  <a:pt x="5400" y="8486"/>
                </a:cubicBezTo>
                <a:cubicBezTo>
                  <a:pt x="5400" y="7632"/>
                  <a:pt x="6003" y="6943"/>
                  <a:pt x="6750" y="6943"/>
                </a:cubicBezTo>
                <a:close/>
                <a:moveTo>
                  <a:pt x="6750" y="12343"/>
                </a:moveTo>
                <a:lnTo>
                  <a:pt x="17550" y="12343"/>
                </a:lnTo>
                <a:cubicBezTo>
                  <a:pt x="18297" y="12343"/>
                  <a:pt x="18900" y="13032"/>
                  <a:pt x="18900" y="13886"/>
                </a:cubicBezTo>
                <a:cubicBezTo>
                  <a:pt x="18900" y="14739"/>
                  <a:pt x="18297" y="15429"/>
                  <a:pt x="17550" y="15429"/>
                </a:cubicBezTo>
                <a:lnTo>
                  <a:pt x="6750" y="15429"/>
                </a:lnTo>
                <a:cubicBezTo>
                  <a:pt x="6003" y="15429"/>
                  <a:pt x="5400" y="14739"/>
                  <a:pt x="5400" y="13886"/>
                </a:cubicBezTo>
                <a:cubicBezTo>
                  <a:pt x="5400" y="13032"/>
                  <a:pt x="6003" y="12343"/>
                  <a:pt x="6750" y="12343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27" name="Text 6"/>
          <p:cNvSpPr txBox="1"/>
          <p:nvPr/>
        </p:nvSpPr>
        <p:spPr>
          <a:xfrm>
            <a:off x="703550" y="1400003"/>
            <a:ext cx="33020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模型性能</a:t>
            </a:r>
          </a:p>
        </p:txBody>
      </p:sp>
      <p:sp>
        <p:nvSpPr>
          <p:cNvPr id="1528" name="Shape 7"/>
          <p:cNvSpPr/>
          <p:nvPr/>
        </p:nvSpPr>
        <p:spPr>
          <a:xfrm>
            <a:off x="505114" y="1746017"/>
            <a:ext cx="3421063" cy="730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01" y="0"/>
                </a:moveTo>
                <a:lnTo>
                  <a:pt x="21199" y="0"/>
                </a:lnTo>
                <a:cubicBezTo>
                  <a:pt x="21420" y="0"/>
                  <a:pt x="21600" y="841"/>
                  <a:pt x="21600" y="1878"/>
                </a:cubicBezTo>
                <a:lnTo>
                  <a:pt x="21600" y="19722"/>
                </a:lnTo>
                <a:cubicBezTo>
                  <a:pt x="21600" y="20759"/>
                  <a:pt x="21420" y="21600"/>
                  <a:pt x="21199" y="21600"/>
                </a:cubicBezTo>
                <a:lnTo>
                  <a:pt x="401" y="21600"/>
                </a:lnTo>
                <a:cubicBezTo>
                  <a:pt x="180" y="21600"/>
                  <a:pt x="0" y="20759"/>
                  <a:pt x="0" y="19722"/>
                </a:cubicBezTo>
                <a:lnTo>
                  <a:pt x="0" y="1878"/>
                </a:lnTo>
                <a:cubicBezTo>
                  <a:pt x="0" y="842"/>
                  <a:pt x="180" y="0"/>
                  <a:pt x="401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29" name="Text 8"/>
          <p:cNvSpPr txBox="1"/>
          <p:nvPr/>
        </p:nvSpPr>
        <p:spPr>
          <a:xfrm>
            <a:off x="568580" y="1860286"/>
            <a:ext cx="329406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AVG_P</a:t>
            </a:r>
          </a:p>
        </p:txBody>
      </p:sp>
      <p:sp>
        <p:nvSpPr>
          <p:cNvPr id="1530" name="Text 9"/>
          <p:cNvSpPr txBox="1"/>
          <p:nvPr/>
        </p:nvSpPr>
        <p:spPr>
          <a:xfrm>
            <a:off x="528892" y="2057105"/>
            <a:ext cx="3373438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90000"/>
              </a:lnSpc>
              <a:defRPr b="1" sz="22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0.6693</a:t>
            </a:r>
          </a:p>
        </p:txBody>
      </p:sp>
      <p:sp>
        <p:nvSpPr>
          <p:cNvPr id="1531" name="Shape 10"/>
          <p:cNvSpPr/>
          <p:nvPr/>
        </p:nvSpPr>
        <p:spPr>
          <a:xfrm>
            <a:off x="505114" y="2571393"/>
            <a:ext cx="3421063" cy="920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01" y="0"/>
                </a:moveTo>
                <a:lnTo>
                  <a:pt x="21199" y="0"/>
                </a:lnTo>
                <a:cubicBezTo>
                  <a:pt x="21420" y="0"/>
                  <a:pt x="21600" y="667"/>
                  <a:pt x="21600" y="1490"/>
                </a:cubicBezTo>
                <a:lnTo>
                  <a:pt x="21600" y="20110"/>
                </a:lnTo>
                <a:cubicBezTo>
                  <a:pt x="21600" y="20933"/>
                  <a:pt x="21420" y="21600"/>
                  <a:pt x="21199" y="21600"/>
                </a:cubicBezTo>
                <a:lnTo>
                  <a:pt x="401" y="21600"/>
                </a:lnTo>
                <a:cubicBezTo>
                  <a:pt x="180" y="21600"/>
                  <a:pt x="0" y="20933"/>
                  <a:pt x="0" y="20110"/>
                </a:cubicBezTo>
                <a:lnTo>
                  <a:pt x="0" y="1490"/>
                </a:lnTo>
                <a:cubicBezTo>
                  <a:pt x="0" y="667"/>
                  <a:pt x="180" y="0"/>
                  <a:pt x="401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32" name="Text 11"/>
          <p:cNvSpPr txBox="1"/>
          <p:nvPr/>
        </p:nvSpPr>
        <p:spPr>
          <a:xfrm>
            <a:off x="568580" y="2685662"/>
            <a:ext cx="329406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F1 Score</a:t>
            </a:r>
          </a:p>
        </p:txBody>
      </p:sp>
      <p:sp>
        <p:nvSpPr>
          <p:cNvPr id="1533" name="Text 12"/>
          <p:cNvSpPr txBox="1"/>
          <p:nvPr/>
        </p:nvSpPr>
        <p:spPr>
          <a:xfrm>
            <a:off x="528892" y="2882481"/>
            <a:ext cx="3373438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90000"/>
              </a:lnSpc>
              <a:defRPr b="1" sz="22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0.527</a:t>
            </a:r>
          </a:p>
        </p:txBody>
      </p:sp>
      <p:sp>
        <p:nvSpPr>
          <p:cNvPr id="1534" name="Text 13"/>
          <p:cNvSpPr txBox="1"/>
          <p:nvPr/>
        </p:nvSpPr>
        <p:spPr>
          <a:xfrm>
            <a:off x="572549" y="3247606"/>
            <a:ext cx="328612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逼近SOTA 0.543</a:t>
            </a:r>
          </a:p>
        </p:txBody>
      </p:sp>
      <p:sp>
        <p:nvSpPr>
          <p:cNvPr id="1535" name="Shape 14"/>
          <p:cNvSpPr/>
          <p:nvPr/>
        </p:nvSpPr>
        <p:spPr>
          <a:xfrm>
            <a:off x="505114" y="3587207"/>
            <a:ext cx="3421063" cy="730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01" y="0"/>
                </a:moveTo>
                <a:lnTo>
                  <a:pt x="21199" y="0"/>
                </a:lnTo>
                <a:cubicBezTo>
                  <a:pt x="21420" y="0"/>
                  <a:pt x="21600" y="841"/>
                  <a:pt x="21600" y="1878"/>
                </a:cubicBezTo>
                <a:lnTo>
                  <a:pt x="21600" y="19722"/>
                </a:lnTo>
                <a:cubicBezTo>
                  <a:pt x="21600" y="20759"/>
                  <a:pt x="21420" y="21600"/>
                  <a:pt x="21199" y="21600"/>
                </a:cubicBezTo>
                <a:lnTo>
                  <a:pt x="401" y="21600"/>
                </a:lnTo>
                <a:cubicBezTo>
                  <a:pt x="180" y="21600"/>
                  <a:pt x="0" y="20759"/>
                  <a:pt x="0" y="19722"/>
                </a:cubicBezTo>
                <a:lnTo>
                  <a:pt x="0" y="1878"/>
                </a:lnTo>
                <a:cubicBezTo>
                  <a:pt x="0" y="842"/>
                  <a:pt x="180" y="0"/>
                  <a:pt x="401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36" name="Text 15"/>
          <p:cNvSpPr txBox="1"/>
          <p:nvPr/>
        </p:nvSpPr>
        <p:spPr>
          <a:xfrm>
            <a:off x="568580" y="3688760"/>
            <a:ext cx="329406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置信度阈值</a:t>
            </a:r>
          </a:p>
        </p:txBody>
      </p:sp>
      <p:sp>
        <p:nvSpPr>
          <p:cNvPr id="1537" name="Text 16"/>
          <p:cNvSpPr txBox="1"/>
          <p:nvPr/>
        </p:nvSpPr>
        <p:spPr>
          <a:xfrm>
            <a:off x="528892" y="3898295"/>
            <a:ext cx="3373438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90000"/>
              </a:lnSpc>
              <a:defRPr b="1" sz="22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0.6</a:t>
            </a:r>
          </a:p>
        </p:txBody>
      </p:sp>
      <p:sp>
        <p:nvSpPr>
          <p:cNvPr id="1538" name="Shape 17"/>
          <p:cNvSpPr/>
          <p:nvPr/>
        </p:nvSpPr>
        <p:spPr>
          <a:xfrm>
            <a:off x="4226550" y="1238078"/>
            <a:ext cx="3752995" cy="3365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6" y="0"/>
                </a:moveTo>
                <a:lnTo>
                  <a:pt x="21052" y="0"/>
                </a:lnTo>
                <a:cubicBezTo>
                  <a:pt x="21355" y="0"/>
                  <a:pt x="21600" y="274"/>
                  <a:pt x="21600" y="611"/>
                </a:cubicBezTo>
                <a:lnTo>
                  <a:pt x="21600" y="20989"/>
                </a:lnTo>
                <a:cubicBezTo>
                  <a:pt x="21600" y="21326"/>
                  <a:pt x="21355" y="21600"/>
                  <a:pt x="21052" y="21600"/>
                </a:cubicBezTo>
                <a:lnTo>
                  <a:pt x="166" y="21600"/>
                </a:lnTo>
                <a:cubicBezTo>
                  <a:pt x="74" y="21600"/>
                  <a:pt x="0" y="21517"/>
                  <a:pt x="0" y="21415"/>
                </a:cubicBezTo>
                <a:lnTo>
                  <a:pt x="0" y="185"/>
                </a:lnTo>
                <a:cubicBezTo>
                  <a:pt x="0" y="83"/>
                  <a:pt x="74" y="0"/>
                  <a:pt x="166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39" name="Shape 18"/>
          <p:cNvSpPr/>
          <p:nvPr/>
        </p:nvSpPr>
        <p:spPr>
          <a:xfrm>
            <a:off x="4226550" y="1238078"/>
            <a:ext cx="28865" cy="3365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517"/>
                  <a:pt x="0" y="21415"/>
                </a:cubicBezTo>
                <a:lnTo>
                  <a:pt x="0" y="185"/>
                </a:lnTo>
                <a:cubicBezTo>
                  <a:pt x="0" y="83"/>
                  <a:pt x="9671" y="0"/>
                  <a:pt x="21600" y="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40" name="Shape 19"/>
          <p:cNvSpPr/>
          <p:nvPr/>
        </p:nvSpPr>
        <p:spPr>
          <a:xfrm>
            <a:off x="4399731" y="1448423"/>
            <a:ext cx="198439" cy="1190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240" y="2700"/>
                </a:moveTo>
                <a:cubicBezTo>
                  <a:pt x="3240" y="1209"/>
                  <a:pt x="3966" y="0"/>
                  <a:pt x="4860" y="0"/>
                </a:cubicBezTo>
                <a:cubicBezTo>
                  <a:pt x="5754" y="0"/>
                  <a:pt x="6480" y="1209"/>
                  <a:pt x="6480" y="2700"/>
                </a:cubicBezTo>
                <a:lnTo>
                  <a:pt x="6480" y="9000"/>
                </a:lnTo>
                <a:lnTo>
                  <a:pt x="15120" y="9000"/>
                </a:lnTo>
                <a:lnTo>
                  <a:pt x="15120" y="2700"/>
                </a:lnTo>
                <a:cubicBezTo>
                  <a:pt x="15120" y="1209"/>
                  <a:pt x="15846" y="0"/>
                  <a:pt x="16740" y="0"/>
                </a:cubicBezTo>
                <a:cubicBezTo>
                  <a:pt x="17634" y="0"/>
                  <a:pt x="18360" y="1209"/>
                  <a:pt x="18360" y="2700"/>
                </a:cubicBezTo>
                <a:lnTo>
                  <a:pt x="18360" y="3600"/>
                </a:lnTo>
                <a:lnTo>
                  <a:pt x="18900" y="3600"/>
                </a:lnTo>
                <a:cubicBezTo>
                  <a:pt x="19794" y="3600"/>
                  <a:pt x="20520" y="4809"/>
                  <a:pt x="20520" y="6300"/>
                </a:cubicBezTo>
                <a:lnTo>
                  <a:pt x="20520" y="9000"/>
                </a:lnTo>
                <a:cubicBezTo>
                  <a:pt x="21117" y="9000"/>
                  <a:pt x="21600" y="9804"/>
                  <a:pt x="21600" y="10800"/>
                </a:cubicBezTo>
                <a:cubicBezTo>
                  <a:pt x="21600" y="11796"/>
                  <a:pt x="21117" y="12600"/>
                  <a:pt x="20520" y="12600"/>
                </a:cubicBezTo>
                <a:lnTo>
                  <a:pt x="20520" y="15300"/>
                </a:lnTo>
                <a:cubicBezTo>
                  <a:pt x="20520" y="16791"/>
                  <a:pt x="19794" y="18000"/>
                  <a:pt x="18900" y="18000"/>
                </a:cubicBezTo>
                <a:lnTo>
                  <a:pt x="18360" y="18000"/>
                </a:lnTo>
                <a:lnTo>
                  <a:pt x="18360" y="18900"/>
                </a:lnTo>
                <a:cubicBezTo>
                  <a:pt x="18360" y="20391"/>
                  <a:pt x="17634" y="21600"/>
                  <a:pt x="16740" y="21600"/>
                </a:cubicBezTo>
                <a:cubicBezTo>
                  <a:pt x="15846" y="21600"/>
                  <a:pt x="15120" y="20391"/>
                  <a:pt x="15120" y="18900"/>
                </a:cubicBezTo>
                <a:lnTo>
                  <a:pt x="15120" y="12600"/>
                </a:lnTo>
                <a:lnTo>
                  <a:pt x="6480" y="12600"/>
                </a:lnTo>
                <a:lnTo>
                  <a:pt x="6480" y="18900"/>
                </a:lnTo>
                <a:cubicBezTo>
                  <a:pt x="6480" y="20391"/>
                  <a:pt x="5754" y="21600"/>
                  <a:pt x="4860" y="21600"/>
                </a:cubicBezTo>
                <a:cubicBezTo>
                  <a:pt x="3966" y="21600"/>
                  <a:pt x="3240" y="20391"/>
                  <a:pt x="3240" y="18900"/>
                </a:cubicBezTo>
                <a:lnTo>
                  <a:pt x="3240" y="18000"/>
                </a:lnTo>
                <a:lnTo>
                  <a:pt x="2700" y="18000"/>
                </a:lnTo>
                <a:cubicBezTo>
                  <a:pt x="1806" y="18000"/>
                  <a:pt x="1080" y="16791"/>
                  <a:pt x="1080" y="15300"/>
                </a:cubicBezTo>
                <a:lnTo>
                  <a:pt x="1080" y="12600"/>
                </a:lnTo>
                <a:cubicBezTo>
                  <a:pt x="483" y="12600"/>
                  <a:pt x="0" y="11796"/>
                  <a:pt x="0" y="10800"/>
                </a:cubicBezTo>
                <a:cubicBezTo>
                  <a:pt x="0" y="9804"/>
                  <a:pt x="483" y="9000"/>
                  <a:pt x="1080" y="9000"/>
                </a:cubicBezTo>
                <a:lnTo>
                  <a:pt x="1080" y="6300"/>
                </a:lnTo>
                <a:cubicBezTo>
                  <a:pt x="1080" y="4809"/>
                  <a:pt x="1806" y="3600"/>
                  <a:pt x="2700" y="3600"/>
                </a:cubicBezTo>
                <a:lnTo>
                  <a:pt x="3240" y="3600"/>
                </a:lnTo>
                <a:lnTo>
                  <a:pt x="3240" y="2700"/>
                </a:ln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41" name="Text 20"/>
          <p:cNvSpPr txBox="1"/>
          <p:nvPr/>
        </p:nvSpPr>
        <p:spPr>
          <a:xfrm>
            <a:off x="4598168" y="1400003"/>
            <a:ext cx="33020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训练性能</a:t>
            </a:r>
          </a:p>
        </p:txBody>
      </p:sp>
      <p:sp>
        <p:nvSpPr>
          <p:cNvPr id="1542" name="Shape 21"/>
          <p:cNvSpPr/>
          <p:nvPr/>
        </p:nvSpPr>
        <p:spPr>
          <a:xfrm>
            <a:off x="4399731" y="1746017"/>
            <a:ext cx="3421063" cy="603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01" y="0"/>
                </a:moveTo>
                <a:lnTo>
                  <a:pt x="21199" y="0"/>
                </a:lnTo>
                <a:cubicBezTo>
                  <a:pt x="21420" y="0"/>
                  <a:pt x="21600" y="1018"/>
                  <a:pt x="21600" y="2274"/>
                </a:cubicBezTo>
                <a:lnTo>
                  <a:pt x="21600" y="19326"/>
                </a:lnTo>
                <a:cubicBezTo>
                  <a:pt x="21600" y="20582"/>
                  <a:pt x="21420" y="21600"/>
                  <a:pt x="21199" y="21600"/>
                </a:cubicBezTo>
                <a:lnTo>
                  <a:pt x="401" y="21600"/>
                </a:lnTo>
                <a:cubicBezTo>
                  <a:pt x="179" y="21600"/>
                  <a:pt x="0" y="20582"/>
                  <a:pt x="0" y="19326"/>
                </a:cubicBezTo>
                <a:lnTo>
                  <a:pt x="0" y="2274"/>
                </a:lnTo>
                <a:cubicBezTo>
                  <a:pt x="0" y="1019"/>
                  <a:pt x="180" y="0"/>
                  <a:pt x="401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43" name="Text 22"/>
          <p:cNvSpPr txBox="1"/>
          <p:nvPr/>
        </p:nvSpPr>
        <p:spPr>
          <a:xfrm>
            <a:off x="4494948" y="1847586"/>
            <a:ext cx="329406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单卡训练</a:t>
            </a:r>
          </a:p>
        </p:txBody>
      </p:sp>
      <p:sp>
        <p:nvSpPr>
          <p:cNvPr id="1544" name="Text 23"/>
          <p:cNvSpPr txBox="1"/>
          <p:nvPr/>
        </p:nvSpPr>
        <p:spPr>
          <a:xfrm>
            <a:off x="4494948" y="2069805"/>
            <a:ext cx="329406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支持14K长文本训练</a:t>
            </a:r>
          </a:p>
        </p:txBody>
      </p:sp>
      <p:sp>
        <p:nvSpPr>
          <p:cNvPr id="1545" name="Shape 24"/>
          <p:cNvSpPr/>
          <p:nvPr/>
        </p:nvSpPr>
        <p:spPr>
          <a:xfrm>
            <a:off x="4399731" y="2444377"/>
            <a:ext cx="3421063" cy="603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01" y="0"/>
                </a:moveTo>
                <a:lnTo>
                  <a:pt x="21199" y="0"/>
                </a:lnTo>
                <a:cubicBezTo>
                  <a:pt x="21420" y="0"/>
                  <a:pt x="21600" y="1018"/>
                  <a:pt x="21600" y="2274"/>
                </a:cubicBezTo>
                <a:lnTo>
                  <a:pt x="21600" y="19326"/>
                </a:lnTo>
                <a:cubicBezTo>
                  <a:pt x="21600" y="20582"/>
                  <a:pt x="21420" y="21600"/>
                  <a:pt x="21199" y="21600"/>
                </a:cubicBezTo>
                <a:lnTo>
                  <a:pt x="401" y="21600"/>
                </a:lnTo>
                <a:cubicBezTo>
                  <a:pt x="179" y="21600"/>
                  <a:pt x="0" y="20582"/>
                  <a:pt x="0" y="19326"/>
                </a:cubicBezTo>
                <a:lnTo>
                  <a:pt x="0" y="2274"/>
                </a:lnTo>
                <a:cubicBezTo>
                  <a:pt x="0" y="1019"/>
                  <a:pt x="180" y="0"/>
                  <a:pt x="401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46" name="Text 25"/>
          <p:cNvSpPr txBox="1"/>
          <p:nvPr/>
        </p:nvSpPr>
        <p:spPr>
          <a:xfrm>
            <a:off x="4494948" y="2545946"/>
            <a:ext cx="329406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4-bit量化</a:t>
            </a:r>
          </a:p>
        </p:txBody>
      </p:sp>
      <p:sp>
        <p:nvSpPr>
          <p:cNvPr id="1547" name="Text 26"/>
          <p:cNvSpPr txBox="1"/>
          <p:nvPr/>
        </p:nvSpPr>
        <p:spPr>
          <a:xfrm>
            <a:off x="4494948" y="2768181"/>
            <a:ext cx="329406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内存减少75%</a:t>
            </a:r>
          </a:p>
        </p:txBody>
      </p:sp>
      <p:sp>
        <p:nvSpPr>
          <p:cNvPr id="1548" name="Shape 27"/>
          <p:cNvSpPr/>
          <p:nvPr/>
        </p:nvSpPr>
        <p:spPr>
          <a:xfrm>
            <a:off x="4399731" y="3142753"/>
            <a:ext cx="3421063" cy="603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01" y="0"/>
                </a:moveTo>
                <a:lnTo>
                  <a:pt x="21199" y="0"/>
                </a:lnTo>
                <a:cubicBezTo>
                  <a:pt x="21420" y="0"/>
                  <a:pt x="21600" y="1018"/>
                  <a:pt x="21600" y="2274"/>
                </a:cubicBezTo>
                <a:lnTo>
                  <a:pt x="21600" y="19326"/>
                </a:lnTo>
                <a:cubicBezTo>
                  <a:pt x="21600" y="20582"/>
                  <a:pt x="21420" y="21600"/>
                  <a:pt x="21199" y="21600"/>
                </a:cubicBezTo>
                <a:lnTo>
                  <a:pt x="401" y="21600"/>
                </a:lnTo>
                <a:cubicBezTo>
                  <a:pt x="179" y="21600"/>
                  <a:pt x="0" y="20582"/>
                  <a:pt x="0" y="19326"/>
                </a:cubicBezTo>
                <a:lnTo>
                  <a:pt x="0" y="2274"/>
                </a:lnTo>
                <a:cubicBezTo>
                  <a:pt x="0" y="1019"/>
                  <a:pt x="180" y="0"/>
                  <a:pt x="401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49" name="Text 28"/>
          <p:cNvSpPr txBox="1"/>
          <p:nvPr/>
        </p:nvSpPr>
        <p:spPr>
          <a:xfrm>
            <a:off x="4494948" y="3244307"/>
            <a:ext cx="329406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训练速度</a:t>
            </a:r>
          </a:p>
        </p:txBody>
      </p:sp>
      <p:sp>
        <p:nvSpPr>
          <p:cNvPr id="1550" name="Text 29"/>
          <p:cNvSpPr txBox="1"/>
          <p:nvPr/>
        </p:nvSpPr>
        <p:spPr>
          <a:xfrm>
            <a:off x="4494948" y="3466541"/>
            <a:ext cx="329406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Flash Attention 2加速</a:t>
            </a:r>
          </a:p>
        </p:txBody>
      </p:sp>
      <p:sp>
        <p:nvSpPr>
          <p:cNvPr id="1551" name="Shape 30"/>
          <p:cNvSpPr/>
          <p:nvPr/>
        </p:nvSpPr>
        <p:spPr>
          <a:xfrm>
            <a:off x="4399731" y="3841113"/>
            <a:ext cx="3421063" cy="603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01" y="0"/>
                </a:moveTo>
                <a:lnTo>
                  <a:pt x="21199" y="0"/>
                </a:lnTo>
                <a:cubicBezTo>
                  <a:pt x="21420" y="0"/>
                  <a:pt x="21600" y="1018"/>
                  <a:pt x="21600" y="2274"/>
                </a:cubicBezTo>
                <a:lnTo>
                  <a:pt x="21600" y="19326"/>
                </a:lnTo>
                <a:cubicBezTo>
                  <a:pt x="21600" y="20582"/>
                  <a:pt x="21420" y="21600"/>
                  <a:pt x="21199" y="21600"/>
                </a:cubicBezTo>
                <a:lnTo>
                  <a:pt x="401" y="21600"/>
                </a:lnTo>
                <a:cubicBezTo>
                  <a:pt x="179" y="21600"/>
                  <a:pt x="0" y="20582"/>
                  <a:pt x="0" y="19326"/>
                </a:cubicBezTo>
                <a:lnTo>
                  <a:pt x="0" y="2274"/>
                </a:lnTo>
                <a:cubicBezTo>
                  <a:pt x="0" y="1019"/>
                  <a:pt x="180" y="0"/>
                  <a:pt x="401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52" name="Text 31"/>
          <p:cNvSpPr txBox="1"/>
          <p:nvPr/>
        </p:nvSpPr>
        <p:spPr>
          <a:xfrm>
            <a:off x="4494948" y="3942682"/>
            <a:ext cx="329406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b="1" sz="10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可训练参数</a:t>
            </a:r>
          </a:p>
        </p:txBody>
      </p:sp>
      <p:sp>
        <p:nvSpPr>
          <p:cNvPr id="1553" name="Text 32"/>
          <p:cNvSpPr txBox="1"/>
          <p:nvPr/>
        </p:nvSpPr>
        <p:spPr>
          <a:xfrm>
            <a:off x="4494948" y="4164901"/>
            <a:ext cx="329406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~50M (仅占0.5%)</a:t>
            </a:r>
          </a:p>
        </p:txBody>
      </p:sp>
      <p:sp>
        <p:nvSpPr>
          <p:cNvPr id="1554" name="Shape 33"/>
          <p:cNvSpPr/>
          <p:nvPr/>
        </p:nvSpPr>
        <p:spPr>
          <a:xfrm>
            <a:off x="8121167" y="1238078"/>
            <a:ext cx="3752995" cy="3365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6" y="0"/>
                </a:moveTo>
                <a:lnTo>
                  <a:pt x="21052" y="0"/>
                </a:lnTo>
                <a:cubicBezTo>
                  <a:pt x="21355" y="0"/>
                  <a:pt x="21600" y="274"/>
                  <a:pt x="21600" y="611"/>
                </a:cubicBezTo>
                <a:lnTo>
                  <a:pt x="21600" y="20989"/>
                </a:lnTo>
                <a:cubicBezTo>
                  <a:pt x="21600" y="21326"/>
                  <a:pt x="21355" y="21600"/>
                  <a:pt x="21052" y="21600"/>
                </a:cubicBezTo>
                <a:lnTo>
                  <a:pt x="166" y="21600"/>
                </a:lnTo>
                <a:cubicBezTo>
                  <a:pt x="74" y="21600"/>
                  <a:pt x="0" y="21517"/>
                  <a:pt x="0" y="21415"/>
                </a:cubicBezTo>
                <a:lnTo>
                  <a:pt x="0" y="185"/>
                </a:lnTo>
                <a:cubicBezTo>
                  <a:pt x="0" y="83"/>
                  <a:pt x="74" y="0"/>
                  <a:pt x="166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55" name="Shape 34"/>
          <p:cNvSpPr/>
          <p:nvPr/>
        </p:nvSpPr>
        <p:spPr>
          <a:xfrm>
            <a:off x="8121167" y="1238078"/>
            <a:ext cx="28865" cy="3365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517"/>
                  <a:pt x="0" y="21415"/>
                </a:cubicBezTo>
                <a:lnTo>
                  <a:pt x="0" y="185"/>
                </a:lnTo>
                <a:cubicBezTo>
                  <a:pt x="0" y="83"/>
                  <a:pt x="9671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56" name="Shape 35"/>
          <p:cNvSpPr/>
          <p:nvPr/>
        </p:nvSpPr>
        <p:spPr>
          <a:xfrm>
            <a:off x="8311861" y="1438497"/>
            <a:ext cx="151164" cy="1511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31" h="20931" fill="norm" stroke="1" extrusionOk="0">
                <a:moveTo>
                  <a:pt x="5819" y="12366"/>
                </a:moveTo>
                <a:lnTo>
                  <a:pt x="1375" y="12366"/>
                </a:lnTo>
                <a:cubicBezTo>
                  <a:pt x="306" y="12366"/>
                  <a:pt x="-351" y="11202"/>
                  <a:pt x="199" y="10283"/>
                </a:cubicBezTo>
                <a:lnTo>
                  <a:pt x="2470" y="6497"/>
                </a:lnTo>
                <a:cubicBezTo>
                  <a:pt x="2843" y="5874"/>
                  <a:pt x="3513" y="5496"/>
                  <a:pt x="4239" y="5496"/>
                </a:cubicBezTo>
                <a:lnTo>
                  <a:pt x="8317" y="5496"/>
                </a:lnTo>
                <a:cubicBezTo>
                  <a:pt x="11585" y="-38"/>
                  <a:pt x="16458" y="-317"/>
                  <a:pt x="19716" y="160"/>
                </a:cubicBezTo>
                <a:cubicBezTo>
                  <a:pt x="20266" y="241"/>
                  <a:pt x="20695" y="671"/>
                  <a:pt x="20772" y="1216"/>
                </a:cubicBezTo>
                <a:cubicBezTo>
                  <a:pt x="21249" y="4474"/>
                  <a:pt x="20970" y="9347"/>
                  <a:pt x="15436" y="12615"/>
                </a:cubicBezTo>
                <a:lnTo>
                  <a:pt x="15436" y="16693"/>
                </a:lnTo>
                <a:cubicBezTo>
                  <a:pt x="15436" y="17419"/>
                  <a:pt x="15058" y="18089"/>
                  <a:pt x="14435" y="18462"/>
                </a:cubicBezTo>
                <a:lnTo>
                  <a:pt x="10649" y="20733"/>
                </a:lnTo>
                <a:cubicBezTo>
                  <a:pt x="9734" y="21283"/>
                  <a:pt x="8566" y="20622"/>
                  <a:pt x="8566" y="19557"/>
                </a:cubicBezTo>
                <a:lnTo>
                  <a:pt x="8566" y="15113"/>
                </a:lnTo>
                <a:cubicBezTo>
                  <a:pt x="8566" y="13598"/>
                  <a:pt x="7334" y="12366"/>
                  <a:pt x="5819" y="12366"/>
                </a:cubicBezTo>
                <a:lnTo>
                  <a:pt x="5814" y="12366"/>
                </a:lnTo>
                <a:close/>
                <a:moveTo>
                  <a:pt x="17496" y="5496"/>
                </a:moveTo>
                <a:cubicBezTo>
                  <a:pt x="17496" y="4359"/>
                  <a:pt x="16573" y="3436"/>
                  <a:pt x="15436" y="3436"/>
                </a:cubicBezTo>
                <a:cubicBezTo>
                  <a:pt x="14298" y="3436"/>
                  <a:pt x="13375" y="4359"/>
                  <a:pt x="13375" y="5496"/>
                </a:cubicBezTo>
                <a:cubicBezTo>
                  <a:pt x="13375" y="6634"/>
                  <a:pt x="14298" y="7557"/>
                  <a:pt x="15436" y="7557"/>
                </a:cubicBezTo>
                <a:cubicBezTo>
                  <a:pt x="16573" y="7557"/>
                  <a:pt x="17496" y="6634"/>
                  <a:pt x="17496" y="5496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57" name="Text 36"/>
          <p:cNvSpPr txBox="1"/>
          <p:nvPr/>
        </p:nvSpPr>
        <p:spPr>
          <a:xfrm>
            <a:off x="8492787" y="1400003"/>
            <a:ext cx="33020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推理性能</a:t>
            </a:r>
          </a:p>
        </p:txBody>
      </p:sp>
      <p:sp>
        <p:nvSpPr>
          <p:cNvPr id="1558" name="Shape 37"/>
          <p:cNvSpPr/>
          <p:nvPr/>
        </p:nvSpPr>
        <p:spPr>
          <a:xfrm>
            <a:off x="8294348" y="1746017"/>
            <a:ext cx="3421064" cy="730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01" y="0"/>
                </a:moveTo>
                <a:lnTo>
                  <a:pt x="21199" y="0"/>
                </a:lnTo>
                <a:cubicBezTo>
                  <a:pt x="21420" y="0"/>
                  <a:pt x="21600" y="841"/>
                  <a:pt x="21600" y="1878"/>
                </a:cubicBezTo>
                <a:lnTo>
                  <a:pt x="21600" y="19722"/>
                </a:lnTo>
                <a:cubicBezTo>
                  <a:pt x="21600" y="20759"/>
                  <a:pt x="21420" y="21600"/>
                  <a:pt x="21199" y="21600"/>
                </a:cubicBezTo>
                <a:lnTo>
                  <a:pt x="401" y="21600"/>
                </a:lnTo>
                <a:cubicBezTo>
                  <a:pt x="180" y="21600"/>
                  <a:pt x="0" y="20759"/>
                  <a:pt x="0" y="19722"/>
                </a:cubicBezTo>
                <a:lnTo>
                  <a:pt x="0" y="1878"/>
                </a:lnTo>
                <a:cubicBezTo>
                  <a:pt x="0" y="842"/>
                  <a:pt x="180" y="0"/>
                  <a:pt x="401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59" name="Text 38"/>
          <p:cNvSpPr txBox="1"/>
          <p:nvPr/>
        </p:nvSpPr>
        <p:spPr>
          <a:xfrm>
            <a:off x="8357814" y="1847586"/>
            <a:ext cx="329406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首字延迟</a:t>
            </a:r>
          </a:p>
        </p:txBody>
      </p:sp>
      <p:sp>
        <p:nvSpPr>
          <p:cNvPr id="1560" name="Text 39"/>
          <p:cNvSpPr txBox="1"/>
          <p:nvPr/>
        </p:nvSpPr>
        <p:spPr>
          <a:xfrm>
            <a:off x="8318127" y="2057105"/>
            <a:ext cx="3373439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90000"/>
              </a:lnSpc>
              <a:defRPr b="1" sz="22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&lt;300ms</a:t>
            </a:r>
          </a:p>
        </p:txBody>
      </p:sp>
      <p:sp>
        <p:nvSpPr>
          <p:cNvPr id="1561" name="Shape 40"/>
          <p:cNvSpPr/>
          <p:nvPr/>
        </p:nvSpPr>
        <p:spPr>
          <a:xfrm>
            <a:off x="8294348" y="2571393"/>
            <a:ext cx="3421064" cy="730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01" y="0"/>
                </a:moveTo>
                <a:lnTo>
                  <a:pt x="21199" y="0"/>
                </a:lnTo>
                <a:cubicBezTo>
                  <a:pt x="21420" y="0"/>
                  <a:pt x="21600" y="841"/>
                  <a:pt x="21600" y="1878"/>
                </a:cubicBezTo>
                <a:lnTo>
                  <a:pt x="21600" y="19722"/>
                </a:lnTo>
                <a:cubicBezTo>
                  <a:pt x="21600" y="20759"/>
                  <a:pt x="21420" y="21600"/>
                  <a:pt x="21199" y="21600"/>
                </a:cubicBezTo>
                <a:lnTo>
                  <a:pt x="401" y="21600"/>
                </a:lnTo>
                <a:cubicBezTo>
                  <a:pt x="180" y="21600"/>
                  <a:pt x="0" y="20759"/>
                  <a:pt x="0" y="19722"/>
                </a:cubicBezTo>
                <a:lnTo>
                  <a:pt x="0" y="1878"/>
                </a:lnTo>
                <a:cubicBezTo>
                  <a:pt x="0" y="842"/>
                  <a:pt x="180" y="0"/>
                  <a:pt x="401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62" name="Text 41"/>
          <p:cNvSpPr txBox="1"/>
          <p:nvPr/>
        </p:nvSpPr>
        <p:spPr>
          <a:xfrm>
            <a:off x="8357814" y="2672962"/>
            <a:ext cx="329406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吞吐提升</a:t>
            </a:r>
          </a:p>
        </p:txBody>
      </p:sp>
      <p:sp>
        <p:nvSpPr>
          <p:cNvPr id="1563" name="Text 42"/>
          <p:cNvSpPr txBox="1"/>
          <p:nvPr/>
        </p:nvSpPr>
        <p:spPr>
          <a:xfrm>
            <a:off x="8318127" y="2882481"/>
            <a:ext cx="3373439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90000"/>
              </a:lnSpc>
              <a:defRPr b="1" sz="22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2-3x</a:t>
            </a:r>
          </a:p>
        </p:txBody>
      </p:sp>
      <p:sp>
        <p:nvSpPr>
          <p:cNvPr id="1564" name="Shape 43"/>
          <p:cNvSpPr/>
          <p:nvPr/>
        </p:nvSpPr>
        <p:spPr>
          <a:xfrm>
            <a:off x="8294348" y="3396769"/>
            <a:ext cx="3421064" cy="730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01" y="0"/>
                </a:moveTo>
                <a:lnTo>
                  <a:pt x="21199" y="0"/>
                </a:lnTo>
                <a:cubicBezTo>
                  <a:pt x="21420" y="0"/>
                  <a:pt x="21600" y="841"/>
                  <a:pt x="21600" y="1878"/>
                </a:cubicBezTo>
                <a:lnTo>
                  <a:pt x="21600" y="19722"/>
                </a:lnTo>
                <a:cubicBezTo>
                  <a:pt x="21600" y="20759"/>
                  <a:pt x="21420" y="21600"/>
                  <a:pt x="21199" y="21600"/>
                </a:cubicBezTo>
                <a:lnTo>
                  <a:pt x="401" y="21600"/>
                </a:lnTo>
                <a:cubicBezTo>
                  <a:pt x="180" y="21600"/>
                  <a:pt x="0" y="20759"/>
                  <a:pt x="0" y="19722"/>
                </a:cubicBezTo>
                <a:lnTo>
                  <a:pt x="0" y="1878"/>
                </a:lnTo>
                <a:cubicBezTo>
                  <a:pt x="0" y="842"/>
                  <a:pt x="180" y="0"/>
                  <a:pt x="401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65" name="Text 44"/>
          <p:cNvSpPr txBox="1"/>
          <p:nvPr/>
        </p:nvSpPr>
        <p:spPr>
          <a:xfrm>
            <a:off x="8357814" y="3498338"/>
            <a:ext cx="329406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GPU内存</a:t>
            </a:r>
          </a:p>
        </p:txBody>
      </p:sp>
      <p:sp>
        <p:nvSpPr>
          <p:cNvPr id="1566" name="Text 45"/>
          <p:cNvSpPr txBox="1"/>
          <p:nvPr/>
        </p:nvSpPr>
        <p:spPr>
          <a:xfrm>
            <a:off x="8318127" y="3707857"/>
            <a:ext cx="3373439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90000"/>
              </a:lnSpc>
              <a:defRPr b="1" sz="22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~6GB</a:t>
            </a:r>
          </a:p>
        </p:txBody>
      </p:sp>
      <p:sp>
        <p:nvSpPr>
          <p:cNvPr id="1567" name="Shape 46"/>
          <p:cNvSpPr/>
          <p:nvPr/>
        </p:nvSpPr>
        <p:spPr>
          <a:xfrm>
            <a:off x="324715" y="4737175"/>
            <a:ext cx="11539684" cy="20146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8" y="0"/>
                </a:moveTo>
                <a:lnTo>
                  <a:pt x="21422" y="0"/>
                </a:lnTo>
                <a:cubicBezTo>
                  <a:pt x="21520" y="0"/>
                  <a:pt x="21600" y="457"/>
                  <a:pt x="21600" y="1021"/>
                </a:cubicBezTo>
                <a:lnTo>
                  <a:pt x="21600" y="20579"/>
                </a:lnTo>
                <a:cubicBezTo>
                  <a:pt x="21600" y="21143"/>
                  <a:pt x="21520" y="21600"/>
                  <a:pt x="21422" y="21600"/>
                </a:cubicBezTo>
                <a:lnTo>
                  <a:pt x="178" y="21600"/>
                </a:lnTo>
                <a:cubicBezTo>
                  <a:pt x="80" y="21600"/>
                  <a:pt x="0" y="21143"/>
                  <a:pt x="0" y="20579"/>
                </a:cubicBezTo>
                <a:lnTo>
                  <a:pt x="0" y="1021"/>
                </a:lnTo>
                <a:cubicBezTo>
                  <a:pt x="0" y="458"/>
                  <a:pt x="80" y="0"/>
                  <a:pt x="178" y="0"/>
                </a:cubicBezTo>
                <a:close/>
              </a:path>
            </a:pathLst>
          </a:custGeom>
          <a:solidFill>
            <a:srgbClr val="5E8B7E">
              <a:alpha val="14902"/>
            </a:srgbClr>
          </a:solidFill>
          <a:ln w="23091">
            <a:solidFill>
              <a:srgbClr val="5E8B7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68" name="Shape 47"/>
          <p:cNvSpPr/>
          <p:nvPr/>
        </p:nvSpPr>
        <p:spPr>
          <a:xfrm>
            <a:off x="510863" y="4934861"/>
            <a:ext cx="158265" cy="1587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46" h="21600" fill="norm" stroke="1" extrusionOk="0">
                <a:moveTo>
                  <a:pt x="6017" y="4"/>
                </a:moveTo>
                <a:lnTo>
                  <a:pt x="15429" y="4"/>
                </a:lnTo>
                <a:cubicBezTo>
                  <a:pt x="16542" y="4"/>
                  <a:pt x="17449" y="924"/>
                  <a:pt x="17407" y="2037"/>
                </a:cubicBezTo>
                <a:cubicBezTo>
                  <a:pt x="17399" y="2261"/>
                  <a:pt x="17391" y="2484"/>
                  <a:pt x="17378" y="2704"/>
                </a:cubicBezTo>
                <a:lnTo>
                  <a:pt x="19462" y="2704"/>
                </a:lnTo>
                <a:cubicBezTo>
                  <a:pt x="20559" y="2704"/>
                  <a:pt x="21525" y="3615"/>
                  <a:pt x="21441" y="4804"/>
                </a:cubicBezTo>
                <a:cubicBezTo>
                  <a:pt x="21126" y="9178"/>
                  <a:pt x="18899" y="11582"/>
                  <a:pt x="16483" y="12839"/>
                </a:cubicBezTo>
                <a:cubicBezTo>
                  <a:pt x="15819" y="13185"/>
                  <a:pt x="15143" y="13443"/>
                  <a:pt x="14500" y="13632"/>
                </a:cubicBezTo>
                <a:cubicBezTo>
                  <a:pt x="13651" y="14839"/>
                  <a:pt x="12769" y="15476"/>
                  <a:pt x="12067" y="15817"/>
                </a:cubicBezTo>
                <a:lnTo>
                  <a:pt x="12067" y="18900"/>
                </a:lnTo>
                <a:lnTo>
                  <a:pt x="14756" y="18900"/>
                </a:lnTo>
                <a:cubicBezTo>
                  <a:pt x="15500" y="18900"/>
                  <a:pt x="16101" y="19504"/>
                  <a:pt x="16101" y="20250"/>
                </a:cubicBezTo>
                <a:cubicBezTo>
                  <a:pt x="16101" y="20997"/>
                  <a:pt x="15500" y="21600"/>
                  <a:pt x="14756" y="21600"/>
                </a:cubicBezTo>
                <a:lnTo>
                  <a:pt x="6689" y="21600"/>
                </a:lnTo>
                <a:cubicBezTo>
                  <a:pt x="5946" y="21600"/>
                  <a:pt x="5345" y="20997"/>
                  <a:pt x="5345" y="20250"/>
                </a:cubicBezTo>
                <a:cubicBezTo>
                  <a:pt x="5345" y="19504"/>
                  <a:pt x="5946" y="18900"/>
                  <a:pt x="6689" y="18900"/>
                </a:cubicBezTo>
                <a:lnTo>
                  <a:pt x="9378" y="18900"/>
                </a:lnTo>
                <a:lnTo>
                  <a:pt x="9378" y="15817"/>
                </a:lnTo>
                <a:cubicBezTo>
                  <a:pt x="8706" y="15493"/>
                  <a:pt x="7870" y="14889"/>
                  <a:pt x="7055" y="13780"/>
                </a:cubicBezTo>
                <a:cubicBezTo>
                  <a:pt x="6282" y="13578"/>
                  <a:pt x="5442" y="13270"/>
                  <a:pt x="4622" y="12806"/>
                </a:cubicBezTo>
                <a:cubicBezTo>
                  <a:pt x="2349" y="11528"/>
                  <a:pt x="299" y="9119"/>
                  <a:pt x="5" y="4796"/>
                </a:cubicBezTo>
                <a:cubicBezTo>
                  <a:pt x="-75" y="3611"/>
                  <a:pt x="887" y="2700"/>
                  <a:pt x="1984" y="2700"/>
                </a:cubicBezTo>
                <a:lnTo>
                  <a:pt x="4068" y="2700"/>
                </a:lnTo>
                <a:cubicBezTo>
                  <a:pt x="4055" y="2480"/>
                  <a:pt x="4047" y="2261"/>
                  <a:pt x="4038" y="2033"/>
                </a:cubicBezTo>
                <a:cubicBezTo>
                  <a:pt x="3996" y="915"/>
                  <a:pt x="4904" y="0"/>
                  <a:pt x="6017" y="0"/>
                </a:cubicBezTo>
                <a:close/>
                <a:moveTo>
                  <a:pt x="4219" y="4728"/>
                </a:moveTo>
                <a:lnTo>
                  <a:pt x="2017" y="4728"/>
                </a:lnTo>
                <a:cubicBezTo>
                  <a:pt x="2278" y="8301"/>
                  <a:pt x="3912" y="10089"/>
                  <a:pt x="5597" y="11038"/>
                </a:cubicBezTo>
                <a:cubicBezTo>
                  <a:pt x="4992" y="9465"/>
                  <a:pt x="4492" y="7411"/>
                  <a:pt x="4219" y="4728"/>
                </a:cubicBezTo>
                <a:close/>
                <a:moveTo>
                  <a:pt x="15920" y="10836"/>
                </a:moveTo>
                <a:cubicBezTo>
                  <a:pt x="17622" y="9832"/>
                  <a:pt x="19160" y="8048"/>
                  <a:pt x="19420" y="4728"/>
                </a:cubicBezTo>
                <a:lnTo>
                  <a:pt x="17223" y="4728"/>
                </a:lnTo>
                <a:cubicBezTo>
                  <a:pt x="16962" y="7297"/>
                  <a:pt x="16492" y="9292"/>
                  <a:pt x="15920" y="10836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69" name="Text 48"/>
          <p:cNvSpPr txBox="1"/>
          <p:nvPr/>
        </p:nvSpPr>
        <p:spPr>
          <a:xfrm>
            <a:off x="689118" y="4906317"/>
            <a:ext cx="1108869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竞赛成绩与学术成果</a:t>
            </a:r>
          </a:p>
        </p:txBody>
      </p:sp>
      <p:sp>
        <p:nvSpPr>
          <p:cNvPr id="1570" name="Shape 49"/>
          <p:cNvSpPr/>
          <p:nvPr/>
        </p:nvSpPr>
        <p:spPr>
          <a:xfrm>
            <a:off x="490682" y="5252330"/>
            <a:ext cx="3651251" cy="1333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76" y="0"/>
                </a:moveTo>
                <a:lnTo>
                  <a:pt x="21224" y="0"/>
                </a:lnTo>
                <a:cubicBezTo>
                  <a:pt x="21432" y="0"/>
                  <a:pt x="21600" y="461"/>
                  <a:pt x="21600" y="1029"/>
                </a:cubicBezTo>
                <a:lnTo>
                  <a:pt x="21600" y="20571"/>
                </a:lnTo>
                <a:cubicBezTo>
                  <a:pt x="21600" y="21139"/>
                  <a:pt x="21432" y="21600"/>
                  <a:pt x="21224" y="21600"/>
                </a:cubicBezTo>
                <a:lnTo>
                  <a:pt x="376" y="21600"/>
                </a:lnTo>
                <a:cubicBezTo>
                  <a:pt x="168" y="21600"/>
                  <a:pt x="0" y="21139"/>
                  <a:pt x="0" y="20571"/>
                </a:cubicBezTo>
                <a:lnTo>
                  <a:pt x="0" y="1029"/>
                </a:lnTo>
                <a:cubicBezTo>
                  <a:pt x="0" y="461"/>
                  <a:pt x="168" y="0"/>
                  <a:pt x="37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71" name="Shape 50"/>
          <p:cNvSpPr/>
          <p:nvPr/>
        </p:nvSpPr>
        <p:spPr>
          <a:xfrm>
            <a:off x="2196473" y="5365539"/>
            <a:ext cx="240905" cy="2994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67" h="21477" fill="norm" stroke="1" extrusionOk="0">
                <a:moveTo>
                  <a:pt x="10634" y="6109"/>
                </a:moveTo>
                <a:lnTo>
                  <a:pt x="6466" y="469"/>
                </a:lnTo>
                <a:cubicBezTo>
                  <a:pt x="6146" y="37"/>
                  <a:pt x="5475" y="-119"/>
                  <a:pt x="4924" y="105"/>
                </a:cubicBezTo>
                <a:lnTo>
                  <a:pt x="657" y="1838"/>
                </a:lnTo>
                <a:cubicBezTo>
                  <a:pt x="71" y="2074"/>
                  <a:pt x="-166" y="2651"/>
                  <a:pt x="125" y="3127"/>
                </a:cubicBezTo>
                <a:lnTo>
                  <a:pt x="3554" y="8694"/>
                </a:lnTo>
                <a:cubicBezTo>
                  <a:pt x="2071" y="10051"/>
                  <a:pt x="1174" y="11836"/>
                  <a:pt x="1174" y="13793"/>
                </a:cubicBezTo>
                <a:cubicBezTo>
                  <a:pt x="1174" y="18035"/>
                  <a:pt x="5411" y="21477"/>
                  <a:pt x="10634" y="21477"/>
                </a:cubicBezTo>
                <a:cubicBezTo>
                  <a:pt x="15857" y="21477"/>
                  <a:pt x="20094" y="18035"/>
                  <a:pt x="20094" y="13793"/>
                </a:cubicBezTo>
                <a:cubicBezTo>
                  <a:pt x="20094" y="11836"/>
                  <a:pt x="19192" y="10051"/>
                  <a:pt x="17714" y="8694"/>
                </a:cubicBezTo>
                <a:lnTo>
                  <a:pt x="21143" y="3127"/>
                </a:lnTo>
                <a:cubicBezTo>
                  <a:pt x="21434" y="2651"/>
                  <a:pt x="21197" y="2074"/>
                  <a:pt x="20616" y="1838"/>
                </a:cubicBezTo>
                <a:lnTo>
                  <a:pt x="16344" y="101"/>
                </a:lnTo>
                <a:cubicBezTo>
                  <a:pt x="15793" y="-123"/>
                  <a:pt x="15118" y="37"/>
                  <a:pt x="14802" y="465"/>
                </a:cubicBezTo>
                <a:lnTo>
                  <a:pt x="10634" y="6109"/>
                </a:lnTo>
                <a:close/>
                <a:moveTo>
                  <a:pt x="12152" y="11812"/>
                </a:moveTo>
                <a:cubicBezTo>
                  <a:pt x="12220" y="11924"/>
                  <a:pt x="12349" y="12000"/>
                  <a:pt x="12496" y="12016"/>
                </a:cubicBezTo>
                <a:lnTo>
                  <a:pt x="14965" y="12308"/>
                </a:lnTo>
                <a:cubicBezTo>
                  <a:pt x="15344" y="12352"/>
                  <a:pt x="15492" y="12728"/>
                  <a:pt x="15221" y="12948"/>
                </a:cubicBezTo>
                <a:lnTo>
                  <a:pt x="13432" y="14365"/>
                </a:lnTo>
                <a:cubicBezTo>
                  <a:pt x="13324" y="14453"/>
                  <a:pt x="13275" y="14573"/>
                  <a:pt x="13300" y="14697"/>
                </a:cubicBezTo>
                <a:lnTo>
                  <a:pt x="13723" y="16694"/>
                </a:lnTo>
                <a:cubicBezTo>
                  <a:pt x="13787" y="16999"/>
                  <a:pt x="13393" y="17235"/>
                  <a:pt x="13053" y="17091"/>
                </a:cubicBezTo>
                <a:lnTo>
                  <a:pt x="10846" y="16146"/>
                </a:lnTo>
                <a:cubicBezTo>
                  <a:pt x="10713" y="16090"/>
                  <a:pt x="10550" y="16090"/>
                  <a:pt x="10417" y="16146"/>
                </a:cubicBezTo>
                <a:lnTo>
                  <a:pt x="8210" y="17091"/>
                </a:lnTo>
                <a:cubicBezTo>
                  <a:pt x="7870" y="17235"/>
                  <a:pt x="7476" y="17003"/>
                  <a:pt x="7540" y="16694"/>
                </a:cubicBezTo>
                <a:lnTo>
                  <a:pt x="7964" y="14697"/>
                </a:lnTo>
                <a:cubicBezTo>
                  <a:pt x="7988" y="14577"/>
                  <a:pt x="7939" y="14453"/>
                  <a:pt x="7831" y="14365"/>
                </a:cubicBezTo>
                <a:lnTo>
                  <a:pt x="6042" y="12948"/>
                </a:lnTo>
                <a:cubicBezTo>
                  <a:pt x="5766" y="12732"/>
                  <a:pt x="5919" y="12356"/>
                  <a:pt x="6298" y="12308"/>
                </a:cubicBezTo>
                <a:lnTo>
                  <a:pt x="8767" y="12016"/>
                </a:lnTo>
                <a:cubicBezTo>
                  <a:pt x="8914" y="12000"/>
                  <a:pt x="9048" y="11920"/>
                  <a:pt x="9112" y="11812"/>
                </a:cubicBezTo>
                <a:lnTo>
                  <a:pt x="10215" y="9995"/>
                </a:lnTo>
                <a:cubicBezTo>
                  <a:pt x="10383" y="9714"/>
                  <a:pt x="10871" y="9714"/>
                  <a:pt x="11043" y="9995"/>
                </a:cubicBezTo>
                <a:lnTo>
                  <a:pt x="12147" y="11812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72" name="Text 51"/>
          <p:cNvSpPr txBox="1"/>
          <p:nvPr/>
        </p:nvSpPr>
        <p:spPr>
          <a:xfrm>
            <a:off x="585887" y="5734868"/>
            <a:ext cx="34607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竞赛排名</a:t>
            </a:r>
          </a:p>
        </p:txBody>
      </p:sp>
      <p:sp>
        <p:nvSpPr>
          <p:cNvPr id="1573" name="Text 52"/>
          <p:cNvSpPr txBox="1"/>
          <p:nvPr/>
        </p:nvSpPr>
        <p:spPr>
          <a:xfrm>
            <a:off x="546198" y="5944403"/>
            <a:ext cx="3540126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90000"/>
              </a:lnSpc>
              <a:defRPr b="1" sz="2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Top 5%</a:t>
            </a:r>
          </a:p>
        </p:txBody>
      </p:sp>
      <p:sp>
        <p:nvSpPr>
          <p:cNvPr id="1574" name="Text 53"/>
          <p:cNvSpPr txBox="1"/>
          <p:nvPr/>
        </p:nvSpPr>
        <p:spPr>
          <a:xfrm>
            <a:off x="589855" y="6309512"/>
            <a:ext cx="345281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阿里天池竞赛</a:t>
            </a:r>
          </a:p>
        </p:txBody>
      </p:sp>
      <p:sp>
        <p:nvSpPr>
          <p:cNvPr id="1575" name="Shape 54"/>
          <p:cNvSpPr/>
          <p:nvPr/>
        </p:nvSpPr>
        <p:spPr>
          <a:xfrm>
            <a:off x="4269845" y="5252330"/>
            <a:ext cx="3651251" cy="1333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76" y="0"/>
                </a:moveTo>
                <a:lnTo>
                  <a:pt x="21224" y="0"/>
                </a:lnTo>
                <a:cubicBezTo>
                  <a:pt x="21432" y="0"/>
                  <a:pt x="21600" y="461"/>
                  <a:pt x="21600" y="1029"/>
                </a:cubicBezTo>
                <a:lnTo>
                  <a:pt x="21600" y="20571"/>
                </a:lnTo>
                <a:cubicBezTo>
                  <a:pt x="21600" y="21139"/>
                  <a:pt x="21432" y="21600"/>
                  <a:pt x="21224" y="21600"/>
                </a:cubicBezTo>
                <a:lnTo>
                  <a:pt x="376" y="21600"/>
                </a:lnTo>
                <a:cubicBezTo>
                  <a:pt x="168" y="21600"/>
                  <a:pt x="0" y="21139"/>
                  <a:pt x="0" y="20571"/>
                </a:cubicBezTo>
                <a:lnTo>
                  <a:pt x="0" y="1029"/>
                </a:lnTo>
                <a:cubicBezTo>
                  <a:pt x="0" y="461"/>
                  <a:pt x="168" y="0"/>
                  <a:pt x="37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76" name="Shape 55"/>
          <p:cNvSpPr/>
          <p:nvPr/>
        </p:nvSpPr>
        <p:spPr>
          <a:xfrm>
            <a:off x="5988765" y="5379284"/>
            <a:ext cx="214314" cy="285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700"/>
                </a:moveTo>
                <a:cubicBezTo>
                  <a:pt x="0" y="1211"/>
                  <a:pt x="1614" y="0"/>
                  <a:pt x="3600" y="0"/>
                </a:cubicBezTo>
                <a:lnTo>
                  <a:pt x="12009" y="0"/>
                </a:lnTo>
                <a:cubicBezTo>
                  <a:pt x="12966" y="0"/>
                  <a:pt x="13882" y="283"/>
                  <a:pt x="14557" y="789"/>
                </a:cubicBezTo>
                <a:lnTo>
                  <a:pt x="20548" y="5286"/>
                </a:lnTo>
                <a:cubicBezTo>
                  <a:pt x="21223" y="5792"/>
                  <a:pt x="21600" y="6480"/>
                  <a:pt x="21600" y="7197"/>
                </a:cubicBezTo>
                <a:lnTo>
                  <a:pt x="21600" y="18900"/>
                </a:lnTo>
                <a:cubicBezTo>
                  <a:pt x="21600" y="20389"/>
                  <a:pt x="19986" y="21600"/>
                  <a:pt x="18000" y="21600"/>
                </a:cubicBezTo>
                <a:lnTo>
                  <a:pt x="3600" y="21600"/>
                </a:lnTo>
                <a:cubicBezTo>
                  <a:pt x="1614" y="21600"/>
                  <a:pt x="0" y="20389"/>
                  <a:pt x="0" y="18900"/>
                </a:cubicBezTo>
                <a:lnTo>
                  <a:pt x="0" y="2700"/>
                </a:lnTo>
                <a:close/>
                <a:moveTo>
                  <a:pt x="11700" y="2468"/>
                </a:moveTo>
                <a:lnTo>
                  <a:pt x="11700" y="6412"/>
                </a:lnTo>
                <a:cubicBezTo>
                  <a:pt x="11700" y="6974"/>
                  <a:pt x="12302" y="7425"/>
                  <a:pt x="13050" y="7425"/>
                </a:cubicBezTo>
                <a:lnTo>
                  <a:pt x="18309" y="7425"/>
                </a:lnTo>
                <a:lnTo>
                  <a:pt x="11700" y="2468"/>
                </a:lnTo>
                <a:close/>
                <a:moveTo>
                  <a:pt x="6750" y="10800"/>
                </a:moveTo>
                <a:cubicBezTo>
                  <a:pt x="6002" y="10800"/>
                  <a:pt x="5400" y="11251"/>
                  <a:pt x="5400" y="11813"/>
                </a:cubicBezTo>
                <a:cubicBezTo>
                  <a:pt x="5400" y="12374"/>
                  <a:pt x="6002" y="12825"/>
                  <a:pt x="6750" y="12825"/>
                </a:cubicBezTo>
                <a:lnTo>
                  <a:pt x="14850" y="12825"/>
                </a:lnTo>
                <a:cubicBezTo>
                  <a:pt x="15598" y="12825"/>
                  <a:pt x="16200" y="12374"/>
                  <a:pt x="16200" y="11813"/>
                </a:cubicBezTo>
                <a:cubicBezTo>
                  <a:pt x="16200" y="11251"/>
                  <a:pt x="15598" y="10800"/>
                  <a:pt x="14850" y="10800"/>
                </a:cubicBezTo>
                <a:lnTo>
                  <a:pt x="6750" y="10800"/>
                </a:lnTo>
                <a:close/>
                <a:moveTo>
                  <a:pt x="6750" y="14850"/>
                </a:moveTo>
                <a:cubicBezTo>
                  <a:pt x="6002" y="14850"/>
                  <a:pt x="5400" y="15301"/>
                  <a:pt x="5400" y="15863"/>
                </a:cubicBezTo>
                <a:cubicBezTo>
                  <a:pt x="5400" y="16424"/>
                  <a:pt x="6002" y="16875"/>
                  <a:pt x="6750" y="16875"/>
                </a:cubicBezTo>
                <a:lnTo>
                  <a:pt x="14850" y="16875"/>
                </a:lnTo>
                <a:cubicBezTo>
                  <a:pt x="15598" y="16875"/>
                  <a:pt x="16200" y="16424"/>
                  <a:pt x="16200" y="15863"/>
                </a:cubicBezTo>
                <a:cubicBezTo>
                  <a:pt x="16200" y="15301"/>
                  <a:pt x="15598" y="14850"/>
                  <a:pt x="14850" y="14850"/>
                </a:cubicBezTo>
                <a:lnTo>
                  <a:pt x="6750" y="14850"/>
                </a:ln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77" name="Text 56"/>
          <p:cNvSpPr txBox="1"/>
          <p:nvPr/>
        </p:nvSpPr>
        <p:spPr>
          <a:xfrm>
            <a:off x="4365049" y="5734868"/>
            <a:ext cx="34607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学术成果</a:t>
            </a:r>
          </a:p>
        </p:txBody>
      </p:sp>
      <p:sp>
        <p:nvSpPr>
          <p:cNvPr id="1578" name="Text 57"/>
          <p:cNvSpPr txBox="1"/>
          <p:nvPr/>
        </p:nvSpPr>
        <p:spPr>
          <a:xfrm>
            <a:off x="4325361" y="5919003"/>
            <a:ext cx="354012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90000"/>
              </a:lnSpc>
              <a:defRPr b="1" sz="2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EI会议</a:t>
            </a:r>
          </a:p>
        </p:txBody>
      </p:sp>
      <p:sp>
        <p:nvSpPr>
          <p:cNvPr id="1579" name="Text 58"/>
          <p:cNvSpPr txBox="1"/>
          <p:nvPr/>
        </p:nvSpPr>
        <p:spPr>
          <a:xfrm>
            <a:off x="4369018" y="6309512"/>
            <a:ext cx="345281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论文收录</a:t>
            </a:r>
          </a:p>
        </p:txBody>
      </p:sp>
      <p:sp>
        <p:nvSpPr>
          <p:cNvPr id="1580" name="Shape 59"/>
          <p:cNvSpPr/>
          <p:nvPr/>
        </p:nvSpPr>
        <p:spPr>
          <a:xfrm>
            <a:off x="8049007" y="5252330"/>
            <a:ext cx="3651251" cy="1333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76" y="0"/>
                </a:moveTo>
                <a:lnTo>
                  <a:pt x="21224" y="0"/>
                </a:lnTo>
                <a:cubicBezTo>
                  <a:pt x="21432" y="0"/>
                  <a:pt x="21600" y="461"/>
                  <a:pt x="21600" y="1029"/>
                </a:cubicBezTo>
                <a:lnTo>
                  <a:pt x="21600" y="20571"/>
                </a:lnTo>
                <a:cubicBezTo>
                  <a:pt x="21600" y="21139"/>
                  <a:pt x="21432" y="21600"/>
                  <a:pt x="21224" y="21600"/>
                </a:cubicBezTo>
                <a:lnTo>
                  <a:pt x="376" y="21600"/>
                </a:lnTo>
                <a:cubicBezTo>
                  <a:pt x="168" y="21600"/>
                  <a:pt x="0" y="21139"/>
                  <a:pt x="0" y="20571"/>
                </a:cubicBezTo>
                <a:lnTo>
                  <a:pt x="0" y="1029"/>
                </a:lnTo>
                <a:cubicBezTo>
                  <a:pt x="0" y="461"/>
                  <a:pt x="168" y="0"/>
                  <a:pt x="37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81" name="Shape 60"/>
          <p:cNvSpPr/>
          <p:nvPr/>
        </p:nvSpPr>
        <p:spPr>
          <a:xfrm>
            <a:off x="9696491" y="5388214"/>
            <a:ext cx="357189" cy="2589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12737" y="0"/>
                  <a:pt x="14310" y="2169"/>
                  <a:pt x="14310" y="4841"/>
                </a:cubicBezTo>
                <a:cubicBezTo>
                  <a:pt x="14310" y="7513"/>
                  <a:pt x="12737" y="9683"/>
                  <a:pt x="10800" y="9683"/>
                </a:cubicBezTo>
                <a:cubicBezTo>
                  <a:pt x="8863" y="9683"/>
                  <a:pt x="7290" y="7513"/>
                  <a:pt x="7290" y="4841"/>
                </a:cubicBezTo>
                <a:cubicBezTo>
                  <a:pt x="7290" y="2169"/>
                  <a:pt x="8863" y="0"/>
                  <a:pt x="10800" y="0"/>
                </a:cubicBezTo>
                <a:close/>
                <a:moveTo>
                  <a:pt x="3240" y="3352"/>
                </a:moveTo>
                <a:cubicBezTo>
                  <a:pt x="4581" y="3352"/>
                  <a:pt x="5670" y="4854"/>
                  <a:pt x="5670" y="6703"/>
                </a:cubicBezTo>
                <a:cubicBezTo>
                  <a:pt x="5670" y="8553"/>
                  <a:pt x="4581" y="10055"/>
                  <a:pt x="3240" y="10055"/>
                </a:cubicBezTo>
                <a:cubicBezTo>
                  <a:pt x="1899" y="10055"/>
                  <a:pt x="810" y="8553"/>
                  <a:pt x="810" y="6703"/>
                </a:cubicBezTo>
                <a:cubicBezTo>
                  <a:pt x="810" y="4854"/>
                  <a:pt x="1899" y="3352"/>
                  <a:pt x="3240" y="3352"/>
                </a:cubicBezTo>
                <a:close/>
                <a:moveTo>
                  <a:pt x="0" y="18621"/>
                </a:moveTo>
                <a:cubicBezTo>
                  <a:pt x="0" y="15329"/>
                  <a:pt x="1934" y="12662"/>
                  <a:pt x="4320" y="12662"/>
                </a:cubicBezTo>
                <a:cubicBezTo>
                  <a:pt x="4752" y="12662"/>
                  <a:pt x="5171" y="12751"/>
                  <a:pt x="5565" y="12913"/>
                </a:cubicBezTo>
                <a:cubicBezTo>
                  <a:pt x="4455" y="14626"/>
                  <a:pt x="3780" y="16889"/>
                  <a:pt x="3780" y="19366"/>
                </a:cubicBezTo>
                <a:lnTo>
                  <a:pt x="3780" y="20110"/>
                </a:lnTo>
                <a:cubicBezTo>
                  <a:pt x="3780" y="20641"/>
                  <a:pt x="3861" y="21144"/>
                  <a:pt x="4006" y="21600"/>
                </a:cubicBezTo>
                <a:lnTo>
                  <a:pt x="1080" y="21600"/>
                </a:lnTo>
                <a:cubicBezTo>
                  <a:pt x="483" y="21600"/>
                  <a:pt x="0" y="20934"/>
                  <a:pt x="0" y="20110"/>
                </a:cubicBezTo>
                <a:lnTo>
                  <a:pt x="0" y="18621"/>
                </a:lnTo>
                <a:close/>
                <a:moveTo>
                  <a:pt x="17594" y="21600"/>
                </a:moveTo>
                <a:cubicBezTo>
                  <a:pt x="17739" y="21144"/>
                  <a:pt x="17820" y="20641"/>
                  <a:pt x="17820" y="20110"/>
                </a:cubicBezTo>
                <a:lnTo>
                  <a:pt x="17820" y="19366"/>
                </a:lnTo>
                <a:cubicBezTo>
                  <a:pt x="17820" y="16889"/>
                  <a:pt x="17145" y="14626"/>
                  <a:pt x="16035" y="12913"/>
                </a:cubicBezTo>
                <a:cubicBezTo>
                  <a:pt x="16429" y="12751"/>
                  <a:pt x="16848" y="12662"/>
                  <a:pt x="17280" y="12662"/>
                </a:cubicBezTo>
                <a:cubicBezTo>
                  <a:pt x="19666" y="12662"/>
                  <a:pt x="21600" y="15329"/>
                  <a:pt x="21600" y="18621"/>
                </a:cubicBezTo>
                <a:lnTo>
                  <a:pt x="21600" y="20110"/>
                </a:lnTo>
                <a:cubicBezTo>
                  <a:pt x="21600" y="20934"/>
                  <a:pt x="21117" y="21600"/>
                  <a:pt x="20520" y="21600"/>
                </a:cubicBezTo>
                <a:lnTo>
                  <a:pt x="17594" y="21600"/>
                </a:lnTo>
                <a:close/>
                <a:moveTo>
                  <a:pt x="15930" y="6703"/>
                </a:moveTo>
                <a:cubicBezTo>
                  <a:pt x="15930" y="4854"/>
                  <a:pt x="17019" y="3352"/>
                  <a:pt x="18360" y="3352"/>
                </a:cubicBezTo>
                <a:cubicBezTo>
                  <a:pt x="19701" y="3352"/>
                  <a:pt x="20790" y="4854"/>
                  <a:pt x="20790" y="6703"/>
                </a:cubicBezTo>
                <a:cubicBezTo>
                  <a:pt x="20790" y="8553"/>
                  <a:pt x="19701" y="10055"/>
                  <a:pt x="18360" y="10055"/>
                </a:cubicBezTo>
                <a:cubicBezTo>
                  <a:pt x="17019" y="10055"/>
                  <a:pt x="15930" y="8553"/>
                  <a:pt x="15930" y="6703"/>
                </a:cubicBezTo>
                <a:close/>
                <a:moveTo>
                  <a:pt x="5400" y="19366"/>
                </a:moveTo>
                <a:cubicBezTo>
                  <a:pt x="5400" y="15250"/>
                  <a:pt x="7816" y="11917"/>
                  <a:pt x="10800" y="11917"/>
                </a:cubicBezTo>
                <a:cubicBezTo>
                  <a:pt x="13783" y="11917"/>
                  <a:pt x="16200" y="15250"/>
                  <a:pt x="16200" y="19366"/>
                </a:cubicBezTo>
                <a:lnTo>
                  <a:pt x="16200" y="20110"/>
                </a:lnTo>
                <a:cubicBezTo>
                  <a:pt x="16200" y="20934"/>
                  <a:pt x="15717" y="21600"/>
                  <a:pt x="15120" y="21600"/>
                </a:cubicBezTo>
                <a:lnTo>
                  <a:pt x="6480" y="21600"/>
                </a:lnTo>
                <a:cubicBezTo>
                  <a:pt x="5883" y="21600"/>
                  <a:pt x="5400" y="20934"/>
                  <a:pt x="5400" y="20110"/>
                </a:cubicBezTo>
                <a:lnTo>
                  <a:pt x="5400" y="19366"/>
                </a:ln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82" name="Text 61"/>
          <p:cNvSpPr txBox="1"/>
          <p:nvPr/>
        </p:nvSpPr>
        <p:spPr>
          <a:xfrm>
            <a:off x="8144212" y="5734868"/>
            <a:ext cx="346075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0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团队规模</a:t>
            </a:r>
          </a:p>
        </p:txBody>
      </p:sp>
      <p:sp>
        <p:nvSpPr>
          <p:cNvPr id="1583" name="Text 62"/>
          <p:cNvSpPr txBox="1"/>
          <p:nvPr/>
        </p:nvSpPr>
        <p:spPr>
          <a:xfrm>
            <a:off x="8104526" y="5919003"/>
            <a:ext cx="354012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90000"/>
              </a:lnSpc>
              <a:defRPr b="1" sz="22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2人</a:t>
            </a:r>
          </a:p>
        </p:txBody>
      </p:sp>
      <p:sp>
        <p:nvSpPr>
          <p:cNvPr id="1584" name="Text 63"/>
          <p:cNvSpPr txBox="1"/>
          <p:nvPr/>
        </p:nvSpPr>
        <p:spPr>
          <a:xfrm>
            <a:off x="8148181" y="6309512"/>
            <a:ext cx="345281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0000"/>
              </a:lnSpc>
              <a:defRPr sz="8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两人团队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6" name="Image 0" descr="Image 0"/>
          <p:cNvPicPr>
            <a:picLocks noChangeAspect="1"/>
          </p:cNvPicPr>
          <p:nvPr/>
        </p:nvPicPr>
        <p:blipFill>
          <a:blip r:embed="rId2">
            <a:alphaModFix amt="20000"/>
            <a:extLst/>
          </a:blip>
          <a:srcRect l="0" t="82" r="0" b="81"/>
          <a:stretch>
            <a:fillRect/>
          </a:stretch>
        </p:blipFill>
        <p:spPr>
          <a:xfrm>
            <a:off x="0" y="0"/>
            <a:ext cx="12192000" cy="6856908"/>
          </a:xfrm>
          <a:prstGeom prst="rect">
            <a:avLst/>
          </a:prstGeom>
          <a:ln w="12700">
            <a:miter lim="400000"/>
          </a:ln>
        </p:spPr>
      </p:pic>
      <p:sp>
        <p:nvSpPr>
          <p:cNvPr id="1587" name="Shape 0"/>
          <p:cNvSpPr/>
          <p:nvPr/>
        </p:nvSpPr>
        <p:spPr>
          <a:xfrm>
            <a:off x="0" y="-1"/>
            <a:ext cx="12192000" cy="6856909"/>
          </a:xfrm>
          <a:prstGeom prst="rect">
            <a:avLst/>
          </a:prstGeom>
          <a:gradFill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5E8B7E">
                  <a:alpha val="30000"/>
                </a:srgbClr>
              </a:gs>
            </a:gsLst>
            <a:lin ang="2700000"/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88" name="Shape 1"/>
          <p:cNvSpPr/>
          <p:nvPr/>
        </p:nvSpPr>
        <p:spPr>
          <a:xfrm>
            <a:off x="4575901" y="102270"/>
            <a:ext cx="3034882" cy="3848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69" y="0"/>
                </a:moveTo>
                <a:lnTo>
                  <a:pt x="20231" y="0"/>
                </a:lnTo>
                <a:cubicBezTo>
                  <a:pt x="20987" y="0"/>
                  <a:pt x="21600" y="4835"/>
                  <a:pt x="21600" y="10800"/>
                </a:cubicBezTo>
                <a:cubicBezTo>
                  <a:pt x="21600" y="16765"/>
                  <a:pt x="20987" y="21600"/>
                  <a:pt x="20231" y="21600"/>
                </a:cubicBezTo>
                <a:lnTo>
                  <a:pt x="1369" y="21600"/>
                </a:lnTo>
                <a:cubicBezTo>
                  <a:pt x="613" y="21600"/>
                  <a:pt x="0" y="16765"/>
                  <a:pt x="0" y="10800"/>
                </a:cubicBezTo>
                <a:cubicBezTo>
                  <a:pt x="0" y="4835"/>
                  <a:pt x="613" y="0"/>
                  <a:pt x="136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89" name="Text 2"/>
          <p:cNvSpPr txBox="1"/>
          <p:nvPr/>
        </p:nvSpPr>
        <p:spPr>
          <a:xfrm>
            <a:off x="4746436" y="205766"/>
            <a:ext cx="269378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pc="62" sz="1200">
                <a:solidFill>
                  <a:srgbClr val="5E8B7E"/>
                </a:solidFill>
                <a:latin typeface="Liter"/>
                <a:ea typeface="Liter"/>
                <a:cs typeface="Liter"/>
                <a:sym typeface="Liter"/>
              </a:defRPr>
            </a:lvl1pPr>
          </a:lstStyle>
          <a:p>
            <a:pPr/>
            <a:r>
              <a:t>PROJECT SUMMARY &amp; OUTLOOK</a:t>
            </a:r>
          </a:p>
        </p:txBody>
      </p:sp>
      <p:sp>
        <p:nvSpPr>
          <p:cNvPr id="1590" name="Text 3"/>
          <p:cNvSpPr txBox="1"/>
          <p:nvPr/>
        </p:nvSpPr>
        <p:spPr>
          <a:xfrm>
            <a:off x="218651" y="597297"/>
            <a:ext cx="11754698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80000"/>
              </a:lnSpc>
              <a:defRPr b="1" sz="41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项目总结与展望</a:t>
            </a:r>
          </a:p>
        </p:txBody>
      </p:sp>
      <p:sp>
        <p:nvSpPr>
          <p:cNvPr id="1591" name="Shape 4"/>
          <p:cNvSpPr/>
          <p:nvPr/>
        </p:nvSpPr>
        <p:spPr>
          <a:xfrm>
            <a:off x="5535233" y="1431516"/>
            <a:ext cx="1119496" cy="52477"/>
          </a:xfrm>
          <a:prstGeom prst="rect">
            <a:avLst/>
          </a:pr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92" name="Shape 5"/>
          <p:cNvSpPr/>
          <p:nvPr/>
        </p:nvSpPr>
        <p:spPr>
          <a:xfrm>
            <a:off x="1632928" y="1662996"/>
            <a:ext cx="8936878" cy="13468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7" y="0"/>
                </a:moveTo>
                <a:lnTo>
                  <a:pt x="21346" y="0"/>
                </a:lnTo>
                <a:cubicBezTo>
                  <a:pt x="21486" y="0"/>
                  <a:pt x="21600" y="754"/>
                  <a:pt x="21600" y="1683"/>
                </a:cubicBezTo>
                <a:lnTo>
                  <a:pt x="21600" y="19917"/>
                </a:lnTo>
                <a:cubicBezTo>
                  <a:pt x="21600" y="20846"/>
                  <a:pt x="21486" y="21600"/>
                  <a:pt x="21346" y="21600"/>
                </a:cubicBezTo>
                <a:lnTo>
                  <a:pt x="77" y="21600"/>
                </a:lnTo>
                <a:cubicBezTo>
                  <a:pt x="34" y="21600"/>
                  <a:pt x="0" y="21372"/>
                  <a:pt x="0" y="21090"/>
                </a:cubicBezTo>
                <a:lnTo>
                  <a:pt x="0" y="510"/>
                </a:lnTo>
                <a:cubicBezTo>
                  <a:pt x="0" y="229"/>
                  <a:pt x="34" y="0"/>
                  <a:pt x="77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93" name="Shape 6"/>
          <p:cNvSpPr/>
          <p:nvPr/>
        </p:nvSpPr>
        <p:spPr>
          <a:xfrm>
            <a:off x="1632928" y="1662996"/>
            <a:ext cx="31805" cy="13468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372"/>
                  <a:pt x="0" y="21090"/>
                </a:cubicBezTo>
                <a:lnTo>
                  <a:pt x="0" y="510"/>
                </a:lnTo>
                <a:cubicBezTo>
                  <a:pt x="0" y="229"/>
                  <a:pt x="9679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94" name="Shape 7"/>
          <p:cNvSpPr/>
          <p:nvPr/>
        </p:nvSpPr>
        <p:spPr>
          <a:xfrm>
            <a:off x="1884960" y="1907852"/>
            <a:ext cx="209906" cy="2099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16761" y="21600"/>
                  <a:pt x="21600" y="16761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9" y="0"/>
                  <a:pt x="0" y="4839"/>
                  <a:pt x="0" y="10800"/>
                </a:cubicBezTo>
                <a:cubicBezTo>
                  <a:pt x="0" y="16761"/>
                  <a:pt x="4839" y="21600"/>
                  <a:pt x="10800" y="21600"/>
                </a:cubicBezTo>
                <a:close/>
                <a:moveTo>
                  <a:pt x="14361" y="8973"/>
                </a:moveTo>
                <a:lnTo>
                  <a:pt x="10986" y="14373"/>
                </a:lnTo>
                <a:cubicBezTo>
                  <a:pt x="10808" y="14656"/>
                  <a:pt x="10505" y="14833"/>
                  <a:pt x="10171" y="14850"/>
                </a:cubicBezTo>
                <a:cubicBezTo>
                  <a:pt x="9838" y="14867"/>
                  <a:pt x="9518" y="14715"/>
                  <a:pt x="9319" y="14445"/>
                </a:cubicBezTo>
                <a:lnTo>
                  <a:pt x="7294" y="11745"/>
                </a:lnTo>
                <a:cubicBezTo>
                  <a:pt x="6957" y="11298"/>
                  <a:pt x="7050" y="10665"/>
                  <a:pt x="7497" y="10328"/>
                </a:cubicBezTo>
                <a:cubicBezTo>
                  <a:pt x="7944" y="9990"/>
                  <a:pt x="8577" y="10083"/>
                  <a:pt x="8914" y="10530"/>
                </a:cubicBezTo>
                <a:lnTo>
                  <a:pt x="10053" y="12049"/>
                </a:lnTo>
                <a:lnTo>
                  <a:pt x="12644" y="7902"/>
                </a:lnTo>
                <a:cubicBezTo>
                  <a:pt x="12939" y="7429"/>
                  <a:pt x="13563" y="7282"/>
                  <a:pt x="14040" y="7581"/>
                </a:cubicBezTo>
                <a:cubicBezTo>
                  <a:pt x="14517" y="7881"/>
                  <a:pt x="14660" y="8501"/>
                  <a:pt x="14361" y="8978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95" name="Text 8"/>
          <p:cNvSpPr txBox="1"/>
          <p:nvPr/>
        </p:nvSpPr>
        <p:spPr>
          <a:xfrm>
            <a:off x="2121105" y="1873123"/>
            <a:ext cx="8343735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z="16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核心贡献</a:t>
            </a:r>
          </a:p>
        </p:txBody>
      </p:sp>
      <p:sp>
        <p:nvSpPr>
          <p:cNvPr id="1596" name="Text 9"/>
          <p:cNvSpPr txBox="1"/>
          <p:nvPr/>
        </p:nvSpPr>
        <p:spPr>
          <a:xfrm>
            <a:off x="1858723" y="2287166"/>
            <a:ext cx="8579879" cy="518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sz="12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成功构建基于GLM-4-9B的代谢疾病用药推荐系统，通过</a:t>
            </a:r>
            <a:r>
              <a:rPr b="1">
                <a:solidFill>
                  <a:srgbClr val="5E8B7E"/>
                </a:solidFill>
              </a:rPr>
              <a:t>4-bit LoRA高效微调</a:t>
            </a:r>
            <a:r>
              <a:t>、</a:t>
            </a:r>
            <a:r>
              <a:rPr b="1">
                <a:solidFill>
                  <a:srgbClr val="5E8B7E"/>
                </a:solidFill>
              </a:rPr>
              <a:t>MedKG-RAG知识增强</a:t>
            </a:r>
            <a:r>
              <a:t>、</a:t>
            </a:r>
            <a:r>
              <a:rPr b="1">
                <a:solidFill>
                  <a:srgbClr val="5E8B7E"/>
                </a:solidFill>
              </a:rPr>
              <a:t>DeepSeek-R1 CoT蒸馏+DPO优化</a:t>
            </a:r>
            <a:r>
              <a:t>、</a:t>
            </a:r>
            <a:r>
              <a:rPr b="1">
                <a:solidFill>
                  <a:srgbClr val="5E8B7E"/>
                </a:solidFill>
              </a:rPr>
              <a:t>多层安全防护机制</a:t>
            </a:r>
            <a:r>
              <a:t>等技术创新，实现Top 5%竞赛成绩，F1达0.527逼近SOTA。</a:t>
            </a:r>
          </a:p>
        </p:txBody>
      </p:sp>
      <p:sp>
        <p:nvSpPr>
          <p:cNvPr id="1597" name="Shape 10"/>
          <p:cNvSpPr/>
          <p:nvPr/>
        </p:nvSpPr>
        <p:spPr>
          <a:xfrm>
            <a:off x="1632928" y="3188892"/>
            <a:ext cx="4371438" cy="17492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7" y="0"/>
                </a:moveTo>
                <a:lnTo>
                  <a:pt x="21081" y="0"/>
                </a:lnTo>
                <a:cubicBezTo>
                  <a:pt x="21368" y="0"/>
                  <a:pt x="21600" y="580"/>
                  <a:pt x="21600" y="1296"/>
                </a:cubicBezTo>
                <a:lnTo>
                  <a:pt x="21600" y="20304"/>
                </a:lnTo>
                <a:cubicBezTo>
                  <a:pt x="21600" y="21020"/>
                  <a:pt x="21368" y="21600"/>
                  <a:pt x="21081" y="21600"/>
                </a:cubicBezTo>
                <a:lnTo>
                  <a:pt x="157" y="21600"/>
                </a:lnTo>
                <a:cubicBezTo>
                  <a:pt x="70" y="21600"/>
                  <a:pt x="0" y="21424"/>
                  <a:pt x="0" y="21207"/>
                </a:cubicBezTo>
                <a:lnTo>
                  <a:pt x="0" y="393"/>
                </a:lnTo>
                <a:cubicBezTo>
                  <a:pt x="0" y="176"/>
                  <a:pt x="70" y="0"/>
                  <a:pt x="157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98" name="Shape 11"/>
          <p:cNvSpPr/>
          <p:nvPr/>
        </p:nvSpPr>
        <p:spPr>
          <a:xfrm>
            <a:off x="1632928" y="3188892"/>
            <a:ext cx="31805" cy="17492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424"/>
                  <a:pt x="0" y="21207"/>
                </a:cubicBezTo>
                <a:lnTo>
                  <a:pt x="0" y="393"/>
                </a:lnTo>
                <a:cubicBezTo>
                  <a:pt x="0" y="176"/>
                  <a:pt x="9679" y="0"/>
                  <a:pt x="21600" y="0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99" name="Shape 12"/>
          <p:cNvSpPr/>
          <p:nvPr/>
        </p:nvSpPr>
        <p:spPr>
          <a:xfrm>
            <a:off x="1867480" y="3398782"/>
            <a:ext cx="131192" cy="1803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476" y="15709"/>
                </a:moveTo>
                <a:cubicBezTo>
                  <a:pt x="16886" y="14797"/>
                  <a:pt x="17707" y="13970"/>
                  <a:pt x="18636" y="13259"/>
                </a:cubicBezTo>
                <a:cubicBezTo>
                  <a:pt x="20475" y="11851"/>
                  <a:pt x="21600" y="9949"/>
                  <a:pt x="21600" y="7855"/>
                </a:cubicBezTo>
                <a:cubicBezTo>
                  <a:pt x="21600" y="3518"/>
                  <a:pt x="16763" y="0"/>
                  <a:pt x="10800" y="0"/>
                </a:cubicBezTo>
                <a:cubicBezTo>
                  <a:pt x="4837" y="0"/>
                  <a:pt x="0" y="3518"/>
                  <a:pt x="0" y="7855"/>
                </a:cubicBezTo>
                <a:cubicBezTo>
                  <a:pt x="0" y="9949"/>
                  <a:pt x="1125" y="11851"/>
                  <a:pt x="2964" y="13259"/>
                </a:cubicBezTo>
                <a:cubicBezTo>
                  <a:pt x="3893" y="13970"/>
                  <a:pt x="4719" y="14797"/>
                  <a:pt x="5124" y="15709"/>
                </a:cubicBezTo>
                <a:lnTo>
                  <a:pt x="16470" y="15709"/>
                </a:lnTo>
                <a:close/>
                <a:moveTo>
                  <a:pt x="16200" y="17673"/>
                </a:moveTo>
                <a:lnTo>
                  <a:pt x="5400" y="17673"/>
                </a:lnTo>
                <a:lnTo>
                  <a:pt x="5400" y="18327"/>
                </a:lnTo>
                <a:cubicBezTo>
                  <a:pt x="5400" y="20136"/>
                  <a:pt x="7414" y="21600"/>
                  <a:pt x="9900" y="21600"/>
                </a:cubicBezTo>
                <a:lnTo>
                  <a:pt x="11700" y="21600"/>
                </a:lnTo>
                <a:cubicBezTo>
                  <a:pt x="14186" y="21600"/>
                  <a:pt x="16200" y="20136"/>
                  <a:pt x="16200" y="18327"/>
                </a:cubicBezTo>
                <a:lnTo>
                  <a:pt x="16200" y="17673"/>
                </a:lnTo>
                <a:close/>
                <a:moveTo>
                  <a:pt x="10350" y="4582"/>
                </a:moveTo>
                <a:cubicBezTo>
                  <a:pt x="8111" y="4582"/>
                  <a:pt x="6300" y="5899"/>
                  <a:pt x="6300" y="7527"/>
                </a:cubicBezTo>
                <a:cubicBezTo>
                  <a:pt x="6300" y="8071"/>
                  <a:pt x="5698" y="8509"/>
                  <a:pt x="4950" y="8509"/>
                </a:cubicBezTo>
                <a:cubicBezTo>
                  <a:pt x="4202" y="8509"/>
                  <a:pt x="3600" y="8071"/>
                  <a:pt x="3600" y="7527"/>
                </a:cubicBezTo>
                <a:cubicBezTo>
                  <a:pt x="3600" y="4815"/>
                  <a:pt x="6621" y="2618"/>
                  <a:pt x="10350" y="2618"/>
                </a:cubicBezTo>
                <a:cubicBezTo>
                  <a:pt x="11098" y="2618"/>
                  <a:pt x="11700" y="3056"/>
                  <a:pt x="11700" y="3600"/>
                </a:cubicBezTo>
                <a:cubicBezTo>
                  <a:pt x="11700" y="4144"/>
                  <a:pt x="11098" y="4582"/>
                  <a:pt x="10350" y="4582"/>
                </a:cubicBezTo>
                <a:close/>
              </a:path>
            </a:pathLst>
          </a:custGeom>
          <a:solidFill>
            <a:srgbClr val="4A6C8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00" name="Text 13"/>
          <p:cNvSpPr txBox="1"/>
          <p:nvPr/>
        </p:nvSpPr>
        <p:spPr>
          <a:xfrm>
            <a:off x="2042402" y="3371959"/>
            <a:ext cx="387450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3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技术创新</a:t>
            </a:r>
          </a:p>
        </p:txBody>
      </p:sp>
      <p:sp>
        <p:nvSpPr>
          <p:cNvPr id="1601" name="Text 14"/>
          <p:cNvSpPr txBox="1"/>
          <p:nvPr/>
        </p:nvSpPr>
        <p:spPr>
          <a:xfrm>
            <a:off x="1823751" y="3716940"/>
            <a:ext cx="407566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4-bit LoRA内存减少75%，单卡支持14K长文本</a:t>
            </a:r>
          </a:p>
        </p:txBody>
      </p:sp>
      <p:sp>
        <p:nvSpPr>
          <p:cNvPr id="1602" name="Text 15"/>
          <p:cNvSpPr txBox="1"/>
          <p:nvPr/>
        </p:nvSpPr>
        <p:spPr>
          <a:xfrm>
            <a:off x="1823751" y="3996780"/>
            <a:ext cx="407566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图-向量混合RAG检索，提供精准医学知识</a:t>
            </a:r>
          </a:p>
        </p:txBody>
      </p:sp>
      <p:sp>
        <p:nvSpPr>
          <p:cNvPr id="1603" name="Text 16"/>
          <p:cNvSpPr txBox="1"/>
          <p:nvPr/>
        </p:nvSpPr>
        <p:spPr>
          <a:xfrm>
            <a:off x="1823751" y="4276620"/>
            <a:ext cx="407566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DeepSeek-R1蒸馏+DPO优化，生成高质量CoT</a:t>
            </a:r>
          </a:p>
        </p:txBody>
      </p:sp>
      <p:sp>
        <p:nvSpPr>
          <p:cNvPr id="1604" name="Text 17"/>
          <p:cNvSpPr txBox="1"/>
          <p:nvPr/>
        </p:nvSpPr>
        <p:spPr>
          <a:xfrm>
            <a:off x="1823751" y="4556459"/>
            <a:ext cx="407566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4A6C8C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三层安全防护，确保用药安全</a:t>
            </a:r>
          </a:p>
        </p:txBody>
      </p:sp>
      <p:sp>
        <p:nvSpPr>
          <p:cNvPr id="1605" name="Shape 18"/>
          <p:cNvSpPr/>
          <p:nvPr/>
        </p:nvSpPr>
        <p:spPr>
          <a:xfrm>
            <a:off x="6198330" y="3188892"/>
            <a:ext cx="4371439" cy="17492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7" y="0"/>
                </a:moveTo>
                <a:lnTo>
                  <a:pt x="21081" y="0"/>
                </a:lnTo>
                <a:cubicBezTo>
                  <a:pt x="21368" y="0"/>
                  <a:pt x="21600" y="580"/>
                  <a:pt x="21600" y="1296"/>
                </a:cubicBezTo>
                <a:lnTo>
                  <a:pt x="21600" y="20304"/>
                </a:lnTo>
                <a:cubicBezTo>
                  <a:pt x="21600" y="21020"/>
                  <a:pt x="21368" y="21600"/>
                  <a:pt x="21081" y="21600"/>
                </a:cubicBezTo>
                <a:lnTo>
                  <a:pt x="157" y="21600"/>
                </a:lnTo>
                <a:cubicBezTo>
                  <a:pt x="70" y="21600"/>
                  <a:pt x="0" y="21424"/>
                  <a:pt x="0" y="21207"/>
                </a:cubicBezTo>
                <a:lnTo>
                  <a:pt x="0" y="393"/>
                </a:lnTo>
                <a:cubicBezTo>
                  <a:pt x="0" y="176"/>
                  <a:pt x="70" y="0"/>
                  <a:pt x="157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06" name="Shape 19"/>
          <p:cNvSpPr/>
          <p:nvPr/>
        </p:nvSpPr>
        <p:spPr>
          <a:xfrm>
            <a:off x="6198330" y="3188892"/>
            <a:ext cx="31805" cy="17492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cubicBezTo>
                  <a:pt x="9671" y="21600"/>
                  <a:pt x="0" y="21424"/>
                  <a:pt x="0" y="21207"/>
                </a:cubicBezTo>
                <a:lnTo>
                  <a:pt x="0" y="393"/>
                </a:lnTo>
                <a:cubicBezTo>
                  <a:pt x="0" y="176"/>
                  <a:pt x="9679" y="0"/>
                  <a:pt x="21600" y="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07" name="Shape 20"/>
          <p:cNvSpPr/>
          <p:nvPr/>
        </p:nvSpPr>
        <p:spPr>
          <a:xfrm>
            <a:off x="6408449" y="3409711"/>
            <a:ext cx="166562" cy="1665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31" h="20931" fill="norm" stroke="1" extrusionOk="0">
                <a:moveTo>
                  <a:pt x="5819" y="12366"/>
                </a:moveTo>
                <a:lnTo>
                  <a:pt x="1375" y="12366"/>
                </a:lnTo>
                <a:cubicBezTo>
                  <a:pt x="306" y="12366"/>
                  <a:pt x="-351" y="11202"/>
                  <a:pt x="199" y="10283"/>
                </a:cubicBezTo>
                <a:lnTo>
                  <a:pt x="2470" y="6497"/>
                </a:lnTo>
                <a:cubicBezTo>
                  <a:pt x="2843" y="5874"/>
                  <a:pt x="3513" y="5496"/>
                  <a:pt x="4239" y="5496"/>
                </a:cubicBezTo>
                <a:lnTo>
                  <a:pt x="8317" y="5496"/>
                </a:lnTo>
                <a:cubicBezTo>
                  <a:pt x="11585" y="-38"/>
                  <a:pt x="16458" y="-317"/>
                  <a:pt x="19716" y="160"/>
                </a:cubicBezTo>
                <a:cubicBezTo>
                  <a:pt x="20266" y="241"/>
                  <a:pt x="20695" y="671"/>
                  <a:pt x="20772" y="1216"/>
                </a:cubicBezTo>
                <a:cubicBezTo>
                  <a:pt x="21249" y="4474"/>
                  <a:pt x="20970" y="9347"/>
                  <a:pt x="15436" y="12615"/>
                </a:cubicBezTo>
                <a:lnTo>
                  <a:pt x="15436" y="16693"/>
                </a:lnTo>
                <a:cubicBezTo>
                  <a:pt x="15436" y="17419"/>
                  <a:pt x="15058" y="18089"/>
                  <a:pt x="14435" y="18462"/>
                </a:cubicBezTo>
                <a:lnTo>
                  <a:pt x="10649" y="20733"/>
                </a:lnTo>
                <a:cubicBezTo>
                  <a:pt x="9734" y="21283"/>
                  <a:pt x="8566" y="20622"/>
                  <a:pt x="8566" y="19557"/>
                </a:cubicBezTo>
                <a:lnTo>
                  <a:pt x="8566" y="15113"/>
                </a:lnTo>
                <a:cubicBezTo>
                  <a:pt x="8566" y="13598"/>
                  <a:pt x="7334" y="12366"/>
                  <a:pt x="5819" y="12366"/>
                </a:cubicBezTo>
                <a:lnTo>
                  <a:pt x="5814" y="12366"/>
                </a:lnTo>
                <a:close/>
                <a:moveTo>
                  <a:pt x="17497" y="5496"/>
                </a:moveTo>
                <a:cubicBezTo>
                  <a:pt x="17497" y="4359"/>
                  <a:pt x="16573" y="3435"/>
                  <a:pt x="15436" y="3435"/>
                </a:cubicBezTo>
                <a:cubicBezTo>
                  <a:pt x="14298" y="3435"/>
                  <a:pt x="13375" y="4359"/>
                  <a:pt x="13375" y="5496"/>
                </a:cubicBezTo>
                <a:cubicBezTo>
                  <a:pt x="13375" y="6634"/>
                  <a:pt x="14298" y="7557"/>
                  <a:pt x="15436" y="7557"/>
                </a:cubicBezTo>
                <a:cubicBezTo>
                  <a:pt x="16573" y="7557"/>
                  <a:pt x="17497" y="6634"/>
                  <a:pt x="17497" y="5496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08" name="Text 21"/>
          <p:cNvSpPr txBox="1"/>
          <p:nvPr/>
        </p:nvSpPr>
        <p:spPr>
          <a:xfrm>
            <a:off x="6607805" y="3371959"/>
            <a:ext cx="3874503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3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工程优化</a:t>
            </a:r>
          </a:p>
        </p:txBody>
      </p:sp>
      <p:sp>
        <p:nvSpPr>
          <p:cNvPr id="1609" name="Text 22"/>
          <p:cNvSpPr txBox="1"/>
          <p:nvPr/>
        </p:nvSpPr>
        <p:spPr>
          <a:xfrm>
            <a:off x="6389153" y="3716940"/>
            <a:ext cx="407566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vLLM推理优化，首字延迟&lt;300ms</a:t>
            </a:r>
          </a:p>
        </p:txBody>
      </p:sp>
      <p:sp>
        <p:nvSpPr>
          <p:cNvPr id="1610" name="Text 23"/>
          <p:cNvSpPr txBox="1"/>
          <p:nvPr/>
        </p:nvSpPr>
        <p:spPr>
          <a:xfrm>
            <a:off x="6389153" y="3996780"/>
            <a:ext cx="407566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吞吐提升2-3倍，GPU内存~6GB</a:t>
            </a:r>
          </a:p>
        </p:txBody>
      </p:sp>
      <p:sp>
        <p:nvSpPr>
          <p:cNvPr id="1611" name="Text 24"/>
          <p:cNvSpPr txBox="1"/>
          <p:nvPr/>
        </p:nvSpPr>
        <p:spPr>
          <a:xfrm>
            <a:off x="6389153" y="4276620"/>
            <a:ext cx="407566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Flash Attention 2加速训练</a:t>
            </a:r>
          </a:p>
        </p:txBody>
      </p:sp>
      <p:sp>
        <p:nvSpPr>
          <p:cNvPr id="1612" name="Text 25"/>
          <p:cNvSpPr txBox="1"/>
          <p:nvPr/>
        </p:nvSpPr>
        <p:spPr>
          <a:xfrm>
            <a:off x="6389153" y="4556459"/>
            <a:ext cx="407566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·</a:t>
            </a:r>
            <a:r>
              <a:rPr>
                <a:solidFill>
                  <a:srgbClr val="7D8A96"/>
                </a:solidFill>
              </a:rPr>
              <a:t> 显式推理链提升可解释性</a:t>
            </a:r>
          </a:p>
        </p:txBody>
      </p:sp>
      <p:sp>
        <p:nvSpPr>
          <p:cNvPr id="1613" name="Shape 26"/>
          <p:cNvSpPr/>
          <p:nvPr/>
        </p:nvSpPr>
        <p:spPr>
          <a:xfrm>
            <a:off x="1624977" y="5120788"/>
            <a:ext cx="8936878" cy="9254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54" y="0"/>
                </a:moveTo>
                <a:lnTo>
                  <a:pt x="21346" y="0"/>
                </a:lnTo>
                <a:cubicBezTo>
                  <a:pt x="21486" y="0"/>
                  <a:pt x="21600" y="1097"/>
                  <a:pt x="21600" y="2449"/>
                </a:cubicBezTo>
                <a:lnTo>
                  <a:pt x="21600" y="19151"/>
                </a:lnTo>
                <a:cubicBezTo>
                  <a:pt x="21600" y="20503"/>
                  <a:pt x="21486" y="21600"/>
                  <a:pt x="21346" y="21600"/>
                </a:cubicBezTo>
                <a:lnTo>
                  <a:pt x="254" y="21600"/>
                </a:lnTo>
                <a:cubicBezTo>
                  <a:pt x="114" y="21600"/>
                  <a:pt x="0" y="20503"/>
                  <a:pt x="0" y="19151"/>
                </a:cubicBezTo>
                <a:lnTo>
                  <a:pt x="0" y="2449"/>
                </a:lnTo>
                <a:cubicBezTo>
                  <a:pt x="0" y="1098"/>
                  <a:pt x="114" y="0"/>
                  <a:pt x="254" y="0"/>
                </a:cubicBezTo>
                <a:close/>
              </a:path>
            </a:pathLst>
          </a:custGeom>
          <a:solidFill>
            <a:srgbClr val="5E8B7E">
              <a:alpha val="14902"/>
            </a:srgbClr>
          </a:solidFill>
          <a:ln w="23091">
            <a:solidFill>
              <a:srgbClr val="5E8B7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14" name="Shape 27"/>
          <p:cNvSpPr/>
          <p:nvPr/>
        </p:nvSpPr>
        <p:spPr>
          <a:xfrm>
            <a:off x="1829714" y="5338629"/>
            <a:ext cx="174922" cy="1749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16761" y="21600"/>
                  <a:pt x="21600" y="16761"/>
                  <a:pt x="21600" y="10800"/>
                </a:cubicBezTo>
                <a:cubicBezTo>
                  <a:pt x="21600" y="4839"/>
                  <a:pt x="16761" y="0"/>
                  <a:pt x="10800" y="0"/>
                </a:cubicBezTo>
                <a:cubicBezTo>
                  <a:pt x="4839" y="0"/>
                  <a:pt x="0" y="4839"/>
                  <a:pt x="0" y="10800"/>
                </a:cubicBezTo>
                <a:cubicBezTo>
                  <a:pt x="0" y="16761"/>
                  <a:pt x="4839" y="21600"/>
                  <a:pt x="10800" y="21600"/>
                </a:cubicBezTo>
                <a:close/>
                <a:moveTo>
                  <a:pt x="12939" y="13715"/>
                </a:moveTo>
                <a:lnTo>
                  <a:pt x="6851" y="16057"/>
                </a:lnTo>
                <a:cubicBezTo>
                  <a:pt x="6033" y="16373"/>
                  <a:pt x="5227" y="15567"/>
                  <a:pt x="5543" y="14749"/>
                </a:cubicBezTo>
                <a:lnTo>
                  <a:pt x="7885" y="8661"/>
                </a:lnTo>
                <a:cubicBezTo>
                  <a:pt x="8024" y="8302"/>
                  <a:pt x="8302" y="8024"/>
                  <a:pt x="8661" y="7885"/>
                </a:cubicBezTo>
                <a:lnTo>
                  <a:pt x="14749" y="5543"/>
                </a:lnTo>
                <a:cubicBezTo>
                  <a:pt x="15567" y="5227"/>
                  <a:pt x="16373" y="6033"/>
                  <a:pt x="16057" y="6851"/>
                </a:cubicBezTo>
                <a:lnTo>
                  <a:pt x="13715" y="12939"/>
                </a:lnTo>
                <a:cubicBezTo>
                  <a:pt x="13580" y="13298"/>
                  <a:pt x="13298" y="13576"/>
                  <a:pt x="12939" y="13715"/>
                </a:cubicBezTo>
                <a:close/>
                <a:moveTo>
                  <a:pt x="12150" y="10800"/>
                </a:moveTo>
                <a:cubicBezTo>
                  <a:pt x="12150" y="10055"/>
                  <a:pt x="11545" y="9450"/>
                  <a:pt x="10800" y="9450"/>
                </a:cubicBezTo>
                <a:cubicBezTo>
                  <a:pt x="10055" y="9450"/>
                  <a:pt x="9450" y="10055"/>
                  <a:pt x="9450" y="10800"/>
                </a:cubicBezTo>
                <a:cubicBezTo>
                  <a:pt x="9450" y="11545"/>
                  <a:pt x="10055" y="12150"/>
                  <a:pt x="10800" y="12150"/>
                </a:cubicBezTo>
                <a:cubicBezTo>
                  <a:pt x="11545" y="12150"/>
                  <a:pt x="12150" y="11545"/>
                  <a:pt x="12150" y="10800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15" name="Text 28"/>
          <p:cNvSpPr txBox="1"/>
          <p:nvPr/>
        </p:nvSpPr>
        <p:spPr>
          <a:xfrm>
            <a:off x="2026500" y="5311806"/>
            <a:ext cx="8439944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b="1" sz="13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未来展望</a:t>
            </a:r>
          </a:p>
        </p:txBody>
      </p:sp>
      <p:sp>
        <p:nvSpPr>
          <p:cNvPr id="1616" name="Text 29"/>
          <p:cNvSpPr txBox="1"/>
          <p:nvPr/>
        </p:nvSpPr>
        <p:spPr>
          <a:xfrm>
            <a:off x="1807848" y="5656788"/>
            <a:ext cx="2833723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1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1.</a:t>
            </a:r>
            <a:r>
              <a:rPr b="0">
                <a:solidFill>
                  <a:srgbClr val="7D8A96"/>
                </a:solidFill>
              </a:rPr>
              <a:t> 进一步优化模型性能，提升F1 Score</a:t>
            </a:r>
          </a:p>
        </p:txBody>
      </p:sp>
      <p:sp>
        <p:nvSpPr>
          <p:cNvPr id="1617" name="Text 30"/>
          <p:cNvSpPr txBox="1"/>
          <p:nvPr/>
        </p:nvSpPr>
        <p:spPr>
          <a:xfrm>
            <a:off x="4712558" y="5656788"/>
            <a:ext cx="2833723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1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2.</a:t>
            </a:r>
            <a:r>
              <a:rPr b="0">
                <a:solidFill>
                  <a:srgbClr val="7D8A96"/>
                </a:solidFill>
              </a:rPr>
              <a:t> 扩展药物覆盖范围，支持更多疾病</a:t>
            </a:r>
          </a:p>
        </p:txBody>
      </p:sp>
      <p:sp>
        <p:nvSpPr>
          <p:cNvPr id="1618" name="Text 31"/>
          <p:cNvSpPr txBox="1"/>
          <p:nvPr/>
        </p:nvSpPr>
        <p:spPr>
          <a:xfrm>
            <a:off x="7617266" y="5656788"/>
            <a:ext cx="2833723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100">
                <a:solidFill>
                  <a:srgbClr val="5E8B7E"/>
                </a:solidFill>
                <a:latin typeface="MiSans"/>
                <a:ea typeface="MiSans"/>
                <a:cs typeface="MiSans"/>
                <a:sym typeface="MiSans"/>
              </a:defRPr>
            </a:pPr>
            <a:r>
              <a:t>3.</a:t>
            </a:r>
            <a:r>
              <a:rPr b="0">
                <a:solidFill>
                  <a:srgbClr val="7D8A96"/>
                </a:solidFill>
              </a:rPr>
              <a:t> 提升系统可解释性，增强医生信任</a:t>
            </a:r>
          </a:p>
        </p:txBody>
      </p:sp>
      <p:sp>
        <p:nvSpPr>
          <p:cNvPr id="1619" name="Shape 32"/>
          <p:cNvSpPr/>
          <p:nvPr/>
        </p:nvSpPr>
        <p:spPr>
          <a:xfrm>
            <a:off x="4160881" y="6104065"/>
            <a:ext cx="3663008" cy="7008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316" y="0"/>
                </a:moveTo>
                <a:lnTo>
                  <a:pt x="19284" y="0"/>
                </a:lnTo>
                <a:cubicBezTo>
                  <a:pt x="20563" y="0"/>
                  <a:pt x="21600" y="4835"/>
                  <a:pt x="21600" y="10800"/>
                </a:cubicBezTo>
                <a:cubicBezTo>
                  <a:pt x="21600" y="16765"/>
                  <a:pt x="20563" y="21600"/>
                  <a:pt x="19284" y="21600"/>
                </a:cubicBezTo>
                <a:lnTo>
                  <a:pt x="2316" y="21600"/>
                </a:lnTo>
                <a:cubicBezTo>
                  <a:pt x="1037" y="21600"/>
                  <a:pt x="0" y="16765"/>
                  <a:pt x="0" y="10800"/>
                </a:cubicBezTo>
                <a:cubicBezTo>
                  <a:pt x="0" y="4835"/>
                  <a:pt x="1037" y="0"/>
                  <a:pt x="2316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23091">
            <a:solidFill>
              <a:srgbClr val="5E8B7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20" name="Shape 33"/>
          <p:cNvSpPr/>
          <p:nvPr/>
        </p:nvSpPr>
        <p:spPr>
          <a:xfrm>
            <a:off x="4484211" y="6365534"/>
            <a:ext cx="261579" cy="2624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46" h="21600" fill="norm" stroke="1" extrusionOk="0">
                <a:moveTo>
                  <a:pt x="6017" y="4"/>
                </a:moveTo>
                <a:lnTo>
                  <a:pt x="15429" y="4"/>
                </a:lnTo>
                <a:cubicBezTo>
                  <a:pt x="16542" y="4"/>
                  <a:pt x="17450" y="924"/>
                  <a:pt x="17408" y="2037"/>
                </a:cubicBezTo>
                <a:cubicBezTo>
                  <a:pt x="17399" y="2261"/>
                  <a:pt x="17391" y="2484"/>
                  <a:pt x="17378" y="2704"/>
                </a:cubicBezTo>
                <a:lnTo>
                  <a:pt x="19462" y="2704"/>
                </a:lnTo>
                <a:cubicBezTo>
                  <a:pt x="20559" y="2704"/>
                  <a:pt x="21525" y="3615"/>
                  <a:pt x="21441" y="4804"/>
                </a:cubicBezTo>
                <a:cubicBezTo>
                  <a:pt x="21126" y="9178"/>
                  <a:pt x="18899" y="11582"/>
                  <a:pt x="16483" y="12839"/>
                </a:cubicBezTo>
                <a:cubicBezTo>
                  <a:pt x="15819" y="13185"/>
                  <a:pt x="15143" y="13442"/>
                  <a:pt x="14500" y="13632"/>
                </a:cubicBezTo>
                <a:cubicBezTo>
                  <a:pt x="13651" y="14839"/>
                  <a:pt x="12769" y="15476"/>
                  <a:pt x="12067" y="15817"/>
                </a:cubicBezTo>
                <a:lnTo>
                  <a:pt x="12067" y="18901"/>
                </a:lnTo>
                <a:lnTo>
                  <a:pt x="14756" y="18901"/>
                </a:lnTo>
                <a:cubicBezTo>
                  <a:pt x="15500" y="18901"/>
                  <a:pt x="16101" y="19504"/>
                  <a:pt x="16101" y="20250"/>
                </a:cubicBezTo>
                <a:cubicBezTo>
                  <a:pt x="16101" y="20997"/>
                  <a:pt x="15500" y="21600"/>
                  <a:pt x="14756" y="21600"/>
                </a:cubicBezTo>
                <a:lnTo>
                  <a:pt x="6689" y="21600"/>
                </a:lnTo>
                <a:cubicBezTo>
                  <a:pt x="5946" y="21600"/>
                  <a:pt x="5345" y="20997"/>
                  <a:pt x="5345" y="20250"/>
                </a:cubicBezTo>
                <a:cubicBezTo>
                  <a:pt x="5345" y="19504"/>
                  <a:pt x="5946" y="18901"/>
                  <a:pt x="6689" y="18901"/>
                </a:cubicBezTo>
                <a:lnTo>
                  <a:pt x="9378" y="18901"/>
                </a:lnTo>
                <a:lnTo>
                  <a:pt x="9378" y="15817"/>
                </a:lnTo>
                <a:cubicBezTo>
                  <a:pt x="8706" y="15492"/>
                  <a:pt x="7870" y="14889"/>
                  <a:pt x="7055" y="13780"/>
                </a:cubicBezTo>
                <a:cubicBezTo>
                  <a:pt x="6282" y="13577"/>
                  <a:pt x="5442" y="13270"/>
                  <a:pt x="4622" y="12806"/>
                </a:cubicBezTo>
                <a:cubicBezTo>
                  <a:pt x="2349" y="11528"/>
                  <a:pt x="299" y="9119"/>
                  <a:pt x="5" y="4796"/>
                </a:cubicBezTo>
                <a:cubicBezTo>
                  <a:pt x="-75" y="3611"/>
                  <a:pt x="887" y="2699"/>
                  <a:pt x="1984" y="2699"/>
                </a:cubicBezTo>
                <a:lnTo>
                  <a:pt x="4068" y="2699"/>
                </a:lnTo>
                <a:cubicBezTo>
                  <a:pt x="4055" y="2480"/>
                  <a:pt x="4047" y="2261"/>
                  <a:pt x="4038" y="2033"/>
                </a:cubicBezTo>
                <a:cubicBezTo>
                  <a:pt x="3996" y="915"/>
                  <a:pt x="4904" y="0"/>
                  <a:pt x="6017" y="0"/>
                </a:cubicBezTo>
                <a:close/>
                <a:moveTo>
                  <a:pt x="4219" y="4728"/>
                </a:moveTo>
                <a:lnTo>
                  <a:pt x="2017" y="4728"/>
                </a:lnTo>
                <a:cubicBezTo>
                  <a:pt x="2278" y="8301"/>
                  <a:pt x="3912" y="10089"/>
                  <a:pt x="5597" y="11038"/>
                </a:cubicBezTo>
                <a:cubicBezTo>
                  <a:pt x="4992" y="9465"/>
                  <a:pt x="4492" y="7411"/>
                  <a:pt x="4219" y="4728"/>
                </a:cubicBezTo>
                <a:close/>
                <a:moveTo>
                  <a:pt x="15920" y="10836"/>
                </a:moveTo>
                <a:cubicBezTo>
                  <a:pt x="17622" y="9832"/>
                  <a:pt x="19160" y="8048"/>
                  <a:pt x="19420" y="4728"/>
                </a:cubicBezTo>
                <a:lnTo>
                  <a:pt x="17223" y="4728"/>
                </a:lnTo>
                <a:cubicBezTo>
                  <a:pt x="16962" y="7297"/>
                  <a:pt x="16492" y="9292"/>
                  <a:pt x="15920" y="10836"/>
                </a:cubicBezTo>
                <a:close/>
              </a:path>
            </a:pathLst>
          </a:custGeom>
          <a:solidFill>
            <a:srgbClr val="5E8B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21" name="Text 34"/>
          <p:cNvSpPr txBox="1"/>
          <p:nvPr/>
        </p:nvSpPr>
        <p:spPr>
          <a:xfrm>
            <a:off x="4916532" y="6252140"/>
            <a:ext cx="2720024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z="1600">
                <a:solidFill>
                  <a:srgbClr val="E0E2E5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Top 5% · EI会议 · 两人团队</a:t>
            </a:r>
          </a:p>
        </p:txBody>
      </p:sp>
      <p:sp>
        <p:nvSpPr>
          <p:cNvPr id="1622" name="Text 35"/>
          <p:cNvSpPr txBox="1"/>
          <p:nvPr/>
        </p:nvSpPr>
        <p:spPr>
          <a:xfrm>
            <a:off x="4916532" y="6535095"/>
            <a:ext cx="268504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100">
                <a:solidFill>
                  <a:srgbClr val="7D8A9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2025.9 - 2025.10 | 阿里天池竞赛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Custom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Custom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Custom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Custom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